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828800"/>
            <a:ext cx="12192000" cy="100584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4000" b="1">
                <a:solidFill>
                  <a:srgbClr val="FFFFFF"/>
                </a:solidFill>
                <a:latin typeface="Calibri"/>
                <a:ea typeface="맑은 고딕"/>
              </a:rPr>
              <a:t>Lesson 7  본문 구문독해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2926080"/>
            <a:ext cx="12192000" cy="5486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2000" b="1">
                <a:solidFill>
                  <a:srgbClr val="1E2761"/>
                </a:solidFill>
                <a:latin typeface="Calibri"/>
                <a:ea typeface="맑은 고딕"/>
              </a:rPr>
              <a:t>동아(윤) 중3 · 시지중 3학년 기말고사 범위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3520440"/>
            <a:ext cx="12192000" cy="6400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800" b="0">
                <a:solidFill>
                  <a:srgbClr val="333333"/>
                </a:solidFill>
                <a:latin typeface="Calibri"/>
                <a:ea typeface="맑은 고딕"/>
              </a:rPr>
              <a:t>L7-1 ~ L7-4  (총 4개 본문)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4389120"/>
            <a:ext cx="12192000" cy="3657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400" b="0">
                <a:solidFill>
                  <a:srgbClr val="8A8A8A"/>
                </a:solidFill>
                <a:latin typeface="Calibri"/>
                <a:ea typeface="맑은 고딕"/>
              </a:rPr>
              <a:t>클릭할 때마다 구문 해석이 왼쪽부터 순서대로 하나씩 날아옵니다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adge"/>
          <p:cNvSpPr/>
          <p:nvPr/>
        </p:nvSpPr>
        <p:spPr>
          <a:xfrm>
            <a:off x="548640" y="411480"/>
            <a:ext cx="1188720" cy="50292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900" b="1">
                <a:solidFill>
                  <a:srgbClr val="FFFFFF"/>
                </a:solidFill>
                <a:latin typeface="Calibri"/>
                <a:ea typeface="맑은 고딕"/>
              </a:rPr>
              <a:t>L7-1</a:t>
            </a:r>
          </a:p>
        </p:txBody>
      </p:sp>
      <p:sp>
        <p:nvSpPr>
          <p:cNvPr id="3" name="Rectangle 2"/>
          <p:cNvSpPr/>
          <p:nvPr/>
        </p:nvSpPr>
        <p:spPr>
          <a:xfrm>
            <a:off x="1920240" y="411480"/>
            <a:ext cx="9720072" cy="5029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2400" b="1">
                <a:solidFill>
                  <a:srgbClr val="1E2761"/>
                </a:solidFill>
                <a:latin typeface="Calibri"/>
                <a:ea typeface="맑은 고딕"/>
              </a:rPr>
              <a:t>본문 구문독해  (1/3)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960120"/>
            <a:ext cx="11091672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100" b="0">
                <a:solidFill>
                  <a:srgbClr val="8A8A8A"/>
                </a:solidFill>
                <a:latin typeface="Calibri"/>
                <a:ea typeface="맑은 고딕"/>
              </a:rPr>
              <a:t>동아(윤) 중3 · 시지중 3학년 기말고사 범위 · Lesson 7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492240"/>
            <a:ext cx="11091672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050" b="0">
                <a:solidFill>
                  <a:srgbClr val="8A8A8A"/>
                </a:solidFill>
                <a:latin typeface="Calibri"/>
                <a:ea typeface="맑은 고딕"/>
              </a:rPr>
              <a:t>클릭할 때마다 구문 해석이 왼쪽부터 순서대로 하나씩 날아옵니다</a:t>
            </a:r>
          </a:p>
        </p:txBody>
      </p:sp>
      <p:sp>
        <p:nvSpPr>
          <p:cNvPr id="6" name="En"/>
          <p:cNvSpPr/>
          <p:nvPr/>
        </p:nvSpPr>
        <p:spPr>
          <a:xfrm>
            <a:off x="548640" y="1420000"/>
            <a:ext cx="4531979" cy="27889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800" b="0">
                <a:solidFill>
                  <a:srgbClr val="333333"/>
                </a:solidFill>
                <a:latin typeface="Calibri"/>
                <a:ea typeface="맑은 고딕"/>
              </a:rPr>
              <a:t>Have you ever visited an online bookstore</a:t>
            </a:r>
          </a:p>
        </p:txBody>
      </p:sp>
      <p:sp>
        <p:nvSpPr>
          <p:cNvPr id="7" name="reveal_1_kr"/>
          <p:cNvSpPr/>
          <p:nvPr/>
        </p:nvSpPr>
        <p:spPr>
          <a:xfrm>
            <a:off x="548640" y="1753892"/>
            <a:ext cx="4531979" cy="224663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450" b="0">
                <a:solidFill>
                  <a:srgbClr val="C0392B"/>
                </a:solidFill>
                <a:latin typeface="맑은 고딕"/>
                <a:ea typeface="맑은 고딕"/>
              </a:rPr>
              <a:t>당신은 온라인 서점을 방문한 적이 있는가</a:t>
            </a:r>
          </a:p>
        </p:txBody>
      </p:sp>
      <p:sp>
        <p:nvSpPr>
          <p:cNvPr id="8" name="Sep"/>
          <p:cNvSpPr/>
          <p:nvPr/>
        </p:nvSpPr>
        <p:spPr>
          <a:xfrm>
            <a:off x="5080619" y="1420000"/>
            <a:ext cx="227793" cy="27889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800" b="1">
                <a:solidFill>
                  <a:srgbClr val="A9B4D6"/>
                </a:solidFill>
                <a:latin typeface="Calibri"/>
                <a:ea typeface="맑은 고딕"/>
              </a:rPr>
              <a:t>/</a:t>
            </a:r>
          </a:p>
        </p:txBody>
      </p:sp>
      <p:sp>
        <p:nvSpPr>
          <p:cNvPr id="9" name="En"/>
          <p:cNvSpPr/>
          <p:nvPr/>
        </p:nvSpPr>
        <p:spPr>
          <a:xfrm>
            <a:off x="5308412" y="1420000"/>
            <a:ext cx="3411839" cy="27889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800" b="0">
                <a:solidFill>
                  <a:srgbClr val="333333"/>
                </a:solidFill>
                <a:latin typeface="Calibri"/>
                <a:ea typeface="맑은 고딕"/>
              </a:rPr>
              <a:t>and been surprised by the books</a:t>
            </a:r>
          </a:p>
        </p:txBody>
      </p:sp>
      <p:sp>
        <p:nvSpPr>
          <p:cNvPr id="10" name="reveal_2_kr"/>
          <p:cNvSpPr/>
          <p:nvPr/>
        </p:nvSpPr>
        <p:spPr>
          <a:xfrm>
            <a:off x="5308412" y="1753892"/>
            <a:ext cx="3411839" cy="224663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450" b="0">
                <a:solidFill>
                  <a:srgbClr val="C0392B"/>
                </a:solidFill>
                <a:latin typeface="맑은 고딕"/>
                <a:ea typeface="맑은 고딕"/>
              </a:rPr>
              <a:t>그리고 책들에 놀란 적이</a:t>
            </a:r>
          </a:p>
        </p:txBody>
      </p:sp>
      <p:sp>
        <p:nvSpPr>
          <p:cNvPr id="11" name="En"/>
          <p:cNvSpPr/>
          <p:nvPr/>
        </p:nvSpPr>
        <p:spPr>
          <a:xfrm>
            <a:off x="548640" y="2088555"/>
            <a:ext cx="3923903" cy="27889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800" b="0">
                <a:solidFill>
                  <a:srgbClr val="333333"/>
                </a:solidFill>
                <a:latin typeface="Calibri"/>
                <a:ea typeface="맑은 고딕"/>
              </a:rPr>
              <a:t>that the store recommended for you?</a:t>
            </a:r>
          </a:p>
        </p:txBody>
      </p:sp>
      <p:sp>
        <p:nvSpPr>
          <p:cNvPr id="12" name="reveal_3_kr"/>
          <p:cNvSpPr/>
          <p:nvPr/>
        </p:nvSpPr>
        <p:spPr>
          <a:xfrm>
            <a:off x="548640" y="2422447"/>
            <a:ext cx="3923903" cy="224663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450" b="0">
                <a:solidFill>
                  <a:srgbClr val="C0392B"/>
                </a:solidFill>
                <a:latin typeface="맑은 고딕"/>
                <a:ea typeface="맑은 고딕"/>
              </a:rPr>
              <a:t>그 서점이 당신에게 추천한</a:t>
            </a:r>
          </a:p>
        </p:txBody>
      </p:sp>
      <p:sp>
        <p:nvSpPr>
          <p:cNvPr id="13" name="En"/>
          <p:cNvSpPr/>
          <p:nvPr/>
        </p:nvSpPr>
        <p:spPr>
          <a:xfrm>
            <a:off x="548640" y="2867110"/>
            <a:ext cx="4330812" cy="27889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800" b="0">
                <a:solidFill>
                  <a:srgbClr val="333333"/>
                </a:solidFill>
                <a:latin typeface="Calibri"/>
                <a:ea typeface="맑은 고딕"/>
              </a:rPr>
              <a:t>Many of them looked interesting to you.</a:t>
            </a:r>
          </a:p>
        </p:txBody>
      </p:sp>
      <p:sp>
        <p:nvSpPr>
          <p:cNvPr id="14" name="reveal_4_kr"/>
          <p:cNvSpPr/>
          <p:nvPr/>
        </p:nvSpPr>
        <p:spPr>
          <a:xfrm>
            <a:off x="548640" y="3201002"/>
            <a:ext cx="4330812" cy="224663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450" b="0">
                <a:solidFill>
                  <a:srgbClr val="C0392B"/>
                </a:solidFill>
                <a:latin typeface="맑은 고딕"/>
                <a:ea typeface="맑은 고딕"/>
              </a:rPr>
              <a:t>그것들 중 다수가 당신에게 흥미로워 보였다</a:t>
            </a:r>
          </a:p>
        </p:txBody>
      </p:sp>
      <p:sp>
        <p:nvSpPr>
          <p:cNvPr id="15" name="En"/>
          <p:cNvSpPr/>
          <p:nvPr/>
        </p:nvSpPr>
        <p:spPr>
          <a:xfrm>
            <a:off x="548640" y="3645665"/>
            <a:ext cx="3265536" cy="27889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800" b="0">
                <a:solidFill>
                  <a:srgbClr val="333333"/>
                </a:solidFill>
                <a:latin typeface="Calibri"/>
                <a:ea typeface="맑은 고딕"/>
              </a:rPr>
              <a:t>So how did the bookstore know</a:t>
            </a:r>
          </a:p>
        </p:txBody>
      </p:sp>
      <p:sp>
        <p:nvSpPr>
          <p:cNvPr id="16" name="reveal_5_kr"/>
          <p:cNvSpPr/>
          <p:nvPr/>
        </p:nvSpPr>
        <p:spPr>
          <a:xfrm>
            <a:off x="548640" y="3979557"/>
            <a:ext cx="3265536" cy="224663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450" b="0">
                <a:solidFill>
                  <a:srgbClr val="C0392B"/>
                </a:solidFill>
                <a:latin typeface="맑은 고딕"/>
                <a:ea typeface="맑은 고딕"/>
              </a:rPr>
              <a:t>그러면 그 서점은 어떻게 알았을까</a:t>
            </a:r>
          </a:p>
        </p:txBody>
      </p:sp>
      <p:sp>
        <p:nvSpPr>
          <p:cNvPr id="17" name="Sep"/>
          <p:cNvSpPr/>
          <p:nvPr/>
        </p:nvSpPr>
        <p:spPr>
          <a:xfrm>
            <a:off x="3814176" y="3645665"/>
            <a:ext cx="227793" cy="27889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800" b="1">
                <a:solidFill>
                  <a:srgbClr val="A9B4D6"/>
                </a:solidFill>
                <a:latin typeface="Calibri"/>
                <a:ea typeface="맑은 고딕"/>
              </a:rPr>
              <a:t>/</a:t>
            </a:r>
          </a:p>
        </p:txBody>
      </p:sp>
      <p:sp>
        <p:nvSpPr>
          <p:cNvPr id="18" name="En"/>
          <p:cNvSpPr/>
          <p:nvPr/>
        </p:nvSpPr>
        <p:spPr>
          <a:xfrm>
            <a:off x="4041969" y="3645665"/>
            <a:ext cx="2355212" cy="27889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800" b="0">
                <a:solidFill>
                  <a:srgbClr val="333333"/>
                </a:solidFill>
                <a:latin typeface="Calibri"/>
                <a:ea typeface="맑은 고딕"/>
              </a:rPr>
              <a:t>what you liked?</a:t>
            </a:r>
          </a:p>
        </p:txBody>
      </p:sp>
      <p:sp>
        <p:nvSpPr>
          <p:cNvPr id="19" name="reveal_6_kr"/>
          <p:cNvSpPr/>
          <p:nvPr/>
        </p:nvSpPr>
        <p:spPr>
          <a:xfrm>
            <a:off x="4041969" y="3979557"/>
            <a:ext cx="2355212" cy="224663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450" b="0">
                <a:solidFill>
                  <a:srgbClr val="C0392B"/>
                </a:solidFill>
                <a:latin typeface="맑은 고딕"/>
                <a:ea typeface="맑은 고딕"/>
              </a:rPr>
              <a:t>당신이 무엇을 좋아하는지</a:t>
            </a:r>
          </a:p>
        </p:txBody>
      </p:sp>
      <p:sp>
        <p:nvSpPr>
          <p:cNvPr id="20" name="En"/>
          <p:cNvSpPr/>
          <p:nvPr/>
        </p:nvSpPr>
        <p:spPr>
          <a:xfrm>
            <a:off x="548640" y="4424220"/>
            <a:ext cx="2282556" cy="27889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800" b="0">
                <a:solidFill>
                  <a:srgbClr val="333333"/>
                </a:solidFill>
                <a:latin typeface="Calibri"/>
                <a:ea typeface="맑은 고딕"/>
              </a:rPr>
              <a:t>This is all possible</a:t>
            </a:r>
          </a:p>
        </p:txBody>
      </p:sp>
      <p:sp>
        <p:nvSpPr>
          <p:cNvPr id="21" name="reveal_7_kr"/>
          <p:cNvSpPr/>
          <p:nvPr/>
        </p:nvSpPr>
        <p:spPr>
          <a:xfrm>
            <a:off x="548640" y="4758112"/>
            <a:ext cx="2282556" cy="224663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450" b="0">
                <a:solidFill>
                  <a:srgbClr val="C0392B"/>
                </a:solidFill>
                <a:latin typeface="맑은 고딕"/>
                <a:ea typeface="맑은 고딕"/>
              </a:rPr>
              <a:t>이것은 모두 가능하다</a:t>
            </a:r>
          </a:p>
        </p:txBody>
      </p:sp>
      <p:sp>
        <p:nvSpPr>
          <p:cNvPr id="22" name="Sep"/>
          <p:cNvSpPr/>
          <p:nvPr/>
        </p:nvSpPr>
        <p:spPr>
          <a:xfrm>
            <a:off x="2831196" y="4424220"/>
            <a:ext cx="227793" cy="27889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800" b="1">
                <a:solidFill>
                  <a:srgbClr val="A9B4D6"/>
                </a:solidFill>
                <a:latin typeface="Calibri"/>
                <a:ea typeface="맑은 고딕"/>
              </a:rPr>
              <a:t>/</a:t>
            </a:r>
          </a:p>
        </p:txBody>
      </p:sp>
      <p:sp>
        <p:nvSpPr>
          <p:cNvPr id="23" name="En"/>
          <p:cNvSpPr/>
          <p:nvPr/>
        </p:nvSpPr>
        <p:spPr>
          <a:xfrm>
            <a:off x="3058989" y="4424220"/>
            <a:ext cx="2255124" cy="27889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800" b="0">
                <a:solidFill>
                  <a:srgbClr val="333333"/>
                </a:solidFill>
                <a:latin typeface="Calibri"/>
                <a:ea typeface="맑은 고딕"/>
              </a:rPr>
              <a:t>because of big data.</a:t>
            </a:r>
          </a:p>
        </p:txBody>
      </p:sp>
      <p:sp>
        <p:nvSpPr>
          <p:cNvPr id="24" name="reveal_8_kr"/>
          <p:cNvSpPr/>
          <p:nvPr/>
        </p:nvSpPr>
        <p:spPr>
          <a:xfrm>
            <a:off x="3058989" y="4758112"/>
            <a:ext cx="2255124" cy="224663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450" b="0">
                <a:solidFill>
                  <a:srgbClr val="C0392B"/>
                </a:solidFill>
                <a:latin typeface="맑은 고딕"/>
                <a:ea typeface="맑은 고딕"/>
              </a:rPr>
              <a:t>빅데이터 때문에</a:t>
            </a:r>
          </a:p>
        </p:txBody>
      </p:sp>
      <p:sp>
        <p:nvSpPr>
          <p:cNvPr id="25" name="En"/>
          <p:cNvSpPr/>
          <p:nvPr/>
        </p:nvSpPr>
        <p:spPr>
          <a:xfrm>
            <a:off x="548640" y="5202775"/>
            <a:ext cx="2741927" cy="27889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800" b="0">
                <a:solidFill>
                  <a:srgbClr val="333333"/>
                </a:solidFill>
                <a:latin typeface="Calibri"/>
                <a:ea typeface="맑은 고딕"/>
              </a:rPr>
              <a:t>Big data is data sets</a:t>
            </a:r>
          </a:p>
        </p:txBody>
      </p:sp>
      <p:sp>
        <p:nvSpPr>
          <p:cNvPr id="26" name="reveal_9_kr"/>
          <p:cNvSpPr/>
          <p:nvPr/>
        </p:nvSpPr>
        <p:spPr>
          <a:xfrm>
            <a:off x="548640" y="5536667"/>
            <a:ext cx="2741927" cy="224663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450" b="0">
                <a:solidFill>
                  <a:srgbClr val="C0392B"/>
                </a:solidFill>
                <a:latin typeface="맑은 고딕"/>
                <a:ea typeface="맑은 고딕"/>
              </a:rPr>
              <a:t>빅데이터는 데이터의 집합이다</a:t>
            </a:r>
          </a:p>
        </p:txBody>
      </p:sp>
      <p:sp>
        <p:nvSpPr>
          <p:cNvPr id="27" name="Sep"/>
          <p:cNvSpPr/>
          <p:nvPr/>
        </p:nvSpPr>
        <p:spPr>
          <a:xfrm>
            <a:off x="3290567" y="5202775"/>
            <a:ext cx="227793" cy="27889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800" b="1">
                <a:solidFill>
                  <a:srgbClr val="A9B4D6"/>
                </a:solidFill>
                <a:latin typeface="Calibri"/>
                <a:ea typeface="맑은 고딕"/>
              </a:rPr>
              <a:t>/</a:t>
            </a:r>
          </a:p>
        </p:txBody>
      </p:sp>
      <p:sp>
        <p:nvSpPr>
          <p:cNvPr id="28" name="En"/>
          <p:cNvSpPr/>
          <p:nvPr/>
        </p:nvSpPr>
        <p:spPr>
          <a:xfrm>
            <a:off x="3518360" y="5202775"/>
            <a:ext cx="3324972" cy="27889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800" b="0">
                <a:solidFill>
                  <a:srgbClr val="333333"/>
                </a:solidFill>
                <a:latin typeface="Calibri"/>
                <a:ea typeface="맑은 고딕"/>
              </a:rPr>
              <a:t>that are very big and complex.</a:t>
            </a:r>
          </a:p>
        </p:txBody>
      </p:sp>
      <p:sp>
        <p:nvSpPr>
          <p:cNvPr id="29" name="reveal_10_kr"/>
          <p:cNvSpPr/>
          <p:nvPr/>
        </p:nvSpPr>
        <p:spPr>
          <a:xfrm>
            <a:off x="3518360" y="5536667"/>
            <a:ext cx="3324972" cy="224663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450" b="0">
                <a:solidFill>
                  <a:srgbClr val="C0392B"/>
                </a:solidFill>
                <a:latin typeface="맑은 고딕"/>
                <a:ea typeface="맑은 고딕"/>
              </a:rPr>
              <a:t>매우 크고 복잡한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10" grpId="0" animBg="1"/>
      <p:bldP spid="12" grpId="0" animBg="1"/>
      <p:bldP spid="14" grpId="0" animBg="1"/>
      <p:bldP spid="16" grpId="0" animBg="1"/>
      <p:bldP spid="19" grpId="0" animBg="1"/>
      <p:bldP spid="21" grpId="0" animBg="1"/>
      <p:bldP spid="24" grpId="0" animBg="1"/>
      <p:bldP spid="26" grpId="0" animBg="1"/>
      <p:bldP spid="29" grpId="0" animBg="1"/>
    </p:bld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adge"/>
          <p:cNvSpPr/>
          <p:nvPr/>
        </p:nvSpPr>
        <p:spPr>
          <a:xfrm>
            <a:off x="548640" y="411480"/>
            <a:ext cx="1188720" cy="50292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900" b="1">
                <a:solidFill>
                  <a:srgbClr val="FFFFFF"/>
                </a:solidFill>
                <a:latin typeface="Calibri"/>
                <a:ea typeface="맑은 고딕"/>
              </a:rPr>
              <a:t>L7-1</a:t>
            </a:r>
          </a:p>
        </p:txBody>
      </p:sp>
      <p:sp>
        <p:nvSpPr>
          <p:cNvPr id="3" name="Rectangle 2"/>
          <p:cNvSpPr/>
          <p:nvPr/>
        </p:nvSpPr>
        <p:spPr>
          <a:xfrm>
            <a:off x="1920240" y="411480"/>
            <a:ext cx="9720072" cy="5029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2400" b="1">
                <a:solidFill>
                  <a:srgbClr val="1E2761"/>
                </a:solidFill>
                <a:latin typeface="Calibri"/>
                <a:ea typeface="맑은 고딕"/>
              </a:rPr>
              <a:t>본문 구문독해  (2/3)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960120"/>
            <a:ext cx="11091672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100" b="0">
                <a:solidFill>
                  <a:srgbClr val="8A8A8A"/>
                </a:solidFill>
                <a:latin typeface="Calibri"/>
                <a:ea typeface="맑은 고딕"/>
              </a:rPr>
              <a:t>동아(윤) 중3 · 시지중 3학년 기말고사 범위 · Lesson 7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492240"/>
            <a:ext cx="11091672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050" b="0">
                <a:solidFill>
                  <a:srgbClr val="8A8A8A"/>
                </a:solidFill>
                <a:latin typeface="Calibri"/>
                <a:ea typeface="맑은 고딕"/>
              </a:rPr>
              <a:t>클릭할 때마다 구문 해석이 왼쪽부터 순서대로 하나씩 날아옵니다</a:t>
            </a:r>
          </a:p>
        </p:txBody>
      </p:sp>
      <p:sp>
        <p:nvSpPr>
          <p:cNvPr id="6" name="En"/>
          <p:cNvSpPr/>
          <p:nvPr/>
        </p:nvSpPr>
        <p:spPr>
          <a:xfrm>
            <a:off x="548640" y="1420000"/>
            <a:ext cx="6036168" cy="27889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800" b="0">
                <a:solidFill>
                  <a:srgbClr val="333333"/>
                </a:solidFill>
                <a:latin typeface="Calibri"/>
                <a:ea typeface="맑은 고딕"/>
              </a:rPr>
              <a:t>As information and communication technology develops,</a:t>
            </a:r>
          </a:p>
        </p:txBody>
      </p:sp>
      <p:sp>
        <p:nvSpPr>
          <p:cNvPr id="7" name="reveal_11_kr"/>
          <p:cNvSpPr/>
          <p:nvPr/>
        </p:nvSpPr>
        <p:spPr>
          <a:xfrm>
            <a:off x="548640" y="1753892"/>
            <a:ext cx="6036168" cy="224663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450" b="0">
                <a:solidFill>
                  <a:srgbClr val="C0392B"/>
                </a:solidFill>
                <a:latin typeface="맑은 고딕"/>
                <a:ea typeface="맑은 고딕"/>
              </a:rPr>
              <a:t>정보 통신 기술이 발달함에 따라</a:t>
            </a:r>
          </a:p>
        </p:txBody>
      </p:sp>
      <p:sp>
        <p:nvSpPr>
          <p:cNvPr id="8" name="Sep"/>
          <p:cNvSpPr/>
          <p:nvPr/>
        </p:nvSpPr>
        <p:spPr>
          <a:xfrm>
            <a:off x="6584808" y="1420000"/>
            <a:ext cx="227793" cy="27889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800" b="1">
                <a:solidFill>
                  <a:srgbClr val="A9B4D6"/>
                </a:solidFill>
                <a:latin typeface="Calibri"/>
                <a:ea typeface="맑은 고딕"/>
              </a:rPr>
              <a:t>/</a:t>
            </a:r>
          </a:p>
        </p:txBody>
      </p:sp>
      <p:sp>
        <p:nvSpPr>
          <p:cNvPr id="9" name="En"/>
          <p:cNvSpPr/>
          <p:nvPr/>
        </p:nvSpPr>
        <p:spPr>
          <a:xfrm>
            <a:off x="6812601" y="1420000"/>
            <a:ext cx="2895203" cy="27889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800" b="0">
                <a:solidFill>
                  <a:srgbClr val="333333"/>
                </a:solidFill>
                <a:latin typeface="Calibri"/>
                <a:ea typeface="맑은 고딕"/>
              </a:rPr>
              <a:t>the amount of data we have</a:t>
            </a:r>
          </a:p>
        </p:txBody>
      </p:sp>
      <p:sp>
        <p:nvSpPr>
          <p:cNvPr id="10" name="reveal_12_kr"/>
          <p:cNvSpPr/>
          <p:nvPr/>
        </p:nvSpPr>
        <p:spPr>
          <a:xfrm>
            <a:off x="6812601" y="1753892"/>
            <a:ext cx="2895203" cy="224663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450" b="0">
                <a:solidFill>
                  <a:srgbClr val="C0392B"/>
                </a:solidFill>
                <a:latin typeface="맑은 고딕"/>
                <a:ea typeface="맑은 고딕"/>
              </a:rPr>
              <a:t>우리가 가진 데이터의 양이</a:t>
            </a:r>
          </a:p>
        </p:txBody>
      </p:sp>
      <p:sp>
        <p:nvSpPr>
          <p:cNvPr id="11" name="En"/>
          <p:cNvSpPr/>
          <p:nvPr/>
        </p:nvSpPr>
        <p:spPr>
          <a:xfrm>
            <a:off x="548640" y="2088555"/>
            <a:ext cx="4010772" cy="27889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800" b="0">
                <a:solidFill>
                  <a:srgbClr val="333333"/>
                </a:solidFill>
                <a:latin typeface="Calibri"/>
                <a:ea typeface="맑은 고딕"/>
              </a:rPr>
              <a:t>is getting much greater than before.</a:t>
            </a:r>
          </a:p>
        </p:txBody>
      </p:sp>
      <p:sp>
        <p:nvSpPr>
          <p:cNvPr id="12" name="reveal_13_kr"/>
          <p:cNvSpPr/>
          <p:nvPr/>
        </p:nvSpPr>
        <p:spPr>
          <a:xfrm>
            <a:off x="548640" y="2422447"/>
            <a:ext cx="4010772" cy="224663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450" b="0">
                <a:solidFill>
                  <a:srgbClr val="C0392B"/>
                </a:solidFill>
                <a:latin typeface="맑은 고딕"/>
                <a:ea typeface="맑은 고딕"/>
              </a:rPr>
              <a:t>이전보다 훨씬 더 많아지고 있다</a:t>
            </a:r>
          </a:p>
        </p:txBody>
      </p:sp>
      <p:sp>
        <p:nvSpPr>
          <p:cNvPr id="13" name="En"/>
          <p:cNvSpPr/>
          <p:nvPr/>
        </p:nvSpPr>
        <p:spPr>
          <a:xfrm>
            <a:off x="548640" y="2867110"/>
            <a:ext cx="2538588" cy="27889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800" b="0">
                <a:solidFill>
                  <a:srgbClr val="333333"/>
                </a:solidFill>
                <a:latin typeface="Calibri"/>
                <a:ea typeface="맑은 고딕"/>
              </a:rPr>
              <a:t>This is mainly because</a:t>
            </a:r>
          </a:p>
        </p:txBody>
      </p:sp>
      <p:sp>
        <p:nvSpPr>
          <p:cNvPr id="14" name="reveal_14_kr"/>
          <p:cNvSpPr/>
          <p:nvPr/>
        </p:nvSpPr>
        <p:spPr>
          <a:xfrm>
            <a:off x="548640" y="3201002"/>
            <a:ext cx="2538588" cy="224663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450" b="0">
                <a:solidFill>
                  <a:srgbClr val="C0392B"/>
                </a:solidFill>
                <a:latin typeface="맑은 고딕"/>
                <a:ea typeface="맑은 고딕"/>
              </a:rPr>
              <a:t>이것은 주로 ~ 때문이다</a:t>
            </a:r>
          </a:p>
        </p:txBody>
      </p:sp>
      <p:sp>
        <p:nvSpPr>
          <p:cNvPr id="15" name="Sep"/>
          <p:cNvSpPr/>
          <p:nvPr/>
        </p:nvSpPr>
        <p:spPr>
          <a:xfrm>
            <a:off x="3087228" y="2867110"/>
            <a:ext cx="227793" cy="27889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800" b="1">
                <a:solidFill>
                  <a:srgbClr val="A9B4D6"/>
                </a:solidFill>
                <a:latin typeface="Calibri"/>
                <a:ea typeface="맑은 고딕"/>
              </a:rPr>
              <a:t>/</a:t>
            </a:r>
          </a:p>
        </p:txBody>
      </p:sp>
      <p:sp>
        <p:nvSpPr>
          <p:cNvPr id="16" name="En"/>
          <p:cNvSpPr/>
          <p:nvPr/>
        </p:nvSpPr>
        <p:spPr>
          <a:xfrm>
            <a:off x="3315021" y="2867110"/>
            <a:ext cx="3923903" cy="27889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800" b="0">
                <a:solidFill>
                  <a:srgbClr val="333333"/>
                </a:solidFill>
                <a:latin typeface="Calibri"/>
                <a:ea typeface="맑은 고딕"/>
              </a:rPr>
              <a:t>almost everything that we do online</a:t>
            </a:r>
          </a:p>
        </p:txBody>
      </p:sp>
      <p:sp>
        <p:nvSpPr>
          <p:cNvPr id="17" name="reveal_15_kr"/>
          <p:cNvSpPr/>
          <p:nvPr/>
        </p:nvSpPr>
        <p:spPr>
          <a:xfrm>
            <a:off x="3315021" y="3201002"/>
            <a:ext cx="3923903" cy="224663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450" b="0">
                <a:solidFill>
                  <a:srgbClr val="C0392B"/>
                </a:solidFill>
                <a:latin typeface="맑은 고딕"/>
                <a:ea typeface="맑은 고딕"/>
              </a:rPr>
              <a:t>우리가 온라인에서 하는 거의 모든 것이</a:t>
            </a:r>
          </a:p>
        </p:txBody>
      </p:sp>
      <p:sp>
        <p:nvSpPr>
          <p:cNvPr id="18" name="Sep"/>
          <p:cNvSpPr/>
          <p:nvPr/>
        </p:nvSpPr>
        <p:spPr>
          <a:xfrm>
            <a:off x="7238924" y="2867110"/>
            <a:ext cx="227793" cy="27889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800" b="1">
                <a:solidFill>
                  <a:srgbClr val="A9B4D6"/>
                </a:solidFill>
                <a:latin typeface="Calibri"/>
                <a:ea typeface="맑은 고딕"/>
              </a:rPr>
              <a:t>/</a:t>
            </a:r>
          </a:p>
        </p:txBody>
      </p:sp>
      <p:sp>
        <p:nvSpPr>
          <p:cNvPr id="19" name="En"/>
          <p:cNvSpPr/>
          <p:nvPr/>
        </p:nvSpPr>
        <p:spPr>
          <a:xfrm>
            <a:off x="7466717" y="2867110"/>
            <a:ext cx="1733916" cy="27889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800" b="0">
                <a:solidFill>
                  <a:srgbClr val="333333"/>
                </a:solidFill>
                <a:latin typeface="Calibri"/>
                <a:ea typeface="맑은 고딕"/>
              </a:rPr>
              <a:t>leaves a trace.</a:t>
            </a:r>
          </a:p>
        </p:txBody>
      </p:sp>
      <p:sp>
        <p:nvSpPr>
          <p:cNvPr id="20" name="reveal_16_kr"/>
          <p:cNvSpPr/>
          <p:nvPr/>
        </p:nvSpPr>
        <p:spPr>
          <a:xfrm>
            <a:off x="7466717" y="3201002"/>
            <a:ext cx="1733916" cy="224663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450" b="0">
                <a:solidFill>
                  <a:srgbClr val="C0392B"/>
                </a:solidFill>
                <a:latin typeface="맑은 고딕"/>
                <a:ea typeface="맑은 고딕"/>
              </a:rPr>
              <a:t>흔적을 남기기</a:t>
            </a:r>
          </a:p>
        </p:txBody>
      </p:sp>
      <p:sp>
        <p:nvSpPr>
          <p:cNvPr id="21" name="En"/>
          <p:cNvSpPr/>
          <p:nvPr/>
        </p:nvSpPr>
        <p:spPr>
          <a:xfrm>
            <a:off x="548640" y="3645665"/>
            <a:ext cx="1496172" cy="27889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800" b="0">
                <a:solidFill>
                  <a:srgbClr val="333333"/>
                </a:solidFill>
                <a:latin typeface="Calibri"/>
                <a:ea typeface="맑은 고딕"/>
              </a:rPr>
              <a:t>For example,</a:t>
            </a:r>
          </a:p>
        </p:txBody>
      </p:sp>
      <p:sp>
        <p:nvSpPr>
          <p:cNvPr id="22" name="reveal_17_kr"/>
          <p:cNvSpPr/>
          <p:nvPr/>
        </p:nvSpPr>
        <p:spPr>
          <a:xfrm>
            <a:off x="548640" y="3979557"/>
            <a:ext cx="1496172" cy="224663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450" b="0">
                <a:solidFill>
                  <a:srgbClr val="C0392B"/>
                </a:solidFill>
                <a:latin typeface="맑은 고딕"/>
                <a:ea typeface="맑은 고딕"/>
              </a:rPr>
              <a:t>예를 들어</a:t>
            </a:r>
          </a:p>
        </p:txBody>
      </p:sp>
      <p:sp>
        <p:nvSpPr>
          <p:cNvPr id="23" name="Sep"/>
          <p:cNvSpPr/>
          <p:nvPr/>
        </p:nvSpPr>
        <p:spPr>
          <a:xfrm>
            <a:off x="2044812" y="3645665"/>
            <a:ext cx="227793" cy="27889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800" b="1">
                <a:solidFill>
                  <a:srgbClr val="A9B4D6"/>
                </a:solidFill>
                <a:latin typeface="Calibri"/>
                <a:ea typeface="맑은 고딕"/>
              </a:rPr>
              <a:t>/</a:t>
            </a:r>
          </a:p>
        </p:txBody>
      </p:sp>
      <p:sp>
        <p:nvSpPr>
          <p:cNvPr id="24" name="En"/>
          <p:cNvSpPr/>
          <p:nvPr/>
        </p:nvSpPr>
        <p:spPr>
          <a:xfrm>
            <a:off x="2272605" y="3645665"/>
            <a:ext cx="3704447" cy="27889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800" b="0">
                <a:solidFill>
                  <a:srgbClr val="333333"/>
                </a:solidFill>
                <a:latin typeface="Calibri"/>
                <a:ea typeface="맑은 고딕"/>
              </a:rPr>
              <a:t>the photos you upload on your blog</a:t>
            </a:r>
          </a:p>
        </p:txBody>
      </p:sp>
      <p:sp>
        <p:nvSpPr>
          <p:cNvPr id="25" name="reveal_18_kr"/>
          <p:cNvSpPr/>
          <p:nvPr/>
        </p:nvSpPr>
        <p:spPr>
          <a:xfrm>
            <a:off x="2272605" y="3979557"/>
            <a:ext cx="3704447" cy="224663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450" b="0">
                <a:solidFill>
                  <a:srgbClr val="C0392B"/>
                </a:solidFill>
                <a:latin typeface="맑은 고딕"/>
                <a:ea typeface="맑은 고딕"/>
              </a:rPr>
              <a:t>당신이 블로그에 올리는 사진들</a:t>
            </a:r>
          </a:p>
        </p:txBody>
      </p:sp>
      <p:sp>
        <p:nvSpPr>
          <p:cNvPr id="26" name="Sep"/>
          <p:cNvSpPr/>
          <p:nvPr/>
        </p:nvSpPr>
        <p:spPr>
          <a:xfrm>
            <a:off x="5977052" y="3645665"/>
            <a:ext cx="227793" cy="27889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800" b="1">
                <a:solidFill>
                  <a:srgbClr val="A9B4D6"/>
                </a:solidFill>
                <a:latin typeface="Calibri"/>
                <a:ea typeface="맑은 고딕"/>
              </a:rPr>
              <a:t>/</a:t>
            </a:r>
          </a:p>
        </p:txBody>
      </p:sp>
      <p:sp>
        <p:nvSpPr>
          <p:cNvPr id="27" name="En"/>
          <p:cNvSpPr/>
          <p:nvPr/>
        </p:nvSpPr>
        <p:spPr>
          <a:xfrm>
            <a:off x="6204845" y="3645665"/>
            <a:ext cx="3640439" cy="27889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800" b="0">
                <a:solidFill>
                  <a:srgbClr val="333333"/>
                </a:solidFill>
                <a:latin typeface="Calibri"/>
                <a:ea typeface="맑은 고딕"/>
              </a:rPr>
              <a:t>and the records of your purchases</a:t>
            </a:r>
          </a:p>
        </p:txBody>
      </p:sp>
      <p:sp>
        <p:nvSpPr>
          <p:cNvPr id="28" name="reveal_19_kr"/>
          <p:cNvSpPr/>
          <p:nvPr/>
        </p:nvSpPr>
        <p:spPr>
          <a:xfrm>
            <a:off x="6204845" y="3979557"/>
            <a:ext cx="3640439" cy="224663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450" b="0">
                <a:solidFill>
                  <a:srgbClr val="C0392B"/>
                </a:solidFill>
                <a:latin typeface="맑은 고딕"/>
                <a:ea typeface="맑은 고딕"/>
              </a:rPr>
              <a:t>그리고 당신의 구매 기록들은</a:t>
            </a:r>
          </a:p>
        </p:txBody>
      </p:sp>
      <p:sp>
        <p:nvSpPr>
          <p:cNvPr id="29" name="En"/>
          <p:cNvSpPr/>
          <p:nvPr/>
        </p:nvSpPr>
        <p:spPr>
          <a:xfrm>
            <a:off x="548640" y="4314220"/>
            <a:ext cx="1848216" cy="27889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800" b="0">
                <a:solidFill>
                  <a:srgbClr val="333333"/>
                </a:solidFill>
                <a:latin typeface="Calibri"/>
                <a:ea typeface="맑은 고딕"/>
              </a:rPr>
              <a:t>at online stores</a:t>
            </a:r>
          </a:p>
        </p:txBody>
      </p:sp>
      <p:sp>
        <p:nvSpPr>
          <p:cNvPr id="30" name="reveal_20_kr"/>
          <p:cNvSpPr/>
          <p:nvPr/>
        </p:nvSpPr>
        <p:spPr>
          <a:xfrm>
            <a:off x="548640" y="4648112"/>
            <a:ext cx="1848216" cy="224663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450" b="0">
                <a:solidFill>
                  <a:srgbClr val="C0392B"/>
                </a:solidFill>
                <a:latin typeface="맑은 고딕"/>
                <a:ea typeface="맑은 고딕"/>
              </a:rPr>
              <a:t>온라인 상점에서의</a:t>
            </a:r>
          </a:p>
        </p:txBody>
      </p:sp>
      <p:sp>
        <p:nvSpPr>
          <p:cNvPr id="31" name="Sep"/>
          <p:cNvSpPr/>
          <p:nvPr/>
        </p:nvSpPr>
        <p:spPr>
          <a:xfrm>
            <a:off x="2396856" y="4314220"/>
            <a:ext cx="227793" cy="27889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800" b="1">
                <a:solidFill>
                  <a:srgbClr val="A9B4D6"/>
                </a:solidFill>
                <a:latin typeface="Calibri"/>
                <a:ea typeface="맑은 고딕"/>
              </a:rPr>
              <a:t>/</a:t>
            </a:r>
          </a:p>
        </p:txBody>
      </p:sp>
      <p:sp>
        <p:nvSpPr>
          <p:cNvPr id="32" name="En"/>
          <p:cNvSpPr/>
          <p:nvPr/>
        </p:nvSpPr>
        <p:spPr>
          <a:xfrm>
            <a:off x="2624649" y="4314220"/>
            <a:ext cx="2726040" cy="27889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800" b="0">
                <a:solidFill>
                  <a:srgbClr val="333333"/>
                </a:solidFill>
                <a:latin typeface="Calibri"/>
                <a:ea typeface="맑은 고딕"/>
              </a:rPr>
              <a:t>are all part of big data.</a:t>
            </a:r>
          </a:p>
        </p:txBody>
      </p:sp>
      <p:sp>
        <p:nvSpPr>
          <p:cNvPr id="33" name="reveal_21_kr"/>
          <p:cNvSpPr/>
          <p:nvPr/>
        </p:nvSpPr>
        <p:spPr>
          <a:xfrm>
            <a:off x="2624649" y="4648112"/>
            <a:ext cx="2726040" cy="224663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450" b="0">
                <a:solidFill>
                  <a:srgbClr val="C0392B"/>
                </a:solidFill>
                <a:latin typeface="맑은 고딕"/>
                <a:ea typeface="맑은 고딕"/>
              </a:rPr>
              <a:t>모두 빅데이터의 일부이다</a:t>
            </a:r>
          </a:p>
        </p:txBody>
      </p:sp>
      <p:sp>
        <p:nvSpPr>
          <p:cNvPr id="34" name="En"/>
          <p:cNvSpPr/>
          <p:nvPr/>
        </p:nvSpPr>
        <p:spPr>
          <a:xfrm>
            <a:off x="548640" y="5092775"/>
            <a:ext cx="3709019" cy="27889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800" b="0">
                <a:solidFill>
                  <a:srgbClr val="333333"/>
                </a:solidFill>
                <a:latin typeface="Calibri"/>
                <a:ea typeface="맑은 고딕"/>
              </a:rPr>
              <a:t>Simply collecting data, however,</a:t>
            </a:r>
          </a:p>
        </p:txBody>
      </p:sp>
      <p:sp>
        <p:nvSpPr>
          <p:cNvPr id="35" name="reveal_22_kr"/>
          <p:cNvSpPr/>
          <p:nvPr/>
        </p:nvSpPr>
        <p:spPr>
          <a:xfrm>
            <a:off x="548640" y="5426667"/>
            <a:ext cx="3709019" cy="224663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450" b="0">
                <a:solidFill>
                  <a:srgbClr val="C0392B"/>
                </a:solidFill>
                <a:latin typeface="맑은 고딕"/>
                <a:ea typeface="맑은 고딕"/>
              </a:rPr>
              <a:t>하지만 단순히 데이터를 수집하는 것은</a:t>
            </a:r>
          </a:p>
        </p:txBody>
      </p:sp>
      <p:sp>
        <p:nvSpPr>
          <p:cNvPr id="36" name="Sep"/>
          <p:cNvSpPr/>
          <p:nvPr/>
        </p:nvSpPr>
        <p:spPr>
          <a:xfrm>
            <a:off x="4257659" y="5092775"/>
            <a:ext cx="227793" cy="27889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800" b="1">
                <a:solidFill>
                  <a:srgbClr val="A9B4D6"/>
                </a:solidFill>
                <a:latin typeface="Calibri"/>
                <a:ea typeface="맑은 고딕"/>
              </a:rPr>
              <a:t>/</a:t>
            </a:r>
          </a:p>
        </p:txBody>
      </p:sp>
      <p:sp>
        <p:nvSpPr>
          <p:cNvPr id="37" name="En"/>
          <p:cNvSpPr/>
          <p:nvPr/>
        </p:nvSpPr>
        <p:spPr>
          <a:xfrm>
            <a:off x="4485452" y="5092775"/>
            <a:ext cx="1619616" cy="27889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800" b="0">
                <a:solidFill>
                  <a:srgbClr val="333333"/>
                </a:solidFill>
                <a:latin typeface="Calibri"/>
                <a:ea typeface="맑은 고딕"/>
              </a:rPr>
              <a:t>is not enough.</a:t>
            </a:r>
          </a:p>
        </p:txBody>
      </p:sp>
      <p:sp>
        <p:nvSpPr>
          <p:cNvPr id="38" name="reveal_23_kr"/>
          <p:cNvSpPr/>
          <p:nvPr/>
        </p:nvSpPr>
        <p:spPr>
          <a:xfrm>
            <a:off x="4485452" y="5426667"/>
            <a:ext cx="1619616" cy="224663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450" b="0">
                <a:solidFill>
                  <a:srgbClr val="C0392B"/>
                </a:solidFill>
                <a:latin typeface="맑은 고딕"/>
                <a:ea typeface="맑은 고딕"/>
              </a:rPr>
              <a:t>충분하지 않다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10" grpId="0" animBg="1"/>
      <p:bldP spid="12" grpId="0" animBg="1"/>
      <p:bldP spid="14" grpId="0" animBg="1"/>
      <p:bldP spid="17" grpId="0" animBg="1"/>
      <p:bldP spid="20" grpId="0" animBg="1"/>
      <p:bldP spid="22" grpId="0" animBg="1"/>
      <p:bldP spid="25" grpId="0" animBg="1"/>
      <p:bldP spid="28" grpId="0" animBg="1"/>
      <p:bldP spid="30" grpId="0" animBg="1"/>
      <p:bldP spid="33" grpId="0" animBg="1"/>
      <p:bldP spid="35" grpId="0" animBg="1"/>
      <p:bldP spid="38" grpId="0" animBg="1"/>
    </p:bld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adge"/>
          <p:cNvSpPr/>
          <p:nvPr/>
        </p:nvSpPr>
        <p:spPr>
          <a:xfrm>
            <a:off x="548640" y="411480"/>
            <a:ext cx="1188720" cy="50292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900" b="1">
                <a:solidFill>
                  <a:srgbClr val="FFFFFF"/>
                </a:solidFill>
                <a:latin typeface="Calibri"/>
                <a:ea typeface="맑은 고딕"/>
              </a:rPr>
              <a:t>L7-1</a:t>
            </a:r>
          </a:p>
        </p:txBody>
      </p:sp>
      <p:sp>
        <p:nvSpPr>
          <p:cNvPr id="3" name="Rectangle 2"/>
          <p:cNvSpPr/>
          <p:nvPr/>
        </p:nvSpPr>
        <p:spPr>
          <a:xfrm>
            <a:off x="1920240" y="411480"/>
            <a:ext cx="9720072" cy="5029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2400" b="1">
                <a:solidFill>
                  <a:srgbClr val="1E2761"/>
                </a:solidFill>
                <a:latin typeface="Calibri"/>
                <a:ea typeface="맑은 고딕"/>
              </a:rPr>
              <a:t>본문 구문독해  (3/3)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960120"/>
            <a:ext cx="11091672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100" b="0">
                <a:solidFill>
                  <a:srgbClr val="8A8A8A"/>
                </a:solidFill>
                <a:latin typeface="Calibri"/>
                <a:ea typeface="맑은 고딕"/>
              </a:rPr>
              <a:t>동아(윤) 중3 · 시지중 3학년 기말고사 범위 · Lesson 7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492240"/>
            <a:ext cx="11091672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050" b="0">
                <a:solidFill>
                  <a:srgbClr val="8A8A8A"/>
                </a:solidFill>
                <a:latin typeface="Calibri"/>
                <a:ea typeface="맑은 고딕"/>
              </a:rPr>
              <a:t>클릭할 때마다 구문 해석이 왼쪽부터 순서대로 하나씩 날아옵니다</a:t>
            </a:r>
          </a:p>
        </p:txBody>
      </p:sp>
      <p:sp>
        <p:nvSpPr>
          <p:cNvPr id="6" name="En"/>
          <p:cNvSpPr/>
          <p:nvPr/>
        </p:nvSpPr>
        <p:spPr>
          <a:xfrm>
            <a:off x="548640" y="1420000"/>
            <a:ext cx="3096372" cy="27889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800" b="0">
                <a:solidFill>
                  <a:srgbClr val="333333"/>
                </a:solidFill>
                <a:latin typeface="Calibri"/>
                <a:ea typeface="맑은 고딕"/>
              </a:rPr>
              <a:t>Big data has to be analyzed,</a:t>
            </a:r>
          </a:p>
        </p:txBody>
      </p:sp>
      <p:sp>
        <p:nvSpPr>
          <p:cNvPr id="7" name="reveal_24_kr"/>
          <p:cNvSpPr/>
          <p:nvPr/>
        </p:nvSpPr>
        <p:spPr>
          <a:xfrm>
            <a:off x="548640" y="1753892"/>
            <a:ext cx="3096372" cy="224663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450" b="0">
                <a:solidFill>
                  <a:srgbClr val="C0392B"/>
                </a:solidFill>
                <a:latin typeface="맑은 고딕"/>
                <a:ea typeface="맑은 고딕"/>
              </a:rPr>
              <a:t>빅데이터는 분석되어야 한다</a:t>
            </a:r>
          </a:p>
        </p:txBody>
      </p:sp>
      <p:sp>
        <p:nvSpPr>
          <p:cNvPr id="8" name="Sep"/>
          <p:cNvSpPr/>
          <p:nvPr/>
        </p:nvSpPr>
        <p:spPr>
          <a:xfrm>
            <a:off x="3645012" y="1420000"/>
            <a:ext cx="227793" cy="27889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800" b="1">
                <a:solidFill>
                  <a:srgbClr val="A9B4D6"/>
                </a:solidFill>
                <a:latin typeface="Calibri"/>
                <a:ea typeface="맑은 고딕"/>
              </a:rPr>
              <a:t>/</a:t>
            </a:r>
          </a:p>
        </p:txBody>
      </p:sp>
      <p:sp>
        <p:nvSpPr>
          <p:cNvPr id="9" name="En"/>
          <p:cNvSpPr/>
          <p:nvPr/>
        </p:nvSpPr>
        <p:spPr>
          <a:xfrm>
            <a:off x="3872805" y="1420000"/>
            <a:ext cx="4644565" cy="27889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800" b="0">
                <a:solidFill>
                  <a:srgbClr val="333333"/>
                </a:solidFill>
                <a:latin typeface="Calibri"/>
                <a:ea typeface="맑은 고딕"/>
              </a:rPr>
              <a:t>and this is done by big data experts.</a:t>
            </a:r>
          </a:p>
        </p:txBody>
      </p:sp>
      <p:sp>
        <p:nvSpPr>
          <p:cNvPr id="10" name="reveal_25_kr"/>
          <p:cNvSpPr/>
          <p:nvPr/>
        </p:nvSpPr>
        <p:spPr>
          <a:xfrm>
            <a:off x="3872805" y="1753892"/>
            <a:ext cx="4644565" cy="224663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450" b="0">
                <a:solidFill>
                  <a:srgbClr val="C0392B"/>
                </a:solidFill>
                <a:latin typeface="맑은 고딕"/>
                <a:ea typeface="맑은 고딕"/>
              </a:rPr>
              <a:t>그리고 이것은 빅데이터 전문가들에 의해 이루어진다</a:t>
            </a:r>
          </a:p>
        </p:txBody>
      </p:sp>
      <p:sp>
        <p:nvSpPr>
          <p:cNvPr id="11" name="En"/>
          <p:cNvSpPr/>
          <p:nvPr/>
        </p:nvSpPr>
        <p:spPr>
          <a:xfrm>
            <a:off x="548640" y="2198555"/>
            <a:ext cx="2588880" cy="27889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800" b="0">
                <a:solidFill>
                  <a:srgbClr val="333333"/>
                </a:solidFill>
                <a:latin typeface="Calibri"/>
                <a:ea typeface="맑은 고딕"/>
              </a:rPr>
              <a:t>Using various methods,</a:t>
            </a:r>
          </a:p>
        </p:txBody>
      </p:sp>
      <p:sp>
        <p:nvSpPr>
          <p:cNvPr id="12" name="reveal_26_kr"/>
          <p:cNvSpPr/>
          <p:nvPr/>
        </p:nvSpPr>
        <p:spPr>
          <a:xfrm>
            <a:off x="548640" y="2532447"/>
            <a:ext cx="2588880" cy="224663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450" b="0">
                <a:solidFill>
                  <a:srgbClr val="C0392B"/>
                </a:solidFill>
                <a:latin typeface="맑은 고딕"/>
                <a:ea typeface="맑은 고딕"/>
              </a:rPr>
              <a:t>다양한 방법들을 사용하여</a:t>
            </a:r>
          </a:p>
        </p:txBody>
      </p:sp>
      <p:sp>
        <p:nvSpPr>
          <p:cNvPr id="13" name="Sep"/>
          <p:cNvSpPr/>
          <p:nvPr/>
        </p:nvSpPr>
        <p:spPr>
          <a:xfrm>
            <a:off x="3137520" y="2198555"/>
            <a:ext cx="227793" cy="27889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800" b="1">
                <a:solidFill>
                  <a:srgbClr val="A9B4D6"/>
                </a:solidFill>
                <a:latin typeface="Calibri"/>
                <a:ea typeface="맑은 고딕"/>
              </a:rPr>
              <a:t>/</a:t>
            </a:r>
          </a:p>
        </p:txBody>
      </p:sp>
      <p:sp>
        <p:nvSpPr>
          <p:cNvPr id="14" name="En"/>
          <p:cNvSpPr/>
          <p:nvPr/>
        </p:nvSpPr>
        <p:spPr>
          <a:xfrm>
            <a:off x="3365313" y="2198555"/>
            <a:ext cx="2935285" cy="27889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800" b="0">
                <a:solidFill>
                  <a:srgbClr val="333333"/>
                </a:solidFill>
                <a:latin typeface="Calibri"/>
                <a:ea typeface="맑은 고딕"/>
              </a:rPr>
              <a:t>experts analyze big data</a:t>
            </a:r>
          </a:p>
        </p:txBody>
      </p:sp>
      <p:sp>
        <p:nvSpPr>
          <p:cNvPr id="15" name="reveal_27_kr"/>
          <p:cNvSpPr/>
          <p:nvPr/>
        </p:nvSpPr>
        <p:spPr>
          <a:xfrm>
            <a:off x="3365313" y="2532447"/>
            <a:ext cx="2935285" cy="224663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450" b="0">
                <a:solidFill>
                  <a:srgbClr val="C0392B"/>
                </a:solidFill>
                <a:latin typeface="맑은 고딕"/>
                <a:ea typeface="맑은 고딕"/>
              </a:rPr>
              <a:t>전문가들은 빅데이터를 분석한다</a:t>
            </a:r>
          </a:p>
        </p:txBody>
      </p:sp>
      <p:sp>
        <p:nvSpPr>
          <p:cNvPr id="16" name="Sep"/>
          <p:cNvSpPr/>
          <p:nvPr/>
        </p:nvSpPr>
        <p:spPr>
          <a:xfrm>
            <a:off x="6300598" y="2198555"/>
            <a:ext cx="227793" cy="27889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800" b="1">
                <a:solidFill>
                  <a:srgbClr val="A9B4D6"/>
                </a:solidFill>
                <a:latin typeface="Calibri"/>
                <a:ea typeface="맑은 고딕"/>
              </a:rPr>
              <a:t>/</a:t>
            </a:r>
          </a:p>
        </p:txBody>
      </p:sp>
      <p:sp>
        <p:nvSpPr>
          <p:cNvPr id="17" name="En"/>
          <p:cNvSpPr/>
          <p:nvPr/>
        </p:nvSpPr>
        <p:spPr>
          <a:xfrm>
            <a:off x="6528391" y="2198555"/>
            <a:ext cx="4257850" cy="27889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800" b="0">
                <a:solidFill>
                  <a:srgbClr val="333333"/>
                </a:solidFill>
                <a:latin typeface="Calibri"/>
                <a:ea typeface="맑은 고딕"/>
              </a:rPr>
              <a:t>and draw meaningful results from it.</a:t>
            </a:r>
          </a:p>
        </p:txBody>
      </p:sp>
      <p:sp>
        <p:nvSpPr>
          <p:cNvPr id="18" name="reveal_28_kr"/>
          <p:cNvSpPr/>
          <p:nvPr/>
        </p:nvSpPr>
        <p:spPr>
          <a:xfrm>
            <a:off x="6528391" y="2532447"/>
            <a:ext cx="4257850" cy="224663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450" b="0">
                <a:solidFill>
                  <a:srgbClr val="C0392B"/>
                </a:solidFill>
                <a:latin typeface="맑은 고딕"/>
                <a:ea typeface="맑은 고딕"/>
              </a:rPr>
              <a:t>그리고 그것으로부터 의미 있는 결과를 도출한다</a:t>
            </a:r>
          </a:p>
        </p:txBody>
      </p:sp>
      <p:sp>
        <p:nvSpPr>
          <p:cNvPr id="19" name="En"/>
          <p:cNvSpPr/>
          <p:nvPr/>
        </p:nvSpPr>
        <p:spPr>
          <a:xfrm>
            <a:off x="548640" y="2977110"/>
            <a:ext cx="3345203" cy="27889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800" b="0">
                <a:solidFill>
                  <a:srgbClr val="333333"/>
                </a:solidFill>
                <a:latin typeface="Calibri"/>
                <a:ea typeface="맑은 고딕"/>
              </a:rPr>
              <a:t>These results then can be used</a:t>
            </a:r>
          </a:p>
        </p:txBody>
      </p:sp>
      <p:sp>
        <p:nvSpPr>
          <p:cNvPr id="20" name="reveal_29_kr"/>
          <p:cNvSpPr/>
          <p:nvPr/>
        </p:nvSpPr>
        <p:spPr>
          <a:xfrm>
            <a:off x="548640" y="3311002"/>
            <a:ext cx="3345203" cy="224663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450" b="0">
                <a:solidFill>
                  <a:srgbClr val="C0392B"/>
                </a:solidFill>
                <a:latin typeface="맑은 고딕"/>
                <a:ea typeface="맑은 고딕"/>
              </a:rPr>
              <a:t>그런 다음 이 결과들은 사용될 수 있다</a:t>
            </a:r>
          </a:p>
        </p:txBody>
      </p:sp>
      <p:sp>
        <p:nvSpPr>
          <p:cNvPr id="21" name="Sep"/>
          <p:cNvSpPr/>
          <p:nvPr/>
        </p:nvSpPr>
        <p:spPr>
          <a:xfrm>
            <a:off x="3893843" y="2977110"/>
            <a:ext cx="227793" cy="27889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800" b="1">
                <a:solidFill>
                  <a:srgbClr val="A9B4D6"/>
                </a:solidFill>
                <a:latin typeface="Calibri"/>
                <a:ea typeface="맑은 고딕"/>
              </a:rPr>
              <a:t>/</a:t>
            </a:r>
          </a:p>
        </p:txBody>
      </p:sp>
      <p:sp>
        <p:nvSpPr>
          <p:cNvPr id="22" name="En"/>
          <p:cNvSpPr/>
          <p:nvPr/>
        </p:nvSpPr>
        <p:spPr>
          <a:xfrm>
            <a:off x="4121636" y="2977110"/>
            <a:ext cx="1989948" cy="27889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800" b="0">
                <a:solidFill>
                  <a:srgbClr val="333333"/>
                </a:solidFill>
                <a:latin typeface="Calibri"/>
                <a:ea typeface="맑은 고딕"/>
              </a:rPr>
              <a:t>to make decisions</a:t>
            </a:r>
          </a:p>
        </p:txBody>
      </p:sp>
      <p:sp>
        <p:nvSpPr>
          <p:cNvPr id="23" name="reveal_30_kr"/>
          <p:cNvSpPr/>
          <p:nvPr/>
        </p:nvSpPr>
        <p:spPr>
          <a:xfrm>
            <a:off x="4121636" y="3311002"/>
            <a:ext cx="1989948" cy="224663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450" b="0">
                <a:solidFill>
                  <a:srgbClr val="C0392B"/>
                </a:solidFill>
                <a:latin typeface="맑은 고딕"/>
                <a:ea typeface="맑은 고딕"/>
              </a:rPr>
              <a:t>결정을 내리는 데</a:t>
            </a:r>
          </a:p>
        </p:txBody>
      </p:sp>
      <p:sp>
        <p:nvSpPr>
          <p:cNvPr id="24" name="Sep"/>
          <p:cNvSpPr/>
          <p:nvPr/>
        </p:nvSpPr>
        <p:spPr>
          <a:xfrm>
            <a:off x="6111584" y="2977110"/>
            <a:ext cx="227793" cy="27889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800" b="1">
                <a:solidFill>
                  <a:srgbClr val="A9B4D6"/>
                </a:solidFill>
                <a:latin typeface="Calibri"/>
                <a:ea typeface="맑은 고딕"/>
              </a:rPr>
              <a:t>/</a:t>
            </a:r>
          </a:p>
        </p:txBody>
      </p:sp>
      <p:sp>
        <p:nvSpPr>
          <p:cNvPr id="25" name="En"/>
          <p:cNvSpPr/>
          <p:nvPr/>
        </p:nvSpPr>
        <p:spPr>
          <a:xfrm>
            <a:off x="6339377" y="2977110"/>
            <a:ext cx="2776332" cy="27889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800" b="0">
                <a:solidFill>
                  <a:srgbClr val="333333"/>
                </a:solidFill>
                <a:latin typeface="Calibri"/>
                <a:ea typeface="맑은 고딕"/>
              </a:rPr>
              <a:t>or to predict the future.</a:t>
            </a:r>
          </a:p>
        </p:txBody>
      </p:sp>
      <p:sp>
        <p:nvSpPr>
          <p:cNvPr id="26" name="reveal_31_kr"/>
          <p:cNvSpPr/>
          <p:nvPr/>
        </p:nvSpPr>
        <p:spPr>
          <a:xfrm>
            <a:off x="6339377" y="3311002"/>
            <a:ext cx="2776332" cy="224663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450" b="0">
                <a:solidFill>
                  <a:srgbClr val="C0392B"/>
                </a:solidFill>
                <a:latin typeface="맑은 고딕"/>
                <a:ea typeface="맑은 고딕"/>
              </a:rPr>
              <a:t>또는 미래를 예측하는 데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10" grpId="0" animBg="1"/>
      <p:bldP spid="12" grpId="0" animBg="1"/>
      <p:bldP spid="15" grpId="0" animBg="1"/>
      <p:bldP spid="18" grpId="0" animBg="1"/>
      <p:bldP spid="20" grpId="0" animBg="1"/>
      <p:bldP spid="23" grpId="0" animBg="1"/>
      <p:bldP spid="26" grpId="0" animBg="1"/>
    </p:bld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adge"/>
          <p:cNvSpPr/>
          <p:nvPr/>
        </p:nvSpPr>
        <p:spPr>
          <a:xfrm>
            <a:off x="548640" y="411480"/>
            <a:ext cx="1188720" cy="50292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900" b="1">
                <a:solidFill>
                  <a:srgbClr val="FFFFFF"/>
                </a:solidFill>
                <a:latin typeface="Calibri"/>
                <a:ea typeface="맑은 고딕"/>
              </a:rPr>
              <a:t>L7-2</a:t>
            </a:r>
          </a:p>
        </p:txBody>
      </p:sp>
      <p:sp>
        <p:nvSpPr>
          <p:cNvPr id="3" name="Rectangle 2"/>
          <p:cNvSpPr/>
          <p:nvPr/>
        </p:nvSpPr>
        <p:spPr>
          <a:xfrm>
            <a:off x="1920240" y="411480"/>
            <a:ext cx="9720072" cy="5029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2400" b="1">
                <a:solidFill>
                  <a:srgbClr val="1E2761"/>
                </a:solidFill>
                <a:latin typeface="Calibri"/>
                <a:ea typeface="맑은 고딕"/>
              </a:rPr>
              <a:t>본문 구문독해  (1/2)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960120"/>
            <a:ext cx="11091672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100" b="0">
                <a:solidFill>
                  <a:srgbClr val="8A8A8A"/>
                </a:solidFill>
                <a:latin typeface="Calibri"/>
                <a:ea typeface="맑은 고딕"/>
              </a:rPr>
              <a:t>동아(윤) 중3 · 시지중 3학년 기말고사 범위 · Lesson 7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492240"/>
            <a:ext cx="11091672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050" b="0">
                <a:solidFill>
                  <a:srgbClr val="8A8A8A"/>
                </a:solidFill>
                <a:latin typeface="Calibri"/>
                <a:ea typeface="맑은 고딕"/>
              </a:rPr>
              <a:t>클릭할 때마다 구문 해석이 왼쪽부터 순서대로 하나씩 날아옵니다</a:t>
            </a:r>
          </a:p>
        </p:txBody>
      </p:sp>
      <p:sp>
        <p:nvSpPr>
          <p:cNvPr id="6" name="En"/>
          <p:cNvSpPr/>
          <p:nvPr/>
        </p:nvSpPr>
        <p:spPr>
          <a:xfrm>
            <a:off x="548640" y="1420000"/>
            <a:ext cx="2796067" cy="27889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800" b="0">
                <a:solidFill>
                  <a:srgbClr val="333333"/>
                </a:solidFill>
                <a:latin typeface="Calibri"/>
                <a:ea typeface="맑은 고딕"/>
              </a:rPr>
              <a:t>Big data is influencing</a:t>
            </a:r>
          </a:p>
        </p:txBody>
      </p:sp>
      <p:sp>
        <p:nvSpPr>
          <p:cNvPr id="7" name="reveal_1_kr"/>
          <p:cNvSpPr/>
          <p:nvPr/>
        </p:nvSpPr>
        <p:spPr>
          <a:xfrm>
            <a:off x="548640" y="1753892"/>
            <a:ext cx="2796067" cy="224663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450" b="0">
                <a:solidFill>
                  <a:srgbClr val="C0392B"/>
                </a:solidFill>
                <a:latin typeface="맑은 고딕"/>
                <a:ea typeface="맑은 고딕"/>
              </a:rPr>
              <a:t>빅데이터는 영향을 미치고 있다</a:t>
            </a:r>
          </a:p>
        </p:txBody>
      </p:sp>
      <p:sp>
        <p:nvSpPr>
          <p:cNvPr id="8" name="Sep"/>
          <p:cNvSpPr/>
          <p:nvPr/>
        </p:nvSpPr>
        <p:spPr>
          <a:xfrm>
            <a:off x="3344707" y="1420000"/>
            <a:ext cx="227793" cy="27889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800" b="1">
                <a:solidFill>
                  <a:srgbClr val="A9B4D6"/>
                </a:solidFill>
                <a:latin typeface="Calibri"/>
                <a:ea typeface="맑은 고딕"/>
              </a:rPr>
              <a:t>/</a:t>
            </a:r>
          </a:p>
        </p:txBody>
      </p:sp>
      <p:sp>
        <p:nvSpPr>
          <p:cNvPr id="9" name="En"/>
          <p:cNvSpPr/>
          <p:nvPr/>
        </p:nvSpPr>
        <p:spPr>
          <a:xfrm>
            <a:off x="3572500" y="1420000"/>
            <a:ext cx="3324972" cy="27889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800" b="0">
                <a:solidFill>
                  <a:srgbClr val="333333"/>
                </a:solidFill>
                <a:latin typeface="Calibri"/>
                <a:ea typeface="맑은 고딕"/>
              </a:rPr>
              <a:t>almost all parts of our lives.</a:t>
            </a:r>
          </a:p>
        </p:txBody>
      </p:sp>
      <p:sp>
        <p:nvSpPr>
          <p:cNvPr id="10" name="reveal_2_kr"/>
          <p:cNvSpPr/>
          <p:nvPr/>
        </p:nvSpPr>
        <p:spPr>
          <a:xfrm>
            <a:off x="3572500" y="1753892"/>
            <a:ext cx="3324972" cy="224663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450" b="0">
                <a:solidFill>
                  <a:srgbClr val="C0392B"/>
                </a:solidFill>
                <a:latin typeface="맑은 고딕"/>
                <a:ea typeface="맑은 고딕"/>
              </a:rPr>
              <a:t>우리 삶의 거의 모든 부분에</a:t>
            </a:r>
          </a:p>
        </p:txBody>
      </p:sp>
      <p:sp>
        <p:nvSpPr>
          <p:cNvPr id="11" name="En"/>
          <p:cNvSpPr/>
          <p:nvPr/>
        </p:nvSpPr>
        <p:spPr>
          <a:xfrm>
            <a:off x="548640" y="2198555"/>
            <a:ext cx="2161855" cy="27889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800" b="0">
                <a:solidFill>
                  <a:srgbClr val="333333"/>
                </a:solidFill>
                <a:latin typeface="Calibri"/>
                <a:ea typeface="맑은 고딕"/>
              </a:rPr>
              <a:t>It helps companies</a:t>
            </a:r>
          </a:p>
        </p:txBody>
      </p:sp>
      <p:sp>
        <p:nvSpPr>
          <p:cNvPr id="12" name="reveal_3_kr"/>
          <p:cNvSpPr/>
          <p:nvPr/>
        </p:nvSpPr>
        <p:spPr>
          <a:xfrm>
            <a:off x="548640" y="2532447"/>
            <a:ext cx="2161855" cy="224663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450" b="0">
                <a:solidFill>
                  <a:srgbClr val="C0392B"/>
                </a:solidFill>
                <a:latin typeface="맑은 고딕"/>
                <a:ea typeface="맑은 고딕"/>
              </a:rPr>
              <a:t>그것은 회사들을 돕는다</a:t>
            </a:r>
          </a:p>
        </p:txBody>
      </p:sp>
      <p:sp>
        <p:nvSpPr>
          <p:cNvPr id="13" name="Sep"/>
          <p:cNvSpPr/>
          <p:nvPr/>
        </p:nvSpPr>
        <p:spPr>
          <a:xfrm>
            <a:off x="2710495" y="2198555"/>
            <a:ext cx="227793" cy="27889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800" b="1">
                <a:solidFill>
                  <a:srgbClr val="A9B4D6"/>
                </a:solidFill>
                <a:latin typeface="Calibri"/>
                <a:ea typeface="맑은 고딕"/>
              </a:rPr>
              <a:t>/</a:t>
            </a:r>
          </a:p>
        </p:txBody>
      </p:sp>
      <p:sp>
        <p:nvSpPr>
          <p:cNvPr id="14" name="En"/>
          <p:cNvSpPr/>
          <p:nvPr/>
        </p:nvSpPr>
        <p:spPr>
          <a:xfrm>
            <a:off x="2938288" y="2198555"/>
            <a:ext cx="4518264" cy="27889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800" b="0">
                <a:solidFill>
                  <a:srgbClr val="333333"/>
                </a:solidFill>
                <a:latin typeface="Calibri"/>
                <a:ea typeface="맑은 고딕"/>
              </a:rPr>
              <a:t>understand their customers’ needs better</a:t>
            </a:r>
          </a:p>
        </p:txBody>
      </p:sp>
      <p:sp>
        <p:nvSpPr>
          <p:cNvPr id="15" name="reveal_4_kr"/>
          <p:cNvSpPr/>
          <p:nvPr/>
        </p:nvSpPr>
        <p:spPr>
          <a:xfrm>
            <a:off x="2938288" y="2532447"/>
            <a:ext cx="4518264" cy="224663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450" b="0">
                <a:solidFill>
                  <a:srgbClr val="C0392B"/>
                </a:solidFill>
                <a:latin typeface="맑은 고딕"/>
                <a:ea typeface="맑은 고딕"/>
              </a:rPr>
              <a:t>고객의 요구를 더 잘 이해하도록</a:t>
            </a:r>
          </a:p>
        </p:txBody>
      </p:sp>
      <p:sp>
        <p:nvSpPr>
          <p:cNvPr id="16" name="Sep"/>
          <p:cNvSpPr/>
          <p:nvPr/>
        </p:nvSpPr>
        <p:spPr>
          <a:xfrm>
            <a:off x="7456552" y="2198555"/>
            <a:ext cx="227793" cy="27889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800" b="1">
                <a:solidFill>
                  <a:srgbClr val="A9B4D6"/>
                </a:solidFill>
                <a:latin typeface="Calibri"/>
                <a:ea typeface="맑은 고딕"/>
              </a:rPr>
              <a:t>/</a:t>
            </a:r>
          </a:p>
        </p:txBody>
      </p:sp>
      <p:sp>
        <p:nvSpPr>
          <p:cNvPr id="17" name="En"/>
          <p:cNvSpPr/>
          <p:nvPr/>
        </p:nvSpPr>
        <p:spPr>
          <a:xfrm>
            <a:off x="7684345" y="2198555"/>
            <a:ext cx="3925275" cy="27889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800" b="0">
                <a:solidFill>
                  <a:srgbClr val="333333"/>
                </a:solidFill>
                <a:latin typeface="Calibri"/>
                <a:ea typeface="맑은 고딕"/>
              </a:rPr>
              <a:t>and helps them sell more products.</a:t>
            </a:r>
          </a:p>
        </p:txBody>
      </p:sp>
      <p:sp>
        <p:nvSpPr>
          <p:cNvPr id="18" name="reveal_5_kr"/>
          <p:cNvSpPr/>
          <p:nvPr/>
        </p:nvSpPr>
        <p:spPr>
          <a:xfrm>
            <a:off x="7684345" y="2532447"/>
            <a:ext cx="3925275" cy="224663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450" b="0">
                <a:solidFill>
                  <a:srgbClr val="C0392B"/>
                </a:solidFill>
                <a:latin typeface="맑은 고딕"/>
                <a:ea typeface="맑은 고딕"/>
              </a:rPr>
              <a:t>그리고 그들이 더 많은 상품을 팔도록 돕는다</a:t>
            </a:r>
          </a:p>
        </p:txBody>
      </p:sp>
      <p:sp>
        <p:nvSpPr>
          <p:cNvPr id="19" name="En"/>
          <p:cNvSpPr/>
          <p:nvPr/>
        </p:nvSpPr>
        <p:spPr>
          <a:xfrm>
            <a:off x="548640" y="2977110"/>
            <a:ext cx="4064492" cy="27889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800" b="0">
                <a:solidFill>
                  <a:srgbClr val="333333"/>
                </a:solidFill>
                <a:latin typeface="Calibri"/>
                <a:ea typeface="맑은 고딕"/>
              </a:rPr>
              <a:t>It helps people avoid heavy traffic.</a:t>
            </a:r>
          </a:p>
        </p:txBody>
      </p:sp>
      <p:sp>
        <p:nvSpPr>
          <p:cNvPr id="20" name="reveal_6_kr"/>
          <p:cNvSpPr/>
          <p:nvPr/>
        </p:nvSpPr>
        <p:spPr>
          <a:xfrm>
            <a:off x="548640" y="3311002"/>
            <a:ext cx="4064492" cy="224663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450" b="0">
                <a:solidFill>
                  <a:srgbClr val="C0392B"/>
                </a:solidFill>
                <a:latin typeface="맑은 고딕"/>
                <a:ea typeface="맑은 고딕"/>
              </a:rPr>
              <a:t>그것은 사람들이 교통 체증을 피하도록 돕는다</a:t>
            </a:r>
          </a:p>
        </p:txBody>
      </p:sp>
      <p:sp>
        <p:nvSpPr>
          <p:cNvPr id="21" name="En"/>
          <p:cNvSpPr/>
          <p:nvPr/>
        </p:nvSpPr>
        <p:spPr>
          <a:xfrm>
            <a:off x="548640" y="3755665"/>
            <a:ext cx="2396856" cy="27889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800" b="0">
                <a:solidFill>
                  <a:srgbClr val="333333"/>
                </a:solidFill>
                <a:latin typeface="Calibri"/>
                <a:ea typeface="맑은 고딕"/>
              </a:rPr>
              <a:t>Its uses are endless,</a:t>
            </a:r>
          </a:p>
        </p:txBody>
      </p:sp>
      <p:sp>
        <p:nvSpPr>
          <p:cNvPr id="22" name="reveal_7_kr"/>
          <p:cNvSpPr/>
          <p:nvPr/>
        </p:nvSpPr>
        <p:spPr>
          <a:xfrm>
            <a:off x="548640" y="4089557"/>
            <a:ext cx="2396856" cy="224663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450" b="0">
                <a:solidFill>
                  <a:srgbClr val="C0392B"/>
                </a:solidFill>
                <a:latin typeface="맑은 고딕"/>
                <a:ea typeface="맑은 고딕"/>
              </a:rPr>
              <a:t>그것의 쓰임은 끝이 없다</a:t>
            </a:r>
          </a:p>
        </p:txBody>
      </p:sp>
      <p:sp>
        <p:nvSpPr>
          <p:cNvPr id="23" name="Sep"/>
          <p:cNvSpPr/>
          <p:nvPr/>
        </p:nvSpPr>
        <p:spPr>
          <a:xfrm>
            <a:off x="2945496" y="3755665"/>
            <a:ext cx="227793" cy="27889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800" b="1">
                <a:solidFill>
                  <a:srgbClr val="A9B4D6"/>
                </a:solidFill>
                <a:latin typeface="Calibri"/>
                <a:ea typeface="맑은 고딕"/>
              </a:rPr>
              <a:t>/</a:t>
            </a:r>
          </a:p>
        </p:txBody>
      </p:sp>
      <p:sp>
        <p:nvSpPr>
          <p:cNvPr id="24" name="En"/>
          <p:cNvSpPr/>
          <p:nvPr/>
        </p:nvSpPr>
        <p:spPr>
          <a:xfrm>
            <a:off x="3173289" y="3755665"/>
            <a:ext cx="4381104" cy="27889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800" b="0">
                <a:solidFill>
                  <a:srgbClr val="333333"/>
                </a:solidFill>
                <a:latin typeface="Calibri"/>
                <a:ea typeface="맑은 고딕"/>
              </a:rPr>
              <a:t>and here are some interesting examples.</a:t>
            </a:r>
          </a:p>
        </p:txBody>
      </p:sp>
      <p:sp>
        <p:nvSpPr>
          <p:cNvPr id="25" name="reveal_8_kr"/>
          <p:cNvSpPr/>
          <p:nvPr/>
        </p:nvSpPr>
        <p:spPr>
          <a:xfrm>
            <a:off x="3173289" y="4089557"/>
            <a:ext cx="4381104" cy="224663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450" b="0">
                <a:solidFill>
                  <a:srgbClr val="C0392B"/>
                </a:solidFill>
                <a:latin typeface="맑은 고딕"/>
                <a:ea typeface="맑은 고딕"/>
              </a:rPr>
              <a:t>그리고 여기 몇 가지 흥미로운 예가 있다</a:t>
            </a:r>
          </a:p>
        </p:txBody>
      </p:sp>
      <p:sp>
        <p:nvSpPr>
          <p:cNvPr id="26" name="En"/>
          <p:cNvSpPr/>
          <p:nvPr/>
        </p:nvSpPr>
        <p:spPr>
          <a:xfrm>
            <a:off x="548640" y="4534220"/>
            <a:ext cx="1968497" cy="27889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800" b="0">
                <a:solidFill>
                  <a:srgbClr val="333333"/>
                </a:solidFill>
                <a:latin typeface="Calibri"/>
                <a:ea typeface="맑은 고딕"/>
              </a:rPr>
              <a:t>Did you know</a:t>
            </a:r>
          </a:p>
        </p:txBody>
      </p:sp>
      <p:sp>
        <p:nvSpPr>
          <p:cNvPr id="27" name="reveal_9_kr"/>
          <p:cNvSpPr/>
          <p:nvPr/>
        </p:nvSpPr>
        <p:spPr>
          <a:xfrm>
            <a:off x="548640" y="4868112"/>
            <a:ext cx="1968497" cy="224663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450" b="0">
                <a:solidFill>
                  <a:srgbClr val="C0392B"/>
                </a:solidFill>
                <a:latin typeface="맑은 고딕"/>
                <a:ea typeface="맑은 고딕"/>
              </a:rPr>
              <a:t>당신은 알고 있었는가</a:t>
            </a:r>
          </a:p>
        </p:txBody>
      </p:sp>
      <p:sp>
        <p:nvSpPr>
          <p:cNvPr id="28" name="Sep"/>
          <p:cNvSpPr/>
          <p:nvPr/>
        </p:nvSpPr>
        <p:spPr>
          <a:xfrm>
            <a:off x="2517137" y="4534220"/>
            <a:ext cx="227793" cy="27889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800" b="1">
                <a:solidFill>
                  <a:srgbClr val="A9B4D6"/>
                </a:solidFill>
                <a:latin typeface="Calibri"/>
                <a:ea typeface="맑은 고딕"/>
              </a:rPr>
              <a:t>/</a:t>
            </a:r>
          </a:p>
        </p:txBody>
      </p:sp>
      <p:sp>
        <p:nvSpPr>
          <p:cNvPr id="29" name="En"/>
          <p:cNvSpPr/>
          <p:nvPr/>
        </p:nvSpPr>
        <p:spPr>
          <a:xfrm>
            <a:off x="2744930" y="4534220"/>
            <a:ext cx="5738988" cy="27889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800" b="0">
                <a:solidFill>
                  <a:srgbClr val="333333"/>
                </a:solidFill>
                <a:latin typeface="Calibri"/>
                <a:ea typeface="맑은 고딕"/>
              </a:rPr>
              <a:t>that health professionals can now forecast a disease</a:t>
            </a:r>
          </a:p>
        </p:txBody>
      </p:sp>
      <p:sp>
        <p:nvSpPr>
          <p:cNvPr id="30" name="reveal_10_kr"/>
          <p:cNvSpPr/>
          <p:nvPr/>
        </p:nvSpPr>
        <p:spPr>
          <a:xfrm>
            <a:off x="2744930" y="4868112"/>
            <a:ext cx="5738988" cy="224663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450" b="0">
                <a:solidFill>
                  <a:srgbClr val="C0392B"/>
                </a:solidFill>
                <a:latin typeface="맑은 고딕"/>
                <a:ea typeface="맑은 고딕"/>
              </a:rPr>
              <a:t>건강 전문가들이 이제 질병을 예측할 수 있다는 것을</a:t>
            </a:r>
          </a:p>
        </p:txBody>
      </p:sp>
      <p:sp>
        <p:nvSpPr>
          <p:cNvPr id="31" name="En"/>
          <p:cNvSpPr/>
          <p:nvPr/>
        </p:nvSpPr>
        <p:spPr>
          <a:xfrm>
            <a:off x="548640" y="5202775"/>
            <a:ext cx="5016612" cy="27889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800" b="0">
                <a:solidFill>
                  <a:srgbClr val="333333"/>
                </a:solidFill>
                <a:latin typeface="Calibri"/>
                <a:ea typeface="맑은 고딕"/>
              </a:rPr>
              <a:t>just as weather experts forecast the weather?</a:t>
            </a:r>
          </a:p>
        </p:txBody>
      </p:sp>
      <p:sp>
        <p:nvSpPr>
          <p:cNvPr id="32" name="reveal_11_kr"/>
          <p:cNvSpPr/>
          <p:nvPr/>
        </p:nvSpPr>
        <p:spPr>
          <a:xfrm>
            <a:off x="548640" y="5536667"/>
            <a:ext cx="5016612" cy="224663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450" b="0">
                <a:solidFill>
                  <a:srgbClr val="C0392B"/>
                </a:solidFill>
                <a:latin typeface="맑은 고딕"/>
                <a:ea typeface="맑은 고딕"/>
              </a:rPr>
              <a:t>날씨 전문가들이 날씨를 예측하는 것처럼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10" grpId="0" animBg="1"/>
      <p:bldP spid="12" grpId="0" animBg="1"/>
      <p:bldP spid="15" grpId="0" animBg="1"/>
      <p:bldP spid="18" grpId="0" animBg="1"/>
      <p:bldP spid="20" grpId="0" animBg="1"/>
      <p:bldP spid="22" grpId="0" animBg="1"/>
      <p:bldP spid="25" grpId="0" animBg="1"/>
      <p:bldP spid="27" grpId="0" animBg="1"/>
      <p:bldP spid="30" grpId="0" animBg="1"/>
      <p:bldP spid="32" grpId="0" animBg="1"/>
    </p:bld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adge"/>
          <p:cNvSpPr/>
          <p:nvPr/>
        </p:nvSpPr>
        <p:spPr>
          <a:xfrm>
            <a:off x="548640" y="411480"/>
            <a:ext cx="1188720" cy="50292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900" b="1">
                <a:solidFill>
                  <a:srgbClr val="FFFFFF"/>
                </a:solidFill>
                <a:latin typeface="Calibri"/>
                <a:ea typeface="맑은 고딕"/>
              </a:rPr>
              <a:t>L7-2</a:t>
            </a:r>
          </a:p>
        </p:txBody>
      </p:sp>
      <p:sp>
        <p:nvSpPr>
          <p:cNvPr id="3" name="Rectangle 2"/>
          <p:cNvSpPr/>
          <p:nvPr/>
        </p:nvSpPr>
        <p:spPr>
          <a:xfrm>
            <a:off x="1920240" y="411480"/>
            <a:ext cx="9720072" cy="5029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2400" b="1">
                <a:solidFill>
                  <a:srgbClr val="1E2761"/>
                </a:solidFill>
                <a:latin typeface="Calibri"/>
                <a:ea typeface="맑은 고딕"/>
              </a:rPr>
              <a:t>본문 구문독해  (2/2)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960120"/>
            <a:ext cx="11091672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100" b="0">
                <a:solidFill>
                  <a:srgbClr val="8A8A8A"/>
                </a:solidFill>
                <a:latin typeface="Calibri"/>
                <a:ea typeface="맑은 고딕"/>
              </a:rPr>
              <a:t>동아(윤) 중3 · 시지중 3학년 기말고사 범위 · Lesson 7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492240"/>
            <a:ext cx="11091672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050" b="0">
                <a:solidFill>
                  <a:srgbClr val="8A8A8A"/>
                </a:solidFill>
                <a:latin typeface="Calibri"/>
                <a:ea typeface="맑은 고딕"/>
              </a:rPr>
              <a:t>클릭할 때마다 구문 해석이 왼쪽부터 순서대로 하나씩 날아옵니다</a:t>
            </a:r>
          </a:p>
        </p:txBody>
      </p:sp>
      <p:sp>
        <p:nvSpPr>
          <p:cNvPr id="6" name="En"/>
          <p:cNvSpPr/>
          <p:nvPr/>
        </p:nvSpPr>
        <p:spPr>
          <a:xfrm>
            <a:off x="548640" y="1420000"/>
            <a:ext cx="1875648" cy="27889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800" b="0">
                <a:solidFill>
                  <a:srgbClr val="333333"/>
                </a:solidFill>
                <a:latin typeface="Calibri"/>
                <a:ea typeface="맑은 고딕"/>
              </a:rPr>
              <a:t>This is possible</a:t>
            </a:r>
          </a:p>
        </p:txBody>
      </p:sp>
      <p:sp>
        <p:nvSpPr>
          <p:cNvPr id="7" name="reveal_12_kr"/>
          <p:cNvSpPr/>
          <p:nvPr/>
        </p:nvSpPr>
        <p:spPr>
          <a:xfrm>
            <a:off x="548640" y="1753892"/>
            <a:ext cx="1875648" cy="224663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450" b="0">
                <a:solidFill>
                  <a:srgbClr val="C0392B"/>
                </a:solidFill>
                <a:latin typeface="맑은 고딕"/>
                <a:ea typeface="맑은 고딕"/>
              </a:rPr>
              <a:t>이것은 가능하다</a:t>
            </a:r>
          </a:p>
        </p:txBody>
      </p:sp>
      <p:sp>
        <p:nvSpPr>
          <p:cNvPr id="8" name="Sep"/>
          <p:cNvSpPr/>
          <p:nvPr/>
        </p:nvSpPr>
        <p:spPr>
          <a:xfrm>
            <a:off x="2424288" y="1420000"/>
            <a:ext cx="227793" cy="27889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800" b="1">
                <a:solidFill>
                  <a:srgbClr val="A9B4D6"/>
                </a:solidFill>
                <a:latin typeface="Calibri"/>
                <a:ea typeface="맑은 고딕"/>
              </a:rPr>
              <a:t>/</a:t>
            </a:r>
          </a:p>
        </p:txBody>
      </p:sp>
      <p:sp>
        <p:nvSpPr>
          <p:cNvPr id="9" name="En"/>
          <p:cNvSpPr/>
          <p:nvPr/>
        </p:nvSpPr>
        <p:spPr>
          <a:xfrm>
            <a:off x="2652081" y="1420000"/>
            <a:ext cx="2140824" cy="27889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800" b="0">
                <a:solidFill>
                  <a:srgbClr val="333333"/>
                </a:solidFill>
                <a:latin typeface="Calibri"/>
                <a:ea typeface="맑은 고딕"/>
              </a:rPr>
              <a:t>thanks to big data.</a:t>
            </a:r>
          </a:p>
        </p:txBody>
      </p:sp>
      <p:sp>
        <p:nvSpPr>
          <p:cNvPr id="10" name="reveal_13_kr"/>
          <p:cNvSpPr/>
          <p:nvPr/>
        </p:nvSpPr>
        <p:spPr>
          <a:xfrm>
            <a:off x="2652081" y="1753892"/>
            <a:ext cx="2140824" cy="224663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450" b="0">
                <a:solidFill>
                  <a:srgbClr val="C0392B"/>
                </a:solidFill>
                <a:latin typeface="맑은 고딕"/>
                <a:ea typeface="맑은 고딕"/>
              </a:rPr>
              <a:t>빅데이터 덕분에</a:t>
            </a:r>
          </a:p>
        </p:txBody>
      </p:sp>
      <p:sp>
        <p:nvSpPr>
          <p:cNvPr id="11" name="En"/>
          <p:cNvSpPr/>
          <p:nvPr/>
        </p:nvSpPr>
        <p:spPr>
          <a:xfrm>
            <a:off x="548640" y="2198555"/>
            <a:ext cx="1496172" cy="27889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800" b="0">
                <a:solidFill>
                  <a:srgbClr val="333333"/>
                </a:solidFill>
                <a:latin typeface="Calibri"/>
                <a:ea typeface="맑은 고딕"/>
              </a:rPr>
              <a:t>For example,</a:t>
            </a:r>
          </a:p>
        </p:txBody>
      </p:sp>
      <p:sp>
        <p:nvSpPr>
          <p:cNvPr id="12" name="reveal_14_kr"/>
          <p:cNvSpPr/>
          <p:nvPr/>
        </p:nvSpPr>
        <p:spPr>
          <a:xfrm>
            <a:off x="548640" y="2532447"/>
            <a:ext cx="1496172" cy="224663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450" b="0">
                <a:solidFill>
                  <a:srgbClr val="C0392B"/>
                </a:solidFill>
                <a:latin typeface="맑은 고딕"/>
                <a:ea typeface="맑은 고딕"/>
              </a:rPr>
              <a:t>예를 들어</a:t>
            </a:r>
          </a:p>
        </p:txBody>
      </p:sp>
      <p:sp>
        <p:nvSpPr>
          <p:cNvPr id="13" name="Sep"/>
          <p:cNvSpPr/>
          <p:nvPr/>
        </p:nvSpPr>
        <p:spPr>
          <a:xfrm>
            <a:off x="2044812" y="2198555"/>
            <a:ext cx="227793" cy="27889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800" b="1">
                <a:solidFill>
                  <a:srgbClr val="A9B4D6"/>
                </a:solidFill>
                <a:latin typeface="Calibri"/>
                <a:ea typeface="맑은 고딕"/>
              </a:rPr>
              <a:t>/</a:t>
            </a:r>
          </a:p>
        </p:txBody>
      </p:sp>
      <p:sp>
        <p:nvSpPr>
          <p:cNvPr id="14" name="En"/>
          <p:cNvSpPr/>
          <p:nvPr/>
        </p:nvSpPr>
        <p:spPr>
          <a:xfrm>
            <a:off x="2272605" y="2198555"/>
            <a:ext cx="2945496" cy="27889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800" b="0">
                <a:solidFill>
                  <a:srgbClr val="333333"/>
                </a:solidFill>
                <a:latin typeface="Calibri"/>
                <a:ea typeface="맑은 고딕"/>
              </a:rPr>
              <a:t>when the flu season comes,</a:t>
            </a:r>
          </a:p>
        </p:txBody>
      </p:sp>
      <p:sp>
        <p:nvSpPr>
          <p:cNvPr id="15" name="reveal_15_kr"/>
          <p:cNvSpPr/>
          <p:nvPr/>
        </p:nvSpPr>
        <p:spPr>
          <a:xfrm>
            <a:off x="2272605" y="2532447"/>
            <a:ext cx="2945496" cy="224663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450" b="0">
                <a:solidFill>
                  <a:srgbClr val="C0392B"/>
                </a:solidFill>
                <a:latin typeface="맑은 고딕"/>
                <a:ea typeface="맑은 고딕"/>
              </a:rPr>
              <a:t>독감 철이 오면</a:t>
            </a:r>
          </a:p>
        </p:txBody>
      </p:sp>
      <p:sp>
        <p:nvSpPr>
          <p:cNvPr id="16" name="Sep"/>
          <p:cNvSpPr/>
          <p:nvPr/>
        </p:nvSpPr>
        <p:spPr>
          <a:xfrm>
            <a:off x="5218101" y="2198555"/>
            <a:ext cx="227793" cy="27889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800" b="1">
                <a:solidFill>
                  <a:srgbClr val="A9B4D6"/>
                </a:solidFill>
                <a:latin typeface="Calibri"/>
                <a:ea typeface="맑은 고딕"/>
              </a:rPr>
              <a:t>/</a:t>
            </a:r>
          </a:p>
        </p:txBody>
      </p:sp>
      <p:sp>
        <p:nvSpPr>
          <p:cNvPr id="17" name="En"/>
          <p:cNvSpPr/>
          <p:nvPr/>
        </p:nvSpPr>
        <p:spPr>
          <a:xfrm>
            <a:off x="5445894" y="2198555"/>
            <a:ext cx="3837035" cy="27889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800" b="0">
                <a:solidFill>
                  <a:srgbClr val="333333"/>
                </a:solidFill>
                <a:latin typeface="Calibri"/>
                <a:ea typeface="맑은 고딕"/>
              </a:rPr>
              <a:t>people will buy more flu medicine.</a:t>
            </a:r>
          </a:p>
        </p:txBody>
      </p:sp>
      <p:sp>
        <p:nvSpPr>
          <p:cNvPr id="18" name="reveal_16_kr"/>
          <p:cNvSpPr/>
          <p:nvPr/>
        </p:nvSpPr>
        <p:spPr>
          <a:xfrm>
            <a:off x="5445894" y="2532447"/>
            <a:ext cx="3837035" cy="224663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450" b="0">
                <a:solidFill>
                  <a:srgbClr val="C0392B"/>
                </a:solidFill>
                <a:latin typeface="맑은 고딕"/>
                <a:ea typeface="맑은 고딕"/>
              </a:rPr>
              <a:t>사람들은 독감 약을 더 많이 살 것이다</a:t>
            </a:r>
          </a:p>
        </p:txBody>
      </p:sp>
      <p:sp>
        <p:nvSpPr>
          <p:cNvPr id="19" name="En"/>
          <p:cNvSpPr/>
          <p:nvPr/>
        </p:nvSpPr>
        <p:spPr>
          <a:xfrm>
            <a:off x="548640" y="2977110"/>
            <a:ext cx="3430280" cy="27889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800" b="0">
                <a:solidFill>
                  <a:srgbClr val="333333"/>
                </a:solidFill>
                <a:latin typeface="Calibri"/>
                <a:ea typeface="맑은 고딕"/>
              </a:rPr>
              <a:t>They will also search online</a:t>
            </a:r>
          </a:p>
        </p:txBody>
      </p:sp>
      <p:sp>
        <p:nvSpPr>
          <p:cNvPr id="20" name="reveal_17_kr"/>
          <p:cNvSpPr/>
          <p:nvPr/>
        </p:nvSpPr>
        <p:spPr>
          <a:xfrm>
            <a:off x="548640" y="3311002"/>
            <a:ext cx="3430280" cy="224663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450" b="0">
                <a:solidFill>
                  <a:srgbClr val="C0392B"/>
                </a:solidFill>
                <a:latin typeface="맑은 고딕"/>
                <a:ea typeface="맑은 고딕"/>
              </a:rPr>
              <a:t>그들은 또한 온라인에서 검색할 것이다</a:t>
            </a:r>
          </a:p>
        </p:txBody>
      </p:sp>
      <p:sp>
        <p:nvSpPr>
          <p:cNvPr id="21" name="Sep"/>
          <p:cNvSpPr/>
          <p:nvPr/>
        </p:nvSpPr>
        <p:spPr>
          <a:xfrm>
            <a:off x="3978920" y="2977110"/>
            <a:ext cx="227793" cy="27889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800" b="1">
                <a:solidFill>
                  <a:srgbClr val="A9B4D6"/>
                </a:solidFill>
                <a:latin typeface="Calibri"/>
                <a:ea typeface="맑은 고딕"/>
              </a:rPr>
              <a:t>/</a:t>
            </a:r>
          </a:p>
        </p:txBody>
      </p:sp>
      <p:sp>
        <p:nvSpPr>
          <p:cNvPr id="22" name="En"/>
          <p:cNvSpPr/>
          <p:nvPr/>
        </p:nvSpPr>
        <p:spPr>
          <a:xfrm>
            <a:off x="4206713" y="2977110"/>
            <a:ext cx="2794620" cy="27889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800" b="0">
                <a:solidFill>
                  <a:srgbClr val="333333"/>
                </a:solidFill>
                <a:latin typeface="Calibri"/>
                <a:ea typeface="맑은 고딕"/>
              </a:rPr>
              <a:t>about flu symptoms more.</a:t>
            </a:r>
          </a:p>
        </p:txBody>
      </p:sp>
      <p:sp>
        <p:nvSpPr>
          <p:cNvPr id="23" name="reveal_18_kr"/>
          <p:cNvSpPr/>
          <p:nvPr/>
        </p:nvSpPr>
        <p:spPr>
          <a:xfrm>
            <a:off x="4206713" y="3311002"/>
            <a:ext cx="2794620" cy="224663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450" b="0">
                <a:solidFill>
                  <a:srgbClr val="C0392B"/>
                </a:solidFill>
                <a:latin typeface="맑은 고딕"/>
                <a:ea typeface="맑은 고딕"/>
              </a:rPr>
              <a:t>독감 증상에 대해 더 많이</a:t>
            </a:r>
          </a:p>
        </p:txBody>
      </p:sp>
      <p:sp>
        <p:nvSpPr>
          <p:cNvPr id="24" name="En"/>
          <p:cNvSpPr/>
          <p:nvPr/>
        </p:nvSpPr>
        <p:spPr>
          <a:xfrm>
            <a:off x="548640" y="3755665"/>
            <a:ext cx="4394820" cy="27889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800" b="0">
                <a:solidFill>
                  <a:srgbClr val="333333"/>
                </a:solidFill>
                <a:latin typeface="Calibri"/>
                <a:ea typeface="맑은 고딕"/>
              </a:rPr>
              <a:t>If this kind of data is analyzed wisely,</a:t>
            </a:r>
          </a:p>
        </p:txBody>
      </p:sp>
      <p:sp>
        <p:nvSpPr>
          <p:cNvPr id="25" name="reveal_19_kr"/>
          <p:cNvSpPr/>
          <p:nvPr/>
        </p:nvSpPr>
        <p:spPr>
          <a:xfrm>
            <a:off x="548640" y="4089557"/>
            <a:ext cx="4394820" cy="224663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450" b="0">
                <a:solidFill>
                  <a:srgbClr val="C0392B"/>
                </a:solidFill>
                <a:latin typeface="맑은 고딕"/>
                <a:ea typeface="맑은 고딕"/>
              </a:rPr>
              <a:t>이런 종류의 데이터가 현명하게 분석된다면</a:t>
            </a:r>
          </a:p>
        </p:txBody>
      </p:sp>
      <p:sp>
        <p:nvSpPr>
          <p:cNvPr id="26" name="Sep"/>
          <p:cNvSpPr/>
          <p:nvPr/>
        </p:nvSpPr>
        <p:spPr>
          <a:xfrm>
            <a:off x="4943460" y="3755665"/>
            <a:ext cx="227793" cy="27889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800" b="1">
                <a:solidFill>
                  <a:srgbClr val="A9B4D6"/>
                </a:solidFill>
                <a:latin typeface="Calibri"/>
                <a:ea typeface="맑은 고딕"/>
              </a:rPr>
              <a:t>/</a:t>
            </a:r>
          </a:p>
        </p:txBody>
      </p:sp>
      <p:sp>
        <p:nvSpPr>
          <p:cNvPr id="27" name="En"/>
          <p:cNvSpPr/>
          <p:nvPr/>
        </p:nvSpPr>
        <p:spPr>
          <a:xfrm>
            <a:off x="5171253" y="3755665"/>
            <a:ext cx="4225656" cy="27889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800" b="0">
                <a:solidFill>
                  <a:srgbClr val="333333"/>
                </a:solidFill>
                <a:latin typeface="Calibri"/>
                <a:ea typeface="맑은 고딕"/>
              </a:rPr>
              <a:t>the spread of the flu can be predicted.</a:t>
            </a:r>
          </a:p>
        </p:txBody>
      </p:sp>
      <p:sp>
        <p:nvSpPr>
          <p:cNvPr id="28" name="reveal_20_kr"/>
          <p:cNvSpPr/>
          <p:nvPr/>
        </p:nvSpPr>
        <p:spPr>
          <a:xfrm>
            <a:off x="5171253" y="4089557"/>
            <a:ext cx="4225656" cy="224663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450" b="0">
                <a:solidFill>
                  <a:srgbClr val="C0392B"/>
                </a:solidFill>
                <a:latin typeface="맑은 고딕"/>
                <a:ea typeface="맑은 고딕"/>
              </a:rPr>
              <a:t>독감의 확산이 예측될 수 있다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10" grpId="0" animBg="1"/>
      <p:bldP spid="12" grpId="0" animBg="1"/>
      <p:bldP spid="15" grpId="0" animBg="1"/>
      <p:bldP spid="18" grpId="0" animBg="1"/>
      <p:bldP spid="20" grpId="0" animBg="1"/>
      <p:bldP spid="23" grpId="0" animBg="1"/>
      <p:bldP spid="25" grpId="0" animBg="1"/>
      <p:bldP spid="28" grpId="0" animBg="1"/>
    </p:bld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adge"/>
          <p:cNvSpPr/>
          <p:nvPr/>
        </p:nvSpPr>
        <p:spPr>
          <a:xfrm>
            <a:off x="548640" y="411480"/>
            <a:ext cx="1188720" cy="50292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900" b="1">
                <a:solidFill>
                  <a:srgbClr val="FFFFFF"/>
                </a:solidFill>
                <a:latin typeface="Calibri"/>
                <a:ea typeface="맑은 고딕"/>
              </a:rPr>
              <a:t>L7-3</a:t>
            </a:r>
          </a:p>
        </p:txBody>
      </p:sp>
      <p:sp>
        <p:nvSpPr>
          <p:cNvPr id="3" name="Rectangle 2"/>
          <p:cNvSpPr/>
          <p:nvPr/>
        </p:nvSpPr>
        <p:spPr>
          <a:xfrm>
            <a:off x="1920240" y="411480"/>
            <a:ext cx="9720072" cy="5029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2400" b="1">
                <a:solidFill>
                  <a:srgbClr val="1E2761"/>
                </a:solidFill>
                <a:latin typeface="Calibri"/>
                <a:ea typeface="맑은 고딕"/>
              </a:rPr>
              <a:t>본문 구문독해  (1/2)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960120"/>
            <a:ext cx="11091672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100" b="0">
                <a:solidFill>
                  <a:srgbClr val="8A8A8A"/>
                </a:solidFill>
                <a:latin typeface="Calibri"/>
                <a:ea typeface="맑은 고딕"/>
              </a:rPr>
              <a:t>동아(윤) 중3 · 시지중 3학년 기말고사 범위 · Lesson 7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492240"/>
            <a:ext cx="11091672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050" b="0">
                <a:solidFill>
                  <a:srgbClr val="8A8A8A"/>
                </a:solidFill>
                <a:latin typeface="Calibri"/>
                <a:ea typeface="맑은 고딕"/>
              </a:rPr>
              <a:t>클릭할 때마다 구문 해석이 왼쪽부터 순서대로 하나씩 날아옵니다</a:t>
            </a:r>
          </a:p>
        </p:txBody>
      </p:sp>
      <p:sp>
        <p:nvSpPr>
          <p:cNvPr id="6" name="En"/>
          <p:cNvSpPr/>
          <p:nvPr/>
        </p:nvSpPr>
        <p:spPr>
          <a:xfrm>
            <a:off x="548640" y="1420000"/>
            <a:ext cx="2346564" cy="27889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800" b="0">
                <a:solidFill>
                  <a:srgbClr val="333333"/>
                </a:solidFill>
                <a:latin typeface="Calibri"/>
                <a:ea typeface="맑은 고딕"/>
              </a:rPr>
              <a:t>Are you a sports fan?</a:t>
            </a:r>
          </a:p>
        </p:txBody>
      </p:sp>
      <p:sp>
        <p:nvSpPr>
          <p:cNvPr id="7" name="reveal_1_kr"/>
          <p:cNvSpPr/>
          <p:nvPr/>
        </p:nvSpPr>
        <p:spPr>
          <a:xfrm>
            <a:off x="548640" y="1753892"/>
            <a:ext cx="2346564" cy="224663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450" b="0">
                <a:solidFill>
                  <a:srgbClr val="C0392B"/>
                </a:solidFill>
                <a:latin typeface="맑은 고딕"/>
                <a:ea typeface="맑은 고딕"/>
              </a:rPr>
              <a:t>당신은 스포츠 팬인가?</a:t>
            </a:r>
          </a:p>
        </p:txBody>
      </p:sp>
      <p:sp>
        <p:nvSpPr>
          <p:cNvPr id="8" name="En"/>
          <p:cNvSpPr/>
          <p:nvPr/>
        </p:nvSpPr>
        <p:spPr>
          <a:xfrm>
            <a:off x="548640" y="2198555"/>
            <a:ext cx="3059796" cy="27889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800" b="0">
                <a:solidFill>
                  <a:srgbClr val="333333"/>
                </a:solidFill>
                <a:latin typeface="Calibri"/>
                <a:ea typeface="맑은 고딕"/>
              </a:rPr>
              <a:t>Well, big data is improving</a:t>
            </a:r>
          </a:p>
        </p:txBody>
      </p:sp>
      <p:sp>
        <p:nvSpPr>
          <p:cNvPr id="9" name="reveal_2_kr"/>
          <p:cNvSpPr/>
          <p:nvPr/>
        </p:nvSpPr>
        <p:spPr>
          <a:xfrm>
            <a:off x="548640" y="2532447"/>
            <a:ext cx="3059796" cy="224663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450" b="0">
                <a:solidFill>
                  <a:srgbClr val="C0392B"/>
                </a:solidFill>
                <a:latin typeface="맑은 고딕"/>
                <a:ea typeface="맑은 고딕"/>
              </a:rPr>
              <a:t>자, 빅데이터는 향상시키고 있다</a:t>
            </a:r>
          </a:p>
        </p:txBody>
      </p:sp>
      <p:sp>
        <p:nvSpPr>
          <p:cNvPr id="10" name="Sep"/>
          <p:cNvSpPr/>
          <p:nvPr/>
        </p:nvSpPr>
        <p:spPr>
          <a:xfrm>
            <a:off x="3608436" y="2198555"/>
            <a:ext cx="227793" cy="27889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800" b="1">
                <a:solidFill>
                  <a:srgbClr val="A9B4D6"/>
                </a:solidFill>
                <a:latin typeface="Calibri"/>
                <a:ea typeface="맑은 고딕"/>
              </a:rPr>
              <a:t>/</a:t>
            </a:r>
          </a:p>
        </p:txBody>
      </p:sp>
      <p:sp>
        <p:nvSpPr>
          <p:cNvPr id="11" name="En"/>
          <p:cNvSpPr/>
          <p:nvPr/>
        </p:nvSpPr>
        <p:spPr>
          <a:xfrm>
            <a:off x="3836229" y="2198555"/>
            <a:ext cx="3082656" cy="27889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800" b="0">
                <a:solidFill>
                  <a:srgbClr val="333333"/>
                </a:solidFill>
                <a:latin typeface="Calibri"/>
                <a:ea typeface="맑은 고딕"/>
              </a:rPr>
              <a:t>the performance of players,</a:t>
            </a:r>
          </a:p>
        </p:txBody>
      </p:sp>
      <p:sp>
        <p:nvSpPr>
          <p:cNvPr id="12" name="reveal_3_kr"/>
          <p:cNvSpPr/>
          <p:nvPr/>
        </p:nvSpPr>
        <p:spPr>
          <a:xfrm>
            <a:off x="3836229" y="2532447"/>
            <a:ext cx="3082656" cy="224663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450" b="0">
                <a:solidFill>
                  <a:srgbClr val="C0392B"/>
                </a:solidFill>
                <a:latin typeface="맑은 고딕"/>
                <a:ea typeface="맑은 고딕"/>
              </a:rPr>
              <a:t>선수들의 경기력을</a:t>
            </a:r>
          </a:p>
        </p:txBody>
      </p:sp>
      <p:sp>
        <p:nvSpPr>
          <p:cNvPr id="13" name="Sep"/>
          <p:cNvSpPr/>
          <p:nvPr/>
        </p:nvSpPr>
        <p:spPr>
          <a:xfrm>
            <a:off x="6918885" y="2198555"/>
            <a:ext cx="227793" cy="27889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800" b="1">
                <a:solidFill>
                  <a:srgbClr val="A9B4D6"/>
                </a:solidFill>
                <a:latin typeface="Calibri"/>
                <a:ea typeface="맑은 고딕"/>
              </a:rPr>
              <a:t>/</a:t>
            </a:r>
          </a:p>
        </p:txBody>
      </p:sp>
      <p:sp>
        <p:nvSpPr>
          <p:cNvPr id="14" name="En"/>
          <p:cNvSpPr/>
          <p:nvPr/>
        </p:nvSpPr>
        <p:spPr>
          <a:xfrm>
            <a:off x="7146678" y="2198555"/>
            <a:ext cx="4064492" cy="27889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800" b="0">
                <a:solidFill>
                  <a:srgbClr val="333333"/>
                </a:solidFill>
                <a:latin typeface="Calibri"/>
                <a:ea typeface="맑은 고딕"/>
              </a:rPr>
              <a:t>making sports more exciting.</a:t>
            </a:r>
          </a:p>
        </p:txBody>
      </p:sp>
      <p:sp>
        <p:nvSpPr>
          <p:cNvPr id="15" name="reveal_4_kr"/>
          <p:cNvSpPr/>
          <p:nvPr/>
        </p:nvSpPr>
        <p:spPr>
          <a:xfrm>
            <a:off x="7146678" y="2532447"/>
            <a:ext cx="4064492" cy="224663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450" b="0">
                <a:solidFill>
                  <a:srgbClr val="C0392B"/>
                </a:solidFill>
                <a:latin typeface="맑은 고딕"/>
                <a:ea typeface="맑은 고딕"/>
              </a:rPr>
              <a:t>그리고 스포츠를 더 흥미진진하게 만들고 있다</a:t>
            </a:r>
          </a:p>
        </p:txBody>
      </p:sp>
      <p:sp>
        <p:nvSpPr>
          <p:cNvPr id="16" name="En"/>
          <p:cNvSpPr/>
          <p:nvPr/>
        </p:nvSpPr>
        <p:spPr>
          <a:xfrm>
            <a:off x="548640" y="2977110"/>
            <a:ext cx="1930512" cy="27889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800" b="0">
                <a:solidFill>
                  <a:srgbClr val="333333"/>
                </a:solidFill>
                <a:latin typeface="Calibri"/>
                <a:ea typeface="맑은 고딕"/>
              </a:rPr>
              <a:t>A famous example</a:t>
            </a:r>
          </a:p>
        </p:txBody>
      </p:sp>
      <p:sp>
        <p:nvSpPr>
          <p:cNvPr id="17" name="reveal_5_kr"/>
          <p:cNvSpPr/>
          <p:nvPr/>
        </p:nvSpPr>
        <p:spPr>
          <a:xfrm>
            <a:off x="548640" y="3311002"/>
            <a:ext cx="1930512" cy="224663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450" b="0">
                <a:solidFill>
                  <a:srgbClr val="C0392B"/>
                </a:solidFill>
                <a:latin typeface="맑은 고딕"/>
                <a:ea typeface="맑은 고딕"/>
              </a:rPr>
              <a:t>한 유명한 예는</a:t>
            </a:r>
          </a:p>
        </p:txBody>
      </p:sp>
      <p:sp>
        <p:nvSpPr>
          <p:cNvPr id="18" name="Sep"/>
          <p:cNvSpPr/>
          <p:nvPr/>
        </p:nvSpPr>
        <p:spPr>
          <a:xfrm>
            <a:off x="2479152" y="2977110"/>
            <a:ext cx="227793" cy="27889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800" b="1">
                <a:solidFill>
                  <a:srgbClr val="A9B4D6"/>
                </a:solidFill>
                <a:latin typeface="Calibri"/>
                <a:ea typeface="맑은 고딕"/>
              </a:rPr>
              <a:t>/</a:t>
            </a:r>
          </a:p>
        </p:txBody>
      </p:sp>
      <p:sp>
        <p:nvSpPr>
          <p:cNvPr id="19" name="En"/>
          <p:cNvSpPr/>
          <p:nvPr/>
        </p:nvSpPr>
        <p:spPr>
          <a:xfrm>
            <a:off x="2706945" y="2977110"/>
            <a:ext cx="3887327" cy="27889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800" b="0">
                <a:solidFill>
                  <a:srgbClr val="333333"/>
                </a:solidFill>
                <a:latin typeface="Calibri"/>
                <a:ea typeface="맑은 고딕"/>
              </a:rPr>
              <a:t>is Germany’s national soccer team.</a:t>
            </a:r>
          </a:p>
        </p:txBody>
      </p:sp>
      <p:sp>
        <p:nvSpPr>
          <p:cNvPr id="20" name="reveal_6_kr"/>
          <p:cNvSpPr/>
          <p:nvPr/>
        </p:nvSpPr>
        <p:spPr>
          <a:xfrm>
            <a:off x="2706945" y="3311002"/>
            <a:ext cx="3887327" cy="224663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450" b="0">
                <a:solidFill>
                  <a:srgbClr val="C0392B"/>
                </a:solidFill>
                <a:latin typeface="맑은 고딕"/>
                <a:ea typeface="맑은 고딕"/>
              </a:rPr>
              <a:t>독일 국가 대표 축구팀이다</a:t>
            </a:r>
          </a:p>
        </p:txBody>
      </p:sp>
      <p:sp>
        <p:nvSpPr>
          <p:cNvPr id="21" name="En"/>
          <p:cNvSpPr/>
          <p:nvPr/>
        </p:nvSpPr>
        <p:spPr>
          <a:xfrm>
            <a:off x="548640" y="3755665"/>
            <a:ext cx="2989425" cy="27889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800" b="0">
                <a:solidFill>
                  <a:srgbClr val="333333"/>
                </a:solidFill>
                <a:latin typeface="Calibri"/>
                <a:ea typeface="맑은 고딕"/>
              </a:rPr>
              <a:t>The team built a database</a:t>
            </a:r>
          </a:p>
        </p:txBody>
      </p:sp>
      <p:sp>
        <p:nvSpPr>
          <p:cNvPr id="22" name="reveal_7_kr"/>
          <p:cNvSpPr/>
          <p:nvPr/>
        </p:nvSpPr>
        <p:spPr>
          <a:xfrm>
            <a:off x="548640" y="4089557"/>
            <a:ext cx="2989425" cy="224663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450" b="0">
                <a:solidFill>
                  <a:srgbClr val="C0392B"/>
                </a:solidFill>
                <a:latin typeface="맑은 고딕"/>
                <a:ea typeface="맑은 고딕"/>
              </a:rPr>
              <a:t>그 팀은 데이터베이스를 구축했다</a:t>
            </a:r>
          </a:p>
        </p:txBody>
      </p:sp>
      <p:sp>
        <p:nvSpPr>
          <p:cNvPr id="23" name="Sep"/>
          <p:cNvSpPr/>
          <p:nvPr/>
        </p:nvSpPr>
        <p:spPr>
          <a:xfrm>
            <a:off x="3538065" y="3755665"/>
            <a:ext cx="227793" cy="27889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800" b="1">
                <a:solidFill>
                  <a:srgbClr val="A9B4D6"/>
                </a:solidFill>
                <a:latin typeface="Calibri"/>
                <a:ea typeface="맑은 고딕"/>
              </a:rPr>
              <a:t>/</a:t>
            </a:r>
          </a:p>
        </p:txBody>
      </p:sp>
      <p:sp>
        <p:nvSpPr>
          <p:cNvPr id="24" name="En"/>
          <p:cNvSpPr/>
          <p:nvPr/>
        </p:nvSpPr>
        <p:spPr>
          <a:xfrm>
            <a:off x="3765858" y="3755665"/>
            <a:ext cx="3055224" cy="27889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800" b="0">
                <a:solidFill>
                  <a:srgbClr val="333333"/>
                </a:solidFill>
                <a:latin typeface="Calibri"/>
                <a:ea typeface="맑은 고딕"/>
              </a:rPr>
              <a:t>by collecting and analyzing</a:t>
            </a:r>
          </a:p>
        </p:txBody>
      </p:sp>
      <p:sp>
        <p:nvSpPr>
          <p:cNvPr id="25" name="reveal_8_kr"/>
          <p:cNvSpPr/>
          <p:nvPr/>
        </p:nvSpPr>
        <p:spPr>
          <a:xfrm>
            <a:off x="3765858" y="4089557"/>
            <a:ext cx="3055224" cy="224663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450" b="0">
                <a:solidFill>
                  <a:srgbClr val="C0392B"/>
                </a:solidFill>
                <a:latin typeface="맑은 고딕"/>
                <a:ea typeface="맑은 고딕"/>
              </a:rPr>
              <a:t>모으고 분석함으로써</a:t>
            </a:r>
          </a:p>
        </p:txBody>
      </p:sp>
      <p:sp>
        <p:nvSpPr>
          <p:cNvPr id="26" name="Sep"/>
          <p:cNvSpPr/>
          <p:nvPr/>
        </p:nvSpPr>
        <p:spPr>
          <a:xfrm>
            <a:off x="6821082" y="3755665"/>
            <a:ext cx="227793" cy="27889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800" b="1">
                <a:solidFill>
                  <a:srgbClr val="A9B4D6"/>
                </a:solidFill>
                <a:latin typeface="Calibri"/>
                <a:ea typeface="맑은 고딕"/>
              </a:rPr>
              <a:t>/</a:t>
            </a:r>
          </a:p>
        </p:txBody>
      </p:sp>
      <p:sp>
        <p:nvSpPr>
          <p:cNvPr id="27" name="En"/>
          <p:cNvSpPr/>
          <p:nvPr/>
        </p:nvSpPr>
        <p:spPr>
          <a:xfrm>
            <a:off x="7048875" y="3755665"/>
            <a:ext cx="3617580" cy="27889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800" b="0">
                <a:solidFill>
                  <a:srgbClr val="333333"/>
                </a:solidFill>
                <a:latin typeface="Calibri"/>
                <a:ea typeface="맑은 고딕"/>
              </a:rPr>
              <a:t>a huge amount of data on players.</a:t>
            </a:r>
          </a:p>
        </p:txBody>
      </p:sp>
      <p:sp>
        <p:nvSpPr>
          <p:cNvPr id="28" name="reveal_9_kr"/>
          <p:cNvSpPr/>
          <p:nvPr/>
        </p:nvSpPr>
        <p:spPr>
          <a:xfrm>
            <a:off x="7048875" y="4089557"/>
            <a:ext cx="3617580" cy="224663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450" b="0">
                <a:solidFill>
                  <a:srgbClr val="C0392B"/>
                </a:solidFill>
                <a:latin typeface="맑은 고딕"/>
                <a:ea typeface="맑은 고딕"/>
              </a:rPr>
              <a:t>선수들에 관한 엄청난 양의 데이터를</a:t>
            </a:r>
          </a:p>
        </p:txBody>
      </p:sp>
      <p:sp>
        <p:nvSpPr>
          <p:cNvPr id="29" name="En"/>
          <p:cNvSpPr/>
          <p:nvPr/>
        </p:nvSpPr>
        <p:spPr>
          <a:xfrm>
            <a:off x="548640" y="4534220"/>
            <a:ext cx="1496172" cy="27889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800" b="0">
                <a:solidFill>
                  <a:srgbClr val="333333"/>
                </a:solidFill>
                <a:latin typeface="Calibri"/>
                <a:ea typeface="맑은 고딕"/>
              </a:rPr>
              <a:t>For example,</a:t>
            </a:r>
          </a:p>
        </p:txBody>
      </p:sp>
      <p:sp>
        <p:nvSpPr>
          <p:cNvPr id="30" name="reveal_10_kr"/>
          <p:cNvSpPr/>
          <p:nvPr/>
        </p:nvSpPr>
        <p:spPr>
          <a:xfrm>
            <a:off x="548640" y="4868112"/>
            <a:ext cx="1496172" cy="224663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450" b="0">
                <a:solidFill>
                  <a:srgbClr val="C0392B"/>
                </a:solidFill>
                <a:latin typeface="맑은 고딕"/>
                <a:ea typeface="맑은 고딕"/>
              </a:rPr>
              <a:t>예를 들어</a:t>
            </a:r>
          </a:p>
        </p:txBody>
      </p:sp>
      <p:sp>
        <p:nvSpPr>
          <p:cNvPr id="31" name="Sep"/>
          <p:cNvSpPr/>
          <p:nvPr/>
        </p:nvSpPr>
        <p:spPr>
          <a:xfrm>
            <a:off x="2044812" y="4534220"/>
            <a:ext cx="227793" cy="27889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800" b="1">
                <a:solidFill>
                  <a:srgbClr val="A9B4D6"/>
                </a:solidFill>
                <a:latin typeface="Calibri"/>
                <a:ea typeface="맑은 고딕"/>
              </a:rPr>
              <a:t>/</a:t>
            </a:r>
          </a:p>
        </p:txBody>
      </p:sp>
      <p:sp>
        <p:nvSpPr>
          <p:cNvPr id="32" name="En"/>
          <p:cNvSpPr/>
          <p:nvPr/>
        </p:nvSpPr>
        <p:spPr>
          <a:xfrm>
            <a:off x="2272605" y="4534220"/>
            <a:ext cx="3311256" cy="27889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800" b="0">
                <a:solidFill>
                  <a:srgbClr val="333333"/>
                </a:solidFill>
                <a:latin typeface="Calibri"/>
                <a:ea typeface="맑은 고딕"/>
              </a:rPr>
              <a:t>the data included information</a:t>
            </a:r>
          </a:p>
        </p:txBody>
      </p:sp>
      <p:sp>
        <p:nvSpPr>
          <p:cNvPr id="33" name="reveal_11_kr"/>
          <p:cNvSpPr/>
          <p:nvPr/>
        </p:nvSpPr>
        <p:spPr>
          <a:xfrm>
            <a:off x="2272605" y="4868112"/>
            <a:ext cx="3311256" cy="224663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450" b="0">
                <a:solidFill>
                  <a:srgbClr val="C0392B"/>
                </a:solidFill>
                <a:latin typeface="맑은 고딕"/>
                <a:ea typeface="맑은 고딕"/>
              </a:rPr>
              <a:t>그 데이터는 정보를 포함했다</a:t>
            </a:r>
          </a:p>
        </p:txBody>
      </p:sp>
      <p:sp>
        <p:nvSpPr>
          <p:cNvPr id="34" name="Sep"/>
          <p:cNvSpPr/>
          <p:nvPr/>
        </p:nvSpPr>
        <p:spPr>
          <a:xfrm>
            <a:off x="5583861" y="4534220"/>
            <a:ext cx="227793" cy="27889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800" b="1">
                <a:solidFill>
                  <a:srgbClr val="A9B4D6"/>
                </a:solidFill>
                <a:latin typeface="Calibri"/>
                <a:ea typeface="맑은 고딕"/>
              </a:rPr>
              <a:t>/</a:t>
            </a:r>
          </a:p>
        </p:txBody>
      </p:sp>
      <p:sp>
        <p:nvSpPr>
          <p:cNvPr id="35" name="En"/>
          <p:cNvSpPr/>
          <p:nvPr/>
        </p:nvSpPr>
        <p:spPr>
          <a:xfrm>
            <a:off x="5811654" y="4534220"/>
            <a:ext cx="3484420" cy="27889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800" b="0">
                <a:solidFill>
                  <a:srgbClr val="333333"/>
                </a:solidFill>
                <a:latin typeface="Calibri"/>
                <a:ea typeface="맑은 고딕"/>
              </a:rPr>
              <a:t>about how much each player ran</a:t>
            </a:r>
          </a:p>
        </p:txBody>
      </p:sp>
      <p:sp>
        <p:nvSpPr>
          <p:cNvPr id="36" name="reveal_12_kr"/>
          <p:cNvSpPr/>
          <p:nvPr/>
        </p:nvSpPr>
        <p:spPr>
          <a:xfrm>
            <a:off x="5811654" y="4868112"/>
            <a:ext cx="3484420" cy="224663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450" b="0">
                <a:solidFill>
                  <a:srgbClr val="C0392B"/>
                </a:solidFill>
                <a:latin typeface="맑은 고딕"/>
                <a:ea typeface="맑은 고딕"/>
              </a:rPr>
              <a:t>각 선수가 얼마나 많이 달렸는지에 대한</a:t>
            </a:r>
          </a:p>
        </p:txBody>
      </p:sp>
      <p:sp>
        <p:nvSpPr>
          <p:cNvPr id="37" name="En"/>
          <p:cNvSpPr/>
          <p:nvPr/>
        </p:nvSpPr>
        <p:spPr>
          <a:xfrm>
            <a:off x="548640" y="5202775"/>
            <a:ext cx="4311990" cy="27889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800" b="0">
                <a:solidFill>
                  <a:srgbClr val="333333"/>
                </a:solidFill>
                <a:latin typeface="Calibri"/>
                <a:ea typeface="맑은 고딕"/>
              </a:rPr>
              <a:t>and how long he had the ball.</a:t>
            </a:r>
          </a:p>
        </p:txBody>
      </p:sp>
      <p:sp>
        <p:nvSpPr>
          <p:cNvPr id="38" name="reveal_13_kr"/>
          <p:cNvSpPr/>
          <p:nvPr/>
        </p:nvSpPr>
        <p:spPr>
          <a:xfrm>
            <a:off x="548640" y="5536667"/>
            <a:ext cx="4311990" cy="224663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450" b="0">
                <a:solidFill>
                  <a:srgbClr val="C0392B"/>
                </a:solidFill>
                <a:latin typeface="맑은 고딕"/>
                <a:ea typeface="맑은 고딕"/>
              </a:rPr>
              <a:t>그리고 얼마나 오래 공을 가지고 있었는지에 대한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9" grpId="0" animBg="1"/>
      <p:bldP spid="12" grpId="0" animBg="1"/>
      <p:bldP spid="15" grpId="0" animBg="1"/>
      <p:bldP spid="17" grpId="0" animBg="1"/>
      <p:bldP spid="20" grpId="0" animBg="1"/>
      <p:bldP spid="22" grpId="0" animBg="1"/>
      <p:bldP spid="25" grpId="0" animBg="1"/>
      <p:bldP spid="28" grpId="0" animBg="1"/>
      <p:bldP spid="30" grpId="0" animBg="1"/>
      <p:bldP spid="33" grpId="0" animBg="1"/>
      <p:bldP spid="36" grpId="0" animBg="1"/>
      <p:bldP spid="38" grpId="0" animBg="1"/>
    </p:bld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adge"/>
          <p:cNvSpPr/>
          <p:nvPr/>
        </p:nvSpPr>
        <p:spPr>
          <a:xfrm>
            <a:off x="548640" y="411480"/>
            <a:ext cx="1188720" cy="50292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900" b="1">
                <a:solidFill>
                  <a:srgbClr val="FFFFFF"/>
                </a:solidFill>
                <a:latin typeface="Calibri"/>
                <a:ea typeface="맑은 고딕"/>
              </a:rPr>
              <a:t>L7-3</a:t>
            </a:r>
          </a:p>
        </p:txBody>
      </p:sp>
      <p:sp>
        <p:nvSpPr>
          <p:cNvPr id="3" name="Rectangle 2"/>
          <p:cNvSpPr/>
          <p:nvPr/>
        </p:nvSpPr>
        <p:spPr>
          <a:xfrm>
            <a:off x="1920240" y="411480"/>
            <a:ext cx="9720072" cy="5029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2400" b="1">
                <a:solidFill>
                  <a:srgbClr val="1E2761"/>
                </a:solidFill>
                <a:latin typeface="Calibri"/>
                <a:ea typeface="맑은 고딕"/>
              </a:rPr>
              <a:t>본문 구문독해  (2/2)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960120"/>
            <a:ext cx="11091672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100" b="0">
                <a:solidFill>
                  <a:srgbClr val="8A8A8A"/>
                </a:solidFill>
                <a:latin typeface="Calibri"/>
                <a:ea typeface="맑은 고딕"/>
              </a:rPr>
              <a:t>동아(윤) 중3 · 시지중 3학년 기말고사 범위 · Lesson 7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492240"/>
            <a:ext cx="11091672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050" b="0">
                <a:solidFill>
                  <a:srgbClr val="8A8A8A"/>
                </a:solidFill>
                <a:latin typeface="Calibri"/>
                <a:ea typeface="맑은 고딕"/>
              </a:rPr>
              <a:t>클릭할 때마다 구문 해석이 왼쪽부터 순서대로 하나씩 날아옵니다</a:t>
            </a:r>
          </a:p>
        </p:txBody>
      </p:sp>
      <p:sp>
        <p:nvSpPr>
          <p:cNvPr id="6" name="En"/>
          <p:cNvSpPr/>
          <p:nvPr/>
        </p:nvSpPr>
        <p:spPr>
          <a:xfrm>
            <a:off x="548640" y="1420000"/>
            <a:ext cx="3439272" cy="27889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800" b="0">
                <a:solidFill>
                  <a:srgbClr val="333333"/>
                </a:solidFill>
                <a:latin typeface="Calibri"/>
                <a:ea typeface="맑은 고딕"/>
              </a:rPr>
              <a:t>With the help of this database,</a:t>
            </a:r>
          </a:p>
        </p:txBody>
      </p:sp>
      <p:sp>
        <p:nvSpPr>
          <p:cNvPr id="7" name="reveal_14_kr"/>
          <p:cNvSpPr/>
          <p:nvPr/>
        </p:nvSpPr>
        <p:spPr>
          <a:xfrm>
            <a:off x="548640" y="1753892"/>
            <a:ext cx="3439272" cy="224663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450" b="0">
                <a:solidFill>
                  <a:srgbClr val="C0392B"/>
                </a:solidFill>
                <a:latin typeface="맑은 고딕"/>
                <a:ea typeface="맑은 고딕"/>
              </a:rPr>
              <a:t>이 데이터베이스의 도움으로</a:t>
            </a:r>
          </a:p>
        </p:txBody>
      </p:sp>
      <p:sp>
        <p:nvSpPr>
          <p:cNvPr id="8" name="Sep"/>
          <p:cNvSpPr/>
          <p:nvPr/>
        </p:nvSpPr>
        <p:spPr>
          <a:xfrm>
            <a:off x="3987912" y="1420000"/>
            <a:ext cx="227793" cy="27889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800" b="1">
                <a:solidFill>
                  <a:srgbClr val="A9B4D6"/>
                </a:solidFill>
                <a:latin typeface="Calibri"/>
                <a:ea typeface="맑은 고딕"/>
              </a:rPr>
              <a:t>/</a:t>
            </a:r>
          </a:p>
        </p:txBody>
      </p:sp>
      <p:sp>
        <p:nvSpPr>
          <p:cNvPr id="9" name="En"/>
          <p:cNvSpPr/>
          <p:nvPr/>
        </p:nvSpPr>
        <p:spPr>
          <a:xfrm>
            <a:off x="4215705" y="1420000"/>
            <a:ext cx="7375764" cy="27889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800" b="0">
                <a:solidFill>
                  <a:srgbClr val="333333"/>
                </a:solidFill>
                <a:latin typeface="Calibri"/>
                <a:ea typeface="맑은 고딕"/>
              </a:rPr>
              <a:t>Germany’s national soccer team was able to improve its performance</a:t>
            </a:r>
          </a:p>
        </p:txBody>
      </p:sp>
      <p:sp>
        <p:nvSpPr>
          <p:cNvPr id="10" name="reveal_15_kr"/>
          <p:cNvSpPr/>
          <p:nvPr/>
        </p:nvSpPr>
        <p:spPr>
          <a:xfrm>
            <a:off x="4215705" y="1753892"/>
            <a:ext cx="7375764" cy="224663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450" b="0">
                <a:solidFill>
                  <a:srgbClr val="C0392B"/>
                </a:solidFill>
                <a:latin typeface="맑은 고딕"/>
                <a:ea typeface="맑은 고딕"/>
              </a:rPr>
              <a:t>독일 국가 대표 축구팀은 경기력을 향상할 수 있었다</a:t>
            </a:r>
          </a:p>
        </p:txBody>
      </p:sp>
      <p:sp>
        <p:nvSpPr>
          <p:cNvPr id="11" name="En"/>
          <p:cNvSpPr/>
          <p:nvPr/>
        </p:nvSpPr>
        <p:spPr>
          <a:xfrm>
            <a:off x="548640" y="2088555"/>
            <a:ext cx="3871135" cy="27889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800" b="0">
                <a:solidFill>
                  <a:srgbClr val="333333"/>
                </a:solidFill>
                <a:latin typeface="Calibri"/>
                <a:ea typeface="맑은 고딕"/>
              </a:rPr>
              <a:t>and win the 2014 World Cup.</a:t>
            </a:r>
          </a:p>
        </p:txBody>
      </p:sp>
      <p:sp>
        <p:nvSpPr>
          <p:cNvPr id="12" name="reveal_16_kr"/>
          <p:cNvSpPr/>
          <p:nvPr/>
        </p:nvSpPr>
        <p:spPr>
          <a:xfrm>
            <a:off x="548640" y="2422447"/>
            <a:ext cx="3871135" cy="224663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450" b="0">
                <a:solidFill>
                  <a:srgbClr val="C0392B"/>
                </a:solidFill>
                <a:latin typeface="맑은 고딕"/>
                <a:ea typeface="맑은 고딕"/>
              </a:rPr>
              <a:t>그리고 2014년 월드컵에서 우승할 수 있었다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10" grpId="0" animBg="1"/>
      <p:bldP spid="12" grpId="0" animBg="1"/>
    </p:bld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adge"/>
          <p:cNvSpPr/>
          <p:nvPr/>
        </p:nvSpPr>
        <p:spPr>
          <a:xfrm>
            <a:off x="548640" y="411480"/>
            <a:ext cx="1188720" cy="50292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900" b="1">
                <a:solidFill>
                  <a:srgbClr val="FFFFFF"/>
                </a:solidFill>
                <a:latin typeface="Calibri"/>
                <a:ea typeface="맑은 고딕"/>
              </a:rPr>
              <a:t>L7-4</a:t>
            </a:r>
          </a:p>
        </p:txBody>
      </p:sp>
      <p:sp>
        <p:nvSpPr>
          <p:cNvPr id="3" name="Rectangle 2"/>
          <p:cNvSpPr/>
          <p:nvPr/>
        </p:nvSpPr>
        <p:spPr>
          <a:xfrm>
            <a:off x="1920240" y="411480"/>
            <a:ext cx="9720072" cy="5029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2400" b="1">
                <a:solidFill>
                  <a:srgbClr val="1E2761"/>
                </a:solidFill>
                <a:latin typeface="Calibri"/>
                <a:ea typeface="맑은 고딕"/>
              </a:rPr>
              <a:t>본문 구문독해  (1/2)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960120"/>
            <a:ext cx="11091672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100" b="0">
                <a:solidFill>
                  <a:srgbClr val="8A8A8A"/>
                </a:solidFill>
                <a:latin typeface="Calibri"/>
                <a:ea typeface="맑은 고딕"/>
              </a:rPr>
              <a:t>동아(윤) 중3 · 시지중 3학년 기말고사 범위 · Lesson 7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492240"/>
            <a:ext cx="11091672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050" b="0">
                <a:solidFill>
                  <a:srgbClr val="8A8A8A"/>
                </a:solidFill>
                <a:latin typeface="Calibri"/>
                <a:ea typeface="맑은 고딕"/>
              </a:rPr>
              <a:t>클릭할 때마다 구문 해석이 왼쪽부터 순서대로 하나씩 날아옵니다</a:t>
            </a:r>
          </a:p>
        </p:txBody>
      </p:sp>
      <p:sp>
        <p:nvSpPr>
          <p:cNvPr id="6" name="En"/>
          <p:cNvSpPr/>
          <p:nvPr/>
        </p:nvSpPr>
        <p:spPr>
          <a:xfrm>
            <a:off x="548640" y="1420000"/>
            <a:ext cx="2168256" cy="27889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800" b="0">
                <a:solidFill>
                  <a:srgbClr val="333333"/>
                </a:solidFill>
                <a:latin typeface="Calibri"/>
                <a:ea typeface="맑은 고딕"/>
              </a:rPr>
              <a:t>Thanks to big data,</a:t>
            </a:r>
          </a:p>
        </p:txBody>
      </p:sp>
      <p:sp>
        <p:nvSpPr>
          <p:cNvPr id="7" name="reveal_1_kr"/>
          <p:cNvSpPr/>
          <p:nvPr/>
        </p:nvSpPr>
        <p:spPr>
          <a:xfrm>
            <a:off x="548640" y="1753892"/>
            <a:ext cx="2168256" cy="224663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450" b="0">
                <a:solidFill>
                  <a:srgbClr val="C0392B"/>
                </a:solidFill>
                <a:latin typeface="맑은 고딕"/>
                <a:ea typeface="맑은 고딕"/>
              </a:rPr>
              <a:t>빅데이터 덕분에</a:t>
            </a:r>
          </a:p>
        </p:txBody>
      </p:sp>
      <p:sp>
        <p:nvSpPr>
          <p:cNvPr id="8" name="Sep"/>
          <p:cNvSpPr/>
          <p:nvPr/>
        </p:nvSpPr>
        <p:spPr>
          <a:xfrm>
            <a:off x="2716896" y="1420000"/>
            <a:ext cx="227793" cy="27889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800" b="1">
                <a:solidFill>
                  <a:srgbClr val="A9B4D6"/>
                </a:solidFill>
                <a:latin typeface="Calibri"/>
                <a:ea typeface="맑은 고딕"/>
              </a:rPr>
              <a:t>/</a:t>
            </a:r>
          </a:p>
        </p:txBody>
      </p:sp>
      <p:sp>
        <p:nvSpPr>
          <p:cNvPr id="9" name="En"/>
          <p:cNvSpPr/>
          <p:nvPr/>
        </p:nvSpPr>
        <p:spPr>
          <a:xfrm>
            <a:off x="2944689" y="1420000"/>
            <a:ext cx="3174096" cy="27889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800" b="0">
                <a:solidFill>
                  <a:srgbClr val="333333"/>
                </a:solidFill>
                <a:latin typeface="Calibri"/>
                <a:ea typeface="맑은 고딕"/>
              </a:rPr>
              <a:t>police can now predict crime</a:t>
            </a:r>
          </a:p>
        </p:txBody>
      </p:sp>
      <p:sp>
        <p:nvSpPr>
          <p:cNvPr id="10" name="reveal_2_kr"/>
          <p:cNvSpPr/>
          <p:nvPr/>
        </p:nvSpPr>
        <p:spPr>
          <a:xfrm>
            <a:off x="2944689" y="1753892"/>
            <a:ext cx="3174096" cy="224663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450" b="0">
                <a:solidFill>
                  <a:srgbClr val="C0392B"/>
                </a:solidFill>
                <a:latin typeface="맑은 고딕"/>
                <a:ea typeface="맑은 고딕"/>
              </a:rPr>
              <a:t>경찰은 이제 범죄를 예측할 수 있다</a:t>
            </a:r>
          </a:p>
        </p:txBody>
      </p:sp>
      <p:sp>
        <p:nvSpPr>
          <p:cNvPr id="11" name="Sep"/>
          <p:cNvSpPr/>
          <p:nvPr/>
        </p:nvSpPr>
        <p:spPr>
          <a:xfrm>
            <a:off x="6118785" y="1420000"/>
            <a:ext cx="227793" cy="27889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800" b="1">
                <a:solidFill>
                  <a:srgbClr val="A9B4D6"/>
                </a:solidFill>
                <a:latin typeface="Calibri"/>
                <a:ea typeface="맑은 고딕"/>
              </a:rPr>
              <a:t>/</a:t>
            </a:r>
          </a:p>
        </p:txBody>
      </p:sp>
      <p:sp>
        <p:nvSpPr>
          <p:cNvPr id="12" name="En"/>
          <p:cNvSpPr/>
          <p:nvPr/>
        </p:nvSpPr>
        <p:spPr>
          <a:xfrm>
            <a:off x="6346578" y="1420000"/>
            <a:ext cx="2076816" cy="27889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800" b="0">
                <a:solidFill>
                  <a:srgbClr val="333333"/>
                </a:solidFill>
                <a:latin typeface="Calibri"/>
                <a:ea typeface="맑은 고딕"/>
              </a:rPr>
              <a:t>before it happens.</a:t>
            </a:r>
          </a:p>
        </p:txBody>
      </p:sp>
      <p:sp>
        <p:nvSpPr>
          <p:cNvPr id="13" name="reveal_3_kr"/>
          <p:cNvSpPr/>
          <p:nvPr/>
        </p:nvSpPr>
        <p:spPr>
          <a:xfrm>
            <a:off x="6346578" y="1753892"/>
            <a:ext cx="2076816" cy="224663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450" b="0">
                <a:solidFill>
                  <a:srgbClr val="C0392B"/>
                </a:solidFill>
                <a:latin typeface="맑은 고딕"/>
                <a:ea typeface="맑은 고딕"/>
              </a:rPr>
              <a:t>그것이 발생하기 전에</a:t>
            </a:r>
          </a:p>
        </p:txBody>
      </p:sp>
      <p:sp>
        <p:nvSpPr>
          <p:cNvPr id="14" name="En"/>
          <p:cNvSpPr/>
          <p:nvPr/>
        </p:nvSpPr>
        <p:spPr>
          <a:xfrm>
            <a:off x="548640" y="2198555"/>
            <a:ext cx="3553571" cy="27889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800" b="0">
                <a:solidFill>
                  <a:srgbClr val="333333"/>
                </a:solidFill>
                <a:latin typeface="Calibri"/>
                <a:ea typeface="맑은 고딕"/>
              </a:rPr>
              <a:t>Through the analysis of big data</a:t>
            </a:r>
          </a:p>
        </p:txBody>
      </p:sp>
      <p:sp>
        <p:nvSpPr>
          <p:cNvPr id="15" name="reveal_4_kr"/>
          <p:cNvSpPr/>
          <p:nvPr/>
        </p:nvSpPr>
        <p:spPr>
          <a:xfrm>
            <a:off x="548640" y="2532447"/>
            <a:ext cx="3553571" cy="224663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450" b="0">
                <a:solidFill>
                  <a:srgbClr val="C0392B"/>
                </a:solidFill>
                <a:latin typeface="맑은 고딕"/>
                <a:ea typeface="맑은 고딕"/>
              </a:rPr>
              <a:t>빅데이터의 분석을 통해</a:t>
            </a:r>
          </a:p>
        </p:txBody>
      </p:sp>
      <p:sp>
        <p:nvSpPr>
          <p:cNvPr id="16" name="Sep"/>
          <p:cNvSpPr/>
          <p:nvPr/>
        </p:nvSpPr>
        <p:spPr>
          <a:xfrm>
            <a:off x="4102211" y="2198555"/>
            <a:ext cx="227793" cy="27889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800" b="1">
                <a:solidFill>
                  <a:srgbClr val="A9B4D6"/>
                </a:solidFill>
                <a:latin typeface="Calibri"/>
                <a:ea typeface="맑은 고딕"/>
              </a:rPr>
              <a:t>/</a:t>
            </a:r>
          </a:p>
        </p:txBody>
      </p:sp>
      <p:sp>
        <p:nvSpPr>
          <p:cNvPr id="17" name="En"/>
          <p:cNvSpPr/>
          <p:nvPr/>
        </p:nvSpPr>
        <p:spPr>
          <a:xfrm>
            <a:off x="4330004" y="2198555"/>
            <a:ext cx="4394820" cy="27889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800" b="0">
                <a:solidFill>
                  <a:srgbClr val="333333"/>
                </a:solidFill>
                <a:latin typeface="Calibri"/>
                <a:ea typeface="맑은 고딕"/>
              </a:rPr>
              <a:t>about the type, time and place of crime,</a:t>
            </a:r>
          </a:p>
        </p:txBody>
      </p:sp>
      <p:sp>
        <p:nvSpPr>
          <p:cNvPr id="18" name="reveal_5_kr"/>
          <p:cNvSpPr/>
          <p:nvPr/>
        </p:nvSpPr>
        <p:spPr>
          <a:xfrm>
            <a:off x="4330004" y="2532447"/>
            <a:ext cx="4394820" cy="224663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450" b="0">
                <a:solidFill>
                  <a:srgbClr val="C0392B"/>
                </a:solidFill>
                <a:latin typeface="맑은 고딕"/>
                <a:ea typeface="맑은 고딕"/>
              </a:rPr>
              <a:t>범죄의 유형, 시간, 장소에 관한</a:t>
            </a:r>
          </a:p>
        </p:txBody>
      </p:sp>
      <p:sp>
        <p:nvSpPr>
          <p:cNvPr id="19" name="Sep"/>
          <p:cNvSpPr/>
          <p:nvPr/>
        </p:nvSpPr>
        <p:spPr>
          <a:xfrm>
            <a:off x="8724824" y="2198555"/>
            <a:ext cx="227793" cy="27889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800" b="1">
                <a:solidFill>
                  <a:srgbClr val="A9B4D6"/>
                </a:solidFill>
                <a:latin typeface="Calibri"/>
                <a:ea typeface="맑은 고딕"/>
              </a:rPr>
              <a:t>/</a:t>
            </a:r>
          </a:p>
        </p:txBody>
      </p:sp>
      <p:sp>
        <p:nvSpPr>
          <p:cNvPr id="20" name="En"/>
          <p:cNvSpPr/>
          <p:nvPr/>
        </p:nvSpPr>
        <p:spPr>
          <a:xfrm>
            <a:off x="8952617" y="2198555"/>
            <a:ext cx="2463492" cy="27889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800" b="0">
                <a:solidFill>
                  <a:srgbClr val="333333"/>
                </a:solidFill>
                <a:latin typeface="Calibri"/>
                <a:ea typeface="맑은 고딕"/>
              </a:rPr>
              <a:t>police can make a map</a:t>
            </a:r>
          </a:p>
        </p:txBody>
      </p:sp>
      <p:sp>
        <p:nvSpPr>
          <p:cNvPr id="21" name="reveal_6_kr"/>
          <p:cNvSpPr/>
          <p:nvPr/>
        </p:nvSpPr>
        <p:spPr>
          <a:xfrm>
            <a:off x="8952617" y="2532447"/>
            <a:ext cx="2463492" cy="224663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450" b="0">
                <a:solidFill>
                  <a:srgbClr val="C0392B"/>
                </a:solidFill>
                <a:latin typeface="맑은 고딕"/>
                <a:ea typeface="맑은 고딕"/>
              </a:rPr>
              <a:t>경찰은 지도를 만들 수 있다</a:t>
            </a:r>
          </a:p>
        </p:txBody>
      </p:sp>
      <p:sp>
        <p:nvSpPr>
          <p:cNvPr id="22" name="En"/>
          <p:cNvSpPr/>
          <p:nvPr/>
        </p:nvSpPr>
        <p:spPr>
          <a:xfrm>
            <a:off x="548640" y="2867110"/>
            <a:ext cx="2168256" cy="27889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800" b="0">
                <a:solidFill>
                  <a:srgbClr val="333333"/>
                </a:solidFill>
                <a:latin typeface="Calibri"/>
                <a:ea typeface="맑은 고딕"/>
              </a:rPr>
              <a:t>of crime hot spots.</a:t>
            </a:r>
          </a:p>
        </p:txBody>
      </p:sp>
      <p:sp>
        <p:nvSpPr>
          <p:cNvPr id="23" name="reveal_7_kr"/>
          <p:cNvSpPr/>
          <p:nvPr/>
        </p:nvSpPr>
        <p:spPr>
          <a:xfrm>
            <a:off x="548640" y="3201002"/>
            <a:ext cx="2168256" cy="224663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450" b="0">
                <a:solidFill>
                  <a:srgbClr val="C0392B"/>
                </a:solidFill>
                <a:latin typeface="맑은 고딕"/>
                <a:ea typeface="맑은 고딕"/>
              </a:rPr>
              <a:t>범죄 다발 지역의</a:t>
            </a:r>
          </a:p>
        </p:txBody>
      </p:sp>
      <p:sp>
        <p:nvSpPr>
          <p:cNvPr id="24" name="En"/>
          <p:cNvSpPr/>
          <p:nvPr/>
        </p:nvSpPr>
        <p:spPr>
          <a:xfrm>
            <a:off x="548640" y="3645665"/>
            <a:ext cx="2245980" cy="27889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800" b="0">
                <a:solidFill>
                  <a:srgbClr val="333333"/>
                </a:solidFill>
                <a:latin typeface="Calibri"/>
                <a:ea typeface="맑은 고딕"/>
              </a:rPr>
              <a:t>This map identifies</a:t>
            </a:r>
          </a:p>
        </p:txBody>
      </p:sp>
      <p:sp>
        <p:nvSpPr>
          <p:cNvPr id="25" name="reveal_8_kr"/>
          <p:cNvSpPr/>
          <p:nvPr/>
        </p:nvSpPr>
        <p:spPr>
          <a:xfrm>
            <a:off x="548640" y="3979557"/>
            <a:ext cx="2245980" cy="224663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450" b="0">
                <a:solidFill>
                  <a:srgbClr val="C0392B"/>
                </a:solidFill>
                <a:latin typeface="맑은 고딕"/>
                <a:ea typeface="맑은 고딕"/>
              </a:rPr>
              <a:t>이 지도는 알려 준다</a:t>
            </a:r>
          </a:p>
        </p:txBody>
      </p:sp>
      <p:sp>
        <p:nvSpPr>
          <p:cNvPr id="26" name="Sep"/>
          <p:cNvSpPr/>
          <p:nvPr/>
        </p:nvSpPr>
        <p:spPr>
          <a:xfrm>
            <a:off x="2794620" y="3645665"/>
            <a:ext cx="227793" cy="27889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800" b="1">
                <a:solidFill>
                  <a:srgbClr val="A9B4D6"/>
                </a:solidFill>
                <a:latin typeface="Calibri"/>
                <a:ea typeface="맑은 고딕"/>
              </a:rPr>
              <a:t>/</a:t>
            </a:r>
          </a:p>
        </p:txBody>
      </p:sp>
      <p:sp>
        <p:nvSpPr>
          <p:cNvPr id="27" name="En"/>
          <p:cNvSpPr/>
          <p:nvPr/>
        </p:nvSpPr>
        <p:spPr>
          <a:xfrm>
            <a:off x="3022413" y="3645665"/>
            <a:ext cx="5085192" cy="27889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800" b="0">
                <a:solidFill>
                  <a:srgbClr val="333333"/>
                </a:solidFill>
                <a:latin typeface="Calibri"/>
                <a:ea typeface="맑은 고딕"/>
              </a:rPr>
              <a:t>when and where crime is most likely to happen.</a:t>
            </a:r>
          </a:p>
        </p:txBody>
      </p:sp>
      <p:sp>
        <p:nvSpPr>
          <p:cNvPr id="28" name="reveal_9_kr"/>
          <p:cNvSpPr/>
          <p:nvPr/>
        </p:nvSpPr>
        <p:spPr>
          <a:xfrm>
            <a:off x="3022413" y="3979557"/>
            <a:ext cx="5085192" cy="224663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450" b="0">
                <a:solidFill>
                  <a:srgbClr val="C0392B"/>
                </a:solidFill>
                <a:latin typeface="맑은 고딕"/>
                <a:ea typeface="맑은 고딕"/>
              </a:rPr>
              <a:t>범죄가 언제 어디에서 가장 발생할 것 같은지</a:t>
            </a:r>
          </a:p>
        </p:txBody>
      </p:sp>
      <p:sp>
        <p:nvSpPr>
          <p:cNvPr id="29" name="En"/>
          <p:cNvSpPr/>
          <p:nvPr/>
        </p:nvSpPr>
        <p:spPr>
          <a:xfrm>
            <a:off x="548640" y="4424220"/>
            <a:ext cx="3631295" cy="27889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800" b="0">
                <a:solidFill>
                  <a:srgbClr val="333333"/>
                </a:solidFill>
                <a:latin typeface="Calibri"/>
                <a:ea typeface="맑은 고딕"/>
              </a:rPr>
              <a:t>Police can prevent further crime</a:t>
            </a:r>
          </a:p>
        </p:txBody>
      </p:sp>
      <p:sp>
        <p:nvSpPr>
          <p:cNvPr id="30" name="reveal_10_kr"/>
          <p:cNvSpPr/>
          <p:nvPr/>
        </p:nvSpPr>
        <p:spPr>
          <a:xfrm>
            <a:off x="548640" y="4758112"/>
            <a:ext cx="3631295" cy="224663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450" b="0">
                <a:solidFill>
                  <a:srgbClr val="C0392B"/>
                </a:solidFill>
                <a:latin typeface="맑은 고딕"/>
                <a:ea typeface="맑은 고딕"/>
              </a:rPr>
              <a:t>경찰은 추가 범죄를 예방할 수 있다</a:t>
            </a:r>
          </a:p>
        </p:txBody>
      </p:sp>
      <p:sp>
        <p:nvSpPr>
          <p:cNvPr id="31" name="Sep"/>
          <p:cNvSpPr/>
          <p:nvPr/>
        </p:nvSpPr>
        <p:spPr>
          <a:xfrm>
            <a:off x="4179935" y="4424220"/>
            <a:ext cx="227793" cy="27889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800" b="1">
                <a:solidFill>
                  <a:srgbClr val="A9B4D6"/>
                </a:solidFill>
                <a:latin typeface="Calibri"/>
                <a:ea typeface="맑은 고딕"/>
              </a:rPr>
              <a:t>/</a:t>
            </a:r>
          </a:p>
        </p:txBody>
      </p:sp>
      <p:sp>
        <p:nvSpPr>
          <p:cNvPr id="32" name="En"/>
          <p:cNvSpPr/>
          <p:nvPr/>
        </p:nvSpPr>
        <p:spPr>
          <a:xfrm>
            <a:off x="4407728" y="4424220"/>
            <a:ext cx="4138787" cy="27889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800" b="0">
                <a:solidFill>
                  <a:srgbClr val="333333"/>
                </a:solidFill>
                <a:latin typeface="Calibri"/>
                <a:ea typeface="맑은 고딕"/>
              </a:rPr>
              <a:t>by focusing on the areas and the times</a:t>
            </a:r>
          </a:p>
        </p:txBody>
      </p:sp>
      <p:sp>
        <p:nvSpPr>
          <p:cNvPr id="33" name="reveal_11_kr"/>
          <p:cNvSpPr/>
          <p:nvPr/>
        </p:nvSpPr>
        <p:spPr>
          <a:xfrm>
            <a:off x="4407728" y="4758112"/>
            <a:ext cx="4138787" cy="224663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450" b="0">
                <a:solidFill>
                  <a:srgbClr val="C0392B"/>
                </a:solidFill>
                <a:latin typeface="맑은 고딕"/>
                <a:ea typeface="맑은 고딕"/>
              </a:rPr>
              <a:t>지역과 시간대에 집중함으로써</a:t>
            </a:r>
          </a:p>
        </p:txBody>
      </p:sp>
      <p:sp>
        <p:nvSpPr>
          <p:cNvPr id="34" name="Sep"/>
          <p:cNvSpPr/>
          <p:nvPr/>
        </p:nvSpPr>
        <p:spPr>
          <a:xfrm>
            <a:off x="8546515" y="4424220"/>
            <a:ext cx="227793" cy="27889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800" b="1">
                <a:solidFill>
                  <a:srgbClr val="A9B4D6"/>
                </a:solidFill>
                <a:latin typeface="Calibri"/>
                <a:ea typeface="맑은 고딕"/>
              </a:rPr>
              <a:t>/</a:t>
            </a:r>
          </a:p>
        </p:txBody>
      </p:sp>
      <p:sp>
        <p:nvSpPr>
          <p:cNvPr id="35" name="En"/>
          <p:cNvSpPr/>
          <p:nvPr/>
        </p:nvSpPr>
        <p:spPr>
          <a:xfrm>
            <a:off x="8774308" y="4424220"/>
            <a:ext cx="2104248" cy="27889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800" b="0">
                <a:solidFill>
                  <a:srgbClr val="333333"/>
                </a:solidFill>
                <a:latin typeface="Calibri"/>
                <a:ea typeface="맑은 고딕"/>
              </a:rPr>
              <a:t>this map predicts.</a:t>
            </a:r>
          </a:p>
        </p:txBody>
      </p:sp>
      <p:sp>
        <p:nvSpPr>
          <p:cNvPr id="36" name="reveal_12_kr"/>
          <p:cNvSpPr/>
          <p:nvPr/>
        </p:nvSpPr>
        <p:spPr>
          <a:xfrm>
            <a:off x="8774308" y="4758112"/>
            <a:ext cx="2104248" cy="224663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450" b="0">
                <a:solidFill>
                  <a:srgbClr val="C0392B"/>
                </a:solidFill>
                <a:latin typeface="맑은 고딕"/>
                <a:ea typeface="맑은 고딕"/>
              </a:rPr>
              <a:t>이 지도가 예측하는</a:t>
            </a:r>
          </a:p>
        </p:txBody>
      </p:sp>
      <p:sp>
        <p:nvSpPr>
          <p:cNvPr id="37" name="En"/>
          <p:cNvSpPr/>
          <p:nvPr/>
        </p:nvSpPr>
        <p:spPr>
          <a:xfrm>
            <a:off x="548640" y="5202775"/>
            <a:ext cx="5194920" cy="27889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800" b="0">
                <a:solidFill>
                  <a:srgbClr val="333333"/>
                </a:solidFill>
                <a:latin typeface="Calibri"/>
                <a:ea typeface="맑은 고딕"/>
              </a:rPr>
              <a:t>Big data has already changed the world greatly.</a:t>
            </a:r>
          </a:p>
        </p:txBody>
      </p:sp>
      <p:sp>
        <p:nvSpPr>
          <p:cNvPr id="38" name="reveal_13_kr"/>
          <p:cNvSpPr/>
          <p:nvPr/>
        </p:nvSpPr>
        <p:spPr>
          <a:xfrm>
            <a:off x="548640" y="5536667"/>
            <a:ext cx="5194920" cy="224663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450" b="0">
                <a:solidFill>
                  <a:srgbClr val="C0392B"/>
                </a:solidFill>
                <a:latin typeface="맑은 고딕"/>
                <a:ea typeface="맑은 고딕"/>
              </a:rPr>
              <a:t>빅데이터는 이미 세상을 크게 변화시켰다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10" grpId="0" animBg="1"/>
      <p:bldP spid="13" grpId="0" animBg="1"/>
      <p:bldP spid="15" grpId="0" animBg="1"/>
      <p:bldP spid="18" grpId="0" animBg="1"/>
      <p:bldP spid="21" grpId="0" animBg="1"/>
      <p:bldP spid="23" grpId="0" animBg="1"/>
      <p:bldP spid="25" grpId="0" animBg="1"/>
      <p:bldP spid="28" grpId="0" animBg="1"/>
      <p:bldP spid="30" grpId="0" animBg="1"/>
      <p:bldP spid="33" grpId="0" animBg="1"/>
      <p:bldP spid="36" grpId="0" animBg="1"/>
      <p:bldP spid="38" grpId="0" animBg="1"/>
    </p:bldLst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adge"/>
          <p:cNvSpPr/>
          <p:nvPr/>
        </p:nvSpPr>
        <p:spPr>
          <a:xfrm>
            <a:off x="548640" y="411480"/>
            <a:ext cx="1188720" cy="50292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900" b="1">
                <a:solidFill>
                  <a:srgbClr val="FFFFFF"/>
                </a:solidFill>
                <a:latin typeface="Calibri"/>
                <a:ea typeface="맑은 고딕"/>
              </a:rPr>
              <a:t>L7-4</a:t>
            </a:r>
          </a:p>
        </p:txBody>
      </p:sp>
      <p:sp>
        <p:nvSpPr>
          <p:cNvPr id="3" name="Rectangle 2"/>
          <p:cNvSpPr/>
          <p:nvPr/>
        </p:nvSpPr>
        <p:spPr>
          <a:xfrm>
            <a:off x="1920240" y="411480"/>
            <a:ext cx="9720072" cy="5029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2400" b="1">
                <a:solidFill>
                  <a:srgbClr val="1E2761"/>
                </a:solidFill>
                <a:latin typeface="Calibri"/>
                <a:ea typeface="맑은 고딕"/>
              </a:rPr>
              <a:t>본문 구문독해  (2/2)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960120"/>
            <a:ext cx="11091672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100" b="0">
                <a:solidFill>
                  <a:srgbClr val="8A8A8A"/>
                </a:solidFill>
                <a:latin typeface="Calibri"/>
                <a:ea typeface="맑은 고딕"/>
              </a:rPr>
              <a:t>동아(윤) 중3 · 시지중 3학년 기말고사 범위 · Lesson 7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492240"/>
            <a:ext cx="11091672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050" b="0">
                <a:solidFill>
                  <a:srgbClr val="8A8A8A"/>
                </a:solidFill>
                <a:latin typeface="Calibri"/>
                <a:ea typeface="맑은 고딕"/>
              </a:rPr>
              <a:t>클릭할 때마다 구문 해석이 왼쪽부터 순서대로 하나씩 날아옵니다</a:t>
            </a:r>
          </a:p>
        </p:txBody>
      </p:sp>
      <p:sp>
        <p:nvSpPr>
          <p:cNvPr id="6" name="En"/>
          <p:cNvSpPr/>
          <p:nvPr/>
        </p:nvSpPr>
        <p:spPr>
          <a:xfrm>
            <a:off x="548640" y="1420000"/>
            <a:ext cx="4193652" cy="27889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800" b="0">
                <a:solidFill>
                  <a:srgbClr val="333333"/>
                </a:solidFill>
                <a:latin typeface="Calibri"/>
                <a:ea typeface="맑은 고딕"/>
              </a:rPr>
              <a:t>So where will the big data industry go</a:t>
            </a:r>
          </a:p>
        </p:txBody>
      </p:sp>
      <p:sp>
        <p:nvSpPr>
          <p:cNvPr id="7" name="reveal_14_kr"/>
          <p:cNvSpPr/>
          <p:nvPr/>
        </p:nvSpPr>
        <p:spPr>
          <a:xfrm>
            <a:off x="548640" y="1753892"/>
            <a:ext cx="4193652" cy="224663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450" b="0">
                <a:solidFill>
                  <a:srgbClr val="C0392B"/>
                </a:solidFill>
                <a:latin typeface="맑은 고딕"/>
                <a:ea typeface="맑은 고딕"/>
              </a:rPr>
              <a:t>그러면 빅데이터 산업은 어디로 갈까</a:t>
            </a:r>
          </a:p>
        </p:txBody>
      </p:sp>
      <p:sp>
        <p:nvSpPr>
          <p:cNvPr id="8" name="Sep"/>
          <p:cNvSpPr/>
          <p:nvPr/>
        </p:nvSpPr>
        <p:spPr>
          <a:xfrm>
            <a:off x="4742292" y="1420000"/>
            <a:ext cx="227793" cy="27889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800" b="1">
                <a:solidFill>
                  <a:srgbClr val="A9B4D6"/>
                </a:solidFill>
                <a:latin typeface="Calibri"/>
                <a:ea typeface="맑은 고딕"/>
              </a:rPr>
              <a:t>/</a:t>
            </a:r>
          </a:p>
        </p:txBody>
      </p:sp>
      <p:sp>
        <p:nvSpPr>
          <p:cNvPr id="9" name="En"/>
          <p:cNvSpPr/>
          <p:nvPr/>
        </p:nvSpPr>
        <p:spPr>
          <a:xfrm>
            <a:off x="4970085" y="1420000"/>
            <a:ext cx="1280145" cy="27889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800" b="0">
                <a:solidFill>
                  <a:srgbClr val="333333"/>
                </a:solidFill>
                <a:latin typeface="Calibri"/>
                <a:ea typeface="맑은 고딕"/>
              </a:rPr>
              <a:t>from here?</a:t>
            </a:r>
          </a:p>
        </p:txBody>
      </p:sp>
      <p:sp>
        <p:nvSpPr>
          <p:cNvPr id="10" name="reveal_15_kr"/>
          <p:cNvSpPr/>
          <p:nvPr/>
        </p:nvSpPr>
        <p:spPr>
          <a:xfrm>
            <a:off x="4970085" y="1753892"/>
            <a:ext cx="1280145" cy="224663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450" b="0">
                <a:solidFill>
                  <a:srgbClr val="C0392B"/>
                </a:solidFill>
                <a:latin typeface="맑은 고딕"/>
                <a:ea typeface="맑은 고딕"/>
              </a:rPr>
              <a:t>여기에서부터</a:t>
            </a:r>
          </a:p>
        </p:txBody>
      </p:sp>
      <p:sp>
        <p:nvSpPr>
          <p:cNvPr id="11" name="En"/>
          <p:cNvSpPr/>
          <p:nvPr/>
        </p:nvSpPr>
        <p:spPr>
          <a:xfrm>
            <a:off x="548640" y="2198555"/>
            <a:ext cx="2602710" cy="27889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800" b="0">
                <a:solidFill>
                  <a:srgbClr val="333333"/>
                </a:solidFill>
                <a:latin typeface="Calibri"/>
                <a:ea typeface="맑은 고딕"/>
              </a:rPr>
              <a:t>Nobody knows for sure,</a:t>
            </a:r>
          </a:p>
        </p:txBody>
      </p:sp>
      <p:sp>
        <p:nvSpPr>
          <p:cNvPr id="12" name="reveal_16_kr"/>
          <p:cNvSpPr/>
          <p:nvPr/>
        </p:nvSpPr>
        <p:spPr>
          <a:xfrm>
            <a:off x="548640" y="2532447"/>
            <a:ext cx="2602710" cy="224663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450" b="0">
                <a:solidFill>
                  <a:srgbClr val="C0392B"/>
                </a:solidFill>
                <a:latin typeface="맑은 고딕"/>
                <a:ea typeface="맑은 고딕"/>
              </a:rPr>
              <a:t>누구도 확실히 알지는 못한다</a:t>
            </a:r>
          </a:p>
        </p:txBody>
      </p:sp>
      <p:sp>
        <p:nvSpPr>
          <p:cNvPr id="13" name="Sep"/>
          <p:cNvSpPr/>
          <p:nvPr/>
        </p:nvSpPr>
        <p:spPr>
          <a:xfrm>
            <a:off x="3151350" y="2198555"/>
            <a:ext cx="227793" cy="27889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800" b="1">
                <a:solidFill>
                  <a:srgbClr val="A9B4D6"/>
                </a:solidFill>
                <a:latin typeface="Calibri"/>
                <a:ea typeface="맑은 고딕"/>
              </a:rPr>
              <a:t>/</a:t>
            </a:r>
          </a:p>
        </p:txBody>
      </p:sp>
      <p:sp>
        <p:nvSpPr>
          <p:cNvPr id="14" name="En"/>
          <p:cNvSpPr/>
          <p:nvPr/>
        </p:nvSpPr>
        <p:spPr>
          <a:xfrm>
            <a:off x="3379143" y="2198555"/>
            <a:ext cx="2548570" cy="27889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800" b="0">
                <a:solidFill>
                  <a:srgbClr val="333333"/>
                </a:solidFill>
                <a:latin typeface="Calibri"/>
                <a:ea typeface="맑은 고딕"/>
              </a:rPr>
              <a:t>but experts agree</a:t>
            </a:r>
          </a:p>
        </p:txBody>
      </p:sp>
      <p:sp>
        <p:nvSpPr>
          <p:cNvPr id="15" name="reveal_17_kr"/>
          <p:cNvSpPr/>
          <p:nvPr/>
        </p:nvSpPr>
        <p:spPr>
          <a:xfrm>
            <a:off x="3379143" y="2532447"/>
            <a:ext cx="2548570" cy="224663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450" b="0">
                <a:solidFill>
                  <a:srgbClr val="C0392B"/>
                </a:solidFill>
                <a:latin typeface="맑은 고딕"/>
                <a:ea typeface="맑은 고딕"/>
              </a:rPr>
              <a:t>하지만 전문가들은 동의한다</a:t>
            </a:r>
          </a:p>
        </p:txBody>
      </p:sp>
      <p:sp>
        <p:nvSpPr>
          <p:cNvPr id="16" name="En"/>
          <p:cNvSpPr/>
          <p:nvPr/>
        </p:nvSpPr>
        <p:spPr>
          <a:xfrm>
            <a:off x="548640" y="2867110"/>
            <a:ext cx="5899008" cy="27889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800" b="0">
                <a:solidFill>
                  <a:srgbClr val="333333"/>
                </a:solidFill>
                <a:latin typeface="Calibri"/>
                <a:ea typeface="맑은 고딕"/>
              </a:rPr>
              <a:t>that big data will play a more and more important role</a:t>
            </a:r>
          </a:p>
        </p:txBody>
      </p:sp>
      <p:sp>
        <p:nvSpPr>
          <p:cNvPr id="17" name="reveal_18_kr"/>
          <p:cNvSpPr/>
          <p:nvPr/>
        </p:nvSpPr>
        <p:spPr>
          <a:xfrm>
            <a:off x="548640" y="3201002"/>
            <a:ext cx="5899008" cy="224663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450" b="0">
                <a:solidFill>
                  <a:srgbClr val="C0392B"/>
                </a:solidFill>
                <a:latin typeface="맑은 고딕"/>
                <a:ea typeface="맑은 고딕"/>
              </a:rPr>
              <a:t>빅데이터가 더욱더 중요한 역할을 할 것이라는 데</a:t>
            </a:r>
          </a:p>
        </p:txBody>
      </p:sp>
      <p:sp>
        <p:nvSpPr>
          <p:cNvPr id="18" name="Sep"/>
          <p:cNvSpPr/>
          <p:nvPr/>
        </p:nvSpPr>
        <p:spPr>
          <a:xfrm>
            <a:off x="6447648" y="2867110"/>
            <a:ext cx="227793" cy="27889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800" b="1">
                <a:solidFill>
                  <a:srgbClr val="A9B4D6"/>
                </a:solidFill>
                <a:latin typeface="Calibri"/>
                <a:ea typeface="맑은 고딕"/>
              </a:rPr>
              <a:t>/</a:t>
            </a:r>
          </a:p>
        </p:txBody>
      </p:sp>
      <p:sp>
        <p:nvSpPr>
          <p:cNvPr id="19" name="En"/>
          <p:cNvSpPr/>
          <p:nvPr/>
        </p:nvSpPr>
        <p:spPr>
          <a:xfrm>
            <a:off x="6675441" y="2867110"/>
            <a:ext cx="1505316" cy="27889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800" b="0">
                <a:solidFill>
                  <a:srgbClr val="333333"/>
                </a:solidFill>
                <a:latin typeface="Calibri"/>
                <a:ea typeface="맑은 고딕"/>
              </a:rPr>
              <a:t>in our lives.</a:t>
            </a:r>
          </a:p>
        </p:txBody>
      </p:sp>
      <p:sp>
        <p:nvSpPr>
          <p:cNvPr id="20" name="reveal_19_kr"/>
          <p:cNvSpPr/>
          <p:nvPr/>
        </p:nvSpPr>
        <p:spPr>
          <a:xfrm>
            <a:off x="6675441" y="3201002"/>
            <a:ext cx="1505316" cy="224663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450" b="0">
                <a:solidFill>
                  <a:srgbClr val="C0392B"/>
                </a:solidFill>
                <a:latin typeface="맑은 고딕"/>
                <a:ea typeface="맑은 고딕"/>
              </a:rPr>
              <a:t>우리 삶에서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10" grpId="0" animBg="1"/>
      <p:bldP spid="12" grpId="0" animBg="1"/>
      <p:bldP spid="15" grpId="0" animBg="1"/>
      <p:bldP spid="17" grpId="0" animBg="1"/>
      <p:bldP spid="20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