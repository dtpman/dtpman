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332720" cy="146304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3400" b="1" i="0" u="none">
                <a:solidFill>
                  <a:srgbClr val="FFFFFF"/>
                </a:solidFill>
                <a:latin typeface="맑은 고딕"/>
              </a:rPr>
              <a:t>Lesson 7 Grammar Build Up 객관식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703320"/>
            <a:ext cx="10332720" cy="5486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800" b="0" i="0" u="none">
                <a:solidFill>
                  <a:srgbClr val="CFD8E8"/>
                </a:solidFill>
                <a:latin typeface="맑은 고딕"/>
              </a:rPr>
              <a:t>7 개정 중3 NE능률(김성곤)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51960"/>
            <a:ext cx="10332720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00" b="0" i="0" u="none">
                <a:solidFill>
                  <a:srgbClr val="AEBBD0"/>
                </a:solidFill>
                <a:latin typeface="맑은 고딕"/>
              </a:rPr>
              <a:t>총 137문항 · 클릭 → 정답 공개 → 클릭 → 정답 이유 공개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p.132  ·  정답·해설 p.151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빈칸에 들어갈 말로 가장 적절한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If I ________ some money, I would lend it to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am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was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were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have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had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빈칸에 들어갈 말로 가장 적절한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If I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had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some money, I would lend it to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am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was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were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have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⑤ had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had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내가 돈이 좀 있다면, 너에게 빌려줄 텐데.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현재 사실과 반대되는 것을 가정할 때 [If+주어 +동사의 과거형, 주어+조동사의 과거형+동사 원형]의 형태인 가정법 과거를 사용한다.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p.132  ·  정답·해설 p.151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빈칸에 들어갈 말로 가장 적절한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If I were you, I ________ tell her the truth.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will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can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would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do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am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빈칸에 들어갈 말로 가장 적절한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If I were you, I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would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tell her the truth.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will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can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③ would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do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am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③ would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내가 너라면, 그녀에게 사실을 말할 텐데.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 문장으로 빈칸에는 조동사의 과거형이 들어가야 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p.132  ·  정답·해설 p.151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괄호에 주어진 단어의 형태로 알맞은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If you (be) not sick, we could visit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are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were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been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being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have been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괄호에 주어진 단어의 형태로 알맞은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If you (be) not sick, we could visit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are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② were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been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being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have been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② were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네가 아프지 않다면, 우리가 너를 방문할 수 있을 텐데.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 별도 해설 없음)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p.132  ·  정답·해설 p.151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빈칸에 공통으로 들어갈 말로 가장 적절한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If I ________ a bird, I would fly to you.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If we ________ rich, we would buy a car.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be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are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was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were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had been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빈칸에 공통으로 들어갈 말로 가장 적절한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If I ________ a bird, I would fly to you.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If we ________ rich, we would buy a car.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be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are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was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④ were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had been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were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내가 새라면, 너에게 날아갈 텐데.  /  우리가 부자라면, 자동차를 살 텐데.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모두 가정법 과거 문장으로 be동사의 과거형인 were가 올바르다.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p.132  ·  정답·해설 p.151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빈칸에 들어갈 알맞은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If the weather _____________ better, I could have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gone on a picnic.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was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were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has been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had been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빈칸에 들어갈 알맞은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If the weather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had been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better, I could have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gone on a picnic.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was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were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has been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⑤ had been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had been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날씨가 더 좋았다면, 우리는 소풍을 갈 수 있었을 텐데.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'날씨가 더 좋았더라면, 나는 소풍을 갈 수 있었을 텐데.' 가정법 과거완료는 「If+주어+had p.p., 주어+조동사 과거형+have p.p」의 형태로 나타낸다. 주절에 ‘could have gone’이 온 것으로 보아 가정법 과거완료이므로 if절에는 과거완료 ‘had p.p.’가 와야 한다. ‘과거 사실에 대한 반대’를 나타내며, ‘만약 ~했더라면’이라고 해석한다.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p.132  ·  정답·해설 p.151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847344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문장의 의미가 같도록 빈칸에 들어갈 말로 가장 적절한 것은?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16023"/>
            <a:ext cx="8214055" cy="222046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As I didn't know your email address, I couldn't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write to you.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If I _________________ your email address, I could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have written to you.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08415" y="1716023"/>
            <a:ext cx="2926080" cy="2220467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knew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known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have known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had known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had not known</a:t>
            </a:r>
          </a:p>
        </p:txBody>
      </p:sp>
      <p:sp>
        <p:nvSpPr>
          <p:cNvPr id="9" name="reveal_1_en_ov"/>
          <p:cNvSpPr txBox="1"/>
          <p:nvPr/>
        </p:nvSpPr>
        <p:spPr>
          <a:xfrm>
            <a:off x="8808415" y="1716023"/>
            <a:ext cx="2926080" cy="2220467"/>
          </a:xfrm>
          <a:prstGeom prst="rect">
            <a:avLst/>
          </a:prstGeom>
          <a:solidFill>
            <a:srgbClr val="F2F3F5"/>
          </a:solidFill>
          <a:ln>
            <a:noFill/>
          </a:ln>
        </p:spPr>
        <p:txBody>
          <a:bodyPr wrap="square" anchor="t" lIns="73152" rIns="73152" t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knew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known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have known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④ had known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had not known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398221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veal_1_en"/>
          <p:cNvSpPr/>
          <p:nvPr/>
        </p:nvSpPr>
        <p:spPr>
          <a:xfrm>
            <a:off x="457200" y="4119371"/>
            <a:ext cx="11277295" cy="121158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had known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나는 네 이메일 주소를 몰랐기 때문에 너에게 편지를 쓸 수 없었다.  /  → 내가 네 이메일 주소를 알았더라면, 너에게 편지를 쓸 수 있었을 텐데.</a:t>
            </a:r>
          </a:p>
        </p:txBody>
      </p:sp>
      <p:sp>
        <p:nvSpPr>
          <p:cNvPr id="12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과거완료 시제로 빈칸에는 had p.p. 형 태가 들어가야 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9" grpId="0" animBg="1"/>
      <p:bldP spid="12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p.132  ·  정답·해설 p.151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8153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1E2A4A"/>
                </a:solidFill>
                <a:latin typeface="맑은 고딕"/>
              </a:rPr>
              <a:t>다음 문장을 if로 시작하는 문장으로 다시 쓸 때, 빈 칸에 들어갈 말로 가장 적절한 것은?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84020"/>
            <a:ext cx="8214055" cy="225247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I have to go to class, so I can't go shopping with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you.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→ If I _____________________ go to class, I could go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shopping with you.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08415" y="1684020"/>
            <a:ext cx="2926080" cy="2252471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① don't have 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② had not 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③ had 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④ didn't have 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⑤ didn't had to</a:t>
            </a:r>
          </a:p>
        </p:txBody>
      </p:sp>
      <p:sp>
        <p:nvSpPr>
          <p:cNvPr id="9" name="reveal_1_en_ov"/>
          <p:cNvSpPr txBox="1"/>
          <p:nvPr/>
        </p:nvSpPr>
        <p:spPr>
          <a:xfrm>
            <a:off x="8808415" y="1684020"/>
            <a:ext cx="2926080" cy="2252471"/>
          </a:xfrm>
          <a:prstGeom prst="rect">
            <a:avLst/>
          </a:prstGeom>
          <a:solidFill>
            <a:srgbClr val="F2F3F5"/>
          </a:solidFill>
          <a:ln>
            <a:noFill/>
          </a:ln>
        </p:spPr>
        <p:txBody>
          <a:bodyPr wrap="square" anchor="t" lIns="73152" rIns="73152" t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① don't have 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② had not 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③ had 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 i="0" u="none">
                <a:solidFill>
                  <a:srgbClr val="C03A2E"/>
                </a:solidFill>
                <a:latin typeface="맑은 고딕"/>
              </a:rPr>
              <a:t>④ didn't have 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⑤ didn't had to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398221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veal_1_en"/>
          <p:cNvSpPr/>
          <p:nvPr/>
        </p:nvSpPr>
        <p:spPr>
          <a:xfrm>
            <a:off x="457200" y="4119371"/>
            <a:ext cx="11277295" cy="121158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didn't have to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나는 수업에 가야 해서 너와 쇼핑하러 갈 수 없다.  /  → 내가 수업에 가지 않아도 된다면, 너와 쇼핑하러 갈 수 있을 텐데.</a:t>
            </a:r>
          </a:p>
        </p:txBody>
      </p:sp>
      <p:sp>
        <p:nvSpPr>
          <p:cNvPr id="12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현재 사실과 반대되는 것을 가정할 때 [If+주어+ 동사의 과거형, 주어+조동사의 과거형+동사원 형]의 형태인 가정법 과거를 사용한다.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9" grpId="0" animBg="1"/>
      <p:bldP spid="12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p.132  ·  정답·해설 p.151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빈칸에 들어갈 말로 알맞은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would go out for dinner _____________________, but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it is raining outside.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it rains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it won't rain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it doesn't rain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it isn't raining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it were not raining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빈칸에 들어갈 말로 알맞은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would go out for dinner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if it were not raining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, but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it is raining outside.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it rains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it won't rain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it doesn't rain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it isn't raining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⑤ if it were not raining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if it were not raining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밖에 비가 오고 있지 않다면 저녁을 먹으러 나갈 텐데, 지금 비가 오고 있다.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 별도 해설 없음)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p.132  ·  정답·해설 p.151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9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3296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다음 두 문장의 의미가 같도록 빈칸에 들어갈 말이 차례대로 짝지어진 것은?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31976"/>
            <a:ext cx="8214055" cy="281254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As I don't have a lot of money, I cannot buy a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large house.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= If I __________ a lot of money, I __________ a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large house.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08415" y="1331976"/>
            <a:ext cx="2926080" cy="2812541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① hadn't - could buy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② hadn't - couldn't buy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③ had - could buy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④ had - can buy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⑤ had - could have bought</a:t>
            </a:r>
          </a:p>
        </p:txBody>
      </p:sp>
      <p:sp>
        <p:nvSpPr>
          <p:cNvPr id="9" name="reveal_1_en_ov"/>
          <p:cNvSpPr txBox="1"/>
          <p:nvPr/>
        </p:nvSpPr>
        <p:spPr>
          <a:xfrm>
            <a:off x="8808415" y="1331976"/>
            <a:ext cx="2926080" cy="2812541"/>
          </a:xfrm>
          <a:prstGeom prst="rect">
            <a:avLst/>
          </a:prstGeom>
          <a:solidFill>
            <a:srgbClr val="F2F3F5"/>
          </a:solidFill>
          <a:ln>
            <a:noFill/>
          </a:ln>
        </p:spPr>
        <p:txBody>
          <a:bodyPr wrap="square" anchor="t" lIns="73152" rIns="73152" t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① hadn't - could buy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② hadn't - couldn't buy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 u="none">
                <a:solidFill>
                  <a:srgbClr val="C03A2E"/>
                </a:solidFill>
                <a:latin typeface="맑은 고딕"/>
              </a:rPr>
              <a:t>③ had - could buy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④ had - can buy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⑤ had - could have bought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③ had - could buy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나는 돈이 많지 않아서 큰 집을 살 수 없다.  /  = 내게 돈이 많다면, 큰 집을 살 수 있을 텐데.</a:t>
            </a:r>
          </a:p>
        </p:txBody>
      </p:sp>
      <p:sp>
        <p:nvSpPr>
          <p:cNvPr id="12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 별도 해설 없음)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9" grpId="0" animBg="1"/>
      <p:bldP spid="12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p.132  ·  정답·해설 p.151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10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 u="none">
                <a:solidFill>
                  <a:srgbClr val="1E2A4A"/>
                </a:solidFill>
                <a:latin typeface="맑은 고딕"/>
              </a:rPr>
              <a:t>다음 빈칸 (A), (B)에 들어갈 말로 가장 적절한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This book is not mine, so I can't lend it to you.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If the book (A)________ mine, I (B)________ it to you.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(A) - (B) 순서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① was - lend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② were - can lend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③ had - could lend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④ were - could lend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⑤ were - lent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 u="none">
                <a:solidFill>
                  <a:srgbClr val="1E2A4A"/>
                </a:solidFill>
                <a:latin typeface="맑은 고딕"/>
              </a:rPr>
              <a:t>다음 빈칸 (A), (B)에 들어갈 말로 가장 적절한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This book is not mine, so I can't lend it to you.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If the book (A)________ mine, I (B)________ it to you.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(A) - (B) 순서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① was - lend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② were - can lend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③ had - could lend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 u="none">
                <a:solidFill>
                  <a:srgbClr val="C03A2E"/>
                </a:solidFill>
                <a:latin typeface="맑은 고딕"/>
              </a:rPr>
              <a:t>④ were - could lend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⑤ were - lent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398221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119371"/>
            <a:ext cx="11277295" cy="121158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were - could lend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이 책은 내 것이 아니어서 너에게 빌려줄 수 없다.  /  그 책이 내 것이라면, 너에게 빌려줄 수 있을 텐데.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 문장으로 (A)에는 be동사의 과거형이, (B)에는 조동사의 과거형과 동사원형이 온다.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p.133  ·  정답·해설 p.151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11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51130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빈칸 ⓐ, ⓑ에 들어갈 말이 차례대로 짝지어진 것은?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9982"/>
            <a:ext cx="8214055" cy="2764535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If she ⓐ__________ more exercise, she would be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in better health.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If he ⓑ__________ here right now, he would help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us.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ⓐ - ⓑ 순서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08415" y="1379982"/>
            <a:ext cx="2926080" cy="2764535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were - did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does - do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didn't - am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did - were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doesn't - were</a:t>
            </a:r>
          </a:p>
        </p:txBody>
      </p:sp>
      <p:sp>
        <p:nvSpPr>
          <p:cNvPr id="9" name="reveal_1_en_ov"/>
          <p:cNvSpPr txBox="1"/>
          <p:nvPr/>
        </p:nvSpPr>
        <p:spPr>
          <a:xfrm>
            <a:off x="8808415" y="1379982"/>
            <a:ext cx="2926080" cy="2764535"/>
          </a:xfrm>
          <a:prstGeom prst="rect">
            <a:avLst/>
          </a:prstGeom>
          <a:solidFill>
            <a:srgbClr val="F2F3F5"/>
          </a:solidFill>
          <a:ln>
            <a:noFill/>
          </a:ln>
        </p:spPr>
        <p:txBody>
          <a:bodyPr wrap="square" anchor="t" lIns="73152" rIns="73152" t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were - did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does - do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didn't - am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④ did - were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doesn't - were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did - were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그녀가 운동을 더 한다면, 더 건강할 텐데.  /  그가 지금 여기 있다면, 우리를 도와줄 텐데.</a:t>
            </a:r>
          </a:p>
        </p:txBody>
      </p:sp>
      <p:sp>
        <p:nvSpPr>
          <p:cNvPr id="12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 「If+주어+동사의 과거형, 주어+ 조동사의 과거형+동사원형」 ※ if절의 be동사는 주어의 인칭과 관계없이 were를 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9" grpId="0" animBg="1"/>
      <p:bldP spid="12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p.133  ·  정답·해설 p.151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12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51130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빈칸 ⓐ, ⓑ에 들어갈 말이 차례대로 짝지어진 것은?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9982"/>
            <a:ext cx="8214055" cy="255650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If she ⓐ__________ not tell a lie, we would like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If he ⓑ__________ not sick, he could go to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school.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08415" y="1379982"/>
            <a:ext cx="2926080" cy="2556509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does - is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did - is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does - were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did - were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does - will be</a:t>
            </a:r>
          </a:p>
        </p:txBody>
      </p:sp>
      <p:sp>
        <p:nvSpPr>
          <p:cNvPr id="9" name="reveal_1_en_ov"/>
          <p:cNvSpPr txBox="1"/>
          <p:nvPr/>
        </p:nvSpPr>
        <p:spPr>
          <a:xfrm>
            <a:off x="8808415" y="1379982"/>
            <a:ext cx="2926080" cy="2556509"/>
          </a:xfrm>
          <a:prstGeom prst="rect">
            <a:avLst/>
          </a:prstGeom>
          <a:solidFill>
            <a:srgbClr val="F2F3F5"/>
          </a:solidFill>
          <a:ln>
            <a:noFill/>
          </a:ln>
        </p:spPr>
        <p:txBody>
          <a:bodyPr wrap="square" anchor="t" lIns="73152" rIns="73152" t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does - is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did - is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does - were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④ did - were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does - will be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398221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veal_1_en"/>
          <p:cNvSpPr/>
          <p:nvPr/>
        </p:nvSpPr>
        <p:spPr>
          <a:xfrm>
            <a:off x="457200" y="4119371"/>
            <a:ext cx="11277295" cy="121158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did - were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그녀가 거짓말을 하지 않는다면, 우리는 그녀를 좋아할 텐데.  /  그가 아프지 않다면, 학교에 갈 수 있을 텐데.</a:t>
            </a:r>
          </a:p>
        </p:txBody>
      </p:sp>
      <p:sp>
        <p:nvSpPr>
          <p:cNvPr id="12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 별도 해설 없음)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9" grpId="0" animBg="1"/>
      <p:bldP spid="12" grpId="0" animBg="1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p.133  ·  정답·해설 p.151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13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9529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1E2A4A"/>
                </a:solidFill>
                <a:latin typeface="맑은 고딕"/>
              </a:rPr>
              <a:t>다음 빈칸 (A), (B)에 들어갈 말로 가장 적절한 것은?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63980"/>
            <a:ext cx="8214055" cy="257251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He was very late for school. He was afraid his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teacher would punish him. He thought, "If I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(A)________ a bird, I (B)________ to school."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(A) - (B) 순서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08415" y="1363980"/>
            <a:ext cx="2926080" cy="2572511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① am - can fly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② was - can fly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③ were - flew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④ were - could flew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⑤ were - could fly</a:t>
            </a:r>
          </a:p>
        </p:txBody>
      </p:sp>
      <p:sp>
        <p:nvSpPr>
          <p:cNvPr id="9" name="reveal_1_en_ov"/>
          <p:cNvSpPr txBox="1"/>
          <p:nvPr/>
        </p:nvSpPr>
        <p:spPr>
          <a:xfrm>
            <a:off x="8808415" y="1363980"/>
            <a:ext cx="2926080" cy="2572511"/>
          </a:xfrm>
          <a:prstGeom prst="rect">
            <a:avLst/>
          </a:prstGeom>
          <a:solidFill>
            <a:srgbClr val="F2F3F5"/>
          </a:solidFill>
          <a:ln>
            <a:noFill/>
          </a:ln>
        </p:spPr>
        <p:txBody>
          <a:bodyPr wrap="square" anchor="t" lIns="73152" rIns="73152" t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① am - can fly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② was - can fly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③ were - flew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④ were - could flew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 i="0" u="none">
                <a:solidFill>
                  <a:srgbClr val="C03A2E"/>
                </a:solidFill>
                <a:latin typeface="맑은 고딕"/>
              </a:rPr>
              <a:t>⑤ were - could fly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398221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veal_1_en"/>
          <p:cNvSpPr/>
          <p:nvPr/>
        </p:nvSpPr>
        <p:spPr>
          <a:xfrm>
            <a:off x="457200" y="4119371"/>
            <a:ext cx="11277295" cy="121158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were - could fly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그는 학교에 매우 늦었다. 선생님이 자신을 혼낼까 봐 두려웠다. 그는 "내가 새라면, 학교까지 날아갈 수 있을 텐데."라고 생각했다.</a:t>
            </a:r>
          </a:p>
        </p:txBody>
      </p:sp>
      <p:sp>
        <p:nvSpPr>
          <p:cNvPr id="12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 문장으로 (A)에는 be동사의 과거형 were가, (B)에는 조동사의 과거형과 동사원 형이 와야 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9" grpId="0" animBg="1"/>
      <p:bldP spid="12" grpId="0" animBg="1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p.133  ·  정답·해설 p.151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14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다음 문장을 바꾸어 쓸 때, 빈칸 ⓐ, ⓑ에 들어갈 알맞은 말이 차례대로 짝지어진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If I had been there, I could have seen you.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→ As I ⓐ___________ there, I ⓑ___________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① am - can see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② was - could see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③ wasn't - couldn't see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④ had been - could have seen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⑤ hadn't been - couldn't have seen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다음 문장을 바꾸어 쓸 때, 빈칸 ⓐ, ⓑ에 들어갈 알맞은 말이 차례대로 짝지어진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If I had been there, I could have seen you.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→ As I ⓐ___________ there, I ⓑ___________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① am - can see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② was - could see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 u="none">
                <a:solidFill>
                  <a:srgbClr val="C03A2E"/>
                </a:solidFill>
                <a:latin typeface="맑은 고딕"/>
              </a:rPr>
              <a:t>③ wasn't - couldn't see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④ had been - could have seen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⑤ hadn't been - couldn't have seen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③ wasn't - couldn't see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내가 거기에 있었다면, 너를 볼 수 있었을 텐데.  /  → 나는 거기에 없었기 때문에 너를 볼 수 없었다.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과거완료는 ‘과거 사실에 대한 반대’를 나타내므로 직설법으로 고치면 ‘과거 동사’를 - 21 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p.133  ·  정답·해설 p.151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15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 u="none">
                <a:solidFill>
                  <a:srgbClr val="1E2A4A"/>
                </a:solidFill>
                <a:latin typeface="맑은 고딕"/>
              </a:rPr>
              <a:t>다음 빈칸 (A), (B)에 들어갈 말로 가장 적절한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A: Does Minsu work hard?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B: No, but if he (A)________ hard, he (B)________ well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in school.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(A) - (B) 순서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① works - would do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② works - wouldn't do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③ worked - will do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④ worked - would do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⑤ worked - wouldn't do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 u="none">
                <a:solidFill>
                  <a:srgbClr val="1E2A4A"/>
                </a:solidFill>
                <a:latin typeface="맑은 고딕"/>
              </a:rPr>
              <a:t>다음 빈칸 (A), (B)에 들어갈 말로 가장 적절한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A: Does Minsu work hard?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B: No, but if he (A)________ hard, he (B)________ well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in school.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(A) - (B) 순서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① works - would do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② works - wouldn't do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③ worked - will do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 u="none">
                <a:solidFill>
                  <a:srgbClr val="C03A2E"/>
                </a:solidFill>
                <a:latin typeface="맑은 고딕"/>
              </a:rPr>
              <a:t>④ worked - would do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⑤ worked - wouldn't do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worked - would do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A: 민수는 열심히 일하니?  /  B: 아니, 하지만 그가 열심히 일한다면, 학교에서 잘할 텐데.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과거로 if절의 동사에는 과거형이, 주 절의 동사 자리에는 '조동사의 과거형+동사원 형' 형태가 들어가야 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p.133  ·  정답·해설 p.151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16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51130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빈칸 (A), (B)에 들어갈 말로 가장 적절한 것은?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9982"/>
            <a:ext cx="8214055" cy="2764535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If she (A)________ enough money, she would buy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coat.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If I (B)________ you, I would accept the offer.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(A) - (B) 순서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08415" y="1379982"/>
            <a:ext cx="2926080" cy="2764535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had - did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has - do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didn't have - am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had - were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doesn't have - were</a:t>
            </a:r>
          </a:p>
        </p:txBody>
      </p:sp>
      <p:sp>
        <p:nvSpPr>
          <p:cNvPr id="9" name="reveal_1_en_ov"/>
          <p:cNvSpPr txBox="1"/>
          <p:nvPr/>
        </p:nvSpPr>
        <p:spPr>
          <a:xfrm>
            <a:off x="8808415" y="1379982"/>
            <a:ext cx="2926080" cy="2764535"/>
          </a:xfrm>
          <a:prstGeom prst="rect">
            <a:avLst/>
          </a:prstGeom>
          <a:solidFill>
            <a:srgbClr val="F2F3F5"/>
          </a:solidFill>
          <a:ln>
            <a:noFill/>
          </a:ln>
        </p:spPr>
        <p:txBody>
          <a:bodyPr wrap="square" anchor="t" lIns="73152" rIns="73152" t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had - did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has - do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didn't have - am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④ had - were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doesn't have - were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had - were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그녀에게 충분한 돈이 있다면, 그 코트를 살 텐데.  /  내가 너라면, 그 제안을 받아들일 텐데.</a:t>
            </a:r>
          </a:p>
        </p:txBody>
      </p:sp>
      <p:sp>
        <p:nvSpPr>
          <p:cNvPr id="12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현재 사실과 반대되는 것을 가정할 때 [If+주 어+동사의 과거형, 주어+조동사의 과거형+동 사원형]의 형태인 가정법 과거를 사용한다. if절의 be동사는 주어의 인칭, 수에 관계없이 were를 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9" grpId="0" animBg="1"/>
      <p:bldP spid="12" grpId="0" animBg="1"/>
    </p:bld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p.133  ·  정답·해설 p.151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17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51130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빈칸 (A), (B)에 들어갈 말로 가장 적절한 것은?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9982"/>
            <a:ext cx="8214055" cy="2764535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If he (A)________ your situation, he could help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you.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If I (B)________ have any friends, I would be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lonely.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(A) - (B) 순서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08415" y="1379982"/>
            <a:ext cx="2926080" cy="2764535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know - didn't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knows - didn't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knows - don't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knew - don't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knew - didn't</a:t>
            </a:r>
          </a:p>
        </p:txBody>
      </p:sp>
      <p:sp>
        <p:nvSpPr>
          <p:cNvPr id="9" name="reveal_1_en_ov"/>
          <p:cNvSpPr txBox="1"/>
          <p:nvPr/>
        </p:nvSpPr>
        <p:spPr>
          <a:xfrm>
            <a:off x="8808415" y="1379982"/>
            <a:ext cx="2926080" cy="2764535"/>
          </a:xfrm>
          <a:prstGeom prst="rect">
            <a:avLst/>
          </a:prstGeom>
          <a:solidFill>
            <a:srgbClr val="F2F3F5"/>
          </a:solidFill>
          <a:ln>
            <a:noFill/>
          </a:ln>
        </p:spPr>
        <p:txBody>
          <a:bodyPr wrap="square" anchor="t" lIns="73152" rIns="73152" t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know - didn't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knows - didn't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knows - don't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knew - don't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⑤ knew - didn't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knew - didn't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그가 네 상황을 안다면, 너를 도울 수 있을 텐데.  /  내게 친구가 하나도 없다면, 나는 외로울 텐데.</a:t>
            </a:r>
          </a:p>
        </p:txBody>
      </p:sp>
      <p:sp>
        <p:nvSpPr>
          <p:cNvPr id="12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현재 사실과 반대되는 것을 가정할 때 [If+주 어+동사의 과거형, 주어+조동사의 과거형+동 사원형]의 형태인 가정법 과거를 사용한다.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9" grpId="0" animBg="1"/>
      <p:bldP spid="12" grpId="0" animBg="1"/>
    </p:bld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p.134  ·  정답·해설 p.151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18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75133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다음 두 문장의 의미가 같도록 빈칸 (A), (B)에 들 어갈 말로 가장 적절한 것은?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20011"/>
            <a:ext cx="8214055" cy="2524505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I can't buy a car because I don't have enough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money.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→ If I (A)________ enough money, I (B)________ a car.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(A) - (B) 순서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08415" y="1620011"/>
            <a:ext cx="2926080" cy="2524505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① had - bought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② had - could buy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③ have - buy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④ have - could buy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⑤ could have - bought</a:t>
            </a:r>
          </a:p>
        </p:txBody>
      </p:sp>
      <p:sp>
        <p:nvSpPr>
          <p:cNvPr id="9" name="reveal_1_en_ov"/>
          <p:cNvSpPr txBox="1"/>
          <p:nvPr/>
        </p:nvSpPr>
        <p:spPr>
          <a:xfrm>
            <a:off x="8808415" y="1620011"/>
            <a:ext cx="2926080" cy="2524505"/>
          </a:xfrm>
          <a:prstGeom prst="rect">
            <a:avLst/>
          </a:prstGeom>
          <a:solidFill>
            <a:srgbClr val="F2F3F5"/>
          </a:solidFill>
          <a:ln>
            <a:noFill/>
          </a:ln>
        </p:spPr>
        <p:txBody>
          <a:bodyPr wrap="square" anchor="t" lIns="73152" rIns="73152" t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① had - bought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 u="none">
                <a:solidFill>
                  <a:srgbClr val="C03A2E"/>
                </a:solidFill>
                <a:latin typeface="맑은 고딕"/>
              </a:rPr>
              <a:t>② had - could buy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③ have - buy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④ have - could buy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⑤ could have - bought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② had - could buy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나는 돈이 충분하지 않아서 차를 살 수 없다.  /  → 내게 돈이 충분하다면, 차를 살 수 있을 텐데.</a:t>
            </a:r>
          </a:p>
        </p:txBody>
      </p:sp>
      <p:sp>
        <p:nvSpPr>
          <p:cNvPr id="12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 문장으로 (A)에는 동사의 과거형이 들어가야 하고, (B)에는 조동사의 과거형과 동사원형이 들어가야 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9" grpId="0" animBg="1"/>
      <p:bldP spid="12" grpId="0" animBg="1"/>
    </p:bld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p.134  ·  정답·해설 p.151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19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9529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1E2A4A"/>
                </a:solidFill>
                <a:latin typeface="맑은 고딕"/>
              </a:rPr>
              <a:t>다음 대화의 빈칸 ⓐ, ⓑ에 들어갈 알맞은 말이 차례대로 짝지어진 것은?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63980"/>
            <a:ext cx="6705295" cy="27805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A: How was the party?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B: Wonderful. If you ⓐ______________ with us, you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ⓑ______________ a good time.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ⓐ - ⓑ 순서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99655" y="1363980"/>
            <a:ext cx="4434840" cy="2780537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① come - would have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② came - would have had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③ had come - would have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④ would come - would have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⑤ had come - would have had</a:t>
            </a:r>
          </a:p>
        </p:txBody>
      </p:sp>
      <p:sp>
        <p:nvSpPr>
          <p:cNvPr id="9" name="reveal_1_en_ov"/>
          <p:cNvSpPr txBox="1"/>
          <p:nvPr/>
        </p:nvSpPr>
        <p:spPr>
          <a:xfrm>
            <a:off x="7299655" y="1363980"/>
            <a:ext cx="4434840" cy="2780537"/>
          </a:xfrm>
          <a:prstGeom prst="rect">
            <a:avLst/>
          </a:prstGeom>
          <a:solidFill>
            <a:srgbClr val="F2F3F5"/>
          </a:solidFill>
          <a:ln>
            <a:noFill/>
          </a:ln>
        </p:spPr>
        <p:txBody>
          <a:bodyPr wrap="square" anchor="t" lIns="73152" rIns="73152" t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① come - would have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② came - would have had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③ had come - would have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④ would come - would have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 i="0" u="none">
                <a:solidFill>
                  <a:srgbClr val="C03A2E"/>
                </a:solidFill>
                <a:latin typeface="맑은 고딕"/>
              </a:rPr>
              <a:t>⑤ had come - would have had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had come - would have had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A: 파티는 어땠어?  /  B: 훌륭했어. 네가 우리와 함께 왔더라면, 즐거운 시간을 보냈을 텐데.</a:t>
            </a:r>
          </a:p>
        </p:txBody>
      </p:sp>
      <p:sp>
        <p:nvSpPr>
          <p:cNvPr id="12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대화의 흐름상 과거의 사실에 반대되는 가정을 나타내고 있다. 따라서 문장의 시제는 가정법 과거완료로, 주절에는 ‘조동사의 과거형 +have p.p.’가 와야 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9" grpId="0" animBg="1"/>
      <p:bldP spid="12" grpId="0" animBg="1"/>
    </p:bld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p.134  ·  정답·해설 p.151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20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51130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Choose the pair that is appropriate for the blanks ⓐ and ⓑ.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9982"/>
            <a:ext cx="6705295" cy="255650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If I have proper tools, I ⓐ_________ your bike.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If I had proper tools, I ⓑ_________ your bike.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ⓐ - ⓑ 순서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99655" y="1379982"/>
            <a:ext cx="4434840" cy="2556509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will fix - would be fixed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would fix - fixed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will fix - fixed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will fix - would fix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would fix - would fix</a:t>
            </a:r>
          </a:p>
        </p:txBody>
      </p:sp>
      <p:sp>
        <p:nvSpPr>
          <p:cNvPr id="9" name="reveal_1_en_ov"/>
          <p:cNvSpPr txBox="1"/>
          <p:nvPr/>
        </p:nvSpPr>
        <p:spPr>
          <a:xfrm>
            <a:off x="7299655" y="1379982"/>
            <a:ext cx="4434840" cy="2556509"/>
          </a:xfrm>
          <a:prstGeom prst="rect">
            <a:avLst/>
          </a:prstGeom>
          <a:solidFill>
            <a:srgbClr val="F2F3F5"/>
          </a:solidFill>
          <a:ln>
            <a:noFill/>
          </a:ln>
        </p:spPr>
        <p:txBody>
          <a:bodyPr wrap="square" anchor="t" lIns="73152" rIns="73152" t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will fix - would be fixed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would fix - fixed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will fix - fixed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④ will fix - would fix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would fix - would fix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398221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veal_1_en"/>
          <p:cNvSpPr/>
          <p:nvPr/>
        </p:nvSpPr>
        <p:spPr>
          <a:xfrm>
            <a:off x="457200" y="4119371"/>
            <a:ext cx="11277295" cy="121158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will fix - would fix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내가 적절한 도구를 가지고 있으면, 네 자전거를 고쳐 줄 것이다.  /  내가 적절한 도구를 가지고 있다면, 네 자전거를 고쳐 줄 텐데.</a:t>
            </a:r>
          </a:p>
        </p:txBody>
      </p:sp>
      <p:sp>
        <p:nvSpPr>
          <p:cNvPr id="12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ⓐ는 조건문으로 현재나 미래에 대한 예상 가능한 사실을 표현할 때 사용된다. ⓑ는 가정법 과거로 현재 사실과 반대되는 상황을 가정할 때 사용된다. [If+주어+과거 동사, 주어+조동사 과거형+동 사원형]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9" grpId="0" animBg="1"/>
      <p:bldP spid="12" grpId="0" animBg="1"/>
    </p:bld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p.134  ·  정답·해설 p.151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21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51130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Which would best fit in the blanks ⓐ and ⓑ?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9982"/>
            <a:ext cx="6705295" cy="255650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If I ⓐ___________ any money, I would have lent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you some.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ⓑ__________ very lonely if I didn't have a friend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like you.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99655" y="1379982"/>
            <a:ext cx="4434840" cy="2556509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had - would be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had - would have been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had - will have been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had had - would be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had had - would have been</a:t>
            </a:r>
          </a:p>
        </p:txBody>
      </p:sp>
      <p:sp>
        <p:nvSpPr>
          <p:cNvPr id="9" name="reveal_1_en_ov"/>
          <p:cNvSpPr txBox="1"/>
          <p:nvPr/>
        </p:nvSpPr>
        <p:spPr>
          <a:xfrm>
            <a:off x="7299655" y="1379982"/>
            <a:ext cx="4434840" cy="2556509"/>
          </a:xfrm>
          <a:prstGeom prst="rect">
            <a:avLst/>
          </a:prstGeom>
          <a:solidFill>
            <a:srgbClr val="F2F3F5"/>
          </a:solidFill>
          <a:ln>
            <a:noFill/>
          </a:ln>
        </p:spPr>
        <p:txBody>
          <a:bodyPr wrap="square" anchor="t" lIns="73152" rIns="73152" t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had - would be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had - would have been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had - will have been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④ had had - would be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had had - would have been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398221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veal_1_en"/>
          <p:cNvSpPr/>
          <p:nvPr/>
        </p:nvSpPr>
        <p:spPr>
          <a:xfrm>
            <a:off x="457200" y="4119371"/>
            <a:ext cx="11277295" cy="121158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had had - would be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내가 돈이 조금이라도 있었더라면, 네게 좀 빌려줬을 텐데.  /  나는 너 같은 친구가 없다면 매우 외로울 텐데.</a:t>
            </a:r>
          </a:p>
        </p:txBody>
      </p:sp>
      <p:sp>
        <p:nvSpPr>
          <p:cNvPr id="12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ⓐ 주절에 ‘would have lent’가 왔으므로, 가정법 과거완료이다. 따라서 if절에는 과거완료 ‘had p.p.’ 형태인 had had가 알맞다. ⓑ ‘if’ 조건절의 시제가 과거이므로, ‘가정법 과거’이다. 그러므로 주절은 ‘과거 조동사+동 사원형(would be)’ 형태가 알맞다.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9" grpId="0" animBg="1"/>
      <p:bldP spid="12" grpId="0" animBg="1"/>
    </p:bld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p.134  ·  정답·해설 p.151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22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빈칸에 들어갈 말로 가장 적절한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don't know anything about cars. If the car broke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down, _____________________________.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 would fix it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 would know what to do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 will not know what to do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 would not know what to do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 would know anything about cars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빈칸에 들어갈 말로 가장 적절한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don't know anything about cars. If the car broke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down,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 would not know what to do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 would fix it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 would know what to do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 will not know what to do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④ I would not know what to do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 would know anything about cars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I would not know what to do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나는 자동차에 대해 아무것도 모른다. 차가 고장 나면, 무엇을 해야 할지 모를 것이다.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 별도 해설 없음)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p.134  ·  정답·해설 p.151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23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83286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 u="none">
                <a:solidFill>
                  <a:srgbClr val="1E2A4A"/>
                </a:solidFill>
                <a:latin typeface="맑은 고딕"/>
              </a:rPr>
              <a:t>다음 빈칸 (A), (B), (C)에 들어갈 말로 &lt;보기&gt;에서 바르게 짝지어진 것은?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51966"/>
            <a:ext cx="8214055" cy="2684525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• If I had enough money, (A)_______________________.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• If I found someone's wallet, (B)___________________.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• If I woke up early, (C)_____________________________.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a. I couldn't get better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b. I would be very upset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c. I'd take it to the police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d. I wouldn't be late for school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e. I could buy a new laptop computer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(A) - (B) - (C) 순서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08415" y="1251966"/>
            <a:ext cx="2926080" cy="2684525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① b - a - 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② b - c - 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③ b - e - c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④ e - b - 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⑤ e - c - d</a:t>
            </a:r>
          </a:p>
        </p:txBody>
      </p:sp>
      <p:sp>
        <p:nvSpPr>
          <p:cNvPr id="9" name="reveal_1_en_ov"/>
          <p:cNvSpPr txBox="1"/>
          <p:nvPr/>
        </p:nvSpPr>
        <p:spPr>
          <a:xfrm>
            <a:off x="8808415" y="1251966"/>
            <a:ext cx="2926080" cy="2684525"/>
          </a:xfrm>
          <a:prstGeom prst="rect">
            <a:avLst/>
          </a:prstGeom>
          <a:solidFill>
            <a:srgbClr val="F2F3F5"/>
          </a:solidFill>
          <a:ln>
            <a:noFill/>
          </a:ln>
        </p:spPr>
        <p:txBody>
          <a:bodyPr wrap="square" anchor="t" lIns="73152" rIns="73152" t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① b - a - 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② b - c - 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③ b - e - c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④ e - b - 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 u="none">
                <a:solidFill>
                  <a:srgbClr val="C03A2E"/>
                </a:solidFill>
                <a:latin typeface="맑은 고딕"/>
              </a:rPr>
              <a:t>⑤ e - c - d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398221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veal_1_en"/>
          <p:cNvSpPr/>
          <p:nvPr/>
        </p:nvSpPr>
        <p:spPr>
          <a:xfrm>
            <a:off x="457200" y="4119371"/>
            <a:ext cx="11277295" cy="121158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e - c - 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내게 돈이 충분하다면, 새 노트북 컴퓨터를 살 수 있을 텐데.  /  내가 누군가의 지갑을 발견한다면, 경찰서에 가져갈 텐데.  /  내가 일찍 일어난다면, 학교에 지각하지 않을 텐데.</a:t>
            </a:r>
          </a:p>
        </p:txBody>
      </p:sp>
      <p:sp>
        <p:nvSpPr>
          <p:cNvPr id="12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(A) 내가 돈이 충분히 있다면, 새 노트북을 살수 있을 텐데. (B) 내가 누군가의 지갑을 찾는다면, 경찰서에 가져다 줄 텐데. (C) 내가 일찍 일어난다면, 학교에 늦지 않을 텐데.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9" grpId="0" animBg="1"/>
      <p:bldP spid="12" grpId="0" animBg="1"/>
    </p:bld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p.135  ·  정답·해설 p.151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24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주어진 문장에서 알 수 있는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If I had a lot of money, I would buy a car.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 have a car.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 will buy a car.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 have a lot of money.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 don't have a lot of money.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 have enough money to buy a car.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주어진 문장에서 알 수 있는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If I had a lot of money, I would buy a car.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 have a car.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 will buy a car.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 have a lot of money.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④ I don't have a lot of money.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 have enough money to buy a car.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I don't have a lot of money.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내게 돈이 많다면, 자동차를 살 텐데. → 나는 돈이 많지 않다.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"만약 내가 돈이 많다면, 나는 차를 살 텐데" 라는 뜻으로, 내가 현재 돈이 많지 않음을 나타내고 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p.135  ·  정답·해설 p.151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25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 i="0" u="none">
                <a:solidFill>
                  <a:srgbClr val="1E2A4A"/>
                </a:solidFill>
                <a:latin typeface="맑은 고딕"/>
              </a:rPr>
              <a:t>다음 중 Sora가 한 말을 듣고 내린 결론으로 가장 적절한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Sora says, "If I didn't have any friends, I would be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lonely."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① I am sorry that she doesn't have many friends.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② She is miserable to be with her friends.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③ She has many friends to help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④ She is not satisfied with her friends.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⑤ She has enough friends, so she's not lonely.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 i="0" u="none">
                <a:solidFill>
                  <a:srgbClr val="1E2A4A"/>
                </a:solidFill>
                <a:latin typeface="맑은 고딕"/>
              </a:rPr>
              <a:t>다음 중 Sora가 한 말을 듣고 내린 결론으로 가장 적절한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Sora says, "If I didn't have any friends, I would be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lonely."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① I am sorry that she doesn't have many friends.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② She is miserable to be with her friends.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③ She has many friends to help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④ She is not satisfied with her friends.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C03A2E"/>
                </a:solidFill>
                <a:latin typeface="맑은 고딕"/>
              </a:rPr>
              <a:t>⑤ She has enough friends, so she's not lonely.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398221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119371"/>
            <a:ext cx="11277295" cy="121158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She has enough friends, so she's not lonely.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소라는 "내게 친구가 하나도 없다면, 나는 외로울 텐데."라고 말한다. → 그녀는 친구가 충분해서 외롭지 않다.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소라가 말한 것은 "내가 어떤 친구도 없다면, 나는 외로울 텐데"라는 뜻으로, 현재의 상황에 반대되는 것을 가정한 것이다. 즉, 현재 그 녀는 친구가 많고, 외롭지 않다는 것을 의미 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p.135  ·  정답·해설 p.151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26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 u="none">
                <a:solidFill>
                  <a:srgbClr val="1E2A4A"/>
                </a:solidFill>
                <a:latin typeface="맑은 고딕"/>
              </a:rPr>
              <a:t>다음 상황에서 Sue가 할 수 있는 말로 가장 적절 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Sue wants to phone Steven, but she can't because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she doesn't know his number. She says: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________________________________________________________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① I'll call him if I will know his number.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② I would call him if I knew his number.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③ If I know his number, I could call him.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④ If I would know his number, I called him.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⑤ If I didn't know his number, I didn't call him.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 u="none">
                <a:solidFill>
                  <a:srgbClr val="1E2A4A"/>
                </a:solidFill>
                <a:latin typeface="맑은 고딕"/>
              </a:rPr>
              <a:t>다음 상황에서 Sue가 할 수 있는 말로 가장 적절 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Sue wants to phone Steven, but she can't because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she doesn't know his number. She says: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 u="sng">
                <a:solidFill>
                  <a:srgbClr val="C03A2E"/>
                </a:solidFill>
                <a:latin typeface="맑은 고딕"/>
              </a:rPr>
              <a:t>I would call him if I knew his number.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① I'll call him if I will know his number.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 u="none">
                <a:solidFill>
                  <a:srgbClr val="C03A2E"/>
                </a:solidFill>
                <a:latin typeface="맑은 고딕"/>
              </a:rPr>
              <a:t>② I would call him if I knew his number.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③ If I know his number, I could call him.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④ If I would know his number, I called him.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⑤ If I didn't know his number, I didn't call him.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398221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119371"/>
            <a:ext cx="11277295" cy="121158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② I would call him if I knew his number.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Sue는 Steven에게 전화하고 싶지만 그의 번호를 몰라서 할 수 없다. 그녀는 말한다: 그의 번호를 안다면 그에게 전화할 텐데.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 [If+주어+동사의 과거형, 주어+조 1 - 동사의 과거형+동사원형]을 이용하여 영작한 문장이 정답이다.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p.135  ·  정답·해설 p.152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27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빈칸에 들어갈 말로 알맞지 않은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If I were you, __________________________________.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 might not do such a thing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I'd put it in the living room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 would wait a little longer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 must start looking for it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 would not lend him any money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빈칸에 들어갈 말로 알맞지 않은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If I were you,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 must start looking for it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 might not do such a thing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I'd put it in the living room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 would wait a little longer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④ I must start looking for it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 would not lend him any money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I must start looking for it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내가 너라면, 그것을 찾기 시작해야 해. (알맞지 않은 문장)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 별도 해설 없음)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1-28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p.135  ·  정답·해설 p.152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28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대화의 빈칸에 들어갈 말로 알맞은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A: I wish I could make friends with Tom.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B: If I were you, I'd ________________________.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apologize to him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join the dance club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practice every morning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start looking for another job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talk to him first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대화의 빈칸에 들어갈 말로 알맞은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A: I wish I could make friends with Tom.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B: If I were you, I'd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talk to him first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apologize to him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join the dance club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practice every morning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start looking for another job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⑤ talk to him first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talk to him first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A: 나는 Tom과 친구가 되었으면 좋겠어.  /  B: 내가 너라면, 그에게 먼저 말을 걸어 볼 텐데.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 별도 해설 없음)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1-29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p.135  ·  정답·해설 p.152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29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빈칸에 들어갈 말로 가장 알맞은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Air pollution is getting worse. If there weren't so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much traffic, ________________________________________.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the air would be dirty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air pollution would be worse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the air would be clean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the air would have been clean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air pollution would have been worse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빈칸에 들어갈 말로 가장 알맞은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Air pollution is getting worse. If there weren't so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much traffic,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air would be clean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the air would be dirty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air pollution would be worse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③ the air would be clean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the air would have been clean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air pollution would have been worse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③ the air would be clean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대기오염이 점점 심해지고 있다. 교통량이 그렇게 많지 않다면, 공기가 깨끗할 텐데.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현재 사실의 반대를 가정하고 있으므로 가정법 과거의 형태가 되어야 함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p.135  ·  정답·해설 p.152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30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우리말을 바르게 영작한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만약 지금 그가 여기 있다면, 그가 나를 도와줄 텐데.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he is here right now, he will help 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he was here right now, he will help 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he were here right now, he would help 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he had been here right now, he would have helped 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he will be here right now, he will help me.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우리말을 바르게 영작한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만약 지금 그가 여기 있다면, 그가 나를 도와줄 텐데.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he is here right now, he will help 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he was here right now, he will help 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③ If he were here right now, he would help 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he had been here right now, he would have helped 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he will be here right now, he will help me.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398221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119371"/>
            <a:ext cx="11277295" cy="121158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③ If he were here right now, he would help me.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If he were here right now, he would help me.  /  = 만약 지금 그가 여기 있다면, 그가 나를 도와줄 텐데.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현재 사실과 반대되는 것을 가정할 때 [If+주 어+동사의 과거형, 주어+조동사의 과거형+동 사원형]의 형태인 가정법 과거를 사용한다. if절의 be동사는 were를 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1-31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p.135  ·  정답·해설 p.152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31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우리말을 바르게 영작한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내가 그의 주소를 안다면, 그에게 편지를 쓸 텐데.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I knew his address, I would write to him.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I know his address, I would write to him.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I had known his address, I would write to him.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I knew his address, I would have written to him.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I know his address, I would have written to him.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우리말을 바르게 영작한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내가 그의 주소를 안다면, 그에게 편지를 쓸 텐데.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① If I knew his address, I would write to him.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I know his address, I would write to him.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I had known his address, I would write to him.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I knew his address, I would have written to him.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I know his address, I would have written to him.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① If I knew his address, I would write to him.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내가 그의 주소를 안다면, 그에게 편지를 쓸 텐데.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과거로 [If+주어+동사의 과거형, 주어+ 조동사의 과거형+동사원형]의 형태로 써야 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p.136  ·  정답·해설 p.152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32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우리말을 바르게 영작한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만약 내가 새라면, 너에게 날아갈 텐데.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I am a bird, I will fly to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I was a bird, I would fly to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I were a bird, I would fly to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As I was not a bird, I would fly to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As I am a bird, I will fly to you.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우리말을 바르게 영작한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만약 내가 새라면, 너에게 날아갈 텐데.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I am a bird, I will fly to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I was a bird, I would fly to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③ If I were a bird, I would fly to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As I was not a bird, I would fly to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As I am a bird, I will fly to you.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③ If I were a bird, I would fly to you.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만약 내가 새라면, 너에게 날아갈 텐데.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 어순에 따라 [If+주어+동사의 과 거형, 주어+조동사의 과거형+동사원형]으로 영작된 선택지를 찾는다.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1-33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p.136  ·  정답·해설 p.152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33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우리말을 바르게 영작한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나에게 여동생이 있다면, 내 옷을 빌려줄 텐데.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I have a sister, I will lend her my clothes.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I have a sister, I would lend her my clothes.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I had a sister, I would lend her my clothes.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I had a sister, I will lend her my clothes.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I have had a sister, I will lend her my clothes.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우리말을 바르게 영작한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나에게 여동생이 있다면, 내 옷을 빌려줄 텐데.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I have a sister, I will lend her my clothes.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I have a sister, I would lend her my clothes.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③ If I had a sister, I would lend her my clothes.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I had a sister, I will lend her my clothes.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I have had a sister, I will lend her my clothes.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③ If I had a sister, I would lend her my clothes.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나에게 여동생이 있다면, 내 옷을 빌려줄 텐데.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 어순에 따라 [If+주어+동사의 과 거형, 주어+조동사의 과거형+동사원형]으로 영작된 선택지를 찾는다.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1-34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p.136  ·  정답·해설 p.152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34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우리말을 바르게 영작한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만약 그가 돈에 대해 생각했더라면, 그는 포기했을 텐데.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he thought about money, he would give up.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he thought about money, he would have given up.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he has thought about money, he would give up.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he had thought about money, he would have given up.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he hadn't thought about money, he would have given up.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우리말을 바르게 영작한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만약 그가 돈에 대해 생각했더라면, 그는 포기했을 텐데.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he thought about money, he would give up.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he thought about money, he would have given up.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he has thought about money, he would give up.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④ If he had thought about money, he would have given up.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he hadn't thought about money, he would have given up.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If he had thought about money, he would have given up.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만약 그가 돈에 대해 생각했더라면, 그는 포기했을 텐데.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과거 사실을 반대로 가정하고 있으므로 가정법 과거완료 「If+주어+had+과거분사 ~, 주어 +조동사 과거형+have+과거분사 …」 형태로 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1-35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p.136  ·  정답·해설 p.152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35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 i="0" u="none">
                <a:solidFill>
                  <a:srgbClr val="1E2A4A"/>
                </a:solidFill>
                <a:latin typeface="맑은 고딕"/>
              </a:rPr>
              <a:t>다음 우리말을 바르게 영작한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내가 그녀의 이메일 주소를 안다면, 그녀에게 편지를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쓸 수 있을 텐데.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① If I will know her e-mail address, I will write a letter to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② If I know her e-mail address, I can write a letter to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③ If I know her e-mail address, I would write a letter to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④ If I knew her e-mail address, I can write a letter to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⑤ If I knew her e-mail address, I could write a letter to her.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 i="0" u="none">
                <a:solidFill>
                  <a:srgbClr val="1E2A4A"/>
                </a:solidFill>
                <a:latin typeface="맑은 고딕"/>
              </a:rPr>
              <a:t>다음 우리말을 바르게 영작한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내가 그녀의 이메일 주소를 안다면, 그녀에게 편지를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쓸 수 있을 텐데.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① If I will know her e-mail address, I will write a letter to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② If I know her e-mail address, I can write a letter to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③ If I know her e-mail address, I would write a letter to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④ If I knew her e-mail address, I can write a letter to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C03A2E"/>
                </a:solidFill>
                <a:latin typeface="맑은 고딕"/>
              </a:rPr>
              <a:t>⑤ If I knew her e-mail address, I could write a letter to her.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⑤ If I knew her e-mail address, I could write a letter to her.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내가 그녀의 이메일 주소를 안다면, 그녀에게 편지를 쓸 수 있을 텐데.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 [If+주어+동사의 과거형, 주어+조 동사의 과거형+동사원형]의 어순을 이용하여 영작한 문장이 정답이다.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1-36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p.136  ·  정답·해설 p.152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36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다음 우리말을 바르게 영작한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만약 당신이 비행기에서 뛰어내린다면, 같은 경험을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하게 될 텐데.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① If you jump out of a plane, you will have the same experience.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② If you jumped out of a plane, you would have the same experience.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③ If you jumped out of a plane, you will have the same experience.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④ If you jump out of a plane, you would have the same experience.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⑤ If you will jump out of a plane, you will have the same experience.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다음 우리말을 바르게 영작한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만약 당신이 비행기에서 뛰어내린다면, 같은 경험을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하게 될 텐데.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① If you jump out of a plane, you will have the same experience.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 u="none">
                <a:solidFill>
                  <a:srgbClr val="C03A2E"/>
                </a:solidFill>
                <a:latin typeface="맑은 고딕"/>
              </a:rPr>
              <a:t>② If you jumped out of a plane, you would have the same experience.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③ If you jumped out of a plane, you will have the same experience.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④ If you jump out of a plane, you would have the same experience.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⑤ If you will jump out of a plane, you will have the same experience.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② If you jumped out of a plane, you would have the same experience.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만약 당신이 비행기에서 뛰어내린다면, 같은 경험을 하게 될 텐데.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 [If+주어+동사의 과거형, 주어+조 동사의 과거형+동사원형]을 이용하여 영작한다.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1-37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p.136  ·  정답·해설 p.152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37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주어진 문장과 의미가 같은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As I don't know her phone number, I can't call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I knew her phone number, I can call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I know her phone number, I can't call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I knew her phone number, I could call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I had known her phone number, I can call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I had known her phone number, I could call her.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주어진 문장과 의미가 같은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As I don't know her phone number, I can't call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I knew her phone number, I can call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I know her phone number, I can't call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③ If I knew her phone number, I could call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I had known her phone number, I can call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I had known her phone number, I could call her.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398221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119371"/>
            <a:ext cx="11277295" cy="121158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③ If I knew her phone number, I could call her.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나는 그녀의 전화번호를 몰라서 그녀에게 전화할 수 없다.  /  = 내가 그녀의 전화번호를 안다면, 그녀에게 전화할 수 있을 텐데.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내가 현재 그녀의 전화번호가 없어서 전화를못 하는 상황이기 때문에 가정법 과거를 이용 하여 문장을 바꿀 수 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1-38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p.136  ·  정답·해설 p.152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38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주어진 문장과 의미가 같은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If I had more time, I would swim all day.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As I had more time, I swam all day.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Because I had more time, I would swim all day.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Because I have more time, I will swim all day.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 don't have enough time, so I can't swim all day.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 didn't have enough time, so I couldn't swim all day.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주어진 문장과 의미가 같은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If I had more time, I would swim all day.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As I had more time, I swam all day.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Because I had more time, I would swim all day.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Because I have more time, I will swim all day.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④ I don't have enough time, so I can't swim all day.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 didn't have enough time, so I couldn't swim all day.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398221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119371"/>
            <a:ext cx="11277295" cy="121158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I don't have enough time, so I can't swim all day.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내게 시간이 더 있다면, 하루 종일 수영할 텐데.  /  = 나는 시간이 충분하지 않아서 하루 종일 수영할 수 없다.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'만약 내가 더 많은 시간이 있다면, 나는 하루 종일 수영할 텐데'의 가정법 문장은, 현재 시 점에 나는 시간이 충분하지 않아서 하루 종일 수영을 할 수 없음을 나타낸다.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p.136  ·  정답·해설 p.152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39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주어진 문장과 의미가 같은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If I were not sick, I could go to the party.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As I was sick, I couldn't go to the party.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 was sick, so I couldn't go to the party.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Since I am sick, I can't go to the party.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 am sick because I can't go to the party.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Even if I am sick, I can go to the party.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주어진 문장과 의미가 같은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If I were not sick, I could go to the party.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As I was sick, I couldn't go to the party.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 was sick, so I couldn't go to the party.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③ Since I am sick, I can't go to the party.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 am sick because I can't go to the party.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Even if I am sick, I can go to the party.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③ Since I am sick, I can't go to the party.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내가 아프지 않다면, 파티에 갈 수 있을 텐데.  /  = 나는 아파서 파티에 갈 수 없다.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 문장은 현재의 사실과 반대되는 가정이나, 실현 가능성이 거의 없는 소망을 말할 때 사용되므로, 주어진 가정법 문장과 반대되는 상황을 현재시제로 풀어놓은 문장을 답으로 고른다.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p.137  ·  정답·해설 p.152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40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 i="0" u="none">
                <a:solidFill>
                  <a:srgbClr val="1E2A4A"/>
                </a:solidFill>
                <a:latin typeface="맑은 고딕"/>
              </a:rPr>
              <a:t>다음 문장과 같은 의미를 가진 문장은?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I didn't know about your problem, so I couldn't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help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① If I know about your problem, I would help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② If I have known about your problem, I would help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③ If I had known about your problem, I would help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④ If I have known about your problem, I would have helped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⑤ If I had known about your problem, I would have helped you.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 i="0" u="none">
                <a:solidFill>
                  <a:srgbClr val="1E2A4A"/>
                </a:solidFill>
                <a:latin typeface="맑은 고딕"/>
              </a:rPr>
              <a:t>다음 문장과 같은 의미를 가진 문장은?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I didn't know about your problem, so I couldn't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help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① If I know about your problem, I would help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② If I have known about your problem, I would help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③ If I had known about your problem, I would help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④ If I have known about your problem, I would have helped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C03A2E"/>
                </a:solidFill>
                <a:latin typeface="맑은 고딕"/>
              </a:rPr>
              <a:t>⑤ If I had known about your problem, I would have helped you.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398221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119371"/>
            <a:ext cx="11277295" cy="121158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⑤ If I had known about your problem, I would have helped you.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나는 네 문제에 대해 몰랐기 때문에 너를 도울 수 없었다.  /  = 내가 네 문제에 대해 알았더라면, 너를 도왔을 텐데.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과거 사실에 대한 반대를 가정하고 있으므로, 가정법 과거완료로 바꾸어 쓸 수 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1-41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p.137  ·  정답·해설 p.152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41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 i="0" u="none">
                <a:solidFill>
                  <a:srgbClr val="1E2A4A"/>
                </a:solidFill>
                <a:latin typeface="맑은 고딕"/>
              </a:rPr>
              <a:t>다음 중 주어진 문장과 의미가 같은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Kevin doesn't join the music club because he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doesn't sing well.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① If Kevin sang well, he would join the music club.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② If Kevin sings well, he would join the music club.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③ If Kevin has sung well, he wouldn't join the music club.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④ If Kevin doesn't sing well, he wouldn't join the music club.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⑤ If Kevin sang well, he wouldn't join the music club.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 i="0" u="none">
                <a:solidFill>
                  <a:srgbClr val="1E2A4A"/>
                </a:solidFill>
                <a:latin typeface="맑은 고딕"/>
              </a:rPr>
              <a:t>다음 중 주어진 문장과 의미가 같은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Kevin doesn't join the music club because he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doesn't sing well.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C03A2E"/>
                </a:solidFill>
                <a:latin typeface="맑은 고딕"/>
              </a:rPr>
              <a:t>① If Kevin sang well, he would join the music club.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② If Kevin sings well, he would join the music club.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③ If Kevin has sung well, he wouldn't join the music club.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④ If Kevin doesn't sing well, he wouldn't join the music club.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⑤ If Kevin sang well, he wouldn't join the music club.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398221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119371"/>
            <a:ext cx="11277295" cy="121158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① If Kevin sang well, he would join the music club.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Kevin은 노래를 잘 못해서 음악 동아리에 들어가지 않는다.  /  = Kevin이 노래를 잘한다면, 음악 동아리에 들어갈 텐데.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현재와 반대되는 상황(Kevin이 노래를 잘한다면, 음악 동아리에 가입할 텐데)을 나타내는 가정법 과거 [If+주어+동사의 과거형, 주어+ 조동사의 과거형+동사원형]의 어순을 취한 문 장을 고른다.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1-42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p.137  ·  정답·해설 p.152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42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다음 중 주어진 문장과 의미가 같은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If he knew her phone number, he could call her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up.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① As he knows her phone number, he can call her up.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② As he didn't know her phone number, he couldn't call her up.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③ As he doesn't know her phone number, he can't call her up.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④ As he knew her phone number, he could call her up.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⑤ As he hadn't known her phone number, he couldn't have called her up.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다음 중 주어진 문장과 의미가 같은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If he knew her phone number, he could call her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up.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① As he knows her phone number, he can call her up.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② As he didn't know her phone number, he couldn't call her up.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 u="none">
                <a:solidFill>
                  <a:srgbClr val="C03A2E"/>
                </a:solidFill>
                <a:latin typeface="맑은 고딕"/>
              </a:rPr>
              <a:t>③ As he doesn't know her phone number, he can't call her up.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④ As he knew her phone number, he could call her up.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⑤ As he hadn't known her phone number, he couldn't have called her up.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398221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119371"/>
            <a:ext cx="11277295" cy="121158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③ As he doesn't know her phone number, he can't call her up.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그가 그녀의 전화번호를 안다면, 그녀에게 전화할 수 있을 텐데.  /  = 그는 그녀의 전화번호를 몰라서 그녀에게 전화할 수 없다.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 문장으로, 현재 시점에서 반대되는 상황을 직설법 문장으로 바꾼 보기가 정답이 된다. - 22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1-43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p.137  ·  정답·해설 p.152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43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 i="0" u="none">
                <a:solidFill>
                  <a:srgbClr val="1E2A4A"/>
                </a:solidFill>
                <a:latin typeface="맑은 고딕"/>
              </a:rPr>
              <a:t>다음 주어진 문장과 의미가 같은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If we knew how to swim, we could have more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fun.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① As we know how to swim, we can have more fun.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② As we didn't know how to swim, we couldn't have more fun.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③ As we don't know how to swim, we can't have more fun.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④ As we knew how to swim, we could have more fun.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⑤ As we hadn't known how to swim, we couldn't have had more fun.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 i="0" u="none">
                <a:solidFill>
                  <a:srgbClr val="1E2A4A"/>
                </a:solidFill>
                <a:latin typeface="맑은 고딕"/>
              </a:rPr>
              <a:t>다음 주어진 문장과 의미가 같은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If we knew how to swim, we could have more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fun.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① As we know how to swim, we can have more fun.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② As we didn't know how to swim, we couldn't have more fun.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C03A2E"/>
                </a:solidFill>
                <a:latin typeface="맑은 고딕"/>
              </a:rPr>
              <a:t>③ As we don't know how to swim, we can't have more fun.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④ As we knew how to swim, we could have more fun.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⑤ As we hadn't known how to swim, we couldn't have had more fun.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398221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119371"/>
            <a:ext cx="11277295" cy="121158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③ As we don't know how to swim, we can't have more fun.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우리가 수영하는 법을 안다면, 더 재미있게 놀 수 있을 텐데.  /  = 우리는 수영하는 법을 몰라서 더 재미있게 놀 수 없다.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 「If+주어+과거 동사, 주어+조동 사의 과거형+동사원형」 ~라면 …할 텐데 (현재 사실과 반대되는 상황을 가정)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1-44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p.137  ·  정답·해설 p.152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44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 i="0" u="none">
                <a:solidFill>
                  <a:srgbClr val="1E2A4A"/>
                </a:solidFill>
                <a:latin typeface="맑은 고딕"/>
              </a:rPr>
              <a:t>다음 중 주어진 문장과 의미가 같은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We didn't arrive in time, so we couldn't catch the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bus.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① If we had arrived in time, we could have caught the bus.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② If we have not arrived in time, we could catch the bus.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③ As we didn't want to arrive in time, we could catch the bus.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④ As we didn't want to catch the bus, we need to hurry up.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⑤ If we had not arrived in time, we could have caught the bus.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 i="0" u="none">
                <a:solidFill>
                  <a:srgbClr val="1E2A4A"/>
                </a:solidFill>
                <a:latin typeface="맑은 고딕"/>
              </a:rPr>
              <a:t>다음 중 주어진 문장과 의미가 같은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We didn't arrive in time, so we couldn't catch the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bus.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C03A2E"/>
                </a:solidFill>
                <a:latin typeface="맑은 고딕"/>
              </a:rPr>
              <a:t>① If we had arrived in time, we could have caught the bus.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② If we have not arrived in time, we could catch the bus.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③ As we didn't want to arrive in time, we could catch the bus.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④ As we didn't want to catch the bus, we need to hurry up.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⑤ If we had not arrived in time, we could have caught the bus.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398221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119371"/>
            <a:ext cx="11277295" cy="121158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① If we had arrived in time, we could have caught the bus.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우리는 제시간에 도착하지 못해서 버스를 잡을 수 없었다.  /  = 우리가 제시간에 도착했더라면, 버스를 잡을 수 있었을 텐데.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과거의 사실과 반대되는 가정이나, 과거에 실현 가능성이 희박했던 소망을 말할 때 사용되는 가정법 과거완료 시제 「If+주어+had+과거 분사 ~, 주어+조동사 과거형+have+과거분사 …」 형태로 나타낼 수 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1-45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p.137  ·  정답·해설 p.152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45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 u="none">
                <a:solidFill>
                  <a:srgbClr val="1E2A4A"/>
                </a:solidFill>
                <a:latin typeface="맑은 고딕"/>
              </a:rPr>
              <a:t>다음 중 주어진 문장과 의미가 같은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As my little sister doesn't often lie down on the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ground, her clothes are usually kept clean.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① If my little sister often lay down on the ground, her clothes wouldn't usually be kept clean.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② If my little sister often lay down on the ground, her clothes were usually kept clean.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③ If my little sister often laid down on the ground, her clothes wouldn't usually be kept clean.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④ If my little sister often lied down on the ground, her clothes wouldn't usually be kept clean.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⑤ If my little sister often lied down on the ground, her clothes would usually be kept clean.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 u="none">
                <a:solidFill>
                  <a:srgbClr val="1E2A4A"/>
                </a:solidFill>
                <a:latin typeface="맑은 고딕"/>
              </a:rPr>
              <a:t>다음 중 주어진 문장과 의미가 같은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As my little sister doesn't often lie down on the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ground, her clothes are usually kept clean.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 u="none">
                <a:solidFill>
                  <a:srgbClr val="C03A2E"/>
                </a:solidFill>
                <a:latin typeface="맑은 고딕"/>
              </a:rPr>
              <a:t>① If my little sister often lay down on the ground, her clothes wouldn't usually be kept clean.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② If my little sister often lay down on the ground, her clothes were usually kept clean.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③ If my little sister often laid down on the ground, her clothes wouldn't usually be kept clean.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④ If my little sister often lied down on the ground, her clothes wouldn't usually be kept clean.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⑤ If my little sister often lied down on the ground, her clothes would usually be kept clean.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398221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119371"/>
            <a:ext cx="11277295" cy="121158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1" i="0" u="none">
                <a:solidFill>
                  <a:srgbClr val="5A4200"/>
                </a:solidFill>
                <a:latin typeface="맑은 고딕"/>
              </a:rPr>
              <a:t>정답:  ① If my little sister often lay down on the ground, her clothes wouldn't usually be kept clean.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내 여동생은 땅에 자주 눕지 않아서 옷이 대개 깨끗하게 유지된다.  /  = 내 여동생이 땅에 자주 눕는다면, 옷이 대개 깨끗하게 유지되지 않을 텐데.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현재와 반대되는 상황(내 여동생이 자주 땅에 눕는다면, 옷이 보통 깨끗하지 않을 텐데)을 나타내는 가정법 과거 [If+주어+동사의 과거형, 주어+조동사의 과거형+동사원형]의 어순을 취한 문장을 고른다.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1-46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p.138  ·  정답·해설 p.152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46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가정법으로 바르게 바꾼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As he is poor, he can't buy an expensive car.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he is not poor, he can buy an expensive car.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he is poor, he can buy an expensive car.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he were poor, he could buy an expensive car.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he were not poor, he could buy an expensive car.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he were not poor, he couldn't buy an expensive car.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가정법으로 바르게 바꾼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As he is poor, he can't buy an expensive car.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he is not poor, he can buy an expensive car.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he is poor, he can buy an expensive car.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he were poor, he could buy an expensive car.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④ If he were not poor, he could buy an expensive car.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he were not poor, he couldn't buy an expensive car.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If he were not poor, he could buy an expensive car.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그는 가난해서 비싼 차를 살 수 없다.  /  → 그가 가난하지 않다면, 비싼 차를 살 수 있을 텐데.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과거는 [If+주어+동사의 과거형, 주어+조동사의 과거형+동사원형]의 어순을 취하고,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152A4A"/>
                </a:solidFill>
                <a:latin typeface="맑은 고딕"/>
              </a:rPr>
              <a:t>현재의 일에 반대되는 상황을 가정할 때 쓰인다.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1-47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p.138  ·  정답·해설 p.152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47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가정법 문장을 직설법으로 바르게 바꿔 쓴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If he had a key, he could open the door.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He has a key, so he couldn't open the door.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He doesn't have a key, so he can't open the door.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As he didn't have a key, he couldn't open the door.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As he doesn't have a key, he doesn't open the door.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He didn't have a key, so he can't open the door.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가정법 문장을 직설법으로 바르게 바꿔 쓴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If he had a key, he could open the door.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He has a key, so he couldn't open the door.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② He doesn't have a key, so he can't open the door.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As he didn't have a key, he couldn't open the door.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As he doesn't have a key, he doesn't open the door.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He didn't have a key, so he can't open the door.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② He doesn't have a key, so he can't open the door.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그에게 열쇠가 있다면, 문을 열 수 있을 텐데.  /  → 그는 열쇠가 없어서 문을 열 수 없다.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과거로 표현했으므로 현재 사실에 대해 나타내는 것을 고른다.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1-48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p.138  ·  정답·해설 p.152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48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가정법으로 바르게 바꾼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Tom can't buy a building because he isn't rich.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Tom were rich, he could buy a building.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Tom was rich, he could not buy a building.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Tom could buy a building, he was not rich.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Tom could not buy a building, he was rich.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Tom were not rich, he could buy a building.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가정법으로 바르게 바꾼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Tom can't buy a building because he isn't rich.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① If Tom were rich, he could buy a building.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Tom was rich, he could not buy a building.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Tom could buy a building, he was not rich.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Tom could not buy a building, he was rich.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Tom were not rich, he could buy a building.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① If Tom were rich, he could buy a building.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Tom은 부자가 아니어서 건물을 살 수 없다.  /  → Tom이 부자라면, 건물을 살 수 있을 텐데.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현재와 반대되는 상황(Tom이 부자라면 빌딩을 살 수 있을 것이다)을 나타내는 가정법 과거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152A4A"/>
                </a:solidFill>
                <a:latin typeface="맑은 고딕"/>
              </a:rPr>
              <a:t>[If+주어+동사의 과거형, 주어+조동사의 과거형+동사원형]의 어순을 취한 문장을 고른다.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1-49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p.138  ·  정답·해설 p.152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49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가정법 문장을 직설법으로 바르게 바꾼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If he were not busy, he could go to the movies.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He wasn't busy, but he couldn't go to the movies.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He is busy, so he can't go to the movies.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Though he isn't busy, he can't go to the movies.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He was busy, so he couldn't go to the movies.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As he was busy, he couldn't go to the movies.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가정법 문장을 직설법으로 바르게 바꾼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If he were not busy, he could go to the movies.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He wasn't busy, but he couldn't go to the movies.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② He is busy, so he can't go to the movies.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Though he isn't busy, he can't go to the movies.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He was busy, so he couldn't go to the movies.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As he was busy, he couldn't go to the movies.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② He is busy, so he can't go to the movies.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그가 바쁘지 않다면, 영화를 보러 갈 수 있을 텐데.  /  → 그는 바빠서 영화를 보러 갈 수 없다.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과거는 현재 사실의 반대를 나타낸다. 'If he were not busy, he could go' → 현재 바쁘기 때문에 갈 수 없다는 뜻이므로 He is busy, so he can't go to the movies.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1-50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p.138  ·  정답·해설 p.152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50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 u="none">
                <a:solidFill>
                  <a:srgbClr val="1E2A4A"/>
                </a:solidFill>
                <a:latin typeface="맑은 고딕"/>
              </a:rPr>
              <a:t>다음 문장을 가정법으로 바르게 바꾼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As I don't go to Africa for volunteer work, I can't help poor children there.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① If I go to Africa for volunteer work, I will help poor children there.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② If I don't go to Africa for volunteer work, I won't help poor children there.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③ If I went to Africa, I could help poor children there.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④ If I didn't go Africa, I could help poor children there.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⑤ If I went to Africa, I couldn't help poor children there.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 u="none">
                <a:solidFill>
                  <a:srgbClr val="1E2A4A"/>
                </a:solidFill>
                <a:latin typeface="맑은 고딕"/>
              </a:rPr>
              <a:t>다음 문장을 가정법으로 바르게 바꾼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As I don't go to Africa for volunteer work, I can't help poor children there.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① If I go to Africa for volunteer work, I will help poor children there.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② If I don't go to Africa for volunteer work, I won't help poor children there.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 u="none">
                <a:solidFill>
                  <a:srgbClr val="C03A2E"/>
                </a:solidFill>
                <a:latin typeface="맑은 고딕"/>
              </a:rPr>
              <a:t>③ If I went to Africa, I could help poor children there.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④ If I didn't go Africa, I could help poor children there.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⑤ If I went to Africa, I couldn't help poor children there.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398221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119371"/>
            <a:ext cx="11277295" cy="121158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③ If I went to Africa, I could help poor children there.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나는 자원봉사를 하러 아프리카에 가지 않아서 그곳의 가난한 아이들을 도울 수 없다.  /  → 내가 아프리카에 간다면, 그곳의 가난한 아이들을 도울 수 있을 텐데.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과거는 [If+주어+동사의 과거형, 주어+조동사의 과거형+동사원형]의 어순을 취하고,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152A4A"/>
                </a:solidFill>
                <a:latin typeface="맑은 고딕"/>
              </a:rPr>
              <a:t>현재의 일에 반대되는 상황을 가정할 때 쓰인다.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1-51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p.138  ·  정답·해설 p.152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51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 u="none">
                <a:solidFill>
                  <a:srgbClr val="1E2A4A"/>
                </a:solidFill>
                <a:latin typeface="맑은 고딕"/>
              </a:rPr>
              <a:t>다음 중 문장 전환이 어법상 어색한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① It's raining, so I won't go for a walk.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If it weren't raining, I would go for a walk.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② Since he's not good at playing tennis, he can't become a professional player.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If he were good at playing tennis, he could become a professional player.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③ As he is sick, he can't go to see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If he were not sick, he could go to see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④ As it rains hard, we don't play outside.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If it doesn't rain hard, we would play outside.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⑤ As we don't have enough money, we don't buy the camera.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If we had enough money, we would buy the camera.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 u="none">
                <a:solidFill>
                  <a:srgbClr val="1E2A4A"/>
                </a:solidFill>
                <a:latin typeface="맑은 고딕"/>
              </a:rPr>
              <a:t>다음 중 문장 전환이 어법상 어색한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① It's raining, so I won't go for a walk.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If it weren't raining, I would go for a walk.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② Since he's not good at playing tennis, he can't become a professional player.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If he were good at playing tennis, he could become a professional player.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③ As he is sick, he can't go to see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If he were not sick, he could go to see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 u="none">
                <a:solidFill>
                  <a:srgbClr val="C03A2E"/>
                </a:solidFill>
                <a:latin typeface="맑은 고딕"/>
              </a:rPr>
              <a:t>④ As it rains hard, we don't play outside.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 u="none">
                <a:solidFill>
                  <a:srgbClr val="C03A2E"/>
                </a:solidFill>
                <a:latin typeface="맑은 고딕"/>
              </a:rPr>
              <a:t>      → If it doesn't rain hard, we would play outside.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⑤ As we don't have enough money, we don't buy the camera.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If we had enough money, we would buy the camera.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398221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119371"/>
            <a:ext cx="11277295" cy="121158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④ As it rains hard, we don't play outside.
→ If it doesn't rain hard, we would play outside.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④ 비가 세게 와서 우리는 밖에서 놀지 않는다.  /  → 비가 세게 오지 않는다면, 우리는 밖에서 놀 텐데. (어법상 어색한 전환: If it doesn't rain hard → If it didn't rain hard)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 문장으로 if절의 동사는 과거형으로 써야 한다. doesn't는 didn't로 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1-52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p.138  ·  정답·해설 p.152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52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 u="none">
                <a:solidFill>
                  <a:srgbClr val="1E2A4A"/>
                </a:solidFill>
                <a:latin typeface="맑은 고딕"/>
              </a:rPr>
              <a:t>다음 중 문장 전환이 어색한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① A: He can't buy it because he has no money.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B: He could buy it if he had some money.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② A: You didn't call me, so I couldn't help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B: If you had called me, I could have helped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③ A: As he doesn't have time, he will not go to Spain.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B: If he had time, he would go to Spain.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④ A: Because we didn't go by car, we didn't save time.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B: If we had gone by car, we would have saved time.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⑤ A: The exam was so difficult that she got a low score.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B: If the exam had been difficult, she would have gotten a low score.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 u="none">
                <a:solidFill>
                  <a:srgbClr val="1E2A4A"/>
                </a:solidFill>
                <a:latin typeface="맑은 고딕"/>
              </a:rPr>
              <a:t>다음 중 문장 전환이 어색한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① A: He can't buy it because he has no money.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B: He could buy it if he had some money.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② A: You didn't call me, so I couldn't help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B: If you had called me, I could have helped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③ A: As he doesn't have time, he will not go to Spain.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B: If he had time, he would go to Spain.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④ A: Because we didn't go by car, we didn't save time.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B: If we had gone by car, we would have saved time.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 u="none">
                <a:solidFill>
                  <a:srgbClr val="C03A2E"/>
                </a:solidFill>
                <a:latin typeface="맑은 고딕"/>
              </a:rPr>
              <a:t>⑤ A: The exam was so difficult that she got a low score.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 u="none">
                <a:solidFill>
                  <a:srgbClr val="C03A2E"/>
                </a:solidFill>
                <a:latin typeface="맑은 고딕"/>
              </a:rPr>
              <a:t>      B: If the exam had been difficult, she would have gotten a low score.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398221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119371"/>
            <a:ext cx="11277295" cy="121158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1" i="0" u="none">
                <a:solidFill>
                  <a:srgbClr val="5A4200"/>
                </a:solidFill>
                <a:latin typeface="맑은 고딕"/>
              </a:rPr>
              <a:t>정답:  ⑤ A: The exam was so difficult that she got a low score.
B: If the exam had been difficult, she would have gotten a low score.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⑤ A: 시험이 너무 어려워서 그녀는 낮은 점수를 받았다.  /  B: 시험이 어렵지 않았더라면 그녀는 낮은 점수를 받지 않았을 텐데. (어색한 전환)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100" b="0" i="0" u="none">
                <a:solidFill>
                  <a:srgbClr val="152A4A"/>
                </a:solidFill>
                <a:latin typeface="맑은 고딕"/>
              </a:rPr>
              <a:t>가정법 과거완료(If+주어+had+과거분사 ~, 주어+조동사 과거형+have+과거분사 …)는 과거 사실을 반대로 가정한 것이므로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u="none">
                <a:solidFill>
                  <a:srgbClr val="152A4A"/>
                </a:solidFill>
                <a:latin typeface="맑은 고딕"/>
              </a:rPr>
              <a:t>B의 답변을 'If the exam had not been difficult, she would not have gotten a low score.'로 바꿔야 옳다.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u="none">
                <a:solidFill>
                  <a:srgbClr val="152A4A"/>
                </a:solidFill>
                <a:latin typeface="맑은 고딕"/>
              </a:rPr>
              <a:t>①, ③은 가정법 과거로, 현재의 사실과 반대되거나 현재에 일어나지 않은 일을 가정할 때 쓰인다.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1-53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p.139  ·  정답·해설 p.152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53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 u="none">
                <a:solidFill>
                  <a:srgbClr val="1E2A4A"/>
                </a:solidFill>
                <a:latin typeface="맑은 고딕"/>
              </a:rPr>
              <a:t>다음 두 문장의 의미가 같지 않은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① He is not strong, so he can't carry this box.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If he is strong, he can carry this box.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② As I have no money, I can't buy the car.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If I had money, I could buy the car.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③ It is raining, so I won't go for a walk.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If it weren't raining, I'd go for a walk.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④ My sister is crying because mom's not here.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If mom were here, my sister wouldn't be crying.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⑤ We can't travel more because we don't have a car.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We could travel more if we had a car.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 u="none">
                <a:solidFill>
                  <a:srgbClr val="1E2A4A"/>
                </a:solidFill>
                <a:latin typeface="맑은 고딕"/>
              </a:rPr>
              <a:t>다음 두 문장의 의미가 같지 않은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 u="none">
                <a:solidFill>
                  <a:srgbClr val="C03A2E"/>
                </a:solidFill>
                <a:latin typeface="맑은 고딕"/>
              </a:rPr>
              <a:t>① He is not strong, so he can't carry this box.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 u="none">
                <a:solidFill>
                  <a:srgbClr val="C03A2E"/>
                </a:solidFill>
                <a:latin typeface="맑은 고딕"/>
              </a:rPr>
              <a:t>      → If he is strong, he can carry this box.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② As I have no money, I can't buy the car.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If I had money, I could buy the car.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③ It is raining, so I won't go for a walk.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If it weren't raining, I'd go for a walk.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④ My sister is crying because mom's not here.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If mom were here, my sister wouldn't be crying.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⑤ We can't travel more because we don't have a car.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We could travel more if we had a car.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398221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119371"/>
            <a:ext cx="11277295" cy="121158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① He is not strong, so he can't carry this box.
→ If he is strong, he can carry this box.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① 그는 강하지 않아서 이 상자를 옮길 수 없다. → 그가 강하다면, 이 상자를 옮길 수 있을 텐데. (가정법이 아니므로 두 문장의 의미가 같지 않다)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①번 문장의 의미가 같으려면 If he were strong, he could carry this box.로 고쳐야 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1-54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p.139  ·  정답·해설 p.152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54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 u="none">
                <a:solidFill>
                  <a:srgbClr val="1E2A4A"/>
                </a:solidFill>
                <a:latin typeface="맑은 고딕"/>
              </a:rPr>
              <a:t>다음 중 두 문장의 의미가 같은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① It rains, so I stay home.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If it rains, I would not stay home.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② I don't have wings, so I can't fly.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If I had wings, I couldn't fly.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③ If she were kind, many people would like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She is kind, but many people don't like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④ I don't know him, so I can't introduce him to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If I knew him, I could introduce him to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⑤ I don't have wings, so I can't fly to school.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If I had had wings, I could fly to school.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 u="none">
                <a:solidFill>
                  <a:srgbClr val="1E2A4A"/>
                </a:solidFill>
                <a:latin typeface="맑은 고딕"/>
              </a:rPr>
              <a:t>다음 중 두 문장의 의미가 같은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① It rains, so I stay home.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If it rains, I would not stay home.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② I don't have wings, so I can't fly.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If I had wings, I couldn't fly.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③ If she were kind, many people would like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She is kind, but many people don't like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 u="none">
                <a:solidFill>
                  <a:srgbClr val="C03A2E"/>
                </a:solidFill>
                <a:latin typeface="맑은 고딕"/>
              </a:rPr>
              <a:t>④ I don't know him, so I can't introduce him to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 u="none">
                <a:solidFill>
                  <a:srgbClr val="C03A2E"/>
                </a:solidFill>
                <a:latin typeface="맑은 고딕"/>
              </a:rPr>
              <a:t>      → If I knew him, I could introduce him to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⑤ I don't have wings, so I can't fly to school.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If I had had wings, I could fly to school.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398221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119371"/>
            <a:ext cx="11277295" cy="121158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1" i="0" u="none">
                <a:solidFill>
                  <a:srgbClr val="5A4200"/>
                </a:solidFill>
                <a:latin typeface="맑은 고딕"/>
              </a:rPr>
              <a:t>정답:  ④ I don't know him, so I can't introduce him to you.
→ If I knew him, I could introduce him to you.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④ 나는 그를 몰라서 그를 너에게 소개할 수 없다.  /  → 내가 그를 안다면, 그를 너에게 소개할 수 있을 텐데.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400" b="0" i="0" u="none">
                <a:solidFill>
                  <a:srgbClr val="152A4A"/>
                </a:solidFill>
                <a:latin typeface="맑은 고딕"/>
              </a:rPr>
              <a:t>① → If it didn't rain, I wouldn't stay home.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② → If I had wings, I could fly.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③ → She isn't kind, so many people don't like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⑤ → If I had wings, I could fly to school.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1-55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p.139  ·  정답·해설 p.153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55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 u="none">
                <a:solidFill>
                  <a:srgbClr val="1E2A4A"/>
                </a:solidFill>
                <a:latin typeface="맑은 고딕"/>
              </a:rPr>
              <a:t>다음 중 직설법을 가정법으로 바꾼 문장 중 어법상 옳은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① As I didn't have a pen, I couldn't write you a letter.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If I had had a pen, I could have wrote you a letter.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② She can't go because she is busy.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She could have gone if she weren't busy.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③ He couldn't buy the ring because it was too expensive.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If the ring wasn't too expensive he could have bought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④ She couldn't see the movie because she was 13 years old.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If she weren't 13 years old, she could have seen the movie.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⑤ As there are so many cars, there is so much air pollution.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There wouldn't be so much air pollution if there weren't so many cars.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 u="none">
                <a:solidFill>
                  <a:srgbClr val="1E2A4A"/>
                </a:solidFill>
                <a:latin typeface="맑은 고딕"/>
              </a:rPr>
              <a:t>다음 중 직설법을 가정법으로 바꾼 문장 중 어법상 옳은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① As I didn't have a pen, I couldn't write you a letter.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If I had had a pen, I could have wrote you a letter.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② She can't go because she is busy.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She could have gone if she weren't busy.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③ He couldn't buy the ring because it was too expensive.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If the ring wasn't too expensive he could have bought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④ She couldn't see the movie because she was 13 years old.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If she weren't 13 years old, she could have seen the movie.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 u="none">
                <a:solidFill>
                  <a:srgbClr val="C03A2E"/>
                </a:solidFill>
                <a:latin typeface="맑은 고딕"/>
              </a:rPr>
              <a:t>⑤ As there are so many cars, there is so much air pollution.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 u="none">
                <a:solidFill>
                  <a:srgbClr val="C03A2E"/>
                </a:solidFill>
                <a:latin typeface="맑은 고딕"/>
              </a:rPr>
              <a:t>      → There wouldn't be so much air pollution if there weren't so many cars.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398221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119371"/>
            <a:ext cx="11277295" cy="121158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1" i="0" u="none">
                <a:solidFill>
                  <a:srgbClr val="5A4200"/>
                </a:solidFill>
                <a:latin typeface="맑은 고딕"/>
              </a:rPr>
              <a:t>정답:  ⑤ As there are so many cars, there is so much air pollution.
→ There wouldn't be so much air pollution if there weren't so many cars.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⑤ 차가 너무 많아서 대기오염이 심하다.  /  → 차가 그렇게 많지 않다면, 대기오염이 그렇게 심하지 않을 텐데.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100" b="0" i="0" u="none">
                <a:solidFill>
                  <a:srgbClr val="152A4A"/>
                </a:solidFill>
                <a:latin typeface="맑은 고딕"/>
              </a:rPr>
              <a:t>① 가정법 과거완료 시제로 주절이 could have p.p. 형태가 되어야 하므로 wrote는 written으로 써야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u="none">
                <a:solidFill>
                  <a:srgbClr val="152A4A"/>
                </a:solidFill>
                <a:latin typeface="맑은 고딕"/>
              </a:rPr>
              <a:t>② 가정법 과거시제로 주절이 'could+동사원형' 형태가 되어야 하므로 have gone은 go로 써야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u="none">
                <a:solidFill>
                  <a:srgbClr val="152A4A"/>
                </a:solidFill>
                <a:latin typeface="맑은 고딕"/>
              </a:rPr>
              <a:t>③ 가정법 과거완료 시제로 if절이 had p.p. 형태가 되어야 하므로 wasn't는 had not been으로 써야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u="none">
                <a:solidFill>
                  <a:srgbClr val="152A4A"/>
                </a:solidFill>
                <a:latin typeface="맑은 고딕"/>
              </a:rPr>
              <a:t>④ 가정법 과거완료 시제로 if절이 had p.p. 형태가 되어야 하므로 weren't는 had not been으로 써야 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1-56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p.139  ·  정답·해설 p.153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56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 u="none">
                <a:solidFill>
                  <a:srgbClr val="1E2A4A"/>
                </a:solidFill>
                <a:latin typeface="맑은 고딕"/>
              </a:rPr>
              <a:t>다음 짝지어진 두 문장의 의미가 다른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① If I were not tired, I could go to the movies.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= I'm tired, so I can't go to the movies.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② He doesn't help me, so I can't do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= If he helped me, I could do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③ If I knew his number, I could call him.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= As I don't know his number, I can't call him.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④ If there weren't so much traffic, the air would be clean.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= Because there is so much traffic, the air isn't clean.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⑤ If I were born in America, I could speak English fluently.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= I was born in America, but I can't speak English fluently.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 u="none">
                <a:solidFill>
                  <a:srgbClr val="1E2A4A"/>
                </a:solidFill>
                <a:latin typeface="맑은 고딕"/>
              </a:rPr>
              <a:t>다음 짝지어진 두 문장의 의미가 다른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① If I were not tired, I could go to the movies.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= I'm tired, so I can't go to the movies.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② He doesn't help me, so I can't do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= If he helped me, I could do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③ If I knew his number, I could call him.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= As I don't know his number, I can't call him.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④ If there weren't so much traffic, the air would be clean.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= Because there is so much traffic, the air isn't clean.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 u="none">
                <a:solidFill>
                  <a:srgbClr val="C03A2E"/>
                </a:solidFill>
                <a:latin typeface="맑은 고딕"/>
              </a:rPr>
              <a:t>⑤ If I were born in America, I could speak English fluently.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 u="none">
                <a:solidFill>
                  <a:srgbClr val="C03A2E"/>
                </a:solidFill>
                <a:latin typeface="맑은 고딕"/>
              </a:rPr>
              <a:t>      = I was born in America, but I can't speak English fluently.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398221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119371"/>
            <a:ext cx="11277295" cy="121158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1" i="0" u="none">
                <a:solidFill>
                  <a:srgbClr val="5A4200"/>
                </a:solidFill>
                <a:latin typeface="맑은 고딕"/>
              </a:rPr>
              <a:t>정답:  ⑤ If I were born in America, I could speak English fluently.
= I was born in America, but I can't speak English fluently.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⑤ 내가 미국에서 태어났다면, 영어를 유창하게 말할 수 있을 텐데.  /  = 나는 미국에서 태어났지만 영어를 유창하게 말하지 못한다. (의미가 다른 쌍)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과거는 현재 사실의 반대이므로 ⑤는 'I wasn't born in America, so I can't speak English fluently.'와 같은 의미이다.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정답지에는 정답 번호만 제시되어 있음)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1-57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p.139  ·  정답·해설 p.153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57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 u="none">
                <a:solidFill>
                  <a:srgbClr val="1E2A4A"/>
                </a:solidFill>
                <a:latin typeface="맑은 고딕"/>
              </a:rPr>
              <a:t>다음 중 두 문장의 의미가 같은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① I am lonely, for she isn't here.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If I were here, she wouldn't be lonely.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② It's raining, so I won't go for a walk.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If it weren't raining, I'd go for a walk.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③ My little sister is crying because my mom's not here.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If my mom were not here, my little sister wouldn't be crying.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④ As you don't come, I don't have more time to talk with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If you come, I would not have more time to talk with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⑤ Since he's not very good at playing basketball, he can't become a professional player.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If he were very good at playing basketball, he couldn't become a professional player.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 u="none">
                <a:solidFill>
                  <a:srgbClr val="1E2A4A"/>
                </a:solidFill>
                <a:latin typeface="맑은 고딕"/>
              </a:rPr>
              <a:t>다음 중 두 문장의 의미가 같은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① I am lonely, for she isn't here.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If I were here, she wouldn't be lonely.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 u="none">
                <a:solidFill>
                  <a:srgbClr val="C03A2E"/>
                </a:solidFill>
                <a:latin typeface="맑은 고딕"/>
              </a:rPr>
              <a:t>② It's raining, so I won't go for a walk.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 u="none">
                <a:solidFill>
                  <a:srgbClr val="C03A2E"/>
                </a:solidFill>
                <a:latin typeface="맑은 고딕"/>
              </a:rPr>
              <a:t>      → If it weren't raining, I'd go for a walk.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③ My little sister is crying because my mom's not here.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If my mom were not here, my little sister wouldn't be crying.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④ As you don't come, I don't have more time to talk with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If you come, I would not have more time to talk with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⑤ Since he's not very good at playing basketball, he can't become a professional player.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If he were very good at playing basketball, he couldn't become a professional player.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398221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119371"/>
            <a:ext cx="11277295" cy="121158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② It's raining, so I won't go for a walk.
→ If it weren't raining, I'd go for a walk.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② 비가 오고 있어서 나는 산책하러 가지 않을 것이다.  /  → 비가 오고 있지 않다면, 나는 산책하러 갈 텐데.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300" b="0" i="0" u="none">
                <a:solidFill>
                  <a:srgbClr val="152A4A"/>
                </a:solidFill>
                <a:latin typeface="맑은 고딕"/>
              </a:rPr>
              <a:t>① → If she were here, I wouldn't be lonely.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 u="none">
                <a:solidFill>
                  <a:srgbClr val="152A4A"/>
                </a:solidFill>
                <a:latin typeface="맑은 고딕"/>
              </a:rPr>
              <a:t>③ → If my mom were here, my little sister wouldn't be crying.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 u="none">
                <a:solidFill>
                  <a:srgbClr val="152A4A"/>
                </a:solidFill>
                <a:latin typeface="맑은 고딕"/>
              </a:rPr>
              <a:t>④ → If you came, I would have more time to talk with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 u="none">
                <a:solidFill>
                  <a:srgbClr val="152A4A"/>
                </a:solidFill>
                <a:latin typeface="맑은 고딕"/>
              </a:rPr>
              <a:t>⑤ → If he were very good at playing basketball, he could become a professional player.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1-58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p.139  ·  정답·해설 p.153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58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 u="none">
                <a:solidFill>
                  <a:srgbClr val="1E2A4A"/>
                </a:solidFill>
                <a:latin typeface="맑은 고딕"/>
              </a:rPr>
              <a:t>다음 문장을 가정법으로 알맞게 전환하지 못한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① You don't come to my party, so I am not happy.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If you came to my party, I would be happy.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② It isn't hot, so I can take a walk.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If it were hot, I could not take a walk.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③ He wasn't honest, so they didn't trust him.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If he had been honest, they would trust him.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④ You didn't clean your room, so it was dirty.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If you had cleaned your room, it wouldn't have been dirty.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⑤ I didn't have a car, so I couldn't pick you up.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If I had had a car, I could have picked you up.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 u="none">
                <a:solidFill>
                  <a:srgbClr val="1E2A4A"/>
                </a:solidFill>
                <a:latin typeface="맑은 고딕"/>
              </a:rPr>
              <a:t>다음 문장을 가정법으로 알맞게 전환하지 못한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① You don't come to my party, so I am not happy.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If you came to my party, I would be happy.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② It isn't hot, so I can take a walk.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If it were hot, I could not take a walk.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 u="none">
                <a:solidFill>
                  <a:srgbClr val="C03A2E"/>
                </a:solidFill>
                <a:latin typeface="맑은 고딕"/>
              </a:rPr>
              <a:t>③ He wasn't honest, so they didn't trust him.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 u="none">
                <a:solidFill>
                  <a:srgbClr val="C03A2E"/>
                </a:solidFill>
                <a:latin typeface="맑은 고딕"/>
              </a:rPr>
              <a:t>      → If he had been honest, they would trust him.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④ You didn't clean your room, so it was dirty.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If you had cleaned your room, it wouldn't have been dirty.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⑤ I didn't have a car, so I couldn't pick you up.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If I had had a car, I could have picked you up.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398221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119371"/>
            <a:ext cx="11277295" cy="121158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③ He wasn't honest, so they didn't trust him.
→ If he had been honest, they would trust him.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③ 그는 정직하지 않아서 사람들이 그를 신뢰하지 않았다.  /  → 그가 정직했더라면, 사람들이 그를 신뢰했을 텐데. (알맞게 전환하지 못한 문장)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400" b="0" i="0" u="none">
                <a:solidFill>
                  <a:srgbClr val="152A4A"/>
                </a:solidFill>
                <a:latin typeface="맑은 고딕"/>
              </a:rPr>
              <a:t>과거의 일에 대한 반대 상황을 가정하고 있으므로, 가정법 과거완료로 표현한다.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이때 if절은 'had p.p.', 주절에는 '조동사의 과거형+have p.p.'가 와야 하므로 would trust를 would have trusted로 써야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①, ② 가정법 과거 / ③, ④, ⑤ 가정법 과거완료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1-59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p.140  ·  정답·해설 p.153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59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 u="none">
                <a:solidFill>
                  <a:srgbClr val="1E2A4A"/>
                </a:solidFill>
                <a:latin typeface="맑은 고딕"/>
              </a:rPr>
              <a:t>다음 두 문장의 의미가 같지 않은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① If Jinsu had enough money, he could buy a new computer.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As Jinsu doesn't have enough money, he can't buy a new computer.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② If I knew his address, I could send him a letter.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As I didn't know his address, I couldn't send him a letter.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③ As I don't read the book faster, I can't finish it in a day.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If I read the book faster, I could finish it in a day.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④ As it doesn't rain, I can't see a rainbow.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If it rained, I could see a rainbow.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⑤ If I were a bird, I could fly to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As I am not a bird, I can't fly to you.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 u="none">
                <a:solidFill>
                  <a:srgbClr val="1E2A4A"/>
                </a:solidFill>
                <a:latin typeface="맑은 고딕"/>
              </a:rPr>
              <a:t>다음 두 문장의 의미가 같지 않은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① If Jinsu had enough money, he could buy a new computer.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As Jinsu doesn't have enough money, he can't buy a new computer.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 u="none">
                <a:solidFill>
                  <a:srgbClr val="C03A2E"/>
                </a:solidFill>
                <a:latin typeface="맑은 고딕"/>
              </a:rPr>
              <a:t>② If I knew his address, I could send him a letter.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 u="none">
                <a:solidFill>
                  <a:srgbClr val="C03A2E"/>
                </a:solidFill>
                <a:latin typeface="맑은 고딕"/>
              </a:rPr>
              <a:t>      → As I didn't know his address, I couldn't send him a letter.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③ As I don't read the book faster, I can't finish it in a day.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If I read the book faster, I could finish it in a day.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④ As it doesn't rain, I can't see a rainbow.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If it rained, I could see a rainbow.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⑤ If I were a bird, I could fly to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→ As I am not a bird, I can't fly to you.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398221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119371"/>
            <a:ext cx="11277295" cy="121158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1" i="0" u="none">
                <a:solidFill>
                  <a:srgbClr val="5A4200"/>
                </a:solidFill>
                <a:latin typeface="맑은 고딕"/>
              </a:rPr>
              <a:t>정답:  ② If I knew his address, I could send him a letter.
→ As I didn't know his address, I couldn't send him a letter.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② 내가 그의 주소를 안다면, 그에게 편지를 보낼 수 있을 텐데.  /  → 나는 그의 주소를 몰라서 그에게 편지를 보낼 수 없다. (과거로 바꾼 것이 어색해 의미가 같지 않음)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과거이므로 현재 사실의 반대를 나타낸다. 따라서 didn't → don't, couldn't → can't로 해야 서로 비슷한 의미가 성립된다.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p.140  ·  정답·해설 p.153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60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2859785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 u="none">
                <a:solidFill>
                  <a:srgbClr val="1E2A4A"/>
                </a:solidFill>
                <a:latin typeface="맑은 고딕"/>
              </a:rPr>
              <a:t>다음 글의 밑줄 친 if의 쓰임을 보여주는 문장이 아닌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We use special structures with "if" when we are talking about unreal situations — things that are certainly not happening or did not happen, and situations that are untrue or imaginary.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① If I knew her name, I would tell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② If he'd run a bit faster, he could have won.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③ If my nose were shorter, I would be quite pretty.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④ I could have died that day if Jack had not helped 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⑤ If you get here before eight, you can catch the early train.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285978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 u="none">
                <a:solidFill>
                  <a:srgbClr val="1E2A4A"/>
                </a:solidFill>
                <a:latin typeface="맑은 고딕"/>
              </a:rPr>
              <a:t>다음 글의 밑줄 친 if의 쓰임을 보여주는 문장이 아닌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We use special structures with "if" when we are talking about unreal situations — things that are certainly not happening or did not happen, and situations that are untrue or imaginary.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① If I knew her name, I would tell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② If he'd run a bit faster, he could have won.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③ If my nose were shorter, I would be quite pretty.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④ I could have died that day if Jack had not helped 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 u="none">
                <a:solidFill>
                  <a:srgbClr val="C03A2E"/>
                </a:solidFill>
                <a:latin typeface="맑은 고딕"/>
              </a:rPr>
              <a:t>⑤ If you get here before eight, you can catch the early train.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3774185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3911345"/>
            <a:ext cx="11277295" cy="1419606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⑤ If you get here before eight, you can catch the early train.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우리는 비현실적인 상황, 즉 확실히 일어나지 않고 있거나 일어나지 않았던 일, 사실이 아니거나 상상 속의 상황에 대해 말할 때 'if'를 이용한 특별한 구조를 사용한다.  /  ⑤ 네가 8시 전에 여기 도착하면, 이른 기차를 탈 수 있다. (실제 가능한 조건이라 해당하지 않음)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⑤의 if는 일어날 가능성이 있는 가정법 현재시제의 if이다.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1-61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p.140  ·  정답·해설 p.153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61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 i="0" u="none">
                <a:solidFill>
                  <a:srgbClr val="1E2A4A"/>
                </a:solidFill>
                <a:latin typeface="맑은 고딕"/>
              </a:rPr>
              <a:t>다음 밑줄 친 ⓐ~ⓔ 중 어법상 어색한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If I ⓐwas a famous movie star ⓑlike Audrey Hepburn, I ⓒmight not be ⓓinterested in ⓔhelping others.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① ⓐ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② ⓑ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③ ⓒ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④ ⓓ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⑤ ⓔ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 i="0" u="none">
                <a:solidFill>
                  <a:srgbClr val="1E2A4A"/>
                </a:solidFill>
                <a:latin typeface="맑은 고딕"/>
              </a:rPr>
              <a:t>다음 밑줄 친 ⓐ~ⓔ 중 어법상 어색한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If I ⓐwas a famous movie star ⓑlike Audrey Hepburn, I ⓒmight not be ⓓinterested in ⓔhelping others.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C03A2E"/>
                </a:solidFill>
                <a:latin typeface="맑은 고딕"/>
              </a:rPr>
              <a:t>① ⓐ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② ⓑ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③ ⓒ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④ ⓓ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⑤ ⓔ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398221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119371"/>
            <a:ext cx="11277295" cy="121158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① ⓐ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내가 오드리 헵번 같은 유명한 영화배우라면, 다른 사람들을 돕는 데 관심이 없을지도 모른다. (ⓐ was → were)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과거의 문장이므로 were가 들어가야 올바르다.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1-62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p.140  ·  정답·해설 p.153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62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밑줄 친 부분 중 어법상 어색한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I don't have any friends, I would be lonely.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I find your key, I will tell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she were here, I wouldn't be lonely.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he knew your situation, he could help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it were not raining, I could go out to play soccer.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밑줄 친 부분 중 어법상 어색한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① If I don't have any friends, I would be lonely.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I find your key, I will tell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she were here, I wouldn't be lonely.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he knew your situation, he could help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it were not raining, I could go out to play soccer.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① If I don't have any friends, I would be lonely.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① 내게 친구가 하나도 없다면, 나는 외로울 텐데. (If I don't have → If I didn't have)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주절이 would be lonely인 가정법 과거 문장이므로 if절의 동사도 과거형 didn't have로 써야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정답지에는 정답 번호만 제시되어 있음)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1-63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p.140  ·  정답·해설 p.153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63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밑줄 친 부분 중 어법상 어색한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I were you, I would see a doctor.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the weather were better, we would go outside.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he were president, he would help the poor.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we had more time, we would swim all day.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a dog runs after me, I would run away.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밑줄 친 부분 중 어법상 어색한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I were you, I would see a doctor.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the weather were better, we would go outside.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he were president, he would help the poor.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we had more time, we would swim all day.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⑤ If a dog runs after me, I would run away.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If a dog runs after me, I would run away.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⑤ 개가 나를 쫓아오면, 나는 도망칠 텐데. (If a dog runs → If a dog ran)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과거로, if절의 동사는 과거형으로 써야 한다. runs는 과거형 ran으로 고친다.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1-64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p.140  ·  정답·해설 p.153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64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밑줄 친 부분 중 어법상 어색한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he were not busy, he would come to my party.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 could go anywhere if I had a lot of money.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you were in my shoes, what would you do?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I were a teacher, I would not give students homework.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he had enough money, he bought the latest phone.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밑줄 친 부분 중 어법상 어색한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he were not busy, he would come to my party.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 could go anywhere if I had a lot of money.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you were in my shoes, what would you do?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I were a teacher, I would not give students homework.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⑤ If he had enough money, he bought the latest phone.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If he had enough money, he bought the latest phone.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⑤ 그에게 충분한 돈이 있다면, 그는 최신 휴대폰을 살 텐데. (he bought → he would buy)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과거로, 주절의 문장은 [조동사의 과거형+동사원형]이 사용되어야 한다. he would buy the latest phone으로 고쳐야 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1-65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p.140  ·  정답·해설 p.153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65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밑줄 친 부분 중 어법상 옳은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he had had time, he could solve all the questions.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he were here with me, I would have been very happy.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I had not been so hungry, I would have not eaten too much.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I had known your address, I could have sent you a card.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you had helped me with English, I would have able to finish my report.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밑줄 친 부분 중 어법상 옳은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he had had time, he could solve all the questions.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he were here with me, I would have been very happy.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I had not been so hungry, I would have not eaten too much.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④ If I had known your address, I could have sent you a card.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you had helped me with English, I would have able to finish my report.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④ If I had known your address, I could have sent you a card.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④ 내가 네 주소를 알았더라면, 너에게 카드를 보낼 수 있었을 텐데.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200" b="0" i="0" u="none">
                <a:solidFill>
                  <a:srgbClr val="152A4A"/>
                </a:solidFill>
                <a:latin typeface="맑은 고딕"/>
              </a:rPr>
              <a:t>① could solve all the questions → could have solved all the questions (가정법 과거완료)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 u="none">
                <a:solidFill>
                  <a:srgbClr val="152A4A"/>
                </a:solidFill>
                <a:latin typeface="맑은 고딕"/>
              </a:rPr>
              <a:t>② would have been very happy → would be very happy (가정법 과거)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 u="none">
                <a:solidFill>
                  <a:srgbClr val="152A4A"/>
                </a:solidFill>
                <a:latin typeface="맑은 고딕"/>
              </a:rPr>
              <a:t>③ would have not eaten → would not have eaten (가정법 과거완료)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 u="none">
                <a:solidFill>
                  <a:srgbClr val="152A4A"/>
                </a:solidFill>
                <a:latin typeface="맑은 고딕"/>
              </a:rPr>
              <a:t>⑤ would have able to finish → would have been able to finish (가정법 과거완료)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1-66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p.140  ·  정답·해설 p.153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66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옳은 문장은?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I had had wings, I could fly.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she worked hard, she would not fail.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it is not Monday, I would go swimming.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she ran to the station, she will catch the train.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I had wings, I would have flown to you.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옳은 문장은?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I had had wings, I could fly.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② If she worked hard, she would not fail.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it is not Monday, I would go swimming.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she ran to the station, she will catch the train.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I had wings, I would have flown to you.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② If she worked hard, she would not fail.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② 그녀가 열심히 일한다면, 실패하지 않을 텐데.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400" b="0" i="0" u="none">
                <a:solidFill>
                  <a:srgbClr val="152A4A"/>
                </a:solidFill>
                <a:latin typeface="맑은 고딕"/>
              </a:rPr>
              <a:t>① had had → had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③ is → were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④ will → would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⑤ would have flown → would fly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1-67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p.140  ·  정답·해설 p.153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67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옳은 문장은?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I loved your sister, I will marry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he won the lottery, he can buy a house.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she had met him today, she would tell him.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Steven would get a perfect grade if he studied harder.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What you would say if you are my brother?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옳은 문장은?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I loved your sister, I will marry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he won the lottery, he can buy a house.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she had met him today, she would tell him.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④ Steven would get a perfect grade if he studied harder.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What you would say if you are my brother?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Steven would get a perfect grade if he studied harder.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④ Steven이 더 열심히 공부한다면, 만점을 받을 텐데.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400" b="0" i="0" u="none">
                <a:solidFill>
                  <a:srgbClr val="152A4A"/>
                </a:solidFill>
                <a:latin typeface="맑은 고딕"/>
              </a:rPr>
              <a:t>① will은 조동사의 과거형인 would로 고쳐야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② can은 조동사의 과거형인 could로 고쳐야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③ 가정법 과거이므로 과거형 동사 met으로 고쳐야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⑤ What would you say if you were my brother?가 올바른 표현이다.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1-68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p.141  ·  정답·해설 p.153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68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어색한 문장은?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I were you, I would tell her honestly.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I had enough money, I would buy a new iPhone.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She would be disappointed if I didn't go to her birthday party.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 would go to Mars if I could travel in space.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I had a car, I picked you up.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어색한 문장은?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I were you, I would tell her honestly.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I had enough money, I would buy a new iPhone.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She would be disappointed if I didn't go to her birthday party.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 would go to Mars if I could travel in space.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⑤ If I had a car, I picked you up.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If I had a car, I picked you up.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⑤ 내게 차가 있다면, 너를 태우러 갈 텐데. (I picked → I would pick)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 문장으로 주절은 I would pick you up으로 써야 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1-69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p.141  ·  정답·해설 p.153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69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옳은 문장은?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it will rain tomorrow, I will stay at home.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Jenny were healthy, she could travel with us.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he is honest, I could forgive him.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I could drive, I would have gone to the beach now.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you were not sick, you could have seen the movie.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옳은 문장은?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it will rain tomorrow, I will stay at home.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② If Jenny were healthy, she could travel with us.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he is honest, I could forgive him.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I could drive, I would have gone to the beach now.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you were not sick, you could have seen the movie.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② If Jenny were healthy, she could travel with us.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② Jenny가 건강하다면, 우리와 함께 여행할 수 있을 텐데.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400" b="0" i="0" u="none">
                <a:solidFill>
                  <a:srgbClr val="152A4A"/>
                </a:solidFill>
                <a:latin typeface="맑은 고딕"/>
              </a:rPr>
              <a:t>① will rain → rains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③ is → were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④ would have gone → would go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⑤ could have seen → could see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1-70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p.141  ·  정답·해설 p.153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70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어색한 문장은?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I could speak English very well, I would help the foreigner.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I were not that short, I would ride the roller coaster.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I were a teacher, I would not give students homework.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My friend would be very upset if I hitted him.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I were allowed to take only one thing to the desert, I would take my cell phone.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어색한 문장은?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I could speak English very well, I would help the foreigner.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I were not that short, I would ride the roller coaster.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I were a teacher, I would not give students homework.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④ My friend would be very upset if I hitted him.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I were allowed to take only one thing to the desert, I would take my cell phone.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My friend would be very upset if I hitted him.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(어법상 어색한 문장) 내 친구는 내가 그를 때렸다면 매우 화가 날 텐데. (hitted → hit)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hit의 과거형은 hit이다.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1-71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p.141  ·  정답·해설 p.153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71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옳은 문장은?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he has been honest, he would not have been in jail.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I had been pretty, I would be a star.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we arrived in time, we could have caught the train.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I had warm clothes, I wouldn't have gotten a cold.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I had heard the weather report, I would have brought my umbrella.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옳은 문장은?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he has been honest, he would not have been in jail.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I had been pretty, I would be a star.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we arrived in time, we could have caught the train.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I had warm clothes, I wouldn't have gotten a cold.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⑤ If I had heard the weather report, I would have brought my umbrella.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⑤ If I had heard the weather report, I would have brought my umbrella.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내가 일기예보를 들었더라면, 나는 우산을 가져왔을 텐데.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400" b="0" i="0" u="none">
                <a:solidFill>
                  <a:srgbClr val="152A4A"/>
                </a:solidFill>
                <a:latin typeface="맑은 고딕"/>
              </a:rPr>
              <a:t>① 가정법 과거완료 시제로 if절의 동사는 had p.p.를 써야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② 가정법 과거완료 시제로 주절은 I would have been a star로 써야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③ 가정법 과거완료 시제로 if절의 동사는 had p.p.를 써야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④ 가정법 과거완료 시제로 if절의 동사는 had p.p.를 써야 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1-72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p.141  ·  정답·해설 p.153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72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옳은 문장은?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I were rich, I can buy that digital camera.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he were you, he can buy her some flowers.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it were raining, I will stay home and watch TV.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we have less homework, we would be healthier and happier.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I knew how to dance, I would go to the dance party.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옳은 문장은?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I were rich, I can buy that digital camera.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he were you, he can buy her some flowers.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it were raining, I will stay home and watch TV.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we have less homework, we would be healthier and happier.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⑤ If I knew how to dance, I would go to the dance party.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If I knew how to dance, I would go to the dance party.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내가 춤추는 법을 안다면, 나는 댄스파티에 갈 텐데.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400" b="0" i="0" u="none">
                <a:solidFill>
                  <a:srgbClr val="152A4A"/>
                </a:solidFill>
                <a:latin typeface="맑은 고딕"/>
              </a:rPr>
              <a:t>① can → could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② can → could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③ will → would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④ have → had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1-73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p.141  ·  정답·해설 p.153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73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 u="none">
                <a:solidFill>
                  <a:srgbClr val="1E2A4A"/>
                </a:solidFill>
                <a:latin typeface="맑은 고딕"/>
              </a:rPr>
              <a:t>다음 중 어법상 옳은 문장은?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① He doesn't know you are in the hospital. If he had known, he would have gone to see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② In fact, he witnessed the car accident. But he acts as if he hadn't witnessed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③ I'm sorry I don't have a twin brother. I wish I had had a twin brother.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④ I regretted I hadn't gone to see a doctor when I first got sick. I wish I went to see a doctor when I first got sick.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⑤ I tried to know his number in every way, but I failed. If I know his number, I will call him.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 u="none">
                <a:solidFill>
                  <a:srgbClr val="1E2A4A"/>
                </a:solidFill>
                <a:latin typeface="맑은 고딕"/>
              </a:rPr>
              <a:t>다음 중 어법상 옳은 문장은?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① He doesn't know you are in the hospital. If he had known, he would have gone to see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 u="none">
                <a:solidFill>
                  <a:srgbClr val="C03A2E"/>
                </a:solidFill>
                <a:latin typeface="맑은 고딕"/>
              </a:rPr>
              <a:t>② In fact, he witnessed the car accident. But he acts as if he hadn't witnessed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③ I'm sorry I don't have a twin brother. I wish I had had a twin brother.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④ I regretted I hadn't gone to see a doctor when I first got sick. I wish I went to see a doctor when I first got sick.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⑤ I tried to know his number in every way, but I failed. If I know his number, I will call him.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② In fact, he witnessed the car accident. But he acts as if he hadn't witnessed it.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사실 그는 그 자동차 사고를 목격했다. 하지만 그는 마치 목격하지 않은 것처럼 행동한다.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100" b="0" i="0" u="none">
                <a:solidFill>
                  <a:srgbClr val="152A4A"/>
                </a:solidFill>
                <a:latin typeface="맑은 고딕"/>
              </a:rPr>
              <a:t>① 'He doesn't know you are in the hospital.'은 현재 시점의 일이므로 가정법 과거시제로 표현해야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u="none">
                <a:solidFill>
                  <a:srgbClr val="152A4A"/>
                </a:solidFill>
                <a:latin typeface="맑은 고딕"/>
              </a:rPr>
              <a:t>③ 'I'm sorry I don't have a twin brother.'는 현재 시점의 소망이므로 I wish 가정법 과거시제로 표현해야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u="none">
                <a:solidFill>
                  <a:srgbClr val="152A4A"/>
                </a:solidFill>
                <a:latin typeface="맑은 고딕"/>
              </a:rPr>
              <a:t>④ 주절보다 과거인 상황의 일이므로 I wish 가정법 과거완료 시제로 표현해야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u="none">
                <a:solidFill>
                  <a:srgbClr val="152A4A"/>
                </a:solidFill>
                <a:latin typeface="맑은 고딕"/>
              </a:rPr>
              <a:t>⑤ 과거 시점의 일이므로 가정법 과거완료 시제로 표현해야 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1-74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p.141  ·  정답·해설 p.154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74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어색한 문장은?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she read more books, she would write much better than this.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He would be very upset if you lost the present.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She would be sad if she hears the news.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he were in the office, I would give it to him.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I were rich, I could buy that digital camera.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어색한 문장은?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she read more books, she would write much better than this.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He would be very upset if you lost the present.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③ She would be sad if she hears the news.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he were in the office, I would give it to him.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I were rich, I could buy that digital camera.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③ She would be sad if she hears the news.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(어법상 어색한 문장) 그녀는 그 소식을 들으면 슬퍼할 텐데. (hears → heard)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hears → heard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1-75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p.141  ·  정답·해설 p.154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75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옳은 문장은?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What would you do if it rained on your wedding day?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I know your address, I would mail this letter today.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 will be really sad if you left 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there isn't gravity on earth, we could float in the air.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I were not so hungry, I shared my bread with you.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옳은 문장은?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① What would you do if it rained on your wedding day?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I know your address, I would mail this letter today.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 will be really sad if you left 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there isn't gravity on earth, we could float in the air.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I were not so hungry, I shared my bread with you.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① What would you do if it rained on your wedding day?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네 결혼식 날 비가 온다면 너는 무엇을 하겠니?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400" b="0" i="0" u="none">
                <a:solidFill>
                  <a:srgbClr val="152A4A"/>
                </a:solidFill>
                <a:latin typeface="맑은 고딕"/>
              </a:rPr>
              <a:t>② know → knew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③ will → would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④ isn't → weren't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⑤ shared → would share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1-76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p.142  ·  정답·해설 p.154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76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Choose two that are grammatically correct.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he were honest, he would have been hired.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it were not raining, we could having lunch on the grass.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he had not have dinner at the restaurant, he would not meet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I won the lottery, I would buy a cool sports car.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the weather is good, we'll have the party outside.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Choose two that are grammatically correct.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he were honest, he would have been hired.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it were not raining, we could having lunch on the grass.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he had not have dinner at the restaurant, he would not meet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④ If I won the lottery, I would buy a cool sports car.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⑤ If the weather is good, we'll have the party outside.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398221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119371"/>
            <a:ext cx="11277295" cy="121158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1" i="0" u="none">
                <a:solidFill>
                  <a:srgbClr val="5A4200"/>
                </a:solidFill>
                <a:latin typeface="맑은 고딕"/>
              </a:rPr>
              <a:t>정답:  ④ If I won the lottery, I would buy a cool sports car. / ⑤ If the weather is good, we'll have the party outside.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④ 내가 복권에 당첨된다면, 나는 멋진 스포츠카를 살 텐데.  /  ⑤ 날씨가 좋으면, 우리는 야외에서 파티를 할 것이다.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① 가정법 과거로, 주절의 동사는 would be hired가 올바르다.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152A4A"/>
                </a:solidFill>
                <a:latin typeface="맑은 고딕"/>
              </a:rPr>
              <a:t>② 조동사 could 다음엔 동사원형 have가 와야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152A4A"/>
                </a:solidFill>
                <a:latin typeface="맑은 고딕"/>
              </a:rPr>
              <a:t>③ 가정법 과거로, if절의 동사는 did not have가 올바르다.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1-77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p.142  ·  정답·해설 p.154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77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어색한 문장은? (정답 2개)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ocean water weren't salty, people drank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I didn't have a headache, I could sleep well.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I know your address, I would mail this letter today.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I were free, I could go fishing with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I had brothers, I would be happier.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어색한 문장은? (정답 2개)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① If ocean water weren't salty, people drank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I didn't have a headache, I could sleep well.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③ If I know your address, I would mail this letter today.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I were free, I could go fishing with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I had brothers, I would be happier.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398221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119371"/>
            <a:ext cx="11277295" cy="121158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1" i="0" u="none">
                <a:solidFill>
                  <a:srgbClr val="5A4200"/>
                </a:solidFill>
                <a:latin typeface="맑은 고딕"/>
              </a:rPr>
              <a:t>정답:  ① If ocean water weren't salty, people drank it. / ③ If I know your address, I would mail this letter today.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① (어색) 바닷물이 짜지 않다면, 사람들은 그것을 마실 텐데. (drank → would drink)  /  ③ (어색) 내가 네 주소를 안다면, 나는 오늘 이 편지를 부칠 텐데. (know → knew)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① drank → would drink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152A4A"/>
                </a:solidFill>
                <a:latin typeface="맑은 고딕"/>
              </a:rPr>
              <a:t>③ know → knew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1-78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p.142  ·  정답·해설 p.154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78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옳은 문장을 모두 고르면?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she heard the news, she would be pleased.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she had speak English well, I would employ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she had known his address, she would write to him.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he had come to my party, I would have been happy.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we had started a little earlier, we could catch the train.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옳은 문장을 모두 고르면?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① If she heard the news, she would be pleased.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she had speak English well, I would employ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she had known his address, she would write to him.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④ If he had come to my party, I would have been happy.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we had started a little earlier, we could catch the train.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1" i="0" u="none">
                <a:solidFill>
                  <a:srgbClr val="5A4200"/>
                </a:solidFill>
                <a:latin typeface="맑은 고딕"/>
              </a:rPr>
              <a:t>정답:  ① If she heard the news, she would be pleased. / ④ If he had come to my party, I would have been happy.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① 그녀가 그 소식을 듣는다면, 기뻐할 텐데.  /  ④ 그가 내 파티에 왔더라면, 나는 기뻤을 텐데.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100" b="0" i="0" u="none">
                <a:solidFill>
                  <a:srgbClr val="152A4A"/>
                </a:solidFill>
                <a:latin typeface="맑은 고딕"/>
              </a:rPr>
              <a:t>② would employ → would have employed ('그녀가 영어를 잘했다면, 나는 그녀를 고용했을 텐데.')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u="none">
                <a:solidFill>
                  <a:srgbClr val="152A4A"/>
                </a:solidFill>
                <a:latin typeface="맑은 고딕"/>
              </a:rPr>
              <a:t>③ would write → would have written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u="none">
                <a:solidFill>
                  <a:srgbClr val="152A4A"/>
                </a:solidFill>
                <a:latin typeface="맑은 고딕"/>
              </a:rPr>
              <a:t>⑤ could catch → could have caught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u="none">
                <a:solidFill>
                  <a:srgbClr val="152A4A"/>
                </a:solidFill>
                <a:latin typeface="맑은 고딕"/>
              </a:rPr>
              <a:t>① 현재 사실에 대한 아쉬움을 나타내는 가정법 과거 문장이므로 「If+S+과거 동사, S+조동사 과거형+동사원형」으로 쓸 수 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1-79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p.142  ·  정답·해설 p.154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79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1E2A4A"/>
                </a:solidFill>
                <a:latin typeface="맑은 고딕"/>
              </a:rPr>
              <a:t>다음 중 어법상 어색한 문장은?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① If I had known your email address, I would have written to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② If I had told you the truth, you would not believe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③ If I had practiced harder, I would have won the game.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④ What would have happened if I hadn't smelled gas?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⑤ If the weather had been better, we could have gone on a picnic.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1E2A4A"/>
                </a:solidFill>
                <a:latin typeface="맑은 고딕"/>
              </a:rPr>
              <a:t>다음 중 어법상 어색한 문장은?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① If I had known your email address, I would have written to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 i="0" u="none">
                <a:solidFill>
                  <a:srgbClr val="C03A2E"/>
                </a:solidFill>
                <a:latin typeface="맑은 고딕"/>
              </a:rPr>
              <a:t>② If I had told you the truth, you would not believe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③ If I had practiced harder, I would have won the game.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④ What would have happened if I hadn't smelled gas?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⑤ If the weather had been better, we could have gone on a picnic.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398221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119371"/>
            <a:ext cx="11277295" cy="121158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② If I had told you the truth, you would not believe it.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(어법상 어색한 문장) 내가 너에게 사실을 말했다면, 너는 믿지 않을 텐데. (would not believe → would not have believed)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과거완료 시제 문장으로 주절은 you would not have believed it으로 써야 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1-80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p.142  ·  정답·해설 p.154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80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51130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옳은 문장의 총 개수는?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9982"/>
            <a:ext cx="8214055" cy="2764535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If it was sunny, we would go on a picnic.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If I had two bikes, I would gave you one.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If I had an umbrella, I would go out in the rain.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If I were you, I would exercise harder.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If I spend my whole day answering letters, what would happen?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08415" y="1379982"/>
            <a:ext cx="2926080" cy="2764535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1개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2개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3개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4개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5개</a:t>
            </a:r>
          </a:p>
        </p:txBody>
      </p:sp>
      <p:sp>
        <p:nvSpPr>
          <p:cNvPr id="9" name="reveal_1_en_ov"/>
          <p:cNvSpPr txBox="1"/>
          <p:nvPr/>
        </p:nvSpPr>
        <p:spPr>
          <a:xfrm>
            <a:off x="8808415" y="1379982"/>
            <a:ext cx="2926080" cy="2764535"/>
          </a:xfrm>
          <a:prstGeom prst="rect">
            <a:avLst/>
          </a:prstGeom>
          <a:solidFill>
            <a:srgbClr val="F2F3F5"/>
          </a:solidFill>
          <a:ln>
            <a:noFill/>
          </a:ln>
        </p:spPr>
        <p:txBody>
          <a:bodyPr wrap="square" anchor="t" lIns="73152" rIns="73152" t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1개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② 2개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3개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4개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5개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② 2개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어법상 옳은 문장은 모두 2개이다.</a:t>
            </a:r>
          </a:p>
        </p:txBody>
      </p:sp>
      <p:sp>
        <p:nvSpPr>
          <p:cNvPr id="12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400" b="0" i="0" u="none">
                <a:solidFill>
                  <a:srgbClr val="152A4A"/>
                </a:solidFill>
                <a:latin typeface="맑은 고딕"/>
              </a:rPr>
              <a:t>• If it was sunny, we would go on a picnic. → was 대신 were로 써야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• If I had two bikes, I would gave you one. → would 다음에는 동사원형 give를 써야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• If I spend my whole day answering letters, what would happen? → if절의 동사를 과거형 spent로 써야 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9" grpId="0" animBg="1"/>
      <p:bldP spid="12" grpId="0" animBg="1"/>
    </p:bldLst>
  </p:timing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1-81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p.142  ·  정답·해설 p.154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81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3129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 u="none">
                <a:solidFill>
                  <a:srgbClr val="1E2A4A"/>
                </a:solidFill>
                <a:latin typeface="맑은 고딕"/>
              </a:rPr>
              <a:t>다음 중 어법상 옳은 문장의 총 개수는?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99972"/>
            <a:ext cx="8214055" cy="2844545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(A) If he were not busy, he would come to my party.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(B) If Minju comes tomorrow, I won't let her leave me again.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(C) If she can travel in space, she would go to Mars.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(D) If I were a doctor, I help the poor around the world.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(E) If you listened to the lecture, you will understand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(F) If ocean water weren't salty, people drank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(G) If I have brothers, I would be happier.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08415" y="1299972"/>
            <a:ext cx="2926080" cy="2844545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① 1개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② 2개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③ 3개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④ 4개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⑤ 5개</a:t>
            </a:r>
          </a:p>
        </p:txBody>
      </p:sp>
      <p:sp>
        <p:nvSpPr>
          <p:cNvPr id="9" name="reveal_1_en_ov"/>
          <p:cNvSpPr txBox="1"/>
          <p:nvPr/>
        </p:nvSpPr>
        <p:spPr>
          <a:xfrm>
            <a:off x="8808415" y="1299972"/>
            <a:ext cx="2926080" cy="2844545"/>
          </a:xfrm>
          <a:prstGeom prst="rect">
            <a:avLst/>
          </a:prstGeom>
          <a:solidFill>
            <a:srgbClr val="F2F3F5"/>
          </a:solidFill>
          <a:ln>
            <a:noFill/>
          </a:ln>
        </p:spPr>
        <p:txBody>
          <a:bodyPr wrap="square" anchor="t" lIns="73152" rIns="73152" t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① 1개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 u="none">
                <a:solidFill>
                  <a:srgbClr val="C03A2E"/>
                </a:solidFill>
                <a:latin typeface="맑은 고딕"/>
              </a:rPr>
              <a:t>② 2개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③ 3개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④ 4개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⑤ 5개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② 2개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어법상 옳은 문장은 모두 2개이다.</a:t>
            </a:r>
          </a:p>
        </p:txBody>
      </p:sp>
      <p:sp>
        <p:nvSpPr>
          <p:cNvPr id="12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000" b="0" i="0" u="none">
                <a:solidFill>
                  <a:srgbClr val="152A4A"/>
                </a:solidFill>
                <a:latin typeface="맑은 고딕"/>
              </a:rPr>
              <a:t>(C) can → could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 u="none">
                <a:solidFill>
                  <a:srgbClr val="152A4A"/>
                </a:solidFill>
                <a:latin typeface="맑은 고딕"/>
              </a:rPr>
              <a:t>(D) help → would help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 u="none">
                <a:solidFill>
                  <a:srgbClr val="152A4A"/>
                </a:solidFill>
                <a:latin typeface="맑은 고딕"/>
              </a:rPr>
              <a:t>(E) will → would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 u="none">
                <a:solidFill>
                  <a:srgbClr val="152A4A"/>
                </a:solidFill>
                <a:latin typeface="맑은 고딕"/>
              </a:rPr>
              <a:t>(F) drank → would drink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 u="none">
                <a:solidFill>
                  <a:srgbClr val="152A4A"/>
                </a:solidFill>
                <a:latin typeface="맑은 고딕"/>
              </a:rPr>
              <a:t>(G) have → had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9" grpId="0" animBg="1"/>
      <p:bldP spid="12" grpId="0" animBg="1"/>
    </p:bldLst>
  </p:timing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1-82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p.142  ·  정답·해설 p.154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82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83286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 u="none">
                <a:solidFill>
                  <a:srgbClr val="1E2A4A"/>
                </a:solidFill>
                <a:latin typeface="맑은 고딕"/>
              </a:rPr>
              <a:t>How many sentences are grammatically wrong among ⓐ~ⓙ?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51966"/>
            <a:ext cx="8214055" cy="2513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ⓐ If I were you, I would help her.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ⓑ If she sings well, she could join our band.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ⓒ Without water, we could not live.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ⓓ What will you do if you were in my shoes?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ⓔ If she were in London, she can attend her cousin's wedding.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ⓕ If he studied harder, he might pass the exam.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ⓖ If you did not help me, I cannot finish this project.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ⓗ If you explain the situation to Minho, he will understand.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ⓘ If I had a million dollars, I will buy you a car.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ⓙ If I have a magic cooker, I could cook rice for the poor.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08415" y="1251966"/>
            <a:ext cx="2926080" cy="2513837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① 3개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② 4개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③ 5개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④ 6개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⑤ 7개</a:t>
            </a:r>
          </a:p>
        </p:txBody>
      </p:sp>
      <p:sp>
        <p:nvSpPr>
          <p:cNvPr id="9" name="reveal_1_en_ov"/>
          <p:cNvSpPr txBox="1"/>
          <p:nvPr/>
        </p:nvSpPr>
        <p:spPr>
          <a:xfrm>
            <a:off x="8808415" y="1251966"/>
            <a:ext cx="2926080" cy="2513837"/>
          </a:xfrm>
          <a:prstGeom prst="rect">
            <a:avLst/>
          </a:prstGeom>
          <a:solidFill>
            <a:srgbClr val="F2F3F5"/>
          </a:solidFill>
          <a:ln>
            <a:noFill/>
          </a:ln>
        </p:spPr>
        <p:txBody>
          <a:bodyPr wrap="square" anchor="t" lIns="73152" rIns="73152" t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① 3개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② 4개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③ 5개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 u="none">
                <a:solidFill>
                  <a:srgbClr val="C03A2E"/>
                </a:solidFill>
                <a:latin typeface="맑은 고딕"/>
              </a:rPr>
              <a:t>④ 6개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⑤ 7개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3811523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veal_1_en"/>
          <p:cNvSpPr/>
          <p:nvPr/>
        </p:nvSpPr>
        <p:spPr>
          <a:xfrm>
            <a:off x="457200" y="3948683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6개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어법상 틀린 문장은 모두 6개이다.</a:t>
            </a:r>
          </a:p>
        </p:txBody>
      </p:sp>
      <p:sp>
        <p:nvSpPr>
          <p:cNvPr id="12" name="reveal_2_en"/>
          <p:cNvSpPr/>
          <p:nvPr/>
        </p:nvSpPr>
        <p:spPr>
          <a:xfrm>
            <a:off x="457200" y="5061965"/>
            <a:ext cx="11277295" cy="1613154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100" b="0" i="0" u="none">
                <a:solidFill>
                  <a:srgbClr val="152A4A"/>
                </a:solidFill>
                <a:latin typeface="맑은 고딕"/>
              </a:rPr>
              <a:t>ⓑ 가정법 과거 문장으로 if절의 동사를 과거형 sang으로 고치던지, 아니면 단순 조건문으로 could를 can으로 고쳐야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u="none">
                <a:solidFill>
                  <a:srgbClr val="152A4A"/>
                </a:solidFill>
                <a:latin typeface="맑은 고딕"/>
              </a:rPr>
              <a:t>ⓓ 가정법 과거 문장으로 주절에서 조동사를 과거형 would로 바꿔야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u="none">
                <a:solidFill>
                  <a:srgbClr val="152A4A"/>
                </a:solidFill>
                <a:latin typeface="맑은 고딕"/>
              </a:rPr>
              <a:t>ⓔ 주절의 can은 could로 고쳐야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u="none">
                <a:solidFill>
                  <a:srgbClr val="152A4A"/>
                </a:solidFill>
                <a:latin typeface="맑은 고딕"/>
              </a:rPr>
              <a:t>ⓖ 주절의 cannot은 could not으로 고쳐야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u="none">
                <a:solidFill>
                  <a:srgbClr val="152A4A"/>
                </a:solidFill>
                <a:latin typeface="맑은 고딕"/>
              </a:rPr>
              <a:t>ⓘ 주절의 will은 would로 써야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u="none">
                <a:solidFill>
                  <a:srgbClr val="152A4A"/>
                </a:solidFill>
                <a:latin typeface="맑은 고딕"/>
              </a:rPr>
              <a:t>ⓙ if절의 동사는 과거형 had로 써야 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9" grpId="0" animBg="1"/>
      <p:bldP spid="12" grpId="0" animBg="1"/>
    </p:bldLst>
  </p:timing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1-83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p.143  ·  정답·해설 p.154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83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47294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 u="none">
                <a:solidFill>
                  <a:srgbClr val="1E2A4A"/>
                </a:solidFill>
                <a:latin typeface="맑은 고딕"/>
              </a:rPr>
              <a:t>다음 중 어법상 옳은 문장끼리 바르게 짝지어진 것은?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15974"/>
            <a:ext cx="8214055" cy="262051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ⓐ If I had a robot, I would make it do my homework.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ⓑ If there were a flying car, we would not late for school.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ⓒ If I saw a famous actor in the street, I would ask him to take a picture with me.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ⓓ If I were a poet, I would described this world with a beautiful poem.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ⓔ If I finded a bag full of money under a tree, I would take it to the police.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08415" y="1315974"/>
            <a:ext cx="2926080" cy="2620517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① ⓑ, ⓓ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② ⓐ, ⓒ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③ ⓐ, ⓒ, 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④ ⓐ, ⓑ, ⓒ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⑤ ⓑ, ⓓ, ⓔ</a:t>
            </a:r>
          </a:p>
        </p:txBody>
      </p:sp>
      <p:sp>
        <p:nvSpPr>
          <p:cNvPr id="9" name="reveal_1_en_ov"/>
          <p:cNvSpPr txBox="1"/>
          <p:nvPr/>
        </p:nvSpPr>
        <p:spPr>
          <a:xfrm>
            <a:off x="8808415" y="1315974"/>
            <a:ext cx="2926080" cy="2620517"/>
          </a:xfrm>
          <a:prstGeom prst="rect">
            <a:avLst/>
          </a:prstGeom>
          <a:solidFill>
            <a:srgbClr val="F2F3F5"/>
          </a:solidFill>
          <a:ln>
            <a:noFill/>
          </a:ln>
        </p:spPr>
        <p:txBody>
          <a:bodyPr wrap="square" anchor="t" lIns="73152" rIns="73152" t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① ⓑ, ⓓ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 u="none">
                <a:solidFill>
                  <a:srgbClr val="C03A2E"/>
                </a:solidFill>
                <a:latin typeface="맑은 고딕"/>
              </a:rPr>
              <a:t>② ⓐ, ⓒ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③ ⓐ, ⓒ, 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④ ⓐ, ⓑ, ⓒ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⑤ ⓑ, ⓓ, ⓔ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398221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veal_1_en"/>
          <p:cNvSpPr/>
          <p:nvPr/>
        </p:nvSpPr>
        <p:spPr>
          <a:xfrm>
            <a:off x="457200" y="4119371"/>
            <a:ext cx="11277295" cy="121158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② ⓐ, ⓒ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ⓐ 내게 로봇이 있다면, 나는 그것에게 내 숙제를 시킬 텐데.  /  ⓒ 내가 거리에서 유명한 배우를 본다면, 나는 그에게 함께 사진을 찍어 달라고 부탁할 텐데.</a:t>
            </a:r>
          </a:p>
        </p:txBody>
      </p:sp>
      <p:sp>
        <p:nvSpPr>
          <p:cNvPr id="12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ⓑ would not be late의 형태가 올바르다.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152A4A"/>
                </a:solidFill>
                <a:latin typeface="맑은 고딕"/>
              </a:rPr>
              <a:t>ⓓ 조동사 would 다음에 동사원형 describe가 와야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152A4A"/>
                </a:solidFill>
                <a:latin typeface="맑은 고딕"/>
              </a:rPr>
              <a:t>ⓔ find의 과거형은 found이다.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9" grpId="0" animBg="1"/>
      <p:bldP spid="12" grpId="0" animBg="1"/>
    </p:bldLst>
  </p:timing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1-84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p.143  ·  정답·해설 p.154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84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83286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 u="none">
                <a:solidFill>
                  <a:srgbClr val="1E2A4A"/>
                </a:solidFill>
                <a:latin typeface="맑은 고딕"/>
              </a:rPr>
              <a:t>How many sentences are grammatically CORRECT?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51966"/>
            <a:ext cx="8214055" cy="2539238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• If you want to keep a secret, you must also hide it from yourself.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• If I had done any part-time jobs while I was at school, I would have gain some work experience.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• Had I known Woobin was in the hospital, I would sent him some flowers.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• If the weather was sunny, we will go to the zoo.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• I always pay my bills on time. If I don't, I will get into a lot of trouble.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• If there will be only a breeze in the sauna, the atmosphere wouldn't be quite so unbearable.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• He will move into a new house if it had been completed by then.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• If it had been another person, it wouldn't have been so shocking.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08415" y="1251966"/>
            <a:ext cx="2926080" cy="2539238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① 3개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② 4개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③ 5개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④ 6개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⑤ 7개</a:t>
            </a:r>
          </a:p>
        </p:txBody>
      </p:sp>
      <p:sp>
        <p:nvSpPr>
          <p:cNvPr id="9" name="reveal_1_en_ov"/>
          <p:cNvSpPr txBox="1"/>
          <p:nvPr/>
        </p:nvSpPr>
        <p:spPr>
          <a:xfrm>
            <a:off x="8808415" y="1251966"/>
            <a:ext cx="2926080" cy="2539238"/>
          </a:xfrm>
          <a:prstGeom prst="rect">
            <a:avLst/>
          </a:prstGeom>
          <a:solidFill>
            <a:srgbClr val="F2F3F5"/>
          </a:solidFill>
          <a:ln>
            <a:noFill/>
          </a:ln>
        </p:spPr>
        <p:txBody>
          <a:bodyPr wrap="square" anchor="t" lIns="73152" rIns="73152" t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 u="none">
                <a:solidFill>
                  <a:srgbClr val="C03A2E"/>
                </a:solidFill>
                <a:latin typeface="맑은 고딕"/>
              </a:rPr>
              <a:t>① 3개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② 4개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③ 5개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④ 6개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⑤ 7개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3836923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veal_1_en"/>
          <p:cNvSpPr/>
          <p:nvPr/>
        </p:nvSpPr>
        <p:spPr>
          <a:xfrm>
            <a:off x="457200" y="3974084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① 3개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어법상 옳은 문장은 모두 3개이다.</a:t>
            </a:r>
          </a:p>
        </p:txBody>
      </p:sp>
      <p:sp>
        <p:nvSpPr>
          <p:cNvPr id="12" name="reveal_2_en"/>
          <p:cNvSpPr/>
          <p:nvPr/>
        </p:nvSpPr>
        <p:spPr>
          <a:xfrm>
            <a:off x="457200" y="5087366"/>
            <a:ext cx="11277295" cy="1587753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100" b="0" i="0" u="none">
                <a:solidFill>
                  <a:srgbClr val="152A4A"/>
                </a:solidFill>
                <a:latin typeface="맑은 고딕"/>
              </a:rPr>
              <a:t>• 'If I had done any part-time jobs while I was at school, I would have gained some work experience.'가 올바른 문장이다.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u="none">
                <a:solidFill>
                  <a:srgbClr val="152A4A"/>
                </a:solidFill>
                <a:latin typeface="맑은 고딕"/>
              </a:rPr>
              <a:t>• 'Had I known Woobin was in the hospital, I would have sent him some flowers.'가 올바른 문장이다.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u="none">
                <a:solidFill>
                  <a:srgbClr val="152A4A"/>
                </a:solidFill>
                <a:latin typeface="맑은 고딕"/>
              </a:rPr>
              <a:t>• 'If the weather was sunny, we would go to the zoo.'가 올바른 문장이다.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u="none">
                <a:solidFill>
                  <a:srgbClr val="152A4A"/>
                </a:solidFill>
                <a:latin typeface="맑은 고딕"/>
              </a:rPr>
              <a:t>• 'If there were only a breeze in the sauna, the atmosphere wouldn't be quite so unbearable.'이 올바른 문장이다.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u="none">
                <a:solidFill>
                  <a:srgbClr val="152A4A"/>
                </a:solidFill>
                <a:latin typeface="맑은 고딕"/>
              </a:rPr>
              <a:t>• 'He would have moved into a new house if it had been completed by then.'이 올바른 문장이다.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9" grpId="0" animBg="1"/>
      <p:bldP spid="12" grpId="0" animBg="1"/>
    </p:bldLst>
  </p:timing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p.144  ·  정답·해설 p.154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85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우리말과 일치하도록 빈칸에 들어갈 말로 가장 적절한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건강을 유지하기 위해 매일 운동을 한다.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= He exercises every day __________ he can stay healthy.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or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but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how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when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so that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우리말과 일치하도록 빈칸에 들어갈 말로 가장 적절한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건강을 유지하기 위해 매일 운동을 한다.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= He exercises every day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that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he can stay healthy.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or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but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how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when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⑤ so that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so that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건강을 유지하기 위해 매일 운동을 한다. = 그는 건강을 유지할 수 있도록 매일 운동한다.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‘~하기 위해서’라는 의미의 목적을 나타내는 접 속사 자리이므로 'so that'이 적절하다. 「so that+주어+can/could+동사원형」 ‘~하기 위해서’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p.144  ·  정답·해설 p.154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86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빈칸에 들어갈 알맞은 말은?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often walks his dog ______________ it can stay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healthy.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because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so that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as long 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when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although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빈칸에 들어갈 알맞은 말은?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often walks his dog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that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it can stay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healthy.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because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② so that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as long 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when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although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② so that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그는 개가 건강을 유지할 수 있도록 자주 개를 산책시킨다.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 별도 해설 없음)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p.144  ·  정답·해설 p.154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87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847344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주어진 문장과 같은 의미가 되도록 빈칸에 들 어갈 말로 알맞은 것은?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16023"/>
            <a:ext cx="8214055" cy="2428493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traveled to Jeju Island to take pictures of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= She traveled to Jeju Island ___________ that he ___________ take pictures of 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08415" y="1716023"/>
            <a:ext cx="2926080" cy="2428493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so - can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too - will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too - could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so - could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so - will</a:t>
            </a:r>
          </a:p>
        </p:txBody>
      </p:sp>
      <p:sp>
        <p:nvSpPr>
          <p:cNvPr id="9" name="reveal_1_en_ov"/>
          <p:cNvSpPr txBox="1"/>
          <p:nvPr/>
        </p:nvSpPr>
        <p:spPr>
          <a:xfrm>
            <a:off x="8808415" y="1716023"/>
            <a:ext cx="2926080" cy="2428493"/>
          </a:xfrm>
          <a:prstGeom prst="rect">
            <a:avLst/>
          </a:prstGeom>
          <a:solidFill>
            <a:srgbClr val="F2F3F5"/>
          </a:solidFill>
          <a:ln>
            <a:noFill/>
          </a:ln>
        </p:spPr>
        <p:txBody>
          <a:bodyPr wrap="square" anchor="t" lIns="73152" rIns="73152" t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so - can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too - will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too - could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④ so - could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so - will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so - could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그녀는 사진을 찍기 위해 제주도에 갔다. = 그녀는 사진을 찍을 수 있도록 제주도로 여행했다.</a:t>
            </a:r>
          </a:p>
        </p:txBody>
      </p:sp>
      <p:sp>
        <p:nvSpPr>
          <p:cNvPr id="12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to부정사의 부사적 용법과 같은 의미가 되어야 하므로 ‘~하기 위해서’라는 의미를 나타내는 「so that+주어+can/could+동사원형」을 사용한 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9" grpId="0" animBg="1"/>
      <p:bldP spid="12" grpId="0" animBg="1"/>
    </p:bldLst>
  </p:timing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p.144  ·  정답·해설 p.154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88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대화의 빈칸에 들어갈 말로 가장 적절한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A: Wow! What a nice bike!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B: I saved money so that I __________ buy this new bike.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can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could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will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may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might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대화의 빈칸에 들어갈 말로 가장 적절한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A: Wow! What a nice bike!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B: I saved money so that I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could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buy this new bike.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can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② could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will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may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might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② could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A: 와! 멋진 자전거네! B: 이 새 자전거를 살 수 있도록 돈을 모았어.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「so that+주어+can/could+동사원형」의 형태로, 주절의 시제가 과거이기 때문에 could가 들어 가야 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p.144  ·  정답·해설 p.154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89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빈칸에 들어갈 수 있는 것을 모두 고르면?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went to a bookstore __________ I could buy some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books.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so that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in order 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so as 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in order that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빈칸에 들어갈 수 있는 것을 모두 고르면?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went to a bookstore __________ I could buy some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books.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① so that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in order 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so as 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④ in order that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① so that / ④ in order that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나는 책을 살 수 있도록 서점에 갔다.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‘~하기 위해서’라는 의미를 나타내는 「so that+주어+동사」는 「in order that+주어+ 동사」과 바꾸어 쓸 수 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p.144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90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847344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주어진 문장과 같은 의미가 되도록 빈칸에 들 어갈 말로 바르게 연결된 것은?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16023"/>
            <a:ext cx="8214055" cy="2428493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quit his job to take care of his baby.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= He quit his job ________ that he ________ take care of his baby.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08415" y="1716023"/>
            <a:ext cx="2926080" cy="2428493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so - can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in - will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in - could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so - could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so - will</a:t>
            </a:r>
          </a:p>
        </p:txBody>
      </p:sp>
      <p:sp>
        <p:nvSpPr>
          <p:cNvPr id="9" name="reveal_1_en_ov"/>
          <p:cNvSpPr txBox="1"/>
          <p:nvPr/>
        </p:nvSpPr>
        <p:spPr>
          <a:xfrm>
            <a:off x="8808415" y="1716023"/>
            <a:ext cx="2926080" cy="2428493"/>
          </a:xfrm>
          <a:prstGeom prst="rect">
            <a:avLst/>
          </a:prstGeom>
          <a:solidFill>
            <a:srgbClr val="F2F3F5"/>
          </a:solidFill>
          <a:ln>
            <a:noFill/>
          </a:ln>
        </p:spPr>
        <p:txBody>
          <a:bodyPr wrap="square" anchor="t" lIns="73152" rIns="73152" t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so - can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in - will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in - could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④ so - could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so - will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so - could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그는 아기를 돌보기 위해 직장을 그만두었다. = 그는 아기를 돌볼 수 있도록 직장을 그만두었다.</a:t>
            </a:r>
          </a:p>
        </p:txBody>
      </p:sp>
      <p:sp>
        <p:nvSpPr>
          <p:cNvPr id="12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「so that+주어+can/could+동사원형」: ~하기 위 해서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9" grpId="0" animBg="1"/>
      <p:bldP spid="12" grpId="0" animBg="1"/>
    </p:bldLst>
  </p:timing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p.144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91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의미가 되도록 빈칸에 알맞은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donated some money so as to help the poor.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= She donated some money ____________ help the poor.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such 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even more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in spite of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so as not 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in order to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의미가 되도록 빈칸에 알맞은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donated some money so as to help the poor.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= She donated some money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in order to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help the poor.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such 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even more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in spite of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so as not 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⑤ in order to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in order to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그녀는 가난한 사람들을 돕기 위해 약간의 돈을 기부했다.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so as to = in order to ‘~하기 위해서’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p.144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92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847344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한 문장으로 연결할 때 빈칸에 들어 갈 말로 알맞은 것은?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16023"/>
            <a:ext cx="8214055" cy="2428493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All Koreans wanted to learn to read and write. So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King Sejong invented Hangeul.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King Sejong invented Hangeul __________________ all Koreans could learn to read and write.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08415" y="1716023"/>
            <a:ext cx="2926080" cy="2428493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so as 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so that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such that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in order 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enough to</a:t>
            </a:r>
          </a:p>
        </p:txBody>
      </p:sp>
      <p:sp>
        <p:nvSpPr>
          <p:cNvPr id="9" name="reveal_1_en_ov"/>
          <p:cNvSpPr txBox="1"/>
          <p:nvPr/>
        </p:nvSpPr>
        <p:spPr>
          <a:xfrm>
            <a:off x="8808415" y="1716023"/>
            <a:ext cx="2926080" cy="2428493"/>
          </a:xfrm>
          <a:prstGeom prst="rect">
            <a:avLst/>
          </a:prstGeom>
          <a:solidFill>
            <a:srgbClr val="F2F3F5"/>
          </a:solidFill>
          <a:ln>
            <a:noFill/>
          </a:ln>
        </p:spPr>
        <p:txBody>
          <a:bodyPr wrap="square" anchor="t" lIns="73152" rIns="73152" t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so as 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② so that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such that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in order 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enough to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② so that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모든 한국인이 읽고 쓰는 것을 배울 수 있도록 세종대왕은 한글을 만들었다.</a:t>
            </a:r>
          </a:p>
        </p:txBody>
      </p:sp>
      <p:sp>
        <p:nvSpPr>
          <p:cNvPr id="12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목적을 나타내는 so that은 「so that+주어 +can/could+동사원형」의 구조로 쓰인다.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9" grpId="0" animBg="1"/>
      <p:bldP spid="12" grpId="0" animBg="1"/>
    </p:bldLst>
  </p:timing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p.144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93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문장의 빈칸에 공통으로 들어갈 말로 가장 적 절한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Please turn off the light __________ that I can sleep.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It was __________ easy question that I could answer.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so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too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then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enough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completely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문장의 빈칸에 공통으로 들어갈 말로 가장 적 절한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Please turn off the light __________ that I can sleep.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It was __________ easy question that I could answer.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① so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too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then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enough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completely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① so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• 내가 잘 수 있도록 불을 꺼 주세요.  /  • 그것은 내가 대답할 수 있을 만큼 쉬운 질문이었다.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「so that+주어+can/could+동사원형」 ‘~할 수 있도록’ 「so+형용사/부사+that+주어+can/could」 ‘너무 ~해서 ...하다’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p.145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94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 i="0" u="none">
                <a:solidFill>
                  <a:srgbClr val="1E2A4A"/>
                </a:solidFill>
                <a:latin typeface="맑은 고딕"/>
              </a:rPr>
              <a:t>다음 대화의 빈칸에 들어갈 말로 가장 적절한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A: Bell invented the telephone, didn't he?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B: Yes, he invented it so that we can _____________.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① buy a new bike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② get a good grade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③ read and write easily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④ go to other places quickly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⑤ talk to other people in different places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 i="0" u="none">
                <a:solidFill>
                  <a:srgbClr val="1E2A4A"/>
                </a:solidFill>
                <a:latin typeface="맑은 고딕"/>
              </a:rPr>
              <a:t>다음 대화의 빈칸에 들어갈 말로 가장 적절한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A: Bell invented the telephone, didn't he?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B: Yes, he invented it so that we can </a:t>
            </a:r>
            <a:r>
              <a:rPr sz="1800" b="1" i="0" u="sng">
                <a:solidFill>
                  <a:srgbClr val="C03A2E"/>
                </a:solidFill>
                <a:latin typeface="맑은 고딕"/>
              </a:rPr>
              <a:t>talk to other people in different places</a:t>
            </a:r>
            <a:r>
              <a:rPr sz="18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① buy a new bike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② get a good grade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③ read and write easily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④ go to other places quickly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C03A2E"/>
                </a:solidFill>
                <a:latin typeface="맑은 고딕"/>
              </a:rPr>
              <a:t>⑤ talk to other people in different places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398221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119371"/>
            <a:ext cx="11277295" cy="121158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talk to other people in different places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A: 벨이 전화기를 발명했지, 그렇지 않니? B: 응, 그는 우리가 다른 곳에 있는 사람들과 이야기할 수 있도록 그것을 발명했어.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전화기의 발명으로 우리가 할 수 있게 된 것 은 ⑤번 보기의 내용이 적합하다.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p.145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95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Which one has a different usage from the others?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 was nervous, so that I could hardly speak.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Speak louder so that everyone can hear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She ran so that she could get there on time.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 jog every day so that I can stay healthy.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He drinks milk every day so that he can grow taller.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Which one has a different usage from the others?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① I was nervous, so that I could hardly speak.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Speak louder so that everyone can hear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She ran so that she could get there on time.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 jog every day so that I can stay healthy.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He drinks milk every day so that he can grow taller.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① I was nervous, so that I could hardly speak.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① (다른 쓰임: 결과) 나는 긴장해서 거의 말을 할 수 없었다.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①은 결과를 나타내는 so that으로 앞의 문장 이 확실한 원인이고, so that 뒤의 문장이 그 에 따르는 결과이다. 이 때 so that은 ‘그 결 과 ~하다’라는 의미이다. 나머지 so that은 ‘~ 하기 위해서‘의 의미로 목적을 나타낸다.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p.145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96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주어진 우리말을 바르게 영작한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나는 살을 빼기 위해 열심히 운동한다.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 exercise so hard what I can lose weight.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 exercise so hard that I can lose weight.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 exercise hard so that I can lose weight.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 lose weight so that I can exercise hard.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 lose weight in order to exercise hard.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주어진 우리말을 바르게 영작한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나는 살을 빼기 위해 열심히 운동한다.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 exercise so hard what I can lose weight.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 exercise so hard that I can lose weight.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③ I exercise hard so that I can lose weight.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 lose weight so that I can exercise hard.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 lose weight in order to exercise hard.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③ I exercise hard so that I can lose weight.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나는 살을 빼기 위해 열심히 운동한다.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 별도 해설 없음)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p.145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97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주어진 우리말을 바르게 영작한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나는 시험에 합격하기 위해 열심히 공부했다.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 studied so hard what I passed the test.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 studied so hard that I passed the test.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 studied hard so that I could pass the test.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 passed the test so that I could study hard.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 passed the test in order to study hard.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주어진 우리말을 바르게 영작한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나는 시험에 합격하기 위해 열심히 공부했다.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 studied so hard what I passed the test.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 studied so hard that I passed the test.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③ I studied hard so that I could pass the test.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 passed the test so that I could study hard.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 passed the test in order to study hard.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③ I studied hard so that I could pass the test.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나는 시험에 합격하기 위해 열심히 공부했다.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 별도 해설 없음)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p.145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98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우리말에 맞도록 알맞게 영작한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제가 코멘트를 할 수 있게 보고서를 내주세요.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Turn in your report such that I can comment on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Turn in your report so that I can comment on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Hand in your report, so I can comment with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Hand in your report, that I comment with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Turn your report so that I can comment it.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우리말에 맞도록 알맞게 영작한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제가 코멘트를 할 수 있게 보고서를 내주세요.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Turn in your report such that I can comment on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② Turn in your report so that I can comment on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Hand in your report, so I can comment with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Hand in your report, that I comment with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Turn your report so that I can comment it.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② Turn in your report so that I can comment on it.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제가 코멘트를 할 수 있도록 보고서를 내 주세요.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 별도 해설 없음)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p.145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99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우리말에 맞게 영작한 것을 모두 고르면?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Sam은 그 기차를 놓치지 않기 위해 일찍 일어났다.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Sam woke up early to not miss the train.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Sam woke up early in order to miss the train.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Sam woke up early so as not to miss the train.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Sam woke up so early that he could not miss the train.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Sam woke up early so that he would not miss the train.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우리말에 맞게 영작한 것을 모두 고르면?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Sam은 그 기차를 놓치지 않기 위해 일찍 일어났다.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Sam woke up early to not miss the train.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Sam woke up early in order to miss the train.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③ Sam woke up early so as not to miss the train.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Sam woke up so early that he could not miss the train.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⑤ Sam woke up early so that he would not miss the train.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1" i="0" u="none">
                <a:solidFill>
                  <a:srgbClr val="5A4200"/>
                </a:solidFill>
                <a:latin typeface="맑은 고딕"/>
              </a:rPr>
              <a:t>정답:  ③ Sam woke up early so as not to miss the train. / ⑤ Sam woke up early so that he would not miss the train.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③ Sam은 기차를 놓치지 않기 위해 일찍 일어났다.  /  ⑤ Sam은 기차를 놓치지 않도록 일찍 일어났다.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to부정사의 부정은 to앞에 not을 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p.145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100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우리말을 영어로 바르게 옮긴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그는 그의 가족을 부양하기 위해 열심히 일한다.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He works too hard to support his family.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He works enough hard to support his family.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He works hard so that he can support his family.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He works so hard that he can support his family.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He works hard so as that he can support his family.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우리말을 영어로 바르게 옮긴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그는 그의 가족을 부양하기 위해 열심히 일한다.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He works too hard to support his family.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He works enough hard to support his family.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③ He works hard so that he can support his family.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He works so hard that he can support his family.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He works hard so as that he can support his family.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③ He works hard so that he can support his family.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그는 가족을 부양하기 위해 열심히 일한다.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 별도 해설 없음)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p.145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101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문장의 빈칸에 들어갈 말로 가장 적절한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Please speak slowly so that __________________.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we can see you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we won't be late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we can get well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we won't get sick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we can understand you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문장의 빈칸에 들어갈 말로 가장 적절한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Please speak slowly so that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we can understand you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we can see you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we won't be late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we can get well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we won't get sick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⑤ we can understand you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we can understand you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우리가 당신을 이해할 수 있도록 천천히 말해 주세요.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의미상 ‘우리가 네 말을 알아들을 수 있도록 천천히 말해달라.’가 되어야 하므로 ⑤번이 정 답이 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p.145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102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빈칸에 들어갈 말로 알맞지 않은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saved money _____________________________________.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for the purpose of taking a trip next year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so as to be a millionaire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in order to start a business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so that I can help the poor children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to buy a new MP3 player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빈칸에 들어갈 말로 알맞지 않은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saved money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that I can help the poor children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for the purpose of taking a trip next year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so as to be a millionaire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in order to start a business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④ so that I can help the poor children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to buy a new MP3 player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so that I can help the poor children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(알맞지 않은 것) 나는 가난한 아이들을 도울 수 있도록 돈을 모았다. (앞 문장의 내용과 맞지 않음)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can → could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p.146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103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빈칸에 들어갈 말로 알맞은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turned off the radio so that ______________________.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 could keep in shape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 could travel to Europe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 could water the flowers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 could catch the school bus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 could focus on reading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빈칸에 들어갈 말로 알맞은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turned off the radio so that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 could focus on reading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 could keep in shape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 could travel to Europe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 could water the flowers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 could catch the school bus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⑤ I could focus on reading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I could focus on reading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나는 책 읽기에 집중할 수 있도록 라디오를 껐다.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 별도 해설 없음)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p.146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104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밑줄 친 부분과 의미가 같은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They started early so that they could get a good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seat.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in order that get a good seat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so as to get a good seat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in order to they could get a good seat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so as to they could get a good seat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to they could get a good seat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밑줄 친 부분과 의미가 같은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They started early so that they could get a good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seat.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in order that get a good seat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② so as to get a good seat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in order to they could get a good seat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so as to they could get a good seat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to they could get a good seat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② so as to get a good seat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그들은 좋은 자리를 잡기 위해 일찍 출발했다.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 별도 해설 없음)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p.146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105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51130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문장의 빈칸 (A)~(E)에 들어갈 단어로 적절하 지 않은 것은?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9982"/>
            <a:ext cx="8214055" cy="255650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Andy (A)_______ to bed early in order that he could wake up early.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I'll (B)_______ here in order that you (C)_______ find me.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Bell (D)_______ the telephone in order that people could (E)_______ to each other in different places.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08415" y="1379982"/>
            <a:ext cx="2926080" cy="2556509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(A) went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(B) wait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(C) could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(D) invented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(E) talk</a:t>
            </a:r>
          </a:p>
        </p:txBody>
      </p:sp>
      <p:sp>
        <p:nvSpPr>
          <p:cNvPr id="9" name="reveal_1_en_ov"/>
          <p:cNvSpPr txBox="1"/>
          <p:nvPr/>
        </p:nvSpPr>
        <p:spPr>
          <a:xfrm>
            <a:off x="8808415" y="1379982"/>
            <a:ext cx="2926080" cy="2556509"/>
          </a:xfrm>
          <a:prstGeom prst="rect">
            <a:avLst/>
          </a:prstGeom>
          <a:solidFill>
            <a:srgbClr val="F2F3F5"/>
          </a:solidFill>
          <a:ln>
            <a:noFill/>
          </a:ln>
        </p:spPr>
        <p:txBody>
          <a:bodyPr wrap="square" anchor="t" lIns="73152" rIns="73152" t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(A) went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(B) wait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③ (C) could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(D) invented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(E) talk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398221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veal_1_en"/>
          <p:cNvSpPr/>
          <p:nvPr/>
        </p:nvSpPr>
        <p:spPr>
          <a:xfrm>
            <a:off x="457200" y="4119371"/>
            <a:ext cx="11277295" cy="121158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③ (C) could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(C) could → can  /  Andy는 일찍 일어날 수 있도록 일찍 잤다. / 네가 나를 찾을 수 있도록 나는 여기서 기다릴게. / 벨은 사람들이 서로 다른 곳에서 대화할 수 있도록 전화기를 발명했다.</a:t>
            </a:r>
          </a:p>
        </p:txBody>
      </p:sp>
      <p:sp>
        <p:nvSpPr>
          <p:cNvPr id="12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주절의 시제가 will의 미래시제로 that절의 시 제는 과거형(could)이 쓰일 수 없다.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9" grpId="0" animBg="1"/>
      <p:bldP spid="12" grpId="0" animBg="1"/>
    </p:bldLst>
  </p:timing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p.146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106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우리말을 바르게 영작한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우리는 게임을 이기기 위해서 최선을 다할 것이다.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We'll do our best so that winning the game.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We'll do our best so that can win the game.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We'll do our best in order to we win the game.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We'll do our best in order to can win the game.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We'll do our best so that we can win the game.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우리말을 바르게 영작한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우리는 게임을 이기기 위해서 최선을 다할 것이다.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We'll do our best so that winning the game.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We'll do our best so that can win the game.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We'll do our best in order to we win the game.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We'll do our best in order to can win the game.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⑤ We'll do our best so that we can win the game.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We'll do our best so that we can win the game.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우리는 게임에서 이기기 위해 최선을 다할 것이다.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‘~하기 위해서’의 뜻을 나타내는 「so that+주 어+can/could+동사원형」의 형태로 제시된 것 이 정답이다.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p.146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107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우리말을 바르게 영작한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그녀는 시험에 통과하기 위해서 열심히 공부했다.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She studied so hard that she couldn't pass the exam.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She studied so hard that she could pass the exam.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She studied hard as if she passed the exam.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She studied hard so as to pass the exam.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She studied too hard to pass the exam.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우리말을 바르게 영작한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그녀는 시험에 통과하기 위해서 열심히 공부했다.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She studied so hard that she couldn't pass the exam.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She studied so hard that she could pass the exam.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She studied hard as if she passed the exam.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④ She studied hard so as to pass the exam.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She studied too hard to pass the exam.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She studied hard so as to pass the exam.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그녀는 시험에 통과하기 위해 열심히 공부했다.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‘~하기 위해서’란 뜻으로 so as to를 사용할 수 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p.146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108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주어진 두 문장을 한 문장으로 쓸 때 의미가 다른 하나는?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go jogging every morning.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want to keep healthy.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 go jogging every morning to keep healthy.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 go jogging every morning so as to keep healthy.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 go jogging every morning in order to keep healthy.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 go jogging every morning enough to keep healthy.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 go jogging every morning so that I can keep healthy.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주어진 두 문장을 한 문장으로 쓸 때 의미가 다른 하나는?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go jogging every morning.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want to keep healthy.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 go jogging every morning to keep healthy.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 go jogging every morning so as to keep healthy.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 go jogging every morning in order to keep healthy.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④ I go jogging every morning enough to keep healthy.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 go jogging every morning so that I can keep healthy.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I go jogging every morning enough to keep healthy.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나는 건강을 유지하기 위해 매일 아침 조깅을 한다. (④는 의미가 다름)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 별도 해설 없음)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p.146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109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1528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 u="none">
                <a:solidFill>
                  <a:srgbClr val="1E2A4A"/>
                </a:solidFill>
                <a:latin typeface="맑은 고딕"/>
              </a:rPr>
              <a:t>다음 문장의 빈칸 (가)~(라)에 들어갈 말을 &lt;보기&gt; 에서 골라 순서대로 나열한 것은?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3970"/>
            <a:ext cx="8214055" cy="2444495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• Jenny is saving her money (가)________________.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• He watches American movies (나)________________.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• He went out the back door (다) ________________.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• She will go abroad (라)________________.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(A) so that he can improve his listening skills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(B) so that nobody could see him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(C) so that she can fix her bike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(D) so that she can study art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08415" y="1283970"/>
            <a:ext cx="2926080" cy="2444495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① (A), (B), (C), (D)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② (A), (C), (D), (B)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③ (B), (D), (A), (C)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④ (C), (A), (B), (D)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⑤ (C), (D), (A), (B)</a:t>
            </a:r>
          </a:p>
        </p:txBody>
      </p:sp>
      <p:sp>
        <p:nvSpPr>
          <p:cNvPr id="9" name="reveal_1_en_ov"/>
          <p:cNvSpPr txBox="1"/>
          <p:nvPr/>
        </p:nvSpPr>
        <p:spPr>
          <a:xfrm>
            <a:off x="8808415" y="1283970"/>
            <a:ext cx="2926080" cy="2444495"/>
          </a:xfrm>
          <a:prstGeom prst="rect">
            <a:avLst/>
          </a:prstGeom>
          <a:solidFill>
            <a:srgbClr val="F2F3F5"/>
          </a:solidFill>
          <a:ln>
            <a:noFill/>
          </a:ln>
        </p:spPr>
        <p:txBody>
          <a:bodyPr wrap="square" anchor="t" lIns="73152" rIns="73152" t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① (A), (B), (C), (D)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② (A), (C), (D), (B)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③ (B), (D), (A), (C)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 u="none">
                <a:solidFill>
                  <a:srgbClr val="C03A2E"/>
                </a:solidFill>
                <a:latin typeface="맑은 고딕"/>
              </a:rPr>
              <a:t>④ (C), (A), (B), (D)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⑤ (C), (D), (A), (B)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3774185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veal_1_en"/>
          <p:cNvSpPr/>
          <p:nvPr/>
        </p:nvSpPr>
        <p:spPr>
          <a:xfrm>
            <a:off x="457200" y="3911345"/>
            <a:ext cx="11277295" cy="1419606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(C), (A), (B), (D)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Jenny는 자전거를 고칠 수 있도록 돈을 모으고 있다. 그는 듣기 실력을 향상시킬 수 있도록 미국 영화를 본다. 그는 아무도 그를 볼 수 없도록 뒷문으로 나갔다. 그녀는 미술을 공부할 수 있도록 해외로 갈 것이다.</a:t>
            </a:r>
          </a:p>
        </p:txBody>
      </p:sp>
      <p:sp>
        <p:nvSpPr>
          <p:cNvPr id="12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 별도 해설 없음)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9" grpId="0" animBg="1"/>
      <p:bldP spid="12" grpId="0" animBg="1"/>
    </p:bldLst>
  </p:timing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p.147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110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3129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 u="none">
                <a:solidFill>
                  <a:srgbClr val="1E2A4A"/>
                </a:solidFill>
                <a:latin typeface="맑은 고딕"/>
              </a:rPr>
              <a:t>다음 글의 밑줄 친 우리말을 바르게 영작한 것은?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99972"/>
            <a:ext cx="6705295" cy="2844545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Hi, David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How's your new school? Yesterday was our Sports Day. Tom and I entered "Egg and Spoon Race", but we dropped our eggs during the race.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소윤이는 계란을 떨어트리지 않기 위해 매우 조심했다.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She did it. Please tell me about your school. I miss you so much.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Your friend, Alice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99655" y="1299972"/>
            <a:ext cx="4434840" cy="2844545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① Soyun was so careful and she wouldn't drop the egg.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② Soyun was so careful but she wouldn't drop the egg.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③ Soyun was very careful so that she would drop the egg.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④ Soyun was so careful that she wouldn't drop the egg.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⑤ Soyun was very careful so that she wouldn't drop the egg.</a:t>
            </a:r>
          </a:p>
        </p:txBody>
      </p:sp>
      <p:sp>
        <p:nvSpPr>
          <p:cNvPr id="9" name="reveal_1_en_ov"/>
          <p:cNvSpPr txBox="1"/>
          <p:nvPr/>
        </p:nvSpPr>
        <p:spPr>
          <a:xfrm>
            <a:off x="7299655" y="1299972"/>
            <a:ext cx="4434840" cy="2844545"/>
          </a:xfrm>
          <a:prstGeom prst="rect">
            <a:avLst/>
          </a:prstGeom>
          <a:solidFill>
            <a:srgbClr val="F2F3F5"/>
          </a:solidFill>
          <a:ln>
            <a:noFill/>
          </a:ln>
        </p:spPr>
        <p:txBody>
          <a:bodyPr wrap="square" anchor="t" lIns="73152" rIns="73152" t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① Soyun was so careful and she wouldn't drop the egg.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② Soyun was so careful but she wouldn't drop the egg.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③ Soyun was very careful so that she would drop the egg.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④ Soyun was so careful that she wouldn't drop the egg.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 u="none">
                <a:solidFill>
                  <a:srgbClr val="C03A2E"/>
                </a:solidFill>
                <a:latin typeface="맑은 고딕"/>
              </a:rPr>
              <a:t>⑤ Soyun was very careful so that she wouldn't drop the egg.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Soyun was very careful so that she wouldn't drop the egg.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소윤이는 계란을 떨어뜨리지 않도록 매우 조심했다.</a:t>
            </a:r>
          </a:p>
        </p:txBody>
      </p:sp>
      <p:sp>
        <p:nvSpPr>
          <p:cNvPr id="12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so that구문을 이용하여 적절하게 영작한 문 장을 고른다.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9" grpId="0" animBg="1"/>
      <p:bldP spid="12" grpId="0" animBg="1"/>
    </p:bldLst>
  </p:timing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p.147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111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다음 문장의 밑줄 친 so that의 쓰임이 흐름상 어 색한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① Our teacher brought a DVD so that we could watch a movie together.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② Giho made some cookies the night before so that we could eat them while we watched the movie.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③ Hajin took some pictures during the party so that we could remember the day.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④ Tom couldn't get in the theater so that he had left his ticket at home.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⑤ We sang a song for our teacher so that she would know how much we loved her.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다음 문장의 밑줄 친 so that의 쓰임이 흐름상 어 색한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① Our teacher brought a DVD so that we could watch a movie together.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② Giho made some cookies the night before so that we could eat them while we watched the movie.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③ Hajin took some pictures during the party so that we could remember the day.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 u="none">
                <a:solidFill>
                  <a:srgbClr val="C03A2E"/>
                </a:solidFill>
                <a:latin typeface="맑은 고딕"/>
              </a:rPr>
              <a:t>④ Tom couldn't get in the theater so that he had left his ticket at home.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⑤ We sang a song for our teacher so that she would know how much we loved her.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398221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119371"/>
            <a:ext cx="11277295" cy="121158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④ Tom couldn't get in the theater so that he had left his ticket at home.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(흐름상 어색) Tom은 영화관에 들어갈 수 없었다, 그래서 입장권을 집에 두고 왔다. (결과가 아니라 원인이어야 함)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앞의 문장이 결과이고 so that 이하의 내용의 그 원인이므로 because가 오는 것이 자연스 럽다.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2-28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p.147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112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문장과 의미가 같은 것을 모두 고르면?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turned on the TV to watch the news.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She turned on the TV in order watch the news.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She turned on the TV so as to watch the news.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She turned on the TV in order not to watch the news.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She turned on the TV so that she can watch the news.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She turned on the TV so that she could watch the news.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문장과 의미가 같은 것을 모두 고르면?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turned on the TV to watch the news.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She turned on the TV in order watch the news.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② She turned on the TV so as to watch the news.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She turned on the TV in order not to watch the news.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She turned on the TV so that she can watch the news.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⑤ She turned on the TV so that she could watch the news.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1" i="0" u="none">
                <a:solidFill>
                  <a:srgbClr val="5A4200"/>
                </a:solidFill>
                <a:latin typeface="맑은 고딕"/>
              </a:rPr>
              <a:t>정답:  ② She turned on the TV so as to watch the news. / ⑤ She turned on the TV so that she could watch the news.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② 그녀는 뉴스를 보기 위해 TV를 켰다.  /  ⑤ 그녀는 뉴스를 볼 수 있도록 TV를 켰다.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 별도 해설 없음)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2-29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p.147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113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의미상 어색한 문장은?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He took a taxi so that he wouldn't be late.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 gave him a knife so that he couldn't peel the fruit.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He tried his best so that he could win the contest.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This flower opens up in fine weather so that it can get lots of sunlight.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 turned off the TV so that my brother could focus on his study.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의미상 어색한 문장은?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He took a taxi so that he wouldn't be late.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② I gave him a knife so that he couldn't peel the fruit.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He tried his best so that he could win the contest.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This flower opens up in fine weather so that it can get lots of sunlight.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 turned off the TV so that my brother could focus on his study.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② I gave him a knife so that he couldn't peel the fruit.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(의미상 어색) 나는 그가 과일 껍질을 깎을 수 없도록 그에게 칼을 주었다.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의미상 ‘I gave him a knife because he could peel the fruit.’가 되어야 자연스럽다.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p.147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114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문장의 의미가 나머지 넷과 다른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He reads many books about writing.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He reads many books to be a writer.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He reads many books so as to be a writer.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He reads many books in order to be a writer.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He reads many books so that he can be a writer.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문장의 의미가 나머지 넷과 다른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① He reads many books about writing.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He reads many books to be a writer.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He reads many books so as to be a writer.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He reads many books in order to be a writer.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He reads many books so that he can be a writer.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① He reads many books about writing.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(의미가 다른 것) 그는 글쓰기에 관한 책을 많이 읽는다.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나머지 보기는 모두 ‘그는 작가가 되기 위해서 많은 책을 읽는다.’라는 뜻이고, ①번 보기만 ‘그는 글쓰기에 관한 많은 책을 읽는다.’라는 뜻이다.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2-31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p.147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115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문장의 의미가 나머지 넷과 다른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He studies hard to pass the exam.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He studies hard so as to pass the exam.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He studied so hard that he could pass the exam.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He studies hard in order to pass the exam.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He studies hard in order that he can pass the exam.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문장의 의미가 나머지 넷과 다른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He studies hard to pass the exam.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He studies hard so as to pass the exam.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③ He studied so hard that he could pass the exam.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He studies hard in order to pass the exam.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He studies hard in order that he can pass the exam.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③ He studied so hard that he could pass the exam.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(의미가 다른 것) 그는 너무 열심히 공부해서 시험에 합격할 수 있었다.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③번 보기는 ‘그는 아주 열심히 공부해서 시험 을 통과할 수 있었다.’라는 뜻이다. 나머지 보 기는 모두 ‘그는 시험에 통과하기 위해 열심히 공부했다.’라는 뜻이다.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p.147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116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Which of the following has a different meaning from the others?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He tries harder so that he can achieve his goal.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He tries harder in order that he can achieve his goal.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He tries harder in order to achieve his goal.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He tries so hard that he can achieve his goal.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He tries harder so as to achieve his goal.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Which of the following has a different meaning from the others?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He tries harder so that he can achieve his goal.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He tries harder in order that he can achieve his goal.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He tries harder in order to achieve his goal.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④ He tries so hard that he can achieve his goal.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He tries harder so as to achieve his goal.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He tries so hard that he can achieve his goal.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(의미가 다른 것) 그는 너무 열심히 노력해서 목표를 이룰 수 있다.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 별도 해설 없음)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2-33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p.147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117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의미가 다른 하나는?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 woke up early not to miss the bus.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 woke up early so that I wouldn't miss the bus.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 woke up so early that I didn't miss the bus.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 woke up early so as not to miss the bus.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 woke up early in order that I wouldn't miss the bus.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의미가 다른 하나는?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 woke up early not to miss the bus.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 woke up early so that I wouldn't miss the bus.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③ I woke up so early that I didn't miss the bus.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 woke up early so as not to miss the bus.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 woke up early in order that I wouldn't miss the bus.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③ I woke up so early that I didn't miss the bus.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(의미가 다른 것) 나는 너무 일찍 일어나서 버스를 놓치지 않았다.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000" b="0" i="0" u="none">
                <a:solidFill>
                  <a:srgbClr val="152A4A"/>
                </a:solidFill>
                <a:latin typeface="맑은 고딕"/>
              </a:rPr>
              <a:t>「so+형용사/부사+that+주어+동사」: 너무 ~해 서 …하다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 u="none">
                <a:solidFill>
                  <a:srgbClr val="152A4A"/>
                </a:solidFill>
                <a:latin typeface="맑은 고딕"/>
              </a:rPr>
              <a:t>① 목적을 나타내는 to부정사의 부사적 용법 : ~하기 위해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 u="none">
                <a:solidFill>
                  <a:srgbClr val="152A4A"/>
                </a:solidFill>
                <a:latin typeface="맑은 고딕"/>
              </a:rPr>
              <a:t>= ② 「so that+주어+동사」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 u="none">
                <a:solidFill>
                  <a:srgbClr val="152A4A"/>
                </a:solidFill>
                <a:latin typeface="맑은 고딕"/>
              </a:rPr>
              <a:t>= ④ 「so as to+동사원형」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 u="none">
                <a:solidFill>
                  <a:srgbClr val="152A4A"/>
                </a:solidFill>
                <a:latin typeface="맑은 고딕"/>
              </a:rPr>
              <a:t>= ⑤ 「in order that+주어+동사」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2-34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p.148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118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문장의 의미가 다른 하나는?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 finished my job quickly so as to go home early.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 finished my job quickly to go home early.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 finished my job quickly so that I could go home early.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 finished my job quickly in order that I could go home early.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 finished my job quickly because I went home early.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문장의 의미가 다른 하나는?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 finished my job quickly so as to go home early.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 finished my job quickly to go home early.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 finished my job quickly so that I could go home early.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 finished my job quickly in order that I could go home early.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⑤ I finished my job quickly because I went home early.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I finished my job quickly because I went home early.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(의미가 다른 것) 나는 일찍 집에 갔기 때문에 일을 빨리 끝냈다.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⑤번 보기는 ‘나는 집에 일찍 갔기 때문에 일 을 빨리 끝마쳤다.’라는 의미이며 나머지는 ‘나는 집에 일찍 가기 위해 일을 빨리 끝마쳤 다.’라는 뜻이다.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2-35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p.148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119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 i="0" u="none">
                <a:solidFill>
                  <a:srgbClr val="1E2A4A"/>
                </a:solidFill>
                <a:latin typeface="맑은 고딕"/>
              </a:rPr>
              <a:t>다음 중 의미가 어색한 하나를 고르면?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① I listen to English radio programs so that I can improve my listening skills.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② He worked day and night so that he could make enough money to support his family.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③ Please leave your phone number so that she can't call you back.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④ We should travel on public transportation so that we can save energy.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⑤ Miran hurried outside so that she could see her friend leaving.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 i="0" u="none">
                <a:solidFill>
                  <a:srgbClr val="1E2A4A"/>
                </a:solidFill>
                <a:latin typeface="맑은 고딕"/>
              </a:rPr>
              <a:t>다음 중 의미가 어색한 하나를 고르면?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① I listen to English radio programs so that I can improve my listening skills.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② He worked day and night so that he could make enough money to support his family.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C03A2E"/>
                </a:solidFill>
                <a:latin typeface="맑은 고딕"/>
              </a:rPr>
              <a:t>③ Please leave your phone number so that she can't call you back.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④ We should travel on public transportation so that we can save energy.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⑤ Miran hurried outside so that she could see her friend leaving.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③ Please leave your phone number so that she can't call you back.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(의미가 어색) 그녀가 당신에게 전화할 수 없도록 전화번호를 남겨 주세요.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can't → can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2-36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p.148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120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Which of the following has a different meaning from the others?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He practiced hard so that he could learn difficult tricks.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He practiced hard in order that he could learn difficult tricks.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He practiced too hard to learn difficult tricks.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He practiced hard so as to learn difficult tricks.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He practiced hard to learn difficult tricks.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Which of the following has a different meaning from the others?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He practiced hard so that he could learn difficult tricks.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He practiced hard in order that he could learn difficult tricks.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③ He practiced too hard to learn difficult tricks.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He practiced hard so as to learn difficult tricks.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He practiced hard to learn difficult tricks.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③ He practiced too hard to learn difficult tricks.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(의미가 다른 것) 그는 어려운 기술을 배우기에는 너무 열심히 연습했다.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 별도 해설 없음)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2-37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p.148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121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주어진 문장과 의미가 같은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took a taxi not to be late for work.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She took a taxi so she was late for work.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She took a taxi so that she wouldn't be late for work.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She took a taxi in order that she would be late for work.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She took a taxi so that she is about to be late for work.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She took a taxi in order that she was going to be late for work.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주어진 문장과 의미가 같은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took a taxi not to be late for work.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She took a taxi so she was late for work.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② She took a taxi so that she wouldn't be late for work.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She took a taxi in order that she would be late for work.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She took a taxi so that she is about to be late for work.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She took a taxi in order that she was going to be late for work.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② She took a taxi so that she wouldn't be late for work.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그녀는 직장에 지각하지 않기 위해 택시를 탔다. = 그녀는 직장에 늦지 않도록 택시를 탔다.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‘목적’을 나타내고 있으므로 so that구문으로 바꿔 쓸 수 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2-38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p.148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122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주어진 문장과 의미가 같은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got up early so as to catch the first bus.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He got up early, he could catch the first bus.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he got up early, he could catch the first bus.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He got up early so that he could catch the first bus.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He got up so early that he could catch the first bus.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Although he got up early, he couldn't catch the first bus.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주어진 문장과 의미가 같은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got up early so as to catch the first bus.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He got up early, he could catch the first bus.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he got up early, he could catch the first bus.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③ He got up early so that he could catch the first bus.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He got up so early that he could catch the first bus.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Although he got up early, he couldn't catch the first bus.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③ He got up early so that he could catch the first bus.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그는 첫 버스를 타기 위해 일찍 일어났다. = 그는 첫 버스를 탈 수 있도록 일찍 일어났다.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「so as to+동사원형」는 ‘~하기 위해서’라는 뜻으로 「so that+주어+can/could+동사원형」 으로 바꿔 쓸 수 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p.148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123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주어진 문장과 의미가 같은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worked hard to make more money.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He worked so hard that he could make more money.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It was hard for him to make more money.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Though he worked hard, he couldn't make more money.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He worked hard, so he could make more money.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He worked hard so that he might make more money.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주어진 문장과 의미가 같은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worked hard to make more money.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He worked so hard that he could make more money.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It was hard for him to make more money.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Though he worked hard, he couldn't make more money.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He worked hard, so he could make more money.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⑤ He worked hard so that he might make more money.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He worked hard so that he might make more money.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그는 더 많은 돈을 벌기 위해 열심히 일했다. = 그는 더 많은 돈을 벌 수 있도록 열심히 일했다.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000" b="0" i="0" u="none">
                <a:solidFill>
                  <a:srgbClr val="152A4A"/>
                </a:solidFill>
                <a:latin typeface="맑은 고딕"/>
              </a:rPr>
              <a:t>‘그는 더 많은 돈을 벌기 위해서 열심히 일했 다’라는 뜻이다.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 u="none">
                <a:solidFill>
                  <a:srgbClr val="152A4A"/>
                </a:solidFill>
                <a:latin typeface="맑은 고딕"/>
              </a:rPr>
              <a:t>① 그는 열심히 일해서 더 많은 돈을 벌 수 있었다.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 u="none">
                <a:solidFill>
                  <a:srgbClr val="152A4A"/>
                </a:solidFill>
                <a:latin typeface="맑은 고딕"/>
              </a:rPr>
              <a:t>② 그가 더 많은 돈을 벌기란 어려웠다.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 u="none">
                <a:solidFill>
                  <a:srgbClr val="152A4A"/>
                </a:solidFill>
                <a:latin typeface="맑은 고딕"/>
              </a:rPr>
              <a:t>③ 그가 열심히 일했음에도 불구하고, 그는 더 많은 돈을 벌 수 없었다.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 u="none">
                <a:solidFill>
                  <a:srgbClr val="152A4A"/>
                </a:solidFill>
                <a:latin typeface="맑은 고딕"/>
              </a:rPr>
              <a:t>④ 그는 열심히 일했고, 그래서 더 많은 돈을 벌 수 있었다.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p.148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124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문장의 밑줄 친 부분과 의미가 같은 것은? (정답2개)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We saved a lot of money to take a long vacation.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in order to take a long vacation.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so as not to take a long vacation.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in order that to take a long vacation.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in order to we can take a long vacation.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in order that we could take a long vacation.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문장의 밑줄 친 부분과 의미가 같은 것은? (정답2개)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We saved a lot of money to take a long vacation.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① in order to take a long vacation.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so as not to take a long vacation.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in order that to take a long vacation.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in order to we can take a long vacation.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⑤ in order that we could take a long vacation.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① in order to take a long vacation. / ⑤ in order that we could take a long vacation.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① 긴 휴가를 가기 위해  /  ⑤ 우리가 긴 휴가를 갈 수 있도록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주어진 문장의 밑줄 친 부분은 목적을 나 타내는 to부정사의 부사적 용법으로 ‘~하 기 위해서’라는 의미이므로 「in order to」나 「in order that」구문으로 나타낼 수 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2-41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p.148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125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주어진 문장과 의미가 다른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saved money to buy a bike.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He saved money so as to buy a bike.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He saved money in order to buy a bike.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He saved money so that he could buy a bike.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He saved money in order that he could buy a bike.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He saved so much money that he couldn‘t buy a bike.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주어진 문장과 의미가 다른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saved money to buy a bike.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He saved money so as to buy a bike.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He saved money in order to buy a bike.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He saved money so that he could buy a bike.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He saved money in order that he could buy a bike.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⑤ He saved so much money that he couldn‘t buy a bike.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He saved so much money that he couldn‘t buy a bike.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(의미가 다른 것) 그는 돈을 너무 많이 모아서 자전거를 살 수 없었다.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주어진 문장과 보기들은 모두 ‘그는 자전거를 사기 위해서 돈을 모았다’라는 뜻이지만, ⑤번 보기는 ‘그는 너무 많은 돈을 저축해서 자전 거를 사지 못했다’라는 뜻이다.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2-42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p.149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126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Which of the following doesn't have the same meaning?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She went to the mall to buy a new pair of shoes.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She went to the mall in order to buy a new pair of shoes.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She went to the mall so as to buy a new pair of shoes.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She went to the mall so that she could buy a new pair of shoes.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She went to the mall, and she bought a new pair of shoes.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Which of the following doesn't have the same meaning?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She went to the mall to buy a new pair of shoes.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She went to the mall in order to buy a new pair of shoes.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She went to the mall so as to buy a new pair of shoes.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She went to the mall so that she could buy a new pair of shoes.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⑤ She went to the mall, and she bought a new pair of shoes.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She went to the mall, and she bought a new pair of shoes.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(의미가 다른 것) 그녀는 쇼핑몰에 갔고, 새 신발을 샀다.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⑤는 ‘그녀는 몰에 가서 새 신발을 한 켤레 샀 다.’는 의미이나 나머지는 ‘그녀는 새 신발 한 켤레를 사기 위해 몰에 갔다.’는 의미이다.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2-43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p.149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127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 u="none">
                <a:solidFill>
                  <a:srgbClr val="1E2A4A"/>
                </a:solidFill>
                <a:latin typeface="맑은 고딕"/>
              </a:rPr>
              <a:t>다음 두 문장의 의미가 같도록 바꿔 쓸 때 적절하 지 않은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① I hurried so that I would not be late for the meeting.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= I hurried so as not to be late for the meeting.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② She exercised regularly in order to be healthy.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= She exercised regularly so that she could be healthy.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③ I tried hard so that I could pass the exam.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= I tried hard to pass the exam.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④ Rachel studies hard so that she can get a scholarship.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= Rachel studies hard so as to get a scholarship.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⑤ I left early to avoid the rush hour.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= I left early, so I could avoid the rush hour.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 u="none">
                <a:solidFill>
                  <a:srgbClr val="1E2A4A"/>
                </a:solidFill>
                <a:latin typeface="맑은 고딕"/>
              </a:rPr>
              <a:t>다음 두 문장의 의미가 같도록 바꿔 쓸 때 적절하 지 않은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① I hurried so that I would not be late for the meeting.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= I hurried so as not to be late for the meeting.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② She exercised regularly in order to be healthy.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= She exercised regularly so that she could be healthy.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③ I tried hard so that I could pass the exam.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= I tried hard to pass the exam.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④ Rachel studies hard so that she can get a scholarship.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= Rachel studies hard so as to get a scholarship.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 u="none">
                <a:solidFill>
                  <a:srgbClr val="C03A2E"/>
                </a:solidFill>
                <a:latin typeface="맑은 고딕"/>
              </a:rPr>
              <a:t>⑤ I left early to avoid the rush hour.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 u="none">
                <a:solidFill>
                  <a:srgbClr val="C03A2E"/>
                </a:solidFill>
                <a:latin typeface="맑은 고딕"/>
              </a:rPr>
              <a:t>      = I left early, so I could avoid the rush hour.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398221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119371"/>
            <a:ext cx="11277295" cy="121158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⑤ I left early to avoid the rush hour.
= I left early, so I could avoid the rush hour.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(적절하지 않은 것) 나는 혼잡 시간대를 피하기 위해 일찍 떠났다. = 나는 일찍 떠났고, 그래서 혼잡 시간대를 피할 수 있었다.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 별도 해설 없음)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2-44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p.149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128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 u="none">
                <a:solidFill>
                  <a:srgbClr val="1E2A4A"/>
                </a:solidFill>
                <a:latin typeface="맑은 고딕"/>
              </a:rPr>
              <a:t>Choose the pair of sentences that does NOT have the same meaning.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① Turn on the flashlight so that we may walk through the tunnel.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      = Turn on the flashlight so as for us to walk through the tunnel.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② He could win the prize in the contest because he tried so hard.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      = He tried so hard that he could win the prize in the contest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③ Fasten your seat belt so that you may not get hurt.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      = Fasten your seat belt to get hurt.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④ I swim every day in order to stay healthy.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      = I swim every day so that I can stay healthy.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⑤ I studied really hard in order to pass the exam.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      = I studied really hard so that I could pass the exam.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 u="none">
                <a:solidFill>
                  <a:srgbClr val="1E2A4A"/>
                </a:solidFill>
                <a:latin typeface="맑은 고딕"/>
              </a:rPr>
              <a:t>Choose the pair of sentences that does NOT have the same meaning.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① Turn on the flashlight so that we may walk through the tunnel.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      = Turn on the flashlight so as for us to walk through the tunnel.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② He could win the prize in the contest because he tried so hard.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      = He tried so hard that he could win the prize in the contest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 u="none">
                <a:solidFill>
                  <a:srgbClr val="C03A2E"/>
                </a:solidFill>
                <a:latin typeface="맑은 고딕"/>
              </a:rPr>
              <a:t>③ Fasten your seat belt so that you may not get hurt.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 u="none">
                <a:solidFill>
                  <a:srgbClr val="C03A2E"/>
                </a:solidFill>
                <a:latin typeface="맑은 고딕"/>
              </a:rPr>
              <a:t>      = Fasten your seat belt to get hurt.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④ I swim every day in order to stay healthy.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      = I swim every day so that I can stay healthy.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⑤ I studied really hard in order to pass the exam.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      = I studied really hard so that I could pass the exam.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③ Fasten your seat belt so that you may not get hurt.
= Fasten your seat belt to get hurt.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(같은 의미가 아닌 것) 다치지 않도록 안전벨트를 매세요. = 다치기 위해 안전벨트를 매세요.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to get hurt → not to get hurt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2-45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p.149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129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 u="none">
                <a:solidFill>
                  <a:srgbClr val="1E2A4A"/>
                </a:solidFill>
                <a:latin typeface="맑은 고딕"/>
              </a:rPr>
              <a:t>다음 중 두 문장의 의미가 서로 다른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① He turned down the radio so that I could get to sleep.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= He turned down the radio in order to get to sleep.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② Jim turned on TV so that he could watch the news.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= Jim turned on TV in order to watch the news.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③ He goes to bed early so that he can get plenty of sleep.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= He goes to bed early to get plenty of sleep.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④ Brain practiced dancing hard so that he could be a good dancer.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= Brian practiced dancing hard so as to be a good dancer.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⑤ I took my umbrella so that I could share it with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= I took my umbrella so as to share it with you.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 u="none">
                <a:solidFill>
                  <a:srgbClr val="1E2A4A"/>
                </a:solidFill>
                <a:latin typeface="맑은 고딕"/>
              </a:rPr>
              <a:t>다음 중 두 문장의 의미가 서로 다른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 u="none">
                <a:solidFill>
                  <a:srgbClr val="C03A2E"/>
                </a:solidFill>
                <a:latin typeface="맑은 고딕"/>
              </a:rPr>
              <a:t>① He turned down the radio so that I could get to sleep.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 u="none">
                <a:solidFill>
                  <a:srgbClr val="C03A2E"/>
                </a:solidFill>
                <a:latin typeface="맑은 고딕"/>
              </a:rPr>
              <a:t>      = He turned down the radio in order to get to sleep.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② Jim turned on TV so that he could watch the news.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= Jim turned on TV in order to watch the news.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③ He goes to bed early so that he can get plenty of sleep.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= He goes to bed early to get plenty of sleep.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④ Brain practiced dancing hard so that he could be a good dancer.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= Brian practiced dancing hard so as to be a good dancer.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⑤ I took my umbrella so that I could share it with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 u="none">
                <a:solidFill>
                  <a:srgbClr val="222222"/>
                </a:solidFill>
                <a:latin typeface="맑은 고딕"/>
              </a:rPr>
              <a:t>      = I took my umbrella so as to share it with you.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398221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119371"/>
            <a:ext cx="11277295" cy="121158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1" i="0" u="none">
                <a:solidFill>
                  <a:srgbClr val="5A4200"/>
                </a:solidFill>
                <a:latin typeface="맑은 고딕"/>
              </a:rPr>
              <a:t>정답:  ① He turned down the radio so that I could get to sleep.
= He turned down the radio in order to get to sleep.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(서로 다른 것) 그는 내가 잠들 수 있도록 라디오 소리를 줄였다. = 그는 (자신이) 잠들기 위해 라디오 소리를 줄였다.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400" b="0" i="0" u="none">
                <a:solidFill>
                  <a:srgbClr val="152A4A"/>
                </a:solidFill>
                <a:latin typeface="맑은 고딕"/>
              </a:rPr>
              <a:t>• He turned down the radio so that I could get to sleep.(그는 내가 잘 수 있도록 라디오 를 줄여줬다.)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• He turned down the radio in order to get to sleep.(그는 자기 위해서 라디오를 줄였다.)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2-46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p.149  ·  정답·해설 p.156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130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문장의 어법 및 의미가 자연스러운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Eunyoung set the alarm for six not in order to oversleep.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Many parents ask their children not to hang out with bad friends.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Take off your wet clothes so as to catch a cold.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Handong studied so hard in order to fail the test.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Nuri told lies so as to not hurt my feeling.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문장의 어법 및 의미가 자연스러운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Eunyoung set the alarm for six not in order to oversleep.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② Many parents ask their children not to hang out with bad friends.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Take off your wet clothes so as to catch a cold.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Handong studied so hard in order to fail the test.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Nuri told lies so as to not hurt my feeling.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② Many parents ask their children not to hang out with bad friends.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많은 부모들은 자녀들에게 나쁜 친구들과 어울려 다니지 말라고 말한다.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400" b="0" i="0" u="none">
                <a:solidFill>
                  <a:srgbClr val="152A4A"/>
                </a:solidFill>
                <a:latin typeface="맑은 고딕"/>
              </a:rPr>
              <a:t>① not in order to → in order not 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③ so as to → so as not 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④ in order to → in order not 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⑤ so as to not → so as not to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2-47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p.149  ·  정답·해설 p.156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131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어색한 문장은?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Please move to one side so that we can all see.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Turn the fish carefully so as to it won't burn.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 drink a lot of coffee so that I can concentrate on my work.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He exercises every day in order that he can stay healthy.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Please speak louder so that all of us can hear you.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어색한 문장은?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Please move to one side so that we can all see.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② Turn the fish carefully so as to it won't burn.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 drink a lot of coffee so that I can concentrate on my work.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He exercises every day in order that he can stay healthy.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Please speak louder so that all of us can hear you.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② Turn the fish carefully so as to it won't burn.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(어색) 생선이 타지 않도록 조심해서 뒤집어라. (so as to it → so that it)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so as to → so that[in order that]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2-48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p.149  ·  정답·해설 p.156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132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어색한 문장을 고르면?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Watch out so as not to falling.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 study English so as to travel abroad.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 practiced hard so as to win the game.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 got up early so as not to miss the train.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 went to the market so as to buy some groceries.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어색한 문장을 고르면?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① Watch out so as not to falling.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 study English so as to travel abroad.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 practiced hard so as to win the game.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 got up early so as not to miss the train.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 went to the market so as to buy some groceries.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① Watch out so as not to falling.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(어색) 넘어지지 않도록 조심해라. (falling → fall)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falling → fall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2-49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p.150  ·  정답·해설 p.156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133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어색한 문장은?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She studied hard to get 'A' in English.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They work together for the championship.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 came early so that I could get a better seat.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 did the dishes so that my mom could get rest.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He ran to the bus stop in order to he could catch.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2758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어색한 문장은?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She studied hard to get 'A' in English.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They work together for the championship.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 came early so that I could get a better seat.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 did the dishes so that my mom could get rest.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⑤ He ran to the bus stop in order to he could catch.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9023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327397"/>
            <a:ext cx="11277295" cy="1003553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He ran to the bus stop in order to he could catch.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(어색) 그는 버스를 탈 수 있도록 버스 정류장으로 달려갔다. (in order to he → in order that he)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in order to → in order that[so that]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2-50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p.150  ·  정답·해설 p.156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134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어색한 문장은?(정답2개)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 woke up early so that I will not be late.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He was so wisdom that he was able to solve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 took a taxi so that I could get there on time.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I've saved money for the last 10 months to buy a computer.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 took my umbrella for my mother.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06781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어색한 문장은?(정답2개)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① I woke up early so that I will not be late.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② He was so wisdom that he was able to solve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 took a taxi so that I could get there on time.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I've saved money for the last 10 months to buy a computer.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 took my umbrella for my mother.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398221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119371"/>
            <a:ext cx="11277295" cy="121158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1" i="0" u="none">
                <a:solidFill>
                  <a:srgbClr val="5A4200"/>
                </a:solidFill>
                <a:latin typeface="맑은 고딕"/>
              </a:rPr>
              <a:t>정답:  ① I woke up early so that I will not be late. / ② He was so wisdom that he was able to solve it.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① (어색) 나는 지각하지 않도록 일찍 일어났다. (will → would)  /  ② (어색) 그는 너무 지혜로워서 그것을 풀 수 있었다. (wisdom → wise)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① I woke up early so that I would not be late.가 올바른 문장이다.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152A4A"/>
                </a:solidFill>
                <a:latin typeface="맑은 고딕"/>
              </a:rPr>
              <a:t>② He was so wise that he was able to solve it.이 올바른 문장이다.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2-51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p.150  ·  정답·해설 p.156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135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3296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다음 중 어법상 옳은 문장끼리 바르게 짝지어진 것은?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31976"/>
            <a:ext cx="8214055" cy="2604515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(A) She is so wise that everyone respects her.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(B) He tried his best so that he can win the race.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(C) Speak too clearly that they can understand you.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(D) She was very careful so that she wouldn't drop the egg.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(E) We saved lots of money that we could take a long vacation.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08415" y="1331976"/>
            <a:ext cx="2926080" cy="2604515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① (A), (B)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② (A), (D)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③ (C), (E)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④ (A), (C), (D)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⑤ (B), (D), (E)</a:t>
            </a:r>
          </a:p>
        </p:txBody>
      </p:sp>
      <p:sp>
        <p:nvSpPr>
          <p:cNvPr id="9" name="reveal_1_en_ov"/>
          <p:cNvSpPr txBox="1"/>
          <p:nvPr/>
        </p:nvSpPr>
        <p:spPr>
          <a:xfrm>
            <a:off x="8808415" y="1331976"/>
            <a:ext cx="2926080" cy="2604515"/>
          </a:xfrm>
          <a:prstGeom prst="rect">
            <a:avLst/>
          </a:prstGeom>
          <a:solidFill>
            <a:srgbClr val="F2F3F5"/>
          </a:solidFill>
          <a:ln>
            <a:noFill/>
          </a:ln>
        </p:spPr>
        <p:txBody>
          <a:bodyPr wrap="square" anchor="t" lIns="73152" rIns="73152" t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① (A), (B)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 u="none">
                <a:solidFill>
                  <a:srgbClr val="C03A2E"/>
                </a:solidFill>
                <a:latin typeface="맑은 고딕"/>
              </a:rPr>
              <a:t>② (A), (D)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③ (C), (E)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④ (A), (C), (D)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⑤ (B), (D), (E)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398221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veal_1_en"/>
          <p:cNvSpPr/>
          <p:nvPr/>
        </p:nvSpPr>
        <p:spPr>
          <a:xfrm>
            <a:off x="457200" y="4119371"/>
            <a:ext cx="11277295" cy="121158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② (A), (D)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1E2A4A"/>
                </a:solidFill>
                <a:latin typeface="맑은 고딕"/>
              </a:rPr>
              <a:t>(A) 그녀는 매우 현명해서 모두가 그녀를 존경한다.  /  (D) 그녀는 달걀을 떨어뜨리지 않도록 매우 조심했다.</a:t>
            </a:r>
          </a:p>
        </p:txBody>
      </p:sp>
      <p:sp>
        <p:nvSpPr>
          <p:cNvPr id="12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(B) 주절의 시제가 과거이므로 종속절의 시제 도 과거형인 could로 써야 한다. (C) too는 so로 고쳐야 한다. (E) that 앞에 so를 써줘야 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9" grpId="0" animBg="1"/>
      <p:bldP spid="12" grpId="0" animBg="1"/>
    </p:bldLst>
  </p:timing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2-52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p.150  ·  정답·해설 p.156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136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3296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다음 중 어법상 옳은 문장끼리 바르게 짝지어진 것은?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31976"/>
            <a:ext cx="8214055" cy="3130295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A. He was so wisdom that he was able to solve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B. I drove fast so that he can get there in time.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C. The kids practiced hard so as to win the game.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D. I walked to school so that I could save money.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E. Jack skipped the dinner in order that fit in the new jeans.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F. She's staying in the US so that she can improve her English.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08415" y="1331976"/>
            <a:ext cx="2926080" cy="3130295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① A, C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② A, C, F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③ B, C, 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④ C, D, F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⑤ D, E, F</a:t>
            </a:r>
          </a:p>
        </p:txBody>
      </p:sp>
      <p:sp>
        <p:nvSpPr>
          <p:cNvPr id="9" name="reveal_1_en_ov"/>
          <p:cNvSpPr txBox="1"/>
          <p:nvPr/>
        </p:nvSpPr>
        <p:spPr>
          <a:xfrm>
            <a:off x="8808415" y="1331976"/>
            <a:ext cx="2926080" cy="3130295"/>
          </a:xfrm>
          <a:prstGeom prst="rect">
            <a:avLst/>
          </a:prstGeom>
          <a:solidFill>
            <a:srgbClr val="F2F3F5"/>
          </a:solidFill>
          <a:ln>
            <a:noFill/>
          </a:ln>
        </p:spPr>
        <p:txBody>
          <a:bodyPr wrap="square" anchor="t" lIns="73152" rIns="73152" t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① A, C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② A, C, F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③ B, C, 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 u="none">
                <a:solidFill>
                  <a:srgbClr val="C03A2E"/>
                </a:solidFill>
                <a:latin typeface="맑은 고딕"/>
              </a:rPr>
              <a:t>④ C, D, F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⑤ D, E, F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C, D, F</a:t>
            </a:r>
          </a:p>
        </p:txBody>
      </p:sp>
      <p:sp>
        <p:nvSpPr>
          <p:cNvPr id="12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 별도 해설 없음)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9" grpId="0" animBg="1"/>
      <p:bldP spid="12" grpId="0" animBg="1"/>
    </p:bldLst>
  </p:timing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2-53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p.150  ·  정답·해설 p.156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137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783336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 i="0" u="none">
                <a:solidFill>
                  <a:srgbClr val="1E2A4A"/>
                </a:solidFill>
                <a:latin typeface="맑은 고딕"/>
              </a:rPr>
              <a:t>다음 (가), (나)에서 문장을 하나씩 골라 &lt;조건&gt;에 맞게 자연스러운 문장을 만들고자 한다. 연결되지 않고 남는 것끼리 묶인 것은?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52016"/>
            <a:ext cx="8214055" cy="2810255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&lt;조건&gt;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1. (가), (나)에 주어진 문장은 한 번씩만 사용할 것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2. 'so that'을 사용할 것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(가)  ⓐ I started to practice dancing.   ⓑ Andy went to bed early.   ⓒ Jenny ran hard.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(나)  ⓓ He could wake up early.   ⓔ I could see him last year.   ⓕ I could join the dance club.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08415" y="1652016"/>
            <a:ext cx="2926080" cy="2810255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① ⓐ, ⓓ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② ⓐ, 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③ ⓑ, ⓕ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④ ⓒ, ⓓ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⑤ ⓒ, ⓔ</a:t>
            </a:r>
          </a:p>
        </p:txBody>
      </p:sp>
      <p:sp>
        <p:nvSpPr>
          <p:cNvPr id="9" name="reveal_1_en_ov"/>
          <p:cNvSpPr txBox="1"/>
          <p:nvPr/>
        </p:nvSpPr>
        <p:spPr>
          <a:xfrm>
            <a:off x="8808415" y="1652016"/>
            <a:ext cx="2926080" cy="2810255"/>
          </a:xfrm>
          <a:prstGeom prst="rect">
            <a:avLst/>
          </a:prstGeom>
          <a:solidFill>
            <a:srgbClr val="F2F3F5"/>
          </a:solidFill>
          <a:ln>
            <a:noFill/>
          </a:ln>
        </p:spPr>
        <p:txBody>
          <a:bodyPr wrap="square" anchor="t" lIns="73152" rIns="73152" t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① ⓐ, ⓓ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② ⓐ, 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③ ⓑ, ⓕ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④ ⓒ, ⓓ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C03A2E"/>
                </a:solidFill>
                <a:latin typeface="맑은 고딕"/>
              </a:rPr>
              <a:t>⑤ ⓒ, ⓔ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ⓒ, ⓔ</a:t>
            </a:r>
          </a:p>
        </p:txBody>
      </p:sp>
      <p:sp>
        <p:nvSpPr>
          <p:cNvPr id="12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ⓐ-ⓕ I started to practice dancing so that I could join the dance club.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152A4A"/>
                </a:solidFill>
                <a:latin typeface="맑은 고딕"/>
              </a:rPr>
              <a:t>ⓑ-ⓓ Andy went to bed early so that he could wake up early.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9" grpId="0" animBg="1"/>
      <p:bldP spid="12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