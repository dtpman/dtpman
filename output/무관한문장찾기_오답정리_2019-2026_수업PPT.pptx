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6"/>
    <p:sldId id="282" r:id="rId32"/>
    <p:sldId id="283" r:id="rId33"/>
    <p:sldId id="284" r:id="rId34"/>
    <p:sldId id="285" r:id="rId35"/>
    <p:sldId id="289" r:id="rId39"/>
    <p:sldId id="290" r:id="rId40"/>
    <p:sldId id="291" r:id="rId41"/>
    <p:sldId id="292" r:id="rId42"/>
    <p:sldId id="293" r:id="rId43"/>
    <p:sldId id="294" r:id="rId44"/>
    <p:sldId id="295" r:id="rId45"/>
    <p:sldId id="296" r:id="rId46"/>
    <p:sldId id="297" r:id="rId47"/>
    <p:sldId id="298" r:id="rId48"/>
    <p:sldId id="299" r:id="rId49"/>
    <p:sldId id="304" r:id="rId54"/>
    <p:sldId id="305" r:id="rId55"/>
    <p:sldId id="306" r:id="rId56"/>
    <p:sldId id="307" r:id="rId57"/>
    <p:sldId id="316" r:id="rId66"/>
    <p:sldId id="317" r:id="rId67"/>
    <p:sldId id="318" r:id="rId68"/>
    <p:sldId id="319" r:id="rId69"/>
    <p:sldId id="320" r:id="rId70"/>
    <p:sldId id="321" r:id="rId71"/>
    <p:sldId id="322" r:id="rId72"/>
    <p:sldId id="323" r:id="rId31"/>
    <p:sldId id="324" r:id="rId30"/>
    <p:sldId id="325" r:id="rId29"/>
    <p:sldId id="326" r:id="rId36"/>
    <p:sldId id="327" r:id="rId37"/>
    <p:sldId id="328" r:id="rId38"/>
    <p:sldId id="329" r:id="rId28"/>
    <p:sldId id="330" r:id="rId27"/>
    <p:sldId id="331" r:id="rId26"/>
    <p:sldId id="332" r:id="rId25"/>
    <p:sldId id="33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18" d="100"/>
          <a:sy n="118" d="100"/>
        </p:scale>
        <p:origin x="276" y="10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6" Type="http://schemas.openxmlformats.org/officeDocument/2006/relationships/slide" Target="slides/slide1.xml"/><Relationship Id="rId24" Type="http://schemas.openxmlformats.org/officeDocument/2006/relationships/slide" Target="slides/slide38.xml"/><Relationship Id="rId25" Type="http://schemas.openxmlformats.org/officeDocument/2006/relationships/slide" Target="slides/slide37.xml"/><Relationship Id="rId26" Type="http://schemas.openxmlformats.org/officeDocument/2006/relationships/slide" Target="slides/slide36.xml"/><Relationship Id="rId27" Type="http://schemas.openxmlformats.org/officeDocument/2006/relationships/slide" Target="slides/slide35.xml"/><Relationship Id="rId28" Type="http://schemas.openxmlformats.org/officeDocument/2006/relationships/slide" Target="slides/slide34.xml"/><Relationship Id="rId29" Type="http://schemas.openxmlformats.org/officeDocument/2006/relationships/slide" Target="slides/slide30.xml"/><Relationship Id="rId30" Type="http://schemas.openxmlformats.org/officeDocument/2006/relationships/slide" Target="slides/slide29.xml"/><Relationship Id="rId31" Type="http://schemas.openxmlformats.org/officeDocument/2006/relationships/slide" Target="slides/slide28.xml"/><Relationship Id="rId32" Type="http://schemas.openxmlformats.org/officeDocument/2006/relationships/slide" Target="slides/slide2.xml"/><Relationship Id="rId33" Type="http://schemas.openxmlformats.org/officeDocument/2006/relationships/slide" Target="slides/slide3.xml"/><Relationship Id="rId34" Type="http://schemas.openxmlformats.org/officeDocument/2006/relationships/slide" Target="slides/slide4.xml"/><Relationship Id="rId35" Type="http://schemas.openxmlformats.org/officeDocument/2006/relationships/slide" Target="slides/slide5.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6.xml"/><Relationship Id="rId40" Type="http://schemas.openxmlformats.org/officeDocument/2006/relationships/slide" Target="slides/slide7.xml"/><Relationship Id="rId41" Type="http://schemas.openxmlformats.org/officeDocument/2006/relationships/slide" Target="slides/slide8.xml"/><Relationship Id="rId42" Type="http://schemas.openxmlformats.org/officeDocument/2006/relationships/slide" Target="slides/slide9.xml"/><Relationship Id="rId43" Type="http://schemas.openxmlformats.org/officeDocument/2006/relationships/slide" Target="slides/slide10.xml"/><Relationship Id="rId44" Type="http://schemas.openxmlformats.org/officeDocument/2006/relationships/slide" Target="slides/slide11.xml"/><Relationship Id="rId45" Type="http://schemas.openxmlformats.org/officeDocument/2006/relationships/slide" Target="slides/slide12.xml"/><Relationship Id="rId46" Type="http://schemas.openxmlformats.org/officeDocument/2006/relationships/slide" Target="slides/slide13.xml"/><Relationship Id="rId47" Type="http://schemas.openxmlformats.org/officeDocument/2006/relationships/slide" Target="slides/slide14.xml"/><Relationship Id="rId48" Type="http://schemas.openxmlformats.org/officeDocument/2006/relationships/slide" Target="slides/slide15.xml"/><Relationship Id="rId49" Type="http://schemas.openxmlformats.org/officeDocument/2006/relationships/slide" Target="slides/slide16.xml"/><Relationship Id="rId54" Type="http://schemas.openxmlformats.org/officeDocument/2006/relationships/slide" Target="slides/slide17.xml"/><Relationship Id="rId55" Type="http://schemas.openxmlformats.org/officeDocument/2006/relationships/slide" Target="slides/slide18.xml"/><Relationship Id="rId56" Type="http://schemas.openxmlformats.org/officeDocument/2006/relationships/slide" Target="slides/slide19.xml"/><Relationship Id="rId57" Type="http://schemas.openxmlformats.org/officeDocument/2006/relationships/slide" Target="slides/slide20.xml"/><Relationship Id="rId66" Type="http://schemas.openxmlformats.org/officeDocument/2006/relationships/slide" Target="slides/slide21.xml"/><Relationship Id="rId67" Type="http://schemas.openxmlformats.org/officeDocument/2006/relationships/slide" Target="slides/slide22.xml"/><Relationship Id="rId68" Type="http://schemas.openxmlformats.org/officeDocument/2006/relationships/slide" Target="slides/slide23.xml"/><Relationship Id="rId69" Type="http://schemas.openxmlformats.org/officeDocument/2006/relationships/slide" Target="slides/slide24.xml"/><Relationship Id="rId70" Type="http://schemas.openxmlformats.org/officeDocument/2006/relationships/slide" Target="slides/slide25.xml"/><Relationship Id="rId71" Type="http://schemas.openxmlformats.org/officeDocument/2006/relationships/slide" Target="slides/slide26.xml"/><Relationship Id="rId72" Type="http://schemas.openxmlformats.org/officeDocument/2006/relationships/slide" Target="slides/slide27.xml"/><Relationship Id="rId74" Type="http://schemas.openxmlformats.org/officeDocument/2006/relationships/presProps" Target="presProps.xml"/><Relationship Id="rId75" Type="http://schemas.openxmlformats.org/officeDocument/2006/relationships/viewProps" Target="viewProps.xml"/><Relationship Id="rId76" Type="http://schemas.openxmlformats.org/officeDocument/2006/relationships/theme" Target="theme/theme1.xml"/><Relationship Id="rId7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9/23/2026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9/23/2026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9/23/2026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9/23/2026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9/23/2026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9/23/2026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name="표지">
    <p:bg>
      <p:bgPr>
        <a:solidFill>
          <a:srgbClr val="1E2761"/>
        </a:solidFill>
        <a:effectLst/>
      </p:bgPr>
    </p:bg>
    <p:spTree>
      <p:nvGrpSpPr>
        <p:cNvPr id="1" name=""/>
        <p:cNvGrpSpPr/>
        <p:nvPr/>
      </p:nvGrpSpPr>
      <p:grpSpPr>
        <a:xfrm>
          <a:off x="0" y="0"/>
          <a:ext cx="0" cy="0"/>
          <a:chOff x="0" y="0"/>
          <a:chExt cx="0" cy="0"/>
        </a:xfrm>
      </p:grpSpPr>
      <p:sp>
        <p:nvSpPr>
          <p:cNvPr id="2" name="T0"/>
          <p:cNvSpPr/>
          <p:nvPr/>
        </p:nvSpPr>
        <p:spPr>
          <a:xfrm>
            <a:off x="0" y="1828800"/>
            <a:ext cx="12188952" cy="1005840"/>
          </a:xfrm>
          <a:prstGeom prst="rect">
            <a:avLst/>
          </a:prstGeom>
          <a:noFill/>
          <a:ln>
            <a:noFill/>
          </a:ln>
        </p:spPr>
        <p:txBody>
          <a:bodyPr wrap="square" lIns="0" tIns="0" rIns="0" bIns="0" rtlCol="0" anchor="ctr"/>
          <a:lstStyle/>
          <a:p>
            <a:pPr marL="0" indent="0" algn="ctr">
              <a:buNone/>
            </a:pPr>
            <a:r>
              <a:rPr lang="en-US" altLang="ko-KR" sz="4800" b="1" dirty="0">
                <a:solidFill>
                  <a:srgbClr val="FFFFFF"/>
                </a:solidFill>
                <a:latin typeface="맑은 고딕" pitchFamily="34" charset="0"/>
                <a:ea typeface="맑은 고딕" pitchFamily="34" charset="-122"/>
                <a:cs typeface="맑은 고딕" pitchFamily="34" charset="-120"/>
              </a:rPr>
              <a:t>무관한 문장 찾기 오답 정리</a:t>
            </a:r>
            <a:endParaRPr lang="en-US" altLang="ko-KR" sz="4800" dirty="0"/>
          </a:p>
        </p:txBody>
      </p:sp>
      <p:sp>
        <p:nvSpPr>
          <p:cNvPr id="3" name="T1"/>
          <p:cNvSpPr/>
          <p:nvPr/>
        </p:nvSpPr>
        <p:spPr>
          <a:xfrm>
            <a:off x="0" y="2926080"/>
            <a:ext cx="12188952" cy="548640"/>
          </a:xfrm>
          <a:prstGeom prst="rect">
            <a:avLst/>
          </a:prstGeom>
          <a:noFill/>
          <a:ln>
            <a:noFill/>
          </a:ln>
        </p:spPr>
        <p:txBody>
          <a:bodyPr wrap="square" lIns="0" tIns="0" rIns="0" bIns="0" rtlCol="0" anchor="ctr"/>
          <a:lstStyle/>
          <a:p>
            <a:pPr marL="0" indent="0" algn="ctr">
              <a:buNone/>
            </a:pPr>
            <a:r>
              <a:rPr lang="en-US" altLang="ko-KR" sz="1600" dirty="0">
                <a:solidFill>
                  <a:srgbClr val="CADCFC"/>
                </a:solidFill>
                <a:latin typeface="맑은 고딕" pitchFamily="34" charset="0"/>
                <a:ea typeface="맑은 고딕" pitchFamily="34" charset="-122"/>
                <a:cs typeface="맑은 고딕" pitchFamily="34" charset="-120"/>
              </a:rPr>
              <a:t>27 까만책 고3 · 12. 무관한 문장 찾기 (2019~2026학년도)</a:t>
            </a:r>
            <a:endParaRPr lang="en-US" altLang="ko-KR" sz="1600" dirty="0"/>
          </a:p>
        </p:txBody>
      </p:sp>
      <p:sp>
        <p:nvSpPr>
          <p:cNvPr id="4" name="T2"/>
          <p:cNvSpPr/>
          <p:nvPr/>
        </p:nvSpPr>
        <p:spPr>
          <a:xfrm>
            <a:off x="548640" y="3520440"/>
            <a:ext cx="11091672" cy="640080"/>
          </a:xfrm>
          <a:prstGeom prst="rect">
            <a:avLst/>
          </a:prstGeom>
          <a:noFill/>
          <a:ln>
            <a:noFill/>
          </a:ln>
        </p:spPr>
        <p:txBody>
          <a:bodyPr wrap="square" lIns="0" tIns="0" rIns="0" bIns="0" rtlCol="0" anchor="ctr"/>
          <a:lstStyle/>
          <a:p>
            <a:pPr marL="0" indent="0" algn="ctr">
              <a:buNone/>
            </a:pPr>
            <a:r>
              <a:rPr lang="en-US" altLang="ko-KR" sz="1400" dirty="0">
                <a:solidFill>
                  <a:srgbClr val="CADCFC"/>
                </a:solidFill>
                <a:latin typeface="맑은 고딕" pitchFamily="34" charset="0"/>
                <a:ea typeface="맑은 고딕" pitchFamily="34" charset="-122"/>
                <a:cs typeface="맑은 고딕" pitchFamily="34" charset="-120"/>
              </a:rPr>
              <a:t>2019~2025: 08 · 10 · 11 · 12 · 14 · 17 · 18번   |   2026: 02 · 06 · 07번   (총 10문항)</a:t>
            </a:r>
            <a:endParaRPr lang="en-US" altLang="ko-KR" sz="1400" dirty="0"/>
          </a:p>
        </p:txBody>
      </p:sp>
      <p:sp>
        <p:nvSpPr>
          <p:cNvPr id="5" name="T3"/>
          <p:cNvSpPr/>
          <p:nvPr/>
        </p:nvSpPr>
        <p:spPr>
          <a:xfrm>
            <a:off x="0" y="4389120"/>
            <a:ext cx="12188952" cy="365760"/>
          </a:xfrm>
          <a:prstGeom prst="rect">
            <a:avLst/>
          </a:prstGeom>
          <a:noFill/>
          <a:ln>
            <a:noFill/>
          </a:ln>
        </p:spPr>
        <p:txBody>
          <a:bodyPr wrap="square" lIns="0" tIns="0" rIns="0" bIns="0" rtlCol="0" anchor="ctr"/>
          <a:lstStyle/>
          <a:p>
            <a:pPr marL="0" indent="0" algn="ctr">
              <a:buNone/>
            </a:pPr>
            <a:r>
              <a:rPr lang="en-US" altLang="ko-KR" sz="1300" dirty="0">
                <a:solidFill>
                  <a:srgbClr val="CADCFC"/>
                </a:solidFill>
                <a:latin typeface="맑은 고딕" pitchFamily="34" charset="0"/>
                <a:ea typeface="맑은 고딕" pitchFamily="34" charset="-122"/>
                <a:cs typeface="맑은 고딕" pitchFamily="34" charset="-120"/>
              </a:rPr>
              <a:t>틀린 문항만 모았습니다 · 본문은 구문마다, 문제는 클릭할 때마다 정답이 나타납니다</a:t>
            </a:r>
            <a:endParaRPr lang="en-US" altLang="ko-KR" sz="1300" dirty="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name="08 구문 1">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08</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(1/3)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2545274"/>
            <a:ext cx="613012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Interestingly, experts do not suffer as much as beginners</a:t>
            </a:r>
            <a:endParaRPr lang="en-US" altLang="ko-KR" sz="1800" dirty="0"/>
          </a:p>
        </p:txBody>
      </p:sp>
      <p:sp>
        <p:nvSpPr>
          <p:cNvPr id="8" name="reveal_1_kr"/>
          <p:cNvSpPr/>
          <p:nvPr/>
        </p:nvSpPr>
        <p:spPr>
          <a:xfrm>
            <a:off x="548640" y="2879030"/>
            <a:ext cx="613012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흥미롭게도 전문가는 초보자만큼 어려움을 겪지 않는다</a:t>
            </a:r>
            <a:endParaRPr lang="en-US" altLang="ko-KR" sz="1450" dirty="0"/>
          </a:p>
        </p:txBody>
      </p:sp>
      <p:sp>
        <p:nvSpPr>
          <p:cNvPr id="9" name="Sep"/>
          <p:cNvSpPr/>
          <p:nvPr/>
        </p:nvSpPr>
        <p:spPr>
          <a:xfrm>
            <a:off x="6633049" y="254527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6860842" y="2545274"/>
            <a:ext cx="348429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when performing complex tasks</a:t>
            </a:r>
            <a:endParaRPr lang="en-US" altLang="ko-KR" sz="1800" dirty="0"/>
          </a:p>
        </p:txBody>
      </p:sp>
      <p:sp>
        <p:nvSpPr>
          <p:cNvPr id="11" name="reveal_2_kr"/>
          <p:cNvSpPr/>
          <p:nvPr/>
        </p:nvSpPr>
        <p:spPr>
          <a:xfrm>
            <a:off x="6860842" y="2879030"/>
            <a:ext cx="348429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복잡한 과제를 수행할 때</a:t>
            </a:r>
            <a:endParaRPr lang="en-US" altLang="ko-KR" sz="1450" dirty="0"/>
          </a:p>
        </p:txBody>
      </p:sp>
      <p:sp>
        <p:nvSpPr>
          <p:cNvPr id="12" name="En"/>
          <p:cNvSpPr/>
          <p:nvPr/>
        </p:nvSpPr>
        <p:spPr>
          <a:xfrm>
            <a:off x="548640" y="3240853"/>
            <a:ext cx="308763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or combining multiple tasks.</a:t>
            </a:r>
            <a:endParaRPr lang="en-US" altLang="ko-KR" sz="1800" dirty="0"/>
          </a:p>
        </p:txBody>
      </p:sp>
      <p:sp>
        <p:nvSpPr>
          <p:cNvPr id="13" name="reveal_3_kr"/>
          <p:cNvSpPr/>
          <p:nvPr/>
        </p:nvSpPr>
        <p:spPr>
          <a:xfrm>
            <a:off x="548640" y="3574609"/>
            <a:ext cx="308763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또는 여러 과제를 결합할 때</a:t>
            </a:r>
            <a:endParaRPr lang="en-US" altLang="ko-KR" sz="1450" dirty="0"/>
          </a:p>
        </p:txBody>
      </p:sp>
      <p:sp>
        <p:nvSpPr>
          <p:cNvPr id="14" name="En"/>
          <p:cNvSpPr/>
          <p:nvPr/>
        </p:nvSpPr>
        <p:spPr>
          <a:xfrm>
            <a:off x="548640" y="4018728"/>
            <a:ext cx="436616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Because experts have extensive practice</a:t>
            </a:r>
            <a:endParaRPr lang="en-US" altLang="ko-KR" sz="1800" dirty="0"/>
          </a:p>
        </p:txBody>
      </p:sp>
      <p:sp>
        <p:nvSpPr>
          <p:cNvPr id="15" name="reveal_4_kr"/>
          <p:cNvSpPr/>
          <p:nvPr/>
        </p:nvSpPr>
        <p:spPr>
          <a:xfrm>
            <a:off x="548640" y="4352484"/>
            <a:ext cx="436616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전문가는 폭넓은 연습을 해 왔기 때문에</a:t>
            </a:r>
            <a:endParaRPr lang="en-US" altLang="ko-KR" sz="1450" dirty="0"/>
          </a:p>
        </p:txBody>
      </p:sp>
      <p:sp>
        <p:nvSpPr>
          <p:cNvPr id="16" name="Sep"/>
          <p:cNvSpPr/>
          <p:nvPr/>
        </p:nvSpPr>
        <p:spPr>
          <a:xfrm>
            <a:off x="4869084" y="401872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7" name="En"/>
          <p:cNvSpPr/>
          <p:nvPr/>
        </p:nvSpPr>
        <p:spPr>
          <a:xfrm>
            <a:off x="5096877" y="4018728"/>
            <a:ext cx="267465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within a limited domain,</a:t>
            </a:r>
            <a:endParaRPr lang="en-US" altLang="ko-KR" sz="1800" dirty="0"/>
          </a:p>
        </p:txBody>
      </p:sp>
      <p:sp>
        <p:nvSpPr>
          <p:cNvPr id="18" name="reveal_5_kr"/>
          <p:cNvSpPr/>
          <p:nvPr/>
        </p:nvSpPr>
        <p:spPr>
          <a:xfrm>
            <a:off x="5096877" y="4352484"/>
            <a:ext cx="267465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한정된 영역 내에서</a:t>
            </a:r>
            <a:endParaRPr lang="en-US" altLang="ko-KR" sz="1450" dirty="0"/>
          </a:p>
        </p:txBody>
      </p:sp>
      <p:sp>
        <p:nvSpPr>
          <p:cNvPr id="19" name="En"/>
          <p:cNvSpPr/>
          <p:nvPr/>
        </p:nvSpPr>
        <p:spPr>
          <a:xfrm>
            <a:off x="548640" y="4714307"/>
            <a:ext cx="443346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 key component skills in their domain</a:t>
            </a:r>
            <a:endParaRPr lang="en-US" altLang="ko-KR" sz="1800" dirty="0"/>
          </a:p>
        </p:txBody>
      </p:sp>
      <p:sp>
        <p:nvSpPr>
          <p:cNvPr id="20" name="reveal_6_kr"/>
          <p:cNvSpPr/>
          <p:nvPr/>
        </p:nvSpPr>
        <p:spPr>
          <a:xfrm>
            <a:off x="548640" y="5048063"/>
            <a:ext cx="443346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그들 영역의 핵심 구성 기술은</a:t>
            </a:r>
            <a:endParaRPr lang="en-US" altLang="ko-KR" sz="1450" dirty="0"/>
          </a:p>
        </p:txBody>
      </p:sp>
      <p:sp>
        <p:nvSpPr>
          <p:cNvPr id="21" name="Sep"/>
          <p:cNvSpPr/>
          <p:nvPr/>
        </p:nvSpPr>
        <p:spPr>
          <a:xfrm>
            <a:off x="4936381" y="471430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2" name="En"/>
          <p:cNvSpPr/>
          <p:nvPr/>
        </p:nvSpPr>
        <p:spPr>
          <a:xfrm>
            <a:off x="5164174" y="4714307"/>
            <a:ext cx="535145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tend to be highly practiced and more automated.</a:t>
            </a:r>
            <a:endParaRPr lang="en-US" altLang="ko-KR" sz="1800" dirty="0"/>
          </a:p>
        </p:txBody>
      </p:sp>
      <p:sp>
        <p:nvSpPr>
          <p:cNvPr id="23" name="reveal_7_kr"/>
          <p:cNvSpPr/>
          <p:nvPr/>
        </p:nvSpPr>
        <p:spPr>
          <a:xfrm>
            <a:off x="5164174" y="5048063"/>
            <a:ext cx="535145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매우 숙달되고 더 자동화되는 경향이 있다</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0-#ppt_w/2"/>
                                          </p:val>
                                        </p:tav>
                                        <p:tav tm="100000">
                                          <p:val>
                                            <p:strVal val="#ppt_x"/>
                                          </p:val>
                                        </p:tav>
                                      </p:tavLst>
                                    </p:anim>
                                    <p:anim calcmode="lin" valueType="num">
                                      <p:cBhvr additive="base">
                                        <p:cTn id="26"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0-#ppt_w/2"/>
                                          </p:val>
                                        </p:tav>
                                        <p:tav tm="100000">
                                          <p:val>
                                            <p:strVal val="#ppt_x"/>
                                          </p:val>
                                        </p:tav>
                                      </p:tavLst>
                                    </p:anim>
                                    <p:anim calcmode="lin" valueType="num">
                                      <p:cBhvr additive="base">
                                        <p:cTn id="3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5" grpId="0" animBg="1"/>
      <p:bldP spid="18" grpId="0" animBg="1"/>
      <p:bldP spid="20" grpId="0" animBg="1"/>
      <p:bldP spid="23" grpId="0" animBg="1"/>
    </p:bldLst>
  </p:timing>
</p:sld>
</file>

<file path=ppt/slides/slide3.xml><?xml version="1.0" encoding="utf-8"?>
<p:sld xmlns:a="http://schemas.openxmlformats.org/drawingml/2006/main" xmlns:p="http://schemas.openxmlformats.org/presentationml/2006/main" xmlns:r="http://schemas.openxmlformats.org/officeDocument/2006/relationships">
  <p:cSld name="08 구문 2">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08</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(2/3)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2156337"/>
            <a:ext cx="423351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① Each of these highly practiced skills</a:t>
            </a:r>
            <a:endParaRPr lang="en-US" altLang="ko-KR" sz="1800" dirty="0"/>
          </a:p>
        </p:txBody>
      </p:sp>
      <p:sp>
        <p:nvSpPr>
          <p:cNvPr id="8" name="reveal_8_kr"/>
          <p:cNvSpPr/>
          <p:nvPr/>
        </p:nvSpPr>
        <p:spPr>
          <a:xfrm>
            <a:off x="548640" y="2490093"/>
            <a:ext cx="423351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이렇게 매우 숙달된 각 기술은</a:t>
            </a:r>
            <a:endParaRPr lang="en-US" altLang="ko-KR" sz="1450" dirty="0"/>
          </a:p>
        </p:txBody>
      </p:sp>
      <p:sp>
        <p:nvSpPr>
          <p:cNvPr id="9" name="Sep"/>
          <p:cNvSpPr/>
          <p:nvPr/>
        </p:nvSpPr>
        <p:spPr>
          <a:xfrm>
            <a:off x="4736430" y="215633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4964223" y="2156337"/>
            <a:ext cx="532772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then demands relatively few cognitive resources,</a:t>
            </a:r>
            <a:endParaRPr lang="en-US" altLang="ko-KR" sz="1800" dirty="0"/>
          </a:p>
        </p:txBody>
      </p:sp>
      <p:sp>
        <p:nvSpPr>
          <p:cNvPr id="11" name="reveal_9_kr"/>
          <p:cNvSpPr/>
          <p:nvPr/>
        </p:nvSpPr>
        <p:spPr>
          <a:xfrm>
            <a:off x="4964223" y="2490093"/>
            <a:ext cx="532772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 후 비교적 적은 인지 자원을 요구한다</a:t>
            </a:r>
            <a:endParaRPr lang="en-US" altLang="ko-KR" sz="1450" dirty="0"/>
          </a:p>
        </p:txBody>
      </p:sp>
      <p:sp>
        <p:nvSpPr>
          <p:cNvPr id="12" name="En"/>
          <p:cNvSpPr/>
          <p:nvPr/>
        </p:nvSpPr>
        <p:spPr>
          <a:xfrm>
            <a:off x="548640" y="2851916"/>
            <a:ext cx="471837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effectively lowering the total cognitive load</a:t>
            </a:r>
            <a:endParaRPr lang="en-US" altLang="ko-KR" sz="1800" dirty="0"/>
          </a:p>
        </p:txBody>
      </p:sp>
      <p:sp>
        <p:nvSpPr>
          <p:cNvPr id="13" name="reveal_10_kr"/>
          <p:cNvSpPr/>
          <p:nvPr/>
        </p:nvSpPr>
        <p:spPr>
          <a:xfrm>
            <a:off x="548640" y="3185672"/>
            <a:ext cx="471837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전체 인지 부하를 효과적으로 낮추면서</a:t>
            </a:r>
            <a:endParaRPr lang="en-US" altLang="ko-KR" sz="1450" dirty="0"/>
          </a:p>
        </p:txBody>
      </p:sp>
      <p:sp>
        <p:nvSpPr>
          <p:cNvPr id="14" name="Sep"/>
          <p:cNvSpPr/>
          <p:nvPr/>
        </p:nvSpPr>
        <p:spPr>
          <a:xfrm>
            <a:off x="5221293" y="2851916"/>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5" name="En"/>
          <p:cNvSpPr/>
          <p:nvPr/>
        </p:nvSpPr>
        <p:spPr>
          <a:xfrm>
            <a:off x="5449086" y="2851916"/>
            <a:ext cx="264786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experts experience.</a:t>
            </a:r>
            <a:endParaRPr lang="en-US" altLang="ko-KR" sz="1800" dirty="0"/>
          </a:p>
        </p:txBody>
      </p:sp>
      <p:sp>
        <p:nvSpPr>
          <p:cNvPr id="16" name="reveal_11_kr"/>
          <p:cNvSpPr/>
          <p:nvPr/>
        </p:nvSpPr>
        <p:spPr>
          <a:xfrm>
            <a:off x="5449086" y="3185672"/>
            <a:ext cx="264786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전문가가 경험하는</a:t>
            </a:r>
            <a:endParaRPr lang="en-US" altLang="ko-KR" sz="1450" dirty="0"/>
          </a:p>
        </p:txBody>
      </p:sp>
      <p:sp>
        <p:nvSpPr>
          <p:cNvPr id="17" name="En"/>
          <p:cNvSpPr/>
          <p:nvPr/>
        </p:nvSpPr>
        <p:spPr>
          <a:xfrm>
            <a:off x="548640" y="3629791"/>
            <a:ext cx="484728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② Thus, experts can perform complex tasks</a:t>
            </a:r>
            <a:endParaRPr lang="en-US" altLang="ko-KR" sz="1800" dirty="0"/>
          </a:p>
        </p:txBody>
      </p:sp>
      <p:sp>
        <p:nvSpPr>
          <p:cNvPr id="18" name="reveal_12_kr"/>
          <p:cNvSpPr/>
          <p:nvPr/>
        </p:nvSpPr>
        <p:spPr>
          <a:xfrm>
            <a:off x="548640" y="3963547"/>
            <a:ext cx="484728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따라서 전문가는 복잡한 과제를 수행할 수 있다</a:t>
            </a:r>
            <a:endParaRPr lang="en-US" altLang="ko-KR" sz="1450" dirty="0"/>
          </a:p>
        </p:txBody>
      </p:sp>
      <p:sp>
        <p:nvSpPr>
          <p:cNvPr id="19" name="Sep"/>
          <p:cNvSpPr/>
          <p:nvPr/>
        </p:nvSpPr>
        <p:spPr>
          <a:xfrm>
            <a:off x="5350205" y="3629791"/>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0" name="En"/>
          <p:cNvSpPr/>
          <p:nvPr/>
        </p:nvSpPr>
        <p:spPr>
          <a:xfrm>
            <a:off x="5577998" y="3629791"/>
            <a:ext cx="480226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combine multiple tasks relatively easily.</a:t>
            </a:r>
            <a:endParaRPr lang="en-US" altLang="ko-KR" sz="1800" dirty="0"/>
          </a:p>
        </p:txBody>
      </p:sp>
      <p:sp>
        <p:nvSpPr>
          <p:cNvPr id="21" name="reveal_13_kr"/>
          <p:cNvSpPr/>
          <p:nvPr/>
        </p:nvSpPr>
        <p:spPr>
          <a:xfrm>
            <a:off x="5577998" y="3963547"/>
            <a:ext cx="480226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그리고 여러 과제를 비교적 쉽게 결합할 수 있다</a:t>
            </a:r>
            <a:endParaRPr lang="en-US" altLang="ko-KR" sz="1450" dirty="0"/>
          </a:p>
        </p:txBody>
      </p:sp>
      <p:sp>
        <p:nvSpPr>
          <p:cNvPr id="22" name="En"/>
          <p:cNvSpPr/>
          <p:nvPr/>
        </p:nvSpPr>
        <p:spPr>
          <a:xfrm>
            <a:off x="548640" y="4407666"/>
            <a:ext cx="4447245"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③ Furthermore, beginners are excellent</a:t>
            </a:r>
            <a:endParaRPr lang="en-US" altLang="ko-KR" sz="1800" dirty="0"/>
          </a:p>
        </p:txBody>
      </p:sp>
      <p:sp>
        <p:nvSpPr>
          <p:cNvPr id="23" name="reveal_14_kr"/>
          <p:cNvSpPr/>
          <p:nvPr/>
        </p:nvSpPr>
        <p:spPr>
          <a:xfrm>
            <a:off x="548640" y="4741422"/>
            <a:ext cx="4447245"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게다가 초보자는 뛰어나다</a:t>
            </a:r>
            <a:endParaRPr lang="en-US" altLang="ko-KR" sz="1450" dirty="0"/>
          </a:p>
        </p:txBody>
      </p:sp>
      <p:sp>
        <p:nvSpPr>
          <p:cNvPr id="24" name="Sep"/>
          <p:cNvSpPr/>
          <p:nvPr/>
        </p:nvSpPr>
        <p:spPr>
          <a:xfrm>
            <a:off x="4950165" y="4407666"/>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5" name="En"/>
          <p:cNvSpPr/>
          <p:nvPr/>
        </p:nvSpPr>
        <p:spPr>
          <a:xfrm>
            <a:off x="5177958" y="4407666"/>
            <a:ext cx="2468450"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at processing the tasks</a:t>
            </a:r>
            <a:endParaRPr lang="en-US" altLang="ko-KR" sz="1800" dirty="0"/>
          </a:p>
        </p:txBody>
      </p:sp>
      <p:sp>
        <p:nvSpPr>
          <p:cNvPr id="26" name="reveal_15_kr"/>
          <p:cNvSpPr/>
          <p:nvPr/>
        </p:nvSpPr>
        <p:spPr>
          <a:xfrm>
            <a:off x="5177958" y="4741422"/>
            <a:ext cx="2468450"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과제를 처리하는 데</a:t>
            </a:r>
            <a:endParaRPr lang="en-US" altLang="ko-KR" sz="1450" dirty="0"/>
          </a:p>
        </p:txBody>
      </p:sp>
      <p:sp>
        <p:nvSpPr>
          <p:cNvPr id="27" name="En"/>
          <p:cNvSpPr/>
          <p:nvPr/>
        </p:nvSpPr>
        <p:spPr>
          <a:xfrm>
            <a:off x="548640" y="5103245"/>
            <a:ext cx="4391426"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when the tasks are divided and isolated.</a:t>
            </a:r>
            <a:endParaRPr lang="en-US" altLang="ko-KR" sz="1800" dirty="0"/>
          </a:p>
        </p:txBody>
      </p:sp>
      <p:sp>
        <p:nvSpPr>
          <p:cNvPr id="28" name="reveal_16_kr"/>
          <p:cNvSpPr/>
          <p:nvPr/>
        </p:nvSpPr>
        <p:spPr>
          <a:xfrm>
            <a:off x="548640" y="5437001"/>
            <a:ext cx="4391426"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과제가 나뉘고 분리되어 있을 때</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0-#ppt_w/2"/>
                                          </p:val>
                                        </p:tav>
                                        <p:tav tm="100000">
                                          <p:val>
                                            <p:strVal val="#ppt_x"/>
                                          </p:val>
                                        </p:tav>
                                      </p:tavLst>
                                    </p:anim>
                                    <p:anim calcmode="lin" valueType="num">
                                      <p:cBhvr additive="base">
                                        <p:cTn id="56"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6" grpId="0" animBg="1"/>
      <p:bldP spid="18" grpId="0" animBg="1"/>
      <p:bldP spid="21" grpId="0" animBg="1"/>
      <p:bldP spid="23" grpId="0" animBg="1"/>
      <p:bldP spid="26" grpId="0" animBg="1"/>
      <p:bldP spid="28" grpId="0" animBg="1"/>
    </p:bldLst>
  </p:timing>
</p:sld>
</file>

<file path=ppt/slides/slide4.xml><?xml version="1.0" encoding="utf-8"?>
<p:sld xmlns:a="http://schemas.openxmlformats.org/drawingml/2006/main" xmlns:p="http://schemas.openxmlformats.org/presentationml/2006/main" xmlns:r="http://schemas.openxmlformats.org/officeDocument/2006/relationships">
  <p:cSld name="08 구문 3">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08</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(3/3)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1849695"/>
            <a:ext cx="484917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④ This is not because they necessarily have</a:t>
            </a:r>
            <a:endParaRPr lang="en-US" altLang="ko-KR" sz="1800" dirty="0"/>
          </a:p>
        </p:txBody>
      </p:sp>
      <p:sp>
        <p:nvSpPr>
          <p:cNvPr id="8" name="reveal_17_kr"/>
          <p:cNvSpPr/>
          <p:nvPr/>
        </p:nvSpPr>
        <p:spPr>
          <a:xfrm>
            <a:off x="548640" y="2183451"/>
            <a:ext cx="484917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이것은 그들이 반드시 가지고 있기 때문이 아니다</a:t>
            </a:r>
            <a:endParaRPr lang="en-US" altLang="ko-KR" sz="1450" dirty="0"/>
          </a:p>
        </p:txBody>
      </p:sp>
      <p:sp>
        <p:nvSpPr>
          <p:cNvPr id="9" name="Sep"/>
          <p:cNvSpPr/>
          <p:nvPr/>
        </p:nvSpPr>
        <p:spPr>
          <a:xfrm>
            <a:off x="5352099" y="184969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5579892" y="1849695"/>
            <a:ext cx="449913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more cognitive resources than beginners;</a:t>
            </a:r>
            <a:endParaRPr lang="en-US" altLang="ko-KR" sz="1800" dirty="0"/>
          </a:p>
        </p:txBody>
      </p:sp>
      <p:sp>
        <p:nvSpPr>
          <p:cNvPr id="11" name="reveal_18_kr"/>
          <p:cNvSpPr/>
          <p:nvPr/>
        </p:nvSpPr>
        <p:spPr>
          <a:xfrm>
            <a:off x="5579892" y="2183451"/>
            <a:ext cx="449913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초보자보다 더 많은 인지 자원을</a:t>
            </a:r>
            <a:endParaRPr lang="en-US" altLang="ko-KR" sz="1450" dirty="0"/>
          </a:p>
        </p:txBody>
      </p:sp>
      <p:sp>
        <p:nvSpPr>
          <p:cNvPr id="12" name="En"/>
          <p:cNvSpPr/>
          <p:nvPr/>
        </p:nvSpPr>
        <p:spPr>
          <a:xfrm>
            <a:off x="548640" y="2545274"/>
            <a:ext cx="462154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rather, because of the high level of fluency</a:t>
            </a:r>
            <a:endParaRPr lang="en-US" altLang="ko-KR" sz="1800" dirty="0"/>
          </a:p>
        </p:txBody>
      </p:sp>
      <p:sp>
        <p:nvSpPr>
          <p:cNvPr id="13" name="reveal_19_kr"/>
          <p:cNvSpPr/>
          <p:nvPr/>
        </p:nvSpPr>
        <p:spPr>
          <a:xfrm>
            <a:off x="548640" y="2879030"/>
            <a:ext cx="462154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오히려 높은 수준의 유창함 때문이다</a:t>
            </a:r>
            <a:endParaRPr lang="en-US" altLang="ko-KR" sz="1450" dirty="0"/>
          </a:p>
        </p:txBody>
      </p:sp>
      <p:sp>
        <p:nvSpPr>
          <p:cNvPr id="14" name="Sep"/>
          <p:cNvSpPr/>
          <p:nvPr/>
        </p:nvSpPr>
        <p:spPr>
          <a:xfrm>
            <a:off x="5124466" y="254527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5" name="En"/>
          <p:cNvSpPr/>
          <p:nvPr/>
        </p:nvSpPr>
        <p:spPr>
          <a:xfrm>
            <a:off x="5352259" y="2545274"/>
            <a:ext cx="473781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they have achieved in performing key skills,</a:t>
            </a:r>
            <a:endParaRPr lang="en-US" altLang="ko-KR" sz="1800" dirty="0"/>
          </a:p>
        </p:txBody>
      </p:sp>
      <p:sp>
        <p:nvSpPr>
          <p:cNvPr id="16" name="reveal_20_kr"/>
          <p:cNvSpPr/>
          <p:nvPr/>
        </p:nvSpPr>
        <p:spPr>
          <a:xfrm>
            <a:off x="5352259" y="2879030"/>
            <a:ext cx="473781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그들이 핵심 기술을 수행하는 데 이룬</a:t>
            </a:r>
            <a:endParaRPr lang="en-US" altLang="ko-KR" sz="1450" dirty="0"/>
          </a:p>
        </p:txBody>
      </p:sp>
      <p:sp>
        <p:nvSpPr>
          <p:cNvPr id="17" name="En"/>
          <p:cNvSpPr/>
          <p:nvPr/>
        </p:nvSpPr>
        <p:spPr>
          <a:xfrm>
            <a:off x="548640" y="3240853"/>
            <a:ext cx="426872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they can do more with what they have.</a:t>
            </a:r>
            <a:endParaRPr lang="en-US" altLang="ko-KR" sz="1800" dirty="0"/>
          </a:p>
        </p:txBody>
      </p:sp>
      <p:sp>
        <p:nvSpPr>
          <p:cNvPr id="18" name="reveal_21_kr"/>
          <p:cNvSpPr/>
          <p:nvPr/>
        </p:nvSpPr>
        <p:spPr>
          <a:xfrm>
            <a:off x="548640" y="3574609"/>
            <a:ext cx="426872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그들은 가진 것으로 더 많이 할 수 있다</a:t>
            </a:r>
            <a:endParaRPr lang="en-US" altLang="ko-KR" sz="1450" dirty="0"/>
          </a:p>
        </p:txBody>
      </p:sp>
      <p:sp>
        <p:nvSpPr>
          <p:cNvPr id="19" name="En"/>
          <p:cNvSpPr/>
          <p:nvPr/>
        </p:nvSpPr>
        <p:spPr>
          <a:xfrm>
            <a:off x="548640" y="4018728"/>
            <a:ext cx="365962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⑤ Beginners, on the other hand,</a:t>
            </a:r>
            <a:endParaRPr lang="en-US" altLang="ko-KR" sz="1800" dirty="0"/>
          </a:p>
        </p:txBody>
      </p:sp>
      <p:sp>
        <p:nvSpPr>
          <p:cNvPr id="20" name="reveal_22_kr"/>
          <p:cNvSpPr/>
          <p:nvPr/>
        </p:nvSpPr>
        <p:spPr>
          <a:xfrm>
            <a:off x="548640" y="4352484"/>
            <a:ext cx="365962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반면에 초보자는</a:t>
            </a:r>
            <a:endParaRPr lang="en-US" altLang="ko-KR" sz="1450" dirty="0"/>
          </a:p>
        </p:txBody>
      </p:sp>
      <p:sp>
        <p:nvSpPr>
          <p:cNvPr id="21" name="Sep"/>
          <p:cNvSpPr/>
          <p:nvPr/>
        </p:nvSpPr>
        <p:spPr>
          <a:xfrm>
            <a:off x="4162545" y="401872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2" name="En"/>
          <p:cNvSpPr/>
          <p:nvPr/>
        </p:nvSpPr>
        <p:spPr>
          <a:xfrm>
            <a:off x="4390338" y="4018728"/>
            <a:ext cx="386256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have not achieved the same degree</a:t>
            </a:r>
            <a:endParaRPr lang="en-US" altLang="ko-KR" sz="1800" dirty="0"/>
          </a:p>
        </p:txBody>
      </p:sp>
      <p:sp>
        <p:nvSpPr>
          <p:cNvPr id="23" name="reveal_23_kr"/>
          <p:cNvSpPr/>
          <p:nvPr/>
        </p:nvSpPr>
        <p:spPr>
          <a:xfrm>
            <a:off x="4390338" y="4352484"/>
            <a:ext cx="386256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동일한 수준을 이루지 못했다</a:t>
            </a:r>
            <a:endParaRPr lang="en-US" altLang="ko-KR" sz="1450" dirty="0"/>
          </a:p>
        </p:txBody>
      </p:sp>
      <p:sp>
        <p:nvSpPr>
          <p:cNvPr id="24" name="Sep"/>
          <p:cNvSpPr/>
          <p:nvPr/>
        </p:nvSpPr>
        <p:spPr>
          <a:xfrm>
            <a:off x="8207184" y="401872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5" name="En"/>
          <p:cNvSpPr/>
          <p:nvPr/>
        </p:nvSpPr>
        <p:spPr>
          <a:xfrm>
            <a:off x="8434977" y="4018728"/>
            <a:ext cx="299548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of fluency and automaticity</a:t>
            </a:r>
            <a:endParaRPr lang="en-US" altLang="ko-KR" sz="1800" dirty="0"/>
          </a:p>
        </p:txBody>
      </p:sp>
      <p:sp>
        <p:nvSpPr>
          <p:cNvPr id="26" name="reveal_24_kr"/>
          <p:cNvSpPr/>
          <p:nvPr/>
        </p:nvSpPr>
        <p:spPr>
          <a:xfrm>
            <a:off x="8434977" y="4352484"/>
            <a:ext cx="299548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유창함과 자동성의</a:t>
            </a:r>
            <a:endParaRPr lang="en-US" altLang="ko-KR" sz="1450" dirty="0"/>
          </a:p>
        </p:txBody>
      </p:sp>
      <p:sp>
        <p:nvSpPr>
          <p:cNvPr id="27" name="En"/>
          <p:cNvSpPr/>
          <p:nvPr/>
        </p:nvSpPr>
        <p:spPr>
          <a:xfrm>
            <a:off x="548640" y="4714307"/>
            <a:ext cx="345191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 each of the component skills,</a:t>
            </a:r>
            <a:endParaRPr lang="en-US" altLang="ko-KR" sz="1800" dirty="0"/>
          </a:p>
        </p:txBody>
      </p:sp>
      <p:sp>
        <p:nvSpPr>
          <p:cNvPr id="28" name="reveal_25_kr"/>
          <p:cNvSpPr/>
          <p:nvPr/>
        </p:nvSpPr>
        <p:spPr>
          <a:xfrm>
            <a:off x="548640" y="5048063"/>
            <a:ext cx="345191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각각의 구성 기술에서</a:t>
            </a:r>
            <a:endParaRPr lang="en-US" altLang="ko-KR" sz="1450" dirty="0"/>
          </a:p>
        </p:txBody>
      </p:sp>
      <p:sp>
        <p:nvSpPr>
          <p:cNvPr id="29" name="Sep"/>
          <p:cNvSpPr/>
          <p:nvPr/>
        </p:nvSpPr>
        <p:spPr>
          <a:xfrm>
            <a:off x="3954834" y="471430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0" name="En"/>
          <p:cNvSpPr/>
          <p:nvPr/>
        </p:nvSpPr>
        <p:spPr>
          <a:xfrm>
            <a:off x="4182627" y="4714307"/>
            <a:ext cx="431173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thus they struggle to combine skills</a:t>
            </a:r>
            <a:endParaRPr lang="en-US" altLang="ko-KR" sz="1800" dirty="0"/>
          </a:p>
        </p:txBody>
      </p:sp>
      <p:sp>
        <p:nvSpPr>
          <p:cNvPr id="31" name="reveal_26_kr"/>
          <p:cNvSpPr/>
          <p:nvPr/>
        </p:nvSpPr>
        <p:spPr>
          <a:xfrm>
            <a:off x="4182627" y="5048063"/>
            <a:ext cx="431173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그래서 그들은 기술을 결합하는 데 어려움을 겪는다</a:t>
            </a:r>
            <a:endParaRPr lang="en-US" altLang="ko-KR" sz="1450" dirty="0"/>
          </a:p>
        </p:txBody>
      </p:sp>
      <p:sp>
        <p:nvSpPr>
          <p:cNvPr id="32" name="En"/>
          <p:cNvSpPr/>
          <p:nvPr/>
        </p:nvSpPr>
        <p:spPr>
          <a:xfrm>
            <a:off x="548640" y="5409886"/>
            <a:ext cx="593601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experts combine with relative ease and efficiency.</a:t>
            </a:r>
            <a:endParaRPr lang="en-US" altLang="ko-KR" sz="1800" dirty="0"/>
          </a:p>
        </p:txBody>
      </p:sp>
      <p:sp>
        <p:nvSpPr>
          <p:cNvPr id="33" name="reveal_27_kr"/>
          <p:cNvSpPr/>
          <p:nvPr/>
        </p:nvSpPr>
        <p:spPr>
          <a:xfrm>
            <a:off x="548640" y="5743642"/>
            <a:ext cx="593601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전문가는 비교적 쉽고 효율적으로 결합하는</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0-#ppt_w/2"/>
                                          </p:val>
                                        </p:tav>
                                        <p:tav tm="100000">
                                          <p:val>
                                            <p:strVal val="#ppt_x"/>
                                          </p:val>
                                        </p:tav>
                                      </p:tavLst>
                                    </p:anim>
                                    <p:anim calcmode="lin" valueType="num">
                                      <p:cBhvr additive="base">
                                        <p:cTn id="3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0-#ppt_w/2"/>
                                          </p:val>
                                        </p:tav>
                                        <p:tav tm="100000">
                                          <p:val>
                                            <p:strVal val="#ppt_x"/>
                                          </p:val>
                                        </p:tav>
                                      </p:tavLst>
                                    </p:anim>
                                    <p:anim calcmode="lin" valueType="num">
                                      <p:cBhvr additive="base">
                                        <p:cTn id="56"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1"/>
                                        </p:tgtEl>
                                        <p:attrNameLst>
                                          <p:attrName>style.visibility</p:attrName>
                                        </p:attrNameLst>
                                      </p:cBhvr>
                                      <p:to>
                                        <p:strVal val="visible"/>
                                      </p:to>
                                    </p:set>
                                    <p:anim calcmode="lin" valueType="num">
                                      <p:cBhvr additive="base">
                                        <p:cTn id="61" dur="500" fill="hold"/>
                                        <p:tgtEl>
                                          <p:spTgt spid="31"/>
                                        </p:tgtEl>
                                        <p:attrNameLst>
                                          <p:attrName>ppt_x</p:attrName>
                                        </p:attrNameLst>
                                      </p:cBhvr>
                                      <p:tavLst>
                                        <p:tav tm="0">
                                          <p:val>
                                            <p:strVal val="0-#ppt_w/2"/>
                                          </p:val>
                                        </p:tav>
                                        <p:tav tm="100000">
                                          <p:val>
                                            <p:strVal val="#ppt_x"/>
                                          </p:val>
                                        </p:tav>
                                      </p:tavLst>
                                    </p:anim>
                                    <p:anim calcmode="lin" valueType="num">
                                      <p:cBhvr additive="base">
                                        <p:cTn id="6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additive="base">
                                        <p:cTn id="66" dur="1" fill="hold">
                                          <p:stCondLst>
                                            <p:cond delay="0"/>
                                          </p:stCondLst>
                                        </p:cTn>
                                        <p:tgtEl>
                                          <p:spTgt spid="33"/>
                                        </p:tgtEl>
                                        <p:attrNameLst>
                                          <p:attrName>style.visibility</p:attrName>
                                        </p:attrNameLst>
                                      </p:cBhvr>
                                      <p:to>
                                        <p:strVal val="visible"/>
                                      </p:to>
                                    </p:set>
                                    <p:anim calcmode="lin" valueType="num">
                                      <p:cBhvr additive="base">
                                        <p:cTn id="67" dur="500" fill="hold"/>
                                        <p:tgtEl>
                                          <p:spTgt spid="33"/>
                                        </p:tgtEl>
                                        <p:attrNameLst>
                                          <p:attrName>ppt_x</p:attrName>
                                        </p:attrNameLst>
                                      </p:cBhvr>
                                      <p:tavLst>
                                        <p:tav tm="0">
                                          <p:val>
                                            <p:strVal val="0-#ppt_w/2"/>
                                          </p:val>
                                        </p:tav>
                                        <p:tav tm="100000">
                                          <p:val>
                                            <p:strVal val="#ppt_x"/>
                                          </p:val>
                                        </p:tav>
                                      </p:tavLst>
                                    </p:anim>
                                    <p:anim calcmode="lin" valueType="num">
                                      <p:cBhvr additive="base">
                                        <p:cTn id="68" dur="500" fill="hold"/>
                                        <p:tgtEl>
                                          <p:spTgt spid="3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6" grpId="0" animBg="1"/>
      <p:bldP spid="18" grpId="0" animBg="1"/>
      <p:bldP spid="20" grpId="0" animBg="1"/>
      <p:bldP spid="23" grpId="0" animBg="1"/>
      <p:bldP spid="26" grpId="0" animBg="1"/>
      <p:bldP spid="28" grpId="0" animBg="1"/>
      <p:bldP spid="31" grpId="0" animBg="1"/>
      <p:bldP spid="33" grpId="0" animBg="1"/>
    </p:bldLst>
  </p:timing>
</p:sld>
</file>

<file path=ppt/slides/slide5.xml><?xml version="1.0" encoding="utf-8"?>
<p:sld xmlns:a="http://schemas.openxmlformats.org/drawingml/2006/main" xmlns:p="http://schemas.openxmlformats.org/presentationml/2006/main" xmlns:r="http://schemas.openxmlformats.org/officeDocument/2006/relationships">
  <p:cSld name="08 문제">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08</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2024학년도 6월 35번 — 무관한 문장 찾기</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클릭하면 정답이 노란 박스로 나타납니다</a:t>
            </a:r>
            <a:endParaRPr lang="en-US" altLang="ko-KR" sz="1100" dirty="0"/>
          </a:p>
        </p:txBody>
      </p:sp>
      <p:sp>
        <p:nvSpPr>
          <p:cNvPr id="7" name="Prompt"/>
          <p:cNvSpPr/>
          <p:nvPr/>
        </p:nvSpPr>
        <p:spPr>
          <a:xfrm>
            <a:off x="548640" y="1325880"/>
            <a:ext cx="11091672" cy="324000"/>
          </a:xfrm>
          <a:prstGeom prst="rect">
            <a:avLst/>
          </a:prstGeom>
          <a:noFill/>
          <a:ln>
            <a:noFill/>
          </a:ln>
        </p:spPr>
        <p:txBody>
          <a:bodyPr wrap="square" lIns="0" tIns="0" rIns="0" bIns="0" rtlCol="0" anchor="ctr"/>
          <a:lstStyle/>
          <a:p>
            <a:pPr marL="0" indent="0">
              <a:buNone/>
            </a:pPr>
            <a:r>
              <a:rPr lang="en-US" altLang="ko-KR" sz="1300" b="1" dirty="0">
                <a:solidFill>
                  <a:srgbClr val="1E2761"/>
                </a:solidFill>
                <a:latin typeface="맑은 고딕" pitchFamily="34" charset="0"/>
                <a:ea typeface="맑은 고딕" pitchFamily="34" charset="-122"/>
                <a:cs typeface="맑은 고딕" pitchFamily="34" charset="-120"/>
              </a:rPr>
              <a:t>다음 글에서 전체 흐름과 관계 </a:t>
            </a:r>
            <a:r>
              <a:rPr lang="en-US" altLang="ko-KR" sz="1300" b="1" u="sng" dirty="0">
                <a:solidFill>
                  <a:srgbClr val="1E2761"/>
                </a:solidFill>
                <a:latin typeface="맑은 고딕" pitchFamily="34" charset="0"/>
                <a:ea typeface="맑은 고딕" pitchFamily="34" charset="-122"/>
                <a:cs typeface="맑은 고딕" pitchFamily="34" charset="-120"/>
              </a:rPr>
              <a:t>없는</a:t>
            </a:r>
            <a:r>
              <a:rPr lang="en-US" altLang="ko-KR" sz="1300" b="1" dirty="0">
                <a:solidFill>
                  <a:srgbClr val="1E2761"/>
                </a:solidFill>
                <a:latin typeface="맑은 고딕" pitchFamily="34" charset="0"/>
                <a:ea typeface="맑은 고딕" pitchFamily="34" charset="-122"/>
                <a:cs typeface="맑은 고딕" pitchFamily="34" charset="-120"/>
              </a:rPr>
              <a:t> 문장은?</a:t>
            </a:r>
            <a:endParaRPr lang="en-US" altLang="ko-KR" sz="1300" dirty="0"/>
          </a:p>
        </p:txBody>
      </p:sp>
      <p:sp>
        <p:nvSpPr>
          <p:cNvPr id="8" name="Passage"/>
          <p:cNvSpPr/>
          <p:nvPr/>
        </p:nvSpPr>
        <p:spPr>
          <a:xfrm>
            <a:off x="548640" y="1787040"/>
            <a:ext cx="11091672" cy="2124475"/>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solidFill>
                <a:latin typeface="Calibri" pitchFamily="34" charset="0"/>
                <a:ea typeface="Calibri" pitchFamily="34" charset="-122"/>
                <a:cs typeface="Calibri" pitchFamily="34" charset="-120"/>
              </a:rPr>
              <a:t>Interestingly, experts do not suffer as much as beginners when performing complex tasks or combining multiple tasks. Because experts have extensive practice within a limited domain, the key component skills in their domain tend to be highly practiced and more automated. ① Each of these highly practiced skills then demands relatively few cognitive resources, effectively lowering the total cognitive load that experts experience. ② Thus, experts can perform complex tasks and combine multiple tasks relatively easily. </a:t>
            </a:r>
            <a:r>
              <a:rPr lang="en-US" altLang="ko-KR" sz="1400" dirty="0">
                <a:solidFill>
                  <a:srgbClr val="333333"/>
                </a:solidFill>
                <a:latin typeface="Calibri" pitchFamily="34" charset="0"/>
                <a:ea typeface="Calibri" pitchFamily="34" charset="-122"/>
                <a:cs typeface="Calibri" pitchFamily="34" charset="-120"/>
              </a:rPr>
              <a:t>③ Furthermore, beginners are excellent at processing the tasks when the tasks are divided and isolated.</a:t>
            </a:r>
            <a:r>
              <a:rPr lang="en-US" altLang="ko-KR" sz="1400" dirty="0">
                <a:solidFill>
                  <a:srgbClr val="333333"/>
                </a:solidFill>
                <a:latin typeface="Calibri" pitchFamily="34" charset="0"/>
                <a:ea typeface="Calibri" pitchFamily="34" charset="-122"/>
                <a:cs typeface="Calibri" pitchFamily="34" charset="-120"/>
              </a:rPr>
              <a:t> ④ This is not because they necessarily have more cognitive resources than beginners; rather, because of the high level of fluency they have achieved in performing key skills, they can do more with what they have. ⑤ Beginners, on the other hand, have not achieved the same degree of fluency and automaticity in each of the component skills, and thus they struggle to combine skills that experts combine with relative ease and efficiency.</a:t>
            </a:r>
            <a:endParaRPr lang="en-US" altLang="ko-KR" sz="1400" dirty="0"/>
          </a:p>
        </p:txBody>
      </p:sp>
      <p:sp>
        <p:nvSpPr>
          <p:cNvPr id="9" name="AnsOverlay"/>
          <p:cNvSpPr/>
          <p:nvPr/>
        </p:nvSpPr>
        <p:spPr>
          <a:xfrm>
            <a:off x="548640" y="1787040"/>
            <a:ext cx="11091672" cy="2124475"/>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alpha val="0"/>
                  </a:srgbClr>
                </a:solidFill>
                <a:latin typeface="Calibri" pitchFamily="34" charset="0"/>
                <a:ea typeface="Calibri" pitchFamily="34" charset="-122"/>
                <a:cs typeface="Calibri" pitchFamily="34" charset="-120"/>
              </a:rPr>
              <a:t>Interestingly, experts do not suffer as much as beginners when performing complex tasks or combining multiple tasks. Because experts have extensive practice within a limited domain, the key component skills in their domain tend to be highly practiced and more automated. ① Each of these highly practiced skills then demands relatively few cognitive resources, effectively lowering the total cognitive load that experts experience. ② Thus, experts can perform complex tasks and combine multiple tasks relatively easily. </a:t>
            </a:r>
            <a:r>
              <a:rPr lang="en-US" altLang="ko-KR" sz="1400" dirty="0">
                <a:solidFill>
                  <a:srgbClr val="C00000"/>
                </a:solidFill>
                <a:latin typeface="Calibri" pitchFamily="34" charset="0"/>
                <a:ea typeface="Calibri" pitchFamily="34" charset="-122"/>
                <a:cs typeface="Calibri" pitchFamily="34" charset="-120"/>
              </a:rPr>
              <a:t>③ Furthermore, beginners are excellent at processing the tasks when the tasks are divided and isolated.</a:t>
            </a:r>
            <a:r>
              <a:rPr lang="en-US" altLang="ko-KR" sz="1400" dirty="0">
                <a:solidFill>
                  <a:srgbClr val="333333">
                    <a:alpha val="0"/>
                  </a:srgbClr>
                </a:solidFill>
                <a:latin typeface="Calibri" pitchFamily="34" charset="0"/>
                <a:ea typeface="Calibri" pitchFamily="34" charset="-122"/>
                <a:cs typeface="Calibri" pitchFamily="34" charset="-120"/>
              </a:rPr>
              <a:t> ④ This is not because they necessarily have more cognitive resources than beginners; rather, because of the high level of fluency they have achieved in performing key skills, they can do more with what they have. ⑤ Beginners, on the other hand, have not achieved the same degree of fluency and automaticity in each of the component skills, and thus they struggle to combine skills that experts combine with relative ease and efficiency.</a:t>
            </a:r>
            <a:endParaRPr lang="en-US" altLang="ko-KR" sz="1400" dirty="0"/>
          </a:p>
        </p:txBody>
      </p:sp>
      <p:sp>
        <p:nvSpPr>
          <p:cNvPr id="10" name="AnsBg"/>
          <p:cNvSpPr/>
          <p:nvPr/>
        </p:nvSpPr>
        <p:spPr>
          <a:xfrm>
            <a:off x="548640" y="4033915"/>
            <a:ext cx="11091672" cy="457200"/>
          </a:xfrm>
          <a:prstGeom prst="rect">
            <a:avLst/>
          </a:prstGeom>
          <a:solidFill>
            <a:srgbClr val="FFF4CC"/>
          </a:solidFill>
          <a:ln>
            <a:noFill/>
          </a:ln>
        </p:spPr>
        <p:txBody>
          <a:bodyPr/>
          <a:lstStyle/>
          <a:p>
            <a:endParaRPr lang="ko-KR" altLang="en-US"/>
          </a:p>
        </p:txBody>
      </p:sp>
      <p:sp>
        <p:nvSpPr>
          <p:cNvPr id="11" name="reveal_8_en"/>
          <p:cNvSpPr/>
          <p:nvPr/>
        </p:nvSpPr>
        <p:spPr>
          <a:xfrm>
            <a:off x="732240" y="4033915"/>
            <a:ext cx="10724472" cy="457200"/>
          </a:xfrm>
          <a:prstGeom prst="rect">
            <a:avLst/>
          </a:prstGeom>
          <a:noFill/>
          <a:ln>
            <a:noFill/>
          </a:ln>
        </p:spPr>
        <p:txBody>
          <a:bodyPr wrap="square" lIns="0" tIns="0" rIns="0" bIns="0" rtlCol="0" anchor="ctr"/>
          <a:lstStyle/>
          <a:p>
            <a:pPr marL="0" indent="0">
              <a:buNone/>
            </a:pPr>
            <a:r>
              <a:rPr lang="en-US" altLang="ko-KR" sz="1500" b="1" dirty="0">
                <a:solidFill>
                  <a:srgbClr val="5A4200"/>
                </a:solidFill>
                <a:latin typeface="맑은 고딕" pitchFamily="34" charset="0"/>
                <a:ea typeface="맑은 고딕" pitchFamily="34" charset="-122"/>
                <a:cs typeface="맑은 고딕" pitchFamily="34" charset="-120"/>
              </a:rPr>
              <a:t>정답   ③</a:t>
            </a:r>
            <a:endParaRPr lang="en-US" altLang="ko-KR"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additive="base">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additive="base">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additive="base">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9" grpId="0" animBg="1"/>
    </p:bldLst>
  </p:timing>
</p:sld>
</file>

<file path=ppt/slides/slide6.xml><?xml version="1.0" encoding="utf-8"?>
<p:sld xmlns:a="http://schemas.openxmlformats.org/drawingml/2006/main" xmlns:p="http://schemas.openxmlformats.org/presentationml/2006/main" xmlns:r="http://schemas.openxmlformats.org/officeDocument/2006/relationships">
  <p:cSld name="10 구문 1">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10</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(1/2)</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1808547"/>
            <a:ext cx="263579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Since their introduction,</a:t>
            </a:r>
            <a:endParaRPr lang="en-US" altLang="ko-KR" sz="1800" dirty="0"/>
          </a:p>
        </p:txBody>
      </p:sp>
      <p:sp>
        <p:nvSpPr>
          <p:cNvPr id="8" name="reveal_1_kr"/>
          <p:cNvSpPr/>
          <p:nvPr/>
        </p:nvSpPr>
        <p:spPr>
          <a:xfrm>
            <a:off x="548640" y="2142303"/>
            <a:ext cx="263579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도입된 이래로</a:t>
            </a:r>
            <a:endParaRPr lang="en-US" altLang="ko-KR" sz="1450" dirty="0"/>
          </a:p>
        </p:txBody>
      </p:sp>
      <p:sp>
        <p:nvSpPr>
          <p:cNvPr id="9" name="Sep"/>
          <p:cNvSpPr/>
          <p:nvPr/>
        </p:nvSpPr>
        <p:spPr>
          <a:xfrm>
            <a:off x="3138711" y="180854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3366504" y="1808547"/>
            <a:ext cx="521866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information systems have substantially changed</a:t>
            </a:r>
            <a:endParaRPr lang="en-US" altLang="ko-KR" sz="1800" dirty="0"/>
          </a:p>
        </p:txBody>
      </p:sp>
      <p:sp>
        <p:nvSpPr>
          <p:cNvPr id="11" name="reveal_2_kr"/>
          <p:cNvSpPr/>
          <p:nvPr/>
        </p:nvSpPr>
        <p:spPr>
          <a:xfrm>
            <a:off x="3366504" y="2142303"/>
            <a:ext cx="521866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정보 시스템은 상당히 바꾸어 놓았다</a:t>
            </a:r>
            <a:endParaRPr lang="en-US" altLang="ko-KR" sz="1450" dirty="0"/>
          </a:p>
        </p:txBody>
      </p:sp>
      <p:sp>
        <p:nvSpPr>
          <p:cNvPr id="12" name="En"/>
          <p:cNvSpPr/>
          <p:nvPr/>
        </p:nvSpPr>
        <p:spPr>
          <a:xfrm>
            <a:off x="548640" y="2504126"/>
            <a:ext cx="336391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 way business is conducted.</a:t>
            </a:r>
            <a:endParaRPr lang="en-US" altLang="ko-KR" sz="1800" dirty="0"/>
          </a:p>
        </p:txBody>
      </p:sp>
      <p:sp>
        <p:nvSpPr>
          <p:cNvPr id="13" name="reveal_3_kr"/>
          <p:cNvSpPr/>
          <p:nvPr/>
        </p:nvSpPr>
        <p:spPr>
          <a:xfrm>
            <a:off x="548640" y="2837882"/>
            <a:ext cx="336391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사업이 이루어지는 방식을</a:t>
            </a:r>
            <a:endParaRPr lang="en-US" altLang="ko-KR" sz="1450" dirty="0"/>
          </a:p>
        </p:txBody>
      </p:sp>
      <p:sp>
        <p:nvSpPr>
          <p:cNvPr id="14" name="En"/>
          <p:cNvSpPr/>
          <p:nvPr/>
        </p:nvSpPr>
        <p:spPr>
          <a:xfrm>
            <a:off x="548640" y="3282001"/>
            <a:ext cx="290112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① This is particularly true</a:t>
            </a:r>
            <a:endParaRPr lang="en-US" altLang="ko-KR" sz="1800" dirty="0"/>
          </a:p>
        </p:txBody>
      </p:sp>
      <p:sp>
        <p:nvSpPr>
          <p:cNvPr id="15" name="reveal_4_kr"/>
          <p:cNvSpPr/>
          <p:nvPr/>
        </p:nvSpPr>
        <p:spPr>
          <a:xfrm>
            <a:off x="548640" y="3615757"/>
            <a:ext cx="290112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이것은 특히 사실이다</a:t>
            </a:r>
            <a:endParaRPr lang="en-US" altLang="ko-KR" sz="1450" dirty="0"/>
          </a:p>
        </p:txBody>
      </p:sp>
      <p:sp>
        <p:nvSpPr>
          <p:cNvPr id="16" name="Sep"/>
          <p:cNvSpPr/>
          <p:nvPr/>
        </p:nvSpPr>
        <p:spPr>
          <a:xfrm>
            <a:off x="3404043" y="3282001"/>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7" name="En"/>
          <p:cNvSpPr/>
          <p:nvPr/>
        </p:nvSpPr>
        <p:spPr>
          <a:xfrm>
            <a:off x="3631836" y="3282001"/>
            <a:ext cx="376439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for business in the shape and form</a:t>
            </a:r>
            <a:endParaRPr lang="en-US" altLang="ko-KR" sz="1800" dirty="0"/>
          </a:p>
        </p:txBody>
      </p:sp>
      <p:sp>
        <p:nvSpPr>
          <p:cNvPr id="18" name="reveal_5_kr"/>
          <p:cNvSpPr/>
          <p:nvPr/>
        </p:nvSpPr>
        <p:spPr>
          <a:xfrm>
            <a:off x="3631836" y="3615757"/>
            <a:ext cx="376439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형태와 형식의 사업에서</a:t>
            </a:r>
            <a:endParaRPr lang="en-US" altLang="ko-KR" sz="1450" dirty="0"/>
          </a:p>
        </p:txBody>
      </p:sp>
      <p:sp>
        <p:nvSpPr>
          <p:cNvPr id="19" name="Sep"/>
          <p:cNvSpPr/>
          <p:nvPr/>
        </p:nvSpPr>
        <p:spPr>
          <a:xfrm>
            <a:off x="7350509" y="3282001"/>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0" name="En"/>
          <p:cNvSpPr/>
          <p:nvPr/>
        </p:nvSpPr>
        <p:spPr>
          <a:xfrm>
            <a:off x="7578302" y="3282001"/>
            <a:ext cx="323909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of cooperation between firms</a:t>
            </a:r>
            <a:endParaRPr lang="en-US" altLang="ko-KR" sz="1800" dirty="0"/>
          </a:p>
        </p:txBody>
      </p:sp>
      <p:sp>
        <p:nvSpPr>
          <p:cNvPr id="21" name="reveal_6_kr"/>
          <p:cNvSpPr/>
          <p:nvPr/>
        </p:nvSpPr>
        <p:spPr>
          <a:xfrm>
            <a:off x="7578302" y="3615757"/>
            <a:ext cx="323909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기업 간 협력이라는</a:t>
            </a:r>
            <a:endParaRPr lang="en-US" altLang="ko-KR" sz="1450" dirty="0"/>
          </a:p>
        </p:txBody>
      </p:sp>
      <p:sp>
        <p:nvSpPr>
          <p:cNvPr id="22" name="En"/>
          <p:cNvSpPr/>
          <p:nvPr/>
        </p:nvSpPr>
        <p:spPr>
          <a:xfrm>
            <a:off x="548640" y="3977580"/>
            <a:ext cx="467061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involves an integration of value chains</a:t>
            </a:r>
            <a:endParaRPr lang="en-US" altLang="ko-KR" sz="1800" dirty="0"/>
          </a:p>
        </p:txBody>
      </p:sp>
      <p:sp>
        <p:nvSpPr>
          <p:cNvPr id="23" name="reveal_7_kr"/>
          <p:cNvSpPr/>
          <p:nvPr/>
        </p:nvSpPr>
        <p:spPr>
          <a:xfrm>
            <a:off x="548640" y="4311336"/>
            <a:ext cx="467061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가치 사슬의 통합을 수반하는</a:t>
            </a:r>
            <a:endParaRPr lang="en-US" altLang="ko-KR" sz="1450" dirty="0"/>
          </a:p>
        </p:txBody>
      </p:sp>
      <p:sp>
        <p:nvSpPr>
          <p:cNvPr id="24" name="Sep"/>
          <p:cNvSpPr/>
          <p:nvPr/>
        </p:nvSpPr>
        <p:spPr>
          <a:xfrm>
            <a:off x="5173530" y="3977580"/>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5" name="En"/>
          <p:cNvSpPr/>
          <p:nvPr/>
        </p:nvSpPr>
        <p:spPr>
          <a:xfrm>
            <a:off x="5401323" y="3977580"/>
            <a:ext cx="232427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across multiple units.</a:t>
            </a:r>
            <a:endParaRPr lang="en-US" altLang="ko-KR" sz="1800" dirty="0"/>
          </a:p>
        </p:txBody>
      </p:sp>
      <p:sp>
        <p:nvSpPr>
          <p:cNvPr id="26" name="reveal_8_kr"/>
          <p:cNvSpPr/>
          <p:nvPr/>
        </p:nvSpPr>
        <p:spPr>
          <a:xfrm>
            <a:off x="5401323" y="4311336"/>
            <a:ext cx="232427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여러 부문에 걸친</a:t>
            </a:r>
            <a:endParaRPr lang="en-US" altLang="ko-KR" sz="1450" dirty="0"/>
          </a:p>
        </p:txBody>
      </p:sp>
      <p:sp>
        <p:nvSpPr>
          <p:cNvPr id="27" name="En"/>
          <p:cNvSpPr/>
          <p:nvPr/>
        </p:nvSpPr>
        <p:spPr>
          <a:xfrm>
            <a:off x="548640" y="4755455"/>
            <a:ext cx="290406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② The resulting networks</a:t>
            </a:r>
            <a:endParaRPr lang="en-US" altLang="ko-KR" sz="1800" dirty="0"/>
          </a:p>
        </p:txBody>
      </p:sp>
      <p:sp>
        <p:nvSpPr>
          <p:cNvPr id="28" name="reveal_9_kr"/>
          <p:cNvSpPr/>
          <p:nvPr/>
        </p:nvSpPr>
        <p:spPr>
          <a:xfrm>
            <a:off x="548640" y="5089211"/>
            <a:ext cx="290406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 결과로 생긴 네트워크는</a:t>
            </a:r>
            <a:endParaRPr lang="en-US" altLang="ko-KR" sz="1450" dirty="0"/>
          </a:p>
        </p:txBody>
      </p:sp>
      <p:sp>
        <p:nvSpPr>
          <p:cNvPr id="29" name="Sep"/>
          <p:cNvSpPr/>
          <p:nvPr/>
        </p:nvSpPr>
        <p:spPr>
          <a:xfrm>
            <a:off x="3406987" y="475545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0" name="En"/>
          <p:cNvSpPr/>
          <p:nvPr/>
        </p:nvSpPr>
        <p:spPr>
          <a:xfrm>
            <a:off x="3634780" y="4755455"/>
            <a:ext cx="190271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do not only cover</a:t>
            </a:r>
            <a:endParaRPr lang="en-US" altLang="ko-KR" sz="1800" dirty="0"/>
          </a:p>
        </p:txBody>
      </p:sp>
      <p:sp>
        <p:nvSpPr>
          <p:cNvPr id="31" name="reveal_10_kr"/>
          <p:cNvSpPr/>
          <p:nvPr/>
        </p:nvSpPr>
        <p:spPr>
          <a:xfrm>
            <a:off x="3634780" y="5089211"/>
            <a:ext cx="190271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포괄하지 않는다</a:t>
            </a:r>
            <a:endParaRPr lang="en-US" altLang="ko-KR" sz="1450" dirty="0"/>
          </a:p>
        </p:txBody>
      </p:sp>
      <p:sp>
        <p:nvSpPr>
          <p:cNvPr id="32" name="Sep"/>
          <p:cNvSpPr/>
          <p:nvPr/>
        </p:nvSpPr>
        <p:spPr>
          <a:xfrm>
            <a:off x="5491772" y="475545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3" name="En"/>
          <p:cNvSpPr/>
          <p:nvPr/>
        </p:nvSpPr>
        <p:spPr>
          <a:xfrm>
            <a:off x="5719565" y="4755455"/>
            <a:ext cx="363792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 business units of a single firm</a:t>
            </a:r>
            <a:endParaRPr lang="en-US" altLang="ko-KR" sz="1800" dirty="0"/>
          </a:p>
        </p:txBody>
      </p:sp>
      <p:sp>
        <p:nvSpPr>
          <p:cNvPr id="34" name="reveal_11_kr"/>
          <p:cNvSpPr/>
          <p:nvPr/>
        </p:nvSpPr>
        <p:spPr>
          <a:xfrm>
            <a:off x="5719565" y="5089211"/>
            <a:ext cx="363792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단일 기업의 사업 부문만을</a:t>
            </a:r>
            <a:endParaRPr lang="en-US" altLang="ko-KR" sz="1450" dirty="0"/>
          </a:p>
        </p:txBody>
      </p:sp>
      <p:sp>
        <p:nvSpPr>
          <p:cNvPr id="35" name="En"/>
          <p:cNvSpPr/>
          <p:nvPr/>
        </p:nvSpPr>
        <p:spPr>
          <a:xfrm>
            <a:off x="548640" y="5451034"/>
            <a:ext cx="269998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but typically also include</a:t>
            </a:r>
            <a:endParaRPr lang="en-US" altLang="ko-KR" sz="1800" dirty="0"/>
          </a:p>
        </p:txBody>
      </p:sp>
      <p:sp>
        <p:nvSpPr>
          <p:cNvPr id="36" name="reveal_12_kr"/>
          <p:cNvSpPr/>
          <p:nvPr/>
        </p:nvSpPr>
        <p:spPr>
          <a:xfrm>
            <a:off x="548640" y="5784790"/>
            <a:ext cx="269998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하지만 일반적으로 포함한다</a:t>
            </a:r>
            <a:endParaRPr lang="en-US" altLang="ko-KR" sz="1450" dirty="0"/>
          </a:p>
        </p:txBody>
      </p:sp>
      <p:sp>
        <p:nvSpPr>
          <p:cNvPr id="37" name="Sep"/>
          <p:cNvSpPr/>
          <p:nvPr/>
        </p:nvSpPr>
        <p:spPr>
          <a:xfrm>
            <a:off x="3202905" y="545103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8" name="En"/>
          <p:cNvSpPr/>
          <p:nvPr/>
        </p:nvSpPr>
        <p:spPr>
          <a:xfrm>
            <a:off x="3430698" y="5451034"/>
            <a:ext cx="379232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multiple units from different firms.</a:t>
            </a:r>
            <a:endParaRPr lang="en-US" altLang="ko-KR" sz="1800" dirty="0"/>
          </a:p>
        </p:txBody>
      </p:sp>
      <p:sp>
        <p:nvSpPr>
          <p:cNvPr id="39" name="reveal_13_kr"/>
          <p:cNvSpPr/>
          <p:nvPr/>
        </p:nvSpPr>
        <p:spPr>
          <a:xfrm>
            <a:off x="3430698" y="5784790"/>
            <a:ext cx="379232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서로 다른 기업의 여러 부문도</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0-#ppt_w/2"/>
                                          </p:val>
                                        </p:tav>
                                        <p:tav tm="100000">
                                          <p:val>
                                            <p:strVal val="#ppt_x"/>
                                          </p:val>
                                        </p:tav>
                                      </p:tavLst>
                                    </p:anim>
                                    <p:anim calcmode="lin" valueType="num">
                                      <p:cBhvr additive="base">
                                        <p:cTn id="26"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0-#ppt_w/2"/>
                                          </p:val>
                                        </p:tav>
                                        <p:tav tm="100000">
                                          <p:val>
                                            <p:strVal val="#ppt_x"/>
                                          </p:val>
                                        </p:tav>
                                      </p:tavLst>
                                    </p:anim>
                                    <p:anim calcmode="lin" valueType="num">
                                      <p:cBhvr additive="base">
                                        <p:cTn id="56"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1"/>
                                        </p:tgtEl>
                                        <p:attrNameLst>
                                          <p:attrName>style.visibility</p:attrName>
                                        </p:attrNameLst>
                                      </p:cBhvr>
                                      <p:to>
                                        <p:strVal val="visible"/>
                                      </p:to>
                                    </p:set>
                                    <p:anim calcmode="lin" valueType="num">
                                      <p:cBhvr additive="base">
                                        <p:cTn id="61" dur="500" fill="hold"/>
                                        <p:tgtEl>
                                          <p:spTgt spid="31"/>
                                        </p:tgtEl>
                                        <p:attrNameLst>
                                          <p:attrName>ppt_x</p:attrName>
                                        </p:attrNameLst>
                                      </p:cBhvr>
                                      <p:tavLst>
                                        <p:tav tm="0">
                                          <p:val>
                                            <p:strVal val="0-#ppt_w/2"/>
                                          </p:val>
                                        </p:tav>
                                        <p:tav tm="100000">
                                          <p:val>
                                            <p:strVal val="#ppt_x"/>
                                          </p:val>
                                        </p:tav>
                                      </p:tavLst>
                                    </p:anim>
                                    <p:anim calcmode="lin" valueType="num">
                                      <p:cBhvr additive="base">
                                        <p:cTn id="6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additive="base">
                                        <p:cTn id="66" dur="1" fill="hold">
                                          <p:stCondLst>
                                            <p:cond delay="0"/>
                                          </p:stCondLst>
                                        </p:cTn>
                                        <p:tgtEl>
                                          <p:spTgt spid="34"/>
                                        </p:tgtEl>
                                        <p:attrNameLst>
                                          <p:attrName>style.visibility</p:attrName>
                                        </p:attrNameLst>
                                      </p:cBhvr>
                                      <p:to>
                                        <p:strVal val="visible"/>
                                      </p:to>
                                    </p:set>
                                    <p:anim calcmode="lin" valueType="num">
                                      <p:cBhvr additive="base">
                                        <p:cTn id="67" dur="500" fill="hold"/>
                                        <p:tgtEl>
                                          <p:spTgt spid="34"/>
                                        </p:tgtEl>
                                        <p:attrNameLst>
                                          <p:attrName>ppt_x</p:attrName>
                                        </p:attrNameLst>
                                      </p:cBhvr>
                                      <p:tavLst>
                                        <p:tav tm="0">
                                          <p:val>
                                            <p:strVal val="0-#ppt_w/2"/>
                                          </p:val>
                                        </p:tav>
                                        <p:tav tm="100000">
                                          <p:val>
                                            <p:strVal val="#ppt_x"/>
                                          </p:val>
                                        </p:tav>
                                      </p:tavLst>
                                    </p:anim>
                                    <p:anim calcmode="lin" valueType="num">
                                      <p:cBhvr additive="base">
                                        <p:cTn id="68"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additive="base">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0-#ppt_w/2"/>
                                          </p:val>
                                        </p:tav>
                                        <p:tav tm="100000">
                                          <p:val>
                                            <p:strVal val="#ppt_x"/>
                                          </p:val>
                                        </p:tav>
                                      </p:tavLst>
                                    </p:anim>
                                    <p:anim calcmode="lin" valueType="num">
                                      <p:cBhvr additive="base">
                                        <p:cTn id="74"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additive="base">
                                        <p:cTn id="78" dur="1" fill="hold">
                                          <p:stCondLst>
                                            <p:cond delay="0"/>
                                          </p:stCondLst>
                                        </p:cTn>
                                        <p:tgtEl>
                                          <p:spTgt spid="39"/>
                                        </p:tgtEl>
                                        <p:attrNameLst>
                                          <p:attrName>style.visibility</p:attrName>
                                        </p:attrNameLst>
                                      </p:cBhvr>
                                      <p:to>
                                        <p:strVal val="visible"/>
                                      </p:to>
                                    </p:set>
                                    <p:anim calcmode="lin" valueType="num">
                                      <p:cBhvr additive="base">
                                        <p:cTn id="79" dur="500" fill="hold"/>
                                        <p:tgtEl>
                                          <p:spTgt spid="39"/>
                                        </p:tgtEl>
                                        <p:attrNameLst>
                                          <p:attrName>ppt_x</p:attrName>
                                        </p:attrNameLst>
                                      </p:cBhvr>
                                      <p:tavLst>
                                        <p:tav tm="0">
                                          <p:val>
                                            <p:strVal val="0-#ppt_w/2"/>
                                          </p:val>
                                        </p:tav>
                                        <p:tav tm="100000">
                                          <p:val>
                                            <p:strVal val="#ppt_x"/>
                                          </p:val>
                                        </p:tav>
                                      </p:tavLst>
                                    </p:anim>
                                    <p:anim calcmode="lin" valueType="num">
                                      <p:cBhvr additive="base">
                                        <p:cTn id="80" dur="500" fill="hold"/>
                                        <p:tgtEl>
                                          <p:spTgt spid="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5" grpId="0" animBg="1"/>
      <p:bldP spid="18" grpId="0" animBg="1"/>
      <p:bldP spid="21" grpId="0" animBg="1"/>
      <p:bldP spid="23" grpId="0" animBg="1"/>
      <p:bldP spid="26" grpId="0" animBg="1"/>
      <p:bldP spid="28" grpId="0" animBg="1"/>
      <p:bldP spid="31" grpId="0" animBg="1"/>
      <p:bldP spid="34" grpId="0" animBg="1"/>
      <p:bldP spid="36" grpId="0" animBg="1"/>
      <p:bldP spid="39" grpId="0" animBg="1"/>
    </p:bldLst>
  </p:timing>
</p:sld>
</file>

<file path=ppt/slides/slide7.xml><?xml version="1.0" encoding="utf-8"?>
<p:sld xmlns:a="http://schemas.openxmlformats.org/drawingml/2006/main" xmlns:p="http://schemas.openxmlformats.org/presentationml/2006/main" xmlns:r="http://schemas.openxmlformats.org/officeDocument/2006/relationships">
  <p:cSld name="10 구문 2">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10</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(2/2)</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1460758"/>
            <a:ext cx="241543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③ As a consequence,</a:t>
            </a:r>
            <a:endParaRPr lang="en-US" altLang="ko-KR" sz="1800" dirty="0"/>
          </a:p>
        </p:txBody>
      </p:sp>
      <p:sp>
        <p:nvSpPr>
          <p:cNvPr id="8" name="reveal_14_kr"/>
          <p:cNvSpPr/>
          <p:nvPr/>
        </p:nvSpPr>
        <p:spPr>
          <a:xfrm>
            <a:off x="548640" y="1794514"/>
            <a:ext cx="241543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 결과</a:t>
            </a:r>
            <a:endParaRPr lang="en-US" altLang="ko-KR" sz="1450" dirty="0"/>
          </a:p>
        </p:txBody>
      </p:sp>
      <p:sp>
        <p:nvSpPr>
          <p:cNvPr id="9" name="Sep"/>
          <p:cNvSpPr/>
          <p:nvPr/>
        </p:nvSpPr>
        <p:spPr>
          <a:xfrm>
            <a:off x="2918358" y="146075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3146151" y="1460758"/>
            <a:ext cx="374599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firms do not only need to consider</a:t>
            </a:r>
            <a:endParaRPr lang="en-US" altLang="ko-KR" sz="1800" dirty="0"/>
          </a:p>
        </p:txBody>
      </p:sp>
      <p:sp>
        <p:nvSpPr>
          <p:cNvPr id="11" name="reveal_15_kr"/>
          <p:cNvSpPr/>
          <p:nvPr/>
        </p:nvSpPr>
        <p:spPr>
          <a:xfrm>
            <a:off x="3146151" y="1794514"/>
            <a:ext cx="374599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기업은 고려할 필요만 있는 것이 아니다</a:t>
            </a:r>
            <a:endParaRPr lang="en-US" altLang="ko-KR" sz="1450" dirty="0"/>
          </a:p>
        </p:txBody>
      </p:sp>
      <p:sp>
        <p:nvSpPr>
          <p:cNvPr id="12" name="Sep"/>
          <p:cNvSpPr/>
          <p:nvPr/>
        </p:nvSpPr>
        <p:spPr>
          <a:xfrm>
            <a:off x="6846430" y="146075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3" name="En"/>
          <p:cNvSpPr/>
          <p:nvPr/>
        </p:nvSpPr>
        <p:spPr>
          <a:xfrm>
            <a:off x="7074223" y="1460758"/>
            <a:ext cx="284578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their internal organization</a:t>
            </a:r>
            <a:endParaRPr lang="en-US" altLang="ko-KR" sz="1800" dirty="0"/>
          </a:p>
        </p:txBody>
      </p:sp>
      <p:sp>
        <p:nvSpPr>
          <p:cNvPr id="14" name="reveal_16_kr"/>
          <p:cNvSpPr/>
          <p:nvPr/>
        </p:nvSpPr>
        <p:spPr>
          <a:xfrm>
            <a:off x="7074223" y="1794514"/>
            <a:ext cx="284578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자신들의 내부 조직을</a:t>
            </a:r>
            <a:endParaRPr lang="en-US" altLang="ko-KR" sz="1450" dirty="0"/>
          </a:p>
        </p:txBody>
      </p:sp>
      <p:sp>
        <p:nvSpPr>
          <p:cNvPr id="15" name="En"/>
          <p:cNvSpPr/>
          <p:nvPr/>
        </p:nvSpPr>
        <p:spPr>
          <a:xfrm>
            <a:off x="548640" y="2156337"/>
            <a:ext cx="578755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 order to ensure sustainable business performance;</a:t>
            </a:r>
            <a:endParaRPr lang="en-US" altLang="ko-KR" sz="1800" dirty="0"/>
          </a:p>
        </p:txBody>
      </p:sp>
      <p:sp>
        <p:nvSpPr>
          <p:cNvPr id="16" name="reveal_17_kr"/>
          <p:cNvSpPr/>
          <p:nvPr/>
        </p:nvSpPr>
        <p:spPr>
          <a:xfrm>
            <a:off x="548640" y="2490093"/>
            <a:ext cx="578755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지속 가능한 사업 성과를 보장하기 위해</a:t>
            </a:r>
            <a:endParaRPr lang="en-US" altLang="ko-KR" sz="1450" dirty="0"/>
          </a:p>
        </p:txBody>
      </p:sp>
      <p:sp>
        <p:nvSpPr>
          <p:cNvPr id="17" name="Sep"/>
          <p:cNvSpPr/>
          <p:nvPr/>
        </p:nvSpPr>
        <p:spPr>
          <a:xfrm>
            <a:off x="6290470" y="215633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8" name="En"/>
          <p:cNvSpPr/>
          <p:nvPr/>
        </p:nvSpPr>
        <p:spPr>
          <a:xfrm>
            <a:off x="6518263" y="2156337"/>
            <a:ext cx="382395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they also need to take into account</a:t>
            </a:r>
            <a:endParaRPr lang="en-US" altLang="ko-KR" sz="1800" dirty="0"/>
          </a:p>
        </p:txBody>
      </p:sp>
      <p:sp>
        <p:nvSpPr>
          <p:cNvPr id="19" name="reveal_18_kr"/>
          <p:cNvSpPr/>
          <p:nvPr/>
        </p:nvSpPr>
        <p:spPr>
          <a:xfrm>
            <a:off x="6518263" y="2490093"/>
            <a:ext cx="382395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그들은 또한 고려할 필요가 있다</a:t>
            </a:r>
            <a:endParaRPr lang="en-US" altLang="ko-KR" sz="1450" dirty="0"/>
          </a:p>
        </p:txBody>
      </p:sp>
      <p:sp>
        <p:nvSpPr>
          <p:cNvPr id="20" name="En"/>
          <p:cNvSpPr/>
          <p:nvPr/>
        </p:nvSpPr>
        <p:spPr>
          <a:xfrm>
            <a:off x="548640" y="2851916"/>
            <a:ext cx="525134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 entire ecosystem of units surrounding them.</a:t>
            </a:r>
            <a:endParaRPr lang="en-US" altLang="ko-KR" sz="1800" dirty="0"/>
          </a:p>
        </p:txBody>
      </p:sp>
      <p:sp>
        <p:nvSpPr>
          <p:cNvPr id="21" name="reveal_19_kr"/>
          <p:cNvSpPr/>
          <p:nvPr/>
        </p:nvSpPr>
        <p:spPr>
          <a:xfrm>
            <a:off x="548640" y="3185672"/>
            <a:ext cx="525134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자신들을 둘러싼 부문들의 전체 생태계를</a:t>
            </a:r>
            <a:endParaRPr lang="en-US" altLang="ko-KR" sz="1450" dirty="0"/>
          </a:p>
        </p:txBody>
      </p:sp>
      <p:sp>
        <p:nvSpPr>
          <p:cNvPr id="22" name="En"/>
          <p:cNvSpPr/>
          <p:nvPr/>
        </p:nvSpPr>
        <p:spPr>
          <a:xfrm>
            <a:off x="548640" y="3629791"/>
            <a:ext cx="6071732"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④ Many major companies are fundamentally changing</a:t>
            </a:r>
            <a:endParaRPr lang="en-US" altLang="ko-KR" sz="1800" dirty="0"/>
          </a:p>
        </p:txBody>
      </p:sp>
      <p:sp>
        <p:nvSpPr>
          <p:cNvPr id="23" name="reveal_20_kr"/>
          <p:cNvSpPr/>
          <p:nvPr/>
        </p:nvSpPr>
        <p:spPr>
          <a:xfrm>
            <a:off x="548640" y="3963547"/>
            <a:ext cx="6071732"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많은 주요 기업은 근본적으로 바꾸고 있다</a:t>
            </a:r>
            <a:endParaRPr lang="en-US" altLang="ko-KR" sz="1450" dirty="0"/>
          </a:p>
        </p:txBody>
      </p:sp>
      <p:sp>
        <p:nvSpPr>
          <p:cNvPr id="24" name="Sep"/>
          <p:cNvSpPr/>
          <p:nvPr/>
        </p:nvSpPr>
        <p:spPr>
          <a:xfrm>
            <a:off x="6574652" y="3629791"/>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5" name="En"/>
          <p:cNvSpPr/>
          <p:nvPr/>
        </p:nvSpPr>
        <p:spPr>
          <a:xfrm>
            <a:off x="6802445" y="3629791"/>
            <a:ext cx="2374202"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their business models</a:t>
            </a:r>
            <a:endParaRPr lang="en-US" altLang="ko-KR" sz="1800" dirty="0"/>
          </a:p>
        </p:txBody>
      </p:sp>
      <p:sp>
        <p:nvSpPr>
          <p:cNvPr id="26" name="reveal_21_kr"/>
          <p:cNvSpPr/>
          <p:nvPr/>
        </p:nvSpPr>
        <p:spPr>
          <a:xfrm>
            <a:off x="6802445" y="3963547"/>
            <a:ext cx="2374202"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그들의 사업 모델을</a:t>
            </a:r>
            <a:endParaRPr lang="en-US" altLang="ko-KR" sz="1450" dirty="0"/>
          </a:p>
        </p:txBody>
      </p:sp>
      <p:sp>
        <p:nvSpPr>
          <p:cNvPr id="27" name="En"/>
          <p:cNvSpPr/>
          <p:nvPr/>
        </p:nvSpPr>
        <p:spPr>
          <a:xfrm>
            <a:off x="548640" y="4325370"/>
            <a:ext cx="3308443"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by focusing on profitable units</a:t>
            </a:r>
            <a:endParaRPr lang="en-US" altLang="ko-KR" sz="1800" dirty="0"/>
          </a:p>
        </p:txBody>
      </p:sp>
      <p:sp>
        <p:nvSpPr>
          <p:cNvPr id="28" name="reveal_22_kr"/>
          <p:cNvSpPr/>
          <p:nvPr/>
        </p:nvSpPr>
        <p:spPr>
          <a:xfrm>
            <a:off x="548640" y="4659126"/>
            <a:ext cx="3308443"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수익성 있는 부문에 집중함으로써</a:t>
            </a:r>
            <a:endParaRPr lang="en-US" altLang="ko-KR" sz="1450" dirty="0"/>
          </a:p>
        </p:txBody>
      </p:sp>
      <p:sp>
        <p:nvSpPr>
          <p:cNvPr id="29" name="Sep"/>
          <p:cNvSpPr/>
          <p:nvPr/>
        </p:nvSpPr>
        <p:spPr>
          <a:xfrm>
            <a:off x="3811363" y="4325370"/>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0" name="En"/>
          <p:cNvSpPr/>
          <p:nvPr/>
        </p:nvSpPr>
        <p:spPr>
          <a:xfrm>
            <a:off x="4039156" y="4325370"/>
            <a:ext cx="3831393"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and cutting off less profitable ones.</a:t>
            </a:r>
            <a:endParaRPr lang="en-US" altLang="ko-KR" sz="1800" dirty="0"/>
          </a:p>
        </p:txBody>
      </p:sp>
      <p:sp>
        <p:nvSpPr>
          <p:cNvPr id="31" name="reveal_23_kr"/>
          <p:cNvSpPr/>
          <p:nvPr/>
        </p:nvSpPr>
        <p:spPr>
          <a:xfrm>
            <a:off x="4039156" y="4659126"/>
            <a:ext cx="3831393"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그리고 수익성이 낮은 부문을 끊어 냄으로써</a:t>
            </a:r>
            <a:endParaRPr lang="en-US" altLang="ko-KR" sz="1450" dirty="0"/>
          </a:p>
        </p:txBody>
      </p:sp>
      <p:sp>
        <p:nvSpPr>
          <p:cNvPr id="32" name="En"/>
          <p:cNvSpPr/>
          <p:nvPr/>
        </p:nvSpPr>
        <p:spPr>
          <a:xfrm>
            <a:off x="548640" y="5103245"/>
            <a:ext cx="448859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⑤ In order to allow these different units</a:t>
            </a:r>
            <a:endParaRPr lang="en-US" altLang="ko-KR" sz="1800" dirty="0"/>
          </a:p>
        </p:txBody>
      </p:sp>
      <p:sp>
        <p:nvSpPr>
          <p:cNvPr id="33" name="reveal_24_kr"/>
          <p:cNvSpPr/>
          <p:nvPr/>
        </p:nvSpPr>
        <p:spPr>
          <a:xfrm>
            <a:off x="548640" y="5437001"/>
            <a:ext cx="448859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이러한 서로 다른 부문들이 협력할 수 있게 하기 위해</a:t>
            </a:r>
            <a:endParaRPr lang="en-US" altLang="ko-KR" sz="1450" dirty="0"/>
          </a:p>
        </p:txBody>
      </p:sp>
      <p:sp>
        <p:nvSpPr>
          <p:cNvPr id="34" name="Sep"/>
          <p:cNvSpPr/>
          <p:nvPr/>
        </p:nvSpPr>
        <p:spPr>
          <a:xfrm>
            <a:off x="4991515" y="510324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5" name="En"/>
          <p:cNvSpPr/>
          <p:nvPr/>
        </p:nvSpPr>
        <p:spPr>
          <a:xfrm>
            <a:off x="5219308" y="5103245"/>
            <a:ext cx="278448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to cooperate successfully,</a:t>
            </a:r>
            <a:endParaRPr lang="en-US" altLang="ko-KR" sz="1800" dirty="0"/>
          </a:p>
        </p:txBody>
      </p:sp>
      <p:sp>
        <p:nvSpPr>
          <p:cNvPr id="36" name="reveal_25_kr"/>
          <p:cNvSpPr/>
          <p:nvPr/>
        </p:nvSpPr>
        <p:spPr>
          <a:xfrm>
            <a:off x="5219308" y="5437001"/>
            <a:ext cx="278448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성공적으로</a:t>
            </a:r>
            <a:endParaRPr lang="en-US" altLang="ko-KR" sz="1450" dirty="0"/>
          </a:p>
        </p:txBody>
      </p:sp>
      <p:sp>
        <p:nvSpPr>
          <p:cNvPr id="37" name="En"/>
          <p:cNvSpPr/>
          <p:nvPr/>
        </p:nvSpPr>
        <p:spPr>
          <a:xfrm>
            <a:off x="548640" y="5798824"/>
            <a:ext cx="393931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 existence of a common platform</a:t>
            </a:r>
            <a:endParaRPr lang="en-US" altLang="ko-KR" sz="1800" dirty="0"/>
          </a:p>
        </p:txBody>
      </p:sp>
      <p:sp>
        <p:nvSpPr>
          <p:cNvPr id="38" name="reveal_26_kr"/>
          <p:cNvSpPr/>
          <p:nvPr/>
        </p:nvSpPr>
        <p:spPr>
          <a:xfrm>
            <a:off x="548640" y="6132580"/>
            <a:ext cx="393931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공통 플랫폼의 존재는</a:t>
            </a:r>
            <a:endParaRPr lang="en-US" altLang="ko-KR" sz="1450" dirty="0"/>
          </a:p>
        </p:txBody>
      </p:sp>
      <p:sp>
        <p:nvSpPr>
          <p:cNvPr id="39" name="Sep"/>
          <p:cNvSpPr/>
          <p:nvPr/>
        </p:nvSpPr>
        <p:spPr>
          <a:xfrm>
            <a:off x="4442230" y="579882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40" name="En"/>
          <p:cNvSpPr/>
          <p:nvPr/>
        </p:nvSpPr>
        <p:spPr>
          <a:xfrm>
            <a:off x="4670023" y="5798824"/>
            <a:ext cx="118474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is crucial.</a:t>
            </a:r>
            <a:endParaRPr lang="en-US" altLang="ko-KR" sz="1800" dirty="0"/>
          </a:p>
        </p:txBody>
      </p:sp>
      <p:sp>
        <p:nvSpPr>
          <p:cNvPr id="41" name="reveal_27_kr"/>
          <p:cNvSpPr/>
          <p:nvPr/>
        </p:nvSpPr>
        <p:spPr>
          <a:xfrm>
            <a:off x="4670023" y="6132580"/>
            <a:ext cx="118474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매우 중요하다</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0-#ppt_w/2"/>
                                          </p:val>
                                        </p:tav>
                                        <p:tav tm="100000">
                                          <p:val>
                                            <p:strVal val="#ppt_x"/>
                                          </p:val>
                                        </p:tav>
                                      </p:tavLst>
                                    </p:anim>
                                    <p:anim calcmode="lin" valueType="num">
                                      <p:cBhvr additive="base">
                                        <p:cTn id="3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0-#ppt_w/2"/>
                                          </p:val>
                                        </p:tav>
                                        <p:tav tm="100000">
                                          <p:val>
                                            <p:strVal val="#ppt_x"/>
                                          </p:val>
                                        </p:tav>
                                      </p:tavLst>
                                    </p:anim>
                                    <p:anim calcmode="lin" valueType="num">
                                      <p:cBhvr additive="base">
                                        <p:cTn id="56"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1"/>
                                        </p:tgtEl>
                                        <p:attrNameLst>
                                          <p:attrName>style.visibility</p:attrName>
                                        </p:attrNameLst>
                                      </p:cBhvr>
                                      <p:to>
                                        <p:strVal val="visible"/>
                                      </p:to>
                                    </p:set>
                                    <p:anim calcmode="lin" valueType="num">
                                      <p:cBhvr additive="base">
                                        <p:cTn id="61" dur="500" fill="hold"/>
                                        <p:tgtEl>
                                          <p:spTgt spid="31"/>
                                        </p:tgtEl>
                                        <p:attrNameLst>
                                          <p:attrName>ppt_x</p:attrName>
                                        </p:attrNameLst>
                                      </p:cBhvr>
                                      <p:tavLst>
                                        <p:tav tm="0">
                                          <p:val>
                                            <p:strVal val="0-#ppt_w/2"/>
                                          </p:val>
                                        </p:tav>
                                        <p:tav tm="100000">
                                          <p:val>
                                            <p:strVal val="#ppt_x"/>
                                          </p:val>
                                        </p:tav>
                                      </p:tavLst>
                                    </p:anim>
                                    <p:anim calcmode="lin" valueType="num">
                                      <p:cBhvr additive="base">
                                        <p:cTn id="6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additive="base">
                                        <p:cTn id="66" dur="1" fill="hold">
                                          <p:stCondLst>
                                            <p:cond delay="0"/>
                                          </p:stCondLst>
                                        </p:cTn>
                                        <p:tgtEl>
                                          <p:spTgt spid="33"/>
                                        </p:tgtEl>
                                        <p:attrNameLst>
                                          <p:attrName>style.visibility</p:attrName>
                                        </p:attrNameLst>
                                      </p:cBhvr>
                                      <p:to>
                                        <p:strVal val="visible"/>
                                      </p:to>
                                    </p:set>
                                    <p:anim calcmode="lin" valueType="num">
                                      <p:cBhvr additive="base">
                                        <p:cTn id="67" dur="500" fill="hold"/>
                                        <p:tgtEl>
                                          <p:spTgt spid="33"/>
                                        </p:tgtEl>
                                        <p:attrNameLst>
                                          <p:attrName>ppt_x</p:attrName>
                                        </p:attrNameLst>
                                      </p:cBhvr>
                                      <p:tavLst>
                                        <p:tav tm="0">
                                          <p:val>
                                            <p:strVal val="0-#ppt_w/2"/>
                                          </p:val>
                                        </p:tav>
                                        <p:tav tm="100000">
                                          <p:val>
                                            <p:strVal val="#ppt_x"/>
                                          </p:val>
                                        </p:tav>
                                      </p:tavLst>
                                    </p:anim>
                                    <p:anim calcmode="lin" valueType="num">
                                      <p:cBhvr additive="base">
                                        <p:cTn id="68"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additive="base">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0-#ppt_w/2"/>
                                          </p:val>
                                        </p:tav>
                                        <p:tav tm="100000">
                                          <p:val>
                                            <p:strVal val="#ppt_x"/>
                                          </p:val>
                                        </p:tav>
                                      </p:tavLst>
                                    </p:anim>
                                    <p:anim calcmode="lin" valueType="num">
                                      <p:cBhvr additive="base">
                                        <p:cTn id="74"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additive="base">
                                        <p:cTn id="78" dur="1" fill="hold">
                                          <p:stCondLst>
                                            <p:cond delay="0"/>
                                          </p:stCondLst>
                                        </p:cTn>
                                        <p:tgtEl>
                                          <p:spTgt spid="38"/>
                                        </p:tgtEl>
                                        <p:attrNameLst>
                                          <p:attrName>style.visibility</p:attrName>
                                        </p:attrNameLst>
                                      </p:cBhvr>
                                      <p:to>
                                        <p:strVal val="visible"/>
                                      </p:to>
                                    </p:set>
                                    <p:anim calcmode="lin" valueType="num">
                                      <p:cBhvr additive="base">
                                        <p:cTn id="79" dur="500" fill="hold"/>
                                        <p:tgtEl>
                                          <p:spTgt spid="38"/>
                                        </p:tgtEl>
                                        <p:attrNameLst>
                                          <p:attrName>ppt_x</p:attrName>
                                        </p:attrNameLst>
                                      </p:cBhvr>
                                      <p:tavLst>
                                        <p:tav tm="0">
                                          <p:val>
                                            <p:strVal val="0-#ppt_w/2"/>
                                          </p:val>
                                        </p:tav>
                                        <p:tav tm="100000">
                                          <p:val>
                                            <p:strVal val="#ppt_x"/>
                                          </p:val>
                                        </p:tav>
                                      </p:tavLst>
                                    </p:anim>
                                    <p:anim calcmode="lin" valueType="num">
                                      <p:cBhvr additive="base">
                                        <p:cTn id="80" dur="500" fill="hold"/>
                                        <p:tgtEl>
                                          <p:spTgt spid="38"/>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additive="base">
                                        <p:cTn id="84" dur="1" fill="hold">
                                          <p:stCondLst>
                                            <p:cond delay="0"/>
                                          </p:stCondLst>
                                        </p:cTn>
                                        <p:tgtEl>
                                          <p:spTgt spid="41"/>
                                        </p:tgtEl>
                                        <p:attrNameLst>
                                          <p:attrName>style.visibility</p:attrName>
                                        </p:attrNameLst>
                                      </p:cBhvr>
                                      <p:to>
                                        <p:strVal val="visible"/>
                                      </p:to>
                                    </p:set>
                                    <p:anim calcmode="lin" valueType="num">
                                      <p:cBhvr additive="base">
                                        <p:cTn id="85" dur="500" fill="hold"/>
                                        <p:tgtEl>
                                          <p:spTgt spid="41"/>
                                        </p:tgtEl>
                                        <p:attrNameLst>
                                          <p:attrName>ppt_x</p:attrName>
                                        </p:attrNameLst>
                                      </p:cBhvr>
                                      <p:tavLst>
                                        <p:tav tm="0">
                                          <p:val>
                                            <p:strVal val="0-#ppt_w/2"/>
                                          </p:val>
                                        </p:tav>
                                        <p:tav tm="100000">
                                          <p:val>
                                            <p:strVal val="#ppt_x"/>
                                          </p:val>
                                        </p:tav>
                                      </p:tavLst>
                                    </p:anim>
                                    <p:anim calcmode="lin" valueType="num">
                                      <p:cBhvr additive="base">
                                        <p:cTn id="86" dur="500" fill="hold"/>
                                        <p:tgtEl>
                                          <p:spTgt spid="4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6" grpId="0" animBg="1"/>
      <p:bldP spid="19" grpId="0" animBg="1"/>
      <p:bldP spid="21" grpId="0" animBg="1"/>
      <p:bldP spid="23" grpId="0" animBg="1"/>
      <p:bldP spid="26" grpId="0" animBg="1"/>
      <p:bldP spid="28" grpId="0" animBg="1"/>
      <p:bldP spid="31" grpId="0" animBg="1"/>
      <p:bldP spid="33" grpId="0" animBg="1"/>
      <p:bldP spid="36" grpId="0" animBg="1"/>
      <p:bldP spid="38" grpId="0" animBg="1"/>
      <p:bldP spid="41" grpId="0" animBg="1"/>
    </p:bldLst>
  </p:timing>
</p:sld>
</file>

<file path=ppt/slides/slide8.xml><?xml version="1.0" encoding="utf-8"?>
<p:sld xmlns:a="http://schemas.openxmlformats.org/drawingml/2006/main" xmlns:p="http://schemas.openxmlformats.org/presentationml/2006/main" xmlns:r="http://schemas.openxmlformats.org/officeDocument/2006/relationships">
  <p:cSld name="10 문제">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10</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2022학년도 수능 35번 — 무관한 문장 찾기</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클릭하면 정답이 노란 박스로 나타납니다</a:t>
            </a:r>
            <a:endParaRPr lang="en-US" altLang="ko-KR" sz="1100" dirty="0"/>
          </a:p>
        </p:txBody>
      </p:sp>
      <p:sp>
        <p:nvSpPr>
          <p:cNvPr id="7" name="Prompt"/>
          <p:cNvSpPr/>
          <p:nvPr/>
        </p:nvSpPr>
        <p:spPr>
          <a:xfrm>
            <a:off x="548640" y="1325880"/>
            <a:ext cx="11091672" cy="324000"/>
          </a:xfrm>
          <a:prstGeom prst="rect">
            <a:avLst/>
          </a:prstGeom>
          <a:noFill/>
          <a:ln>
            <a:noFill/>
          </a:ln>
        </p:spPr>
        <p:txBody>
          <a:bodyPr wrap="square" lIns="0" tIns="0" rIns="0" bIns="0" rtlCol="0" anchor="ctr"/>
          <a:lstStyle/>
          <a:p>
            <a:pPr marL="0" indent="0">
              <a:buNone/>
            </a:pPr>
            <a:r>
              <a:rPr lang="en-US" altLang="ko-KR" sz="1300" b="1" dirty="0">
                <a:solidFill>
                  <a:srgbClr val="1E2761"/>
                </a:solidFill>
                <a:latin typeface="맑은 고딕" pitchFamily="34" charset="0"/>
                <a:ea typeface="맑은 고딕" pitchFamily="34" charset="-122"/>
                <a:cs typeface="맑은 고딕" pitchFamily="34" charset="-120"/>
              </a:rPr>
              <a:t>다음 글에서 전체 흐름과 관계 </a:t>
            </a:r>
            <a:r>
              <a:rPr lang="en-US" altLang="ko-KR" sz="1300" b="1" u="sng" dirty="0">
                <a:solidFill>
                  <a:srgbClr val="1E2761"/>
                </a:solidFill>
                <a:latin typeface="맑은 고딕" pitchFamily="34" charset="0"/>
                <a:ea typeface="맑은 고딕" pitchFamily="34" charset="-122"/>
                <a:cs typeface="맑은 고딕" pitchFamily="34" charset="-120"/>
              </a:rPr>
              <a:t>없는</a:t>
            </a:r>
            <a:r>
              <a:rPr lang="en-US" altLang="ko-KR" sz="1300" b="1" dirty="0">
                <a:solidFill>
                  <a:srgbClr val="1E2761"/>
                </a:solidFill>
                <a:latin typeface="맑은 고딕" pitchFamily="34" charset="0"/>
                <a:ea typeface="맑은 고딕" pitchFamily="34" charset="-122"/>
                <a:cs typeface="맑은 고딕" pitchFamily="34" charset="-120"/>
              </a:rPr>
              <a:t> 문장은?</a:t>
            </a:r>
            <a:endParaRPr lang="en-US" altLang="ko-KR" sz="1300" dirty="0"/>
          </a:p>
        </p:txBody>
      </p:sp>
      <p:sp>
        <p:nvSpPr>
          <p:cNvPr id="8" name="Passage"/>
          <p:cNvSpPr/>
          <p:nvPr/>
        </p:nvSpPr>
        <p:spPr>
          <a:xfrm>
            <a:off x="548640" y="1787040"/>
            <a:ext cx="11091672" cy="1868514"/>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solidFill>
                <a:latin typeface="Calibri" pitchFamily="34" charset="0"/>
                <a:ea typeface="Calibri" pitchFamily="34" charset="-122"/>
                <a:cs typeface="Calibri" pitchFamily="34" charset="-120"/>
              </a:rPr>
              <a:t>Since their introduction, information systems have substantially changed the way business is conducted. ① This is particularly true for business in the shape and form of cooperation between firms that involves an integration of value chains across multiple units. ② The resulting networks do not only cover the business units of a single firm but typically also include multiple units from different firms. ③ As a consequence, firms do not only need to consider their internal organization in order to ensure sustainable business performance; they also need to take into account the entire ecosystem of units surrounding them. </a:t>
            </a:r>
            <a:r>
              <a:rPr lang="en-US" altLang="ko-KR" sz="1400" dirty="0">
                <a:solidFill>
                  <a:srgbClr val="333333"/>
                </a:solidFill>
                <a:latin typeface="Calibri" pitchFamily="34" charset="0"/>
                <a:ea typeface="Calibri" pitchFamily="34" charset="-122"/>
                <a:cs typeface="Calibri" pitchFamily="34" charset="-120"/>
              </a:rPr>
              <a:t>④ Many major companies are fundamentally changing their business models by focusing on profitable units and cutting off less profitable ones.</a:t>
            </a:r>
            <a:r>
              <a:rPr lang="en-US" altLang="ko-KR" sz="1400" dirty="0">
                <a:solidFill>
                  <a:srgbClr val="333333"/>
                </a:solidFill>
                <a:latin typeface="Calibri" pitchFamily="34" charset="0"/>
                <a:ea typeface="Calibri" pitchFamily="34" charset="-122"/>
                <a:cs typeface="Calibri" pitchFamily="34" charset="-120"/>
              </a:rPr>
              <a:t> ⑤ In order to allow these different units to cooperate successfully, the existence of a common platform is crucial.</a:t>
            </a:r>
            <a:endParaRPr lang="en-US" altLang="ko-KR" sz="1400" dirty="0"/>
          </a:p>
        </p:txBody>
      </p:sp>
      <p:sp>
        <p:nvSpPr>
          <p:cNvPr id="9" name="AnsOverlay"/>
          <p:cNvSpPr/>
          <p:nvPr/>
        </p:nvSpPr>
        <p:spPr>
          <a:xfrm>
            <a:off x="548640" y="1787040"/>
            <a:ext cx="11091672" cy="1868514"/>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alpha val="0"/>
                  </a:srgbClr>
                </a:solidFill>
                <a:latin typeface="Calibri" pitchFamily="34" charset="0"/>
                <a:ea typeface="Calibri" pitchFamily="34" charset="-122"/>
                <a:cs typeface="Calibri" pitchFamily="34" charset="-120"/>
              </a:rPr>
              <a:t>Since their introduction, information systems have substantially changed the way business is conducted. ① This is particularly true for business in the shape and form of cooperation between firms that involves an integration of value chains across multiple units. ② The resulting networks do not only cover the business units of a single firm but typically also include multiple units from different firms. ③ As a consequence, firms do not only need to consider their internal organization in order to ensure sustainable business performance; they also need to take into account the entire ecosystem of units surrounding them. </a:t>
            </a:r>
            <a:r>
              <a:rPr lang="en-US" altLang="ko-KR" sz="1400" dirty="0">
                <a:solidFill>
                  <a:srgbClr val="C00000"/>
                </a:solidFill>
                <a:latin typeface="Calibri" pitchFamily="34" charset="0"/>
                <a:ea typeface="Calibri" pitchFamily="34" charset="-122"/>
                <a:cs typeface="Calibri" pitchFamily="34" charset="-120"/>
              </a:rPr>
              <a:t>④ Many major companies are fundamentally changing their business models by focusing on profitable units and cutting off less profitable ones.</a:t>
            </a:r>
            <a:r>
              <a:rPr lang="en-US" altLang="ko-KR" sz="1400" dirty="0">
                <a:solidFill>
                  <a:srgbClr val="333333">
                    <a:alpha val="0"/>
                  </a:srgbClr>
                </a:solidFill>
                <a:latin typeface="Calibri" pitchFamily="34" charset="0"/>
                <a:ea typeface="Calibri" pitchFamily="34" charset="-122"/>
                <a:cs typeface="Calibri" pitchFamily="34" charset="-120"/>
              </a:rPr>
              <a:t> ⑤ In order to allow these different units to cooperate successfully, the existence of a common platform is crucial.</a:t>
            </a:r>
            <a:endParaRPr lang="en-US" altLang="ko-KR" sz="1400" dirty="0"/>
          </a:p>
        </p:txBody>
      </p:sp>
      <p:sp>
        <p:nvSpPr>
          <p:cNvPr id="10" name="AnsBg"/>
          <p:cNvSpPr/>
          <p:nvPr/>
        </p:nvSpPr>
        <p:spPr>
          <a:xfrm>
            <a:off x="548640" y="3777954"/>
            <a:ext cx="11091672" cy="457200"/>
          </a:xfrm>
          <a:prstGeom prst="rect">
            <a:avLst/>
          </a:prstGeom>
          <a:solidFill>
            <a:srgbClr val="FFF4CC"/>
          </a:solidFill>
          <a:ln>
            <a:noFill/>
          </a:ln>
        </p:spPr>
        <p:txBody>
          <a:bodyPr/>
          <a:lstStyle/>
          <a:p>
            <a:endParaRPr lang="ko-KR" altLang="en-US"/>
          </a:p>
        </p:txBody>
      </p:sp>
      <p:sp>
        <p:nvSpPr>
          <p:cNvPr id="11" name="reveal_10_en"/>
          <p:cNvSpPr/>
          <p:nvPr/>
        </p:nvSpPr>
        <p:spPr>
          <a:xfrm>
            <a:off x="732240" y="3777954"/>
            <a:ext cx="10724472" cy="457200"/>
          </a:xfrm>
          <a:prstGeom prst="rect">
            <a:avLst/>
          </a:prstGeom>
          <a:noFill/>
          <a:ln>
            <a:noFill/>
          </a:ln>
        </p:spPr>
        <p:txBody>
          <a:bodyPr wrap="square" lIns="0" tIns="0" rIns="0" bIns="0" rtlCol="0" anchor="ctr"/>
          <a:lstStyle/>
          <a:p>
            <a:pPr marL="0" indent="0">
              <a:buNone/>
            </a:pPr>
            <a:r>
              <a:rPr lang="en-US" altLang="ko-KR" sz="1500" b="1" dirty="0">
                <a:solidFill>
                  <a:srgbClr val="5A4200"/>
                </a:solidFill>
                <a:latin typeface="맑은 고딕" pitchFamily="34" charset="0"/>
                <a:ea typeface="맑은 고딕" pitchFamily="34" charset="-122"/>
                <a:cs typeface="맑은 고딕" pitchFamily="34" charset="-120"/>
              </a:rPr>
              <a:t>정답   ④</a:t>
            </a:r>
            <a:endParaRPr lang="en-US" altLang="ko-KR"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additive="base">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additive="base">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additive="base">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9" grpId="0" animBg="1"/>
    </p:bldLst>
  </p:timing>
</p:sld>
</file>

<file path=ppt/slides/slide9.xml><?xml version="1.0" encoding="utf-8"?>
<p:sld xmlns:a="http://schemas.openxmlformats.org/drawingml/2006/main" xmlns:p="http://schemas.openxmlformats.org/presentationml/2006/main" xmlns:r="http://schemas.openxmlformats.org/officeDocument/2006/relationships">
  <p:cSld name="11 구문 1">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11</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(1/3)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2545274"/>
            <a:ext cx="236393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 best dealers offer</a:t>
            </a:r>
            <a:endParaRPr lang="en-US" altLang="ko-KR" sz="1800" dirty="0"/>
          </a:p>
        </p:txBody>
      </p:sp>
      <p:sp>
        <p:nvSpPr>
          <p:cNvPr id="8" name="reveal_1_kr"/>
          <p:cNvSpPr/>
          <p:nvPr/>
        </p:nvSpPr>
        <p:spPr>
          <a:xfrm>
            <a:off x="548640" y="2879030"/>
            <a:ext cx="236393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최고의 딜러들은 제공한다</a:t>
            </a:r>
            <a:endParaRPr lang="en-US" altLang="ko-KR" sz="1450" dirty="0"/>
          </a:p>
        </p:txBody>
      </p:sp>
      <p:sp>
        <p:nvSpPr>
          <p:cNvPr id="9" name="Sep"/>
          <p:cNvSpPr/>
          <p:nvPr/>
        </p:nvSpPr>
        <p:spPr>
          <a:xfrm>
            <a:off x="2866853" y="254527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3094646" y="2545274"/>
            <a:ext cx="254761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 much broader service</a:t>
            </a:r>
            <a:endParaRPr lang="en-US" altLang="ko-KR" sz="1800" dirty="0"/>
          </a:p>
        </p:txBody>
      </p:sp>
      <p:sp>
        <p:nvSpPr>
          <p:cNvPr id="11" name="reveal_2_kr"/>
          <p:cNvSpPr/>
          <p:nvPr/>
        </p:nvSpPr>
        <p:spPr>
          <a:xfrm>
            <a:off x="3094646" y="2879030"/>
            <a:ext cx="254761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훨씬 더 폭넓은 서비스를</a:t>
            </a:r>
            <a:endParaRPr lang="en-US" altLang="ko-KR" sz="1450" dirty="0"/>
          </a:p>
        </p:txBody>
      </p:sp>
      <p:sp>
        <p:nvSpPr>
          <p:cNvPr id="12" name="Sep"/>
          <p:cNvSpPr/>
          <p:nvPr/>
        </p:nvSpPr>
        <p:spPr>
          <a:xfrm>
            <a:off x="5596540" y="254527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3" name="En"/>
          <p:cNvSpPr/>
          <p:nvPr/>
        </p:nvSpPr>
        <p:spPr>
          <a:xfrm>
            <a:off x="5824333" y="2545274"/>
            <a:ext cx="456086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than merely having their goods on display</a:t>
            </a:r>
            <a:endParaRPr lang="en-US" altLang="ko-KR" sz="1800" dirty="0"/>
          </a:p>
        </p:txBody>
      </p:sp>
      <p:sp>
        <p:nvSpPr>
          <p:cNvPr id="14" name="reveal_3_kr"/>
          <p:cNvSpPr/>
          <p:nvPr/>
        </p:nvSpPr>
        <p:spPr>
          <a:xfrm>
            <a:off x="5824333" y="2879030"/>
            <a:ext cx="456086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단순히 자신의 물건을 진열해 두는 것보다</a:t>
            </a:r>
            <a:endParaRPr lang="en-US" altLang="ko-KR" sz="1450" dirty="0"/>
          </a:p>
        </p:txBody>
      </p:sp>
      <p:sp>
        <p:nvSpPr>
          <p:cNvPr id="15" name="En"/>
          <p:cNvSpPr/>
          <p:nvPr/>
        </p:nvSpPr>
        <p:spPr>
          <a:xfrm>
            <a:off x="548640" y="3240853"/>
            <a:ext cx="256032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‘selling from stock’.</a:t>
            </a:r>
            <a:endParaRPr lang="en-US" altLang="ko-KR" sz="1800" dirty="0"/>
          </a:p>
        </p:txBody>
      </p:sp>
      <p:sp>
        <p:nvSpPr>
          <p:cNvPr id="16" name="reveal_4_kr"/>
          <p:cNvSpPr/>
          <p:nvPr/>
        </p:nvSpPr>
        <p:spPr>
          <a:xfrm>
            <a:off x="548640" y="3574609"/>
            <a:ext cx="256032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그리고 '재고 판매'보다</a:t>
            </a:r>
            <a:endParaRPr lang="en-US" altLang="ko-KR" sz="1450" dirty="0"/>
          </a:p>
        </p:txBody>
      </p:sp>
      <p:sp>
        <p:nvSpPr>
          <p:cNvPr id="17" name="En"/>
          <p:cNvSpPr/>
          <p:nvPr/>
        </p:nvSpPr>
        <p:spPr>
          <a:xfrm>
            <a:off x="548640" y="4018728"/>
            <a:ext cx="549971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Once they know the needs of a particular collector</a:t>
            </a:r>
            <a:endParaRPr lang="en-US" altLang="ko-KR" sz="1800" dirty="0"/>
          </a:p>
        </p:txBody>
      </p:sp>
      <p:sp>
        <p:nvSpPr>
          <p:cNvPr id="18" name="reveal_5_kr"/>
          <p:cNvSpPr/>
          <p:nvPr/>
        </p:nvSpPr>
        <p:spPr>
          <a:xfrm>
            <a:off x="548640" y="4352484"/>
            <a:ext cx="549971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일단 그들이 특정 수집가의 필요를 알면</a:t>
            </a:r>
            <a:endParaRPr lang="en-US" altLang="ko-KR" sz="1450" dirty="0"/>
          </a:p>
        </p:txBody>
      </p:sp>
      <p:sp>
        <p:nvSpPr>
          <p:cNvPr id="19" name="Sep"/>
          <p:cNvSpPr/>
          <p:nvPr/>
        </p:nvSpPr>
        <p:spPr>
          <a:xfrm>
            <a:off x="6002638" y="401872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0" name="En"/>
          <p:cNvSpPr/>
          <p:nvPr/>
        </p:nvSpPr>
        <p:spPr>
          <a:xfrm>
            <a:off x="6230431" y="4018728"/>
            <a:ext cx="390797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they can actively seek specific items</a:t>
            </a:r>
            <a:endParaRPr lang="en-US" altLang="ko-KR" sz="1800" dirty="0"/>
          </a:p>
        </p:txBody>
      </p:sp>
      <p:sp>
        <p:nvSpPr>
          <p:cNvPr id="21" name="reveal_6_kr"/>
          <p:cNvSpPr/>
          <p:nvPr/>
        </p:nvSpPr>
        <p:spPr>
          <a:xfrm>
            <a:off x="6230431" y="4352484"/>
            <a:ext cx="390797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그들은 적극적으로 특정 물건을 찾을 수 있다</a:t>
            </a:r>
            <a:endParaRPr lang="en-US" altLang="ko-KR" sz="1450" dirty="0"/>
          </a:p>
        </p:txBody>
      </p:sp>
      <p:sp>
        <p:nvSpPr>
          <p:cNvPr id="22" name="En"/>
          <p:cNvSpPr/>
          <p:nvPr/>
        </p:nvSpPr>
        <p:spPr>
          <a:xfrm>
            <a:off x="548640" y="4714307"/>
            <a:ext cx="299468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to fill gaps in the collection.</a:t>
            </a:r>
            <a:endParaRPr lang="en-US" altLang="ko-KR" sz="1800" dirty="0"/>
          </a:p>
        </p:txBody>
      </p:sp>
      <p:sp>
        <p:nvSpPr>
          <p:cNvPr id="23" name="reveal_7_kr"/>
          <p:cNvSpPr/>
          <p:nvPr/>
        </p:nvSpPr>
        <p:spPr>
          <a:xfrm>
            <a:off x="548640" y="5048063"/>
            <a:ext cx="299468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소장품의 공백을 채우기 위해</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6" grpId="0" animBg="1"/>
      <p:bldP spid="18" grpId="0" animBg="1"/>
      <p:bldP spid="21" grpId="0" animBg="1"/>
      <p:bldP spid="23" grpId="0" animBg="1"/>
    </p:bldLst>
  </p:timing>
</p:sld>
</file>

<file path=ppt/slides/slide10.xml><?xml version="1.0" encoding="utf-8"?>
<p:sld xmlns:a="http://schemas.openxmlformats.org/drawingml/2006/main" xmlns:p="http://schemas.openxmlformats.org/presentationml/2006/main" xmlns:r="http://schemas.openxmlformats.org/officeDocument/2006/relationships">
  <p:cSld name="11 구문 2">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11</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(2/3)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2197485"/>
            <a:ext cx="339278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① Because it is their business,</a:t>
            </a:r>
            <a:endParaRPr lang="en-US" altLang="ko-KR" sz="1800" dirty="0"/>
          </a:p>
        </p:txBody>
      </p:sp>
      <p:sp>
        <p:nvSpPr>
          <p:cNvPr id="8" name="reveal_8_kr"/>
          <p:cNvSpPr/>
          <p:nvPr/>
        </p:nvSpPr>
        <p:spPr>
          <a:xfrm>
            <a:off x="548640" y="2531241"/>
            <a:ext cx="339278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그것이 그들의 사업이기 때문에</a:t>
            </a:r>
            <a:endParaRPr lang="en-US" altLang="ko-KR" sz="1450" dirty="0"/>
          </a:p>
        </p:txBody>
      </p:sp>
      <p:sp>
        <p:nvSpPr>
          <p:cNvPr id="9" name="Sep"/>
          <p:cNvSpPr/>
          <p:nvPr/>
        </p:nvSpPr>
        <p:spPr>
          <a:xfrm>
            <a:off x="3895707" y="219748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4123500" y="2197485"/>
            <a:ext cx="466301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to which they devote themselves full-time,</a:t>
            </a:r>
            <a:endParaRPr lang="en-US" altLang="ko-KR" sz="1800" dirty="0"/>
          </a:p>
        </p:txBody>
      </p:sp>
      <p:sp>
        <p:nvSpPr>
          <p:cNvPr id="11" name="reveal_9_kr"/>
          <p:cNvSpPr/>
          <p:nvPr/>
        </p:nvSpPr>
        <p:spPr>
          <a:xfrm>
            <a:off x="4123500" y="2531241"/>
            <a:ext cx="466301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그들이 전업으로 헌신하는</a:t>
            </a:r>
            <a:endParaRPr lang="en-US" altLang="ko-KR" sz="1450" dirty="0"/>
          </a:p>
        </p:txBody>
      </p:sp>
      <p:sp>
        <p:nvSpPr>
          <p:cNvPr id="12" name="En"/>
          <p:cNvSpPr/>
          <p:nvPr/>
        </p:nvSpPr>
        <p:spPr>
          <a:xfrm>
            <a:off x="548640" y="2893064"/>
            <a:ext cx="284142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they will inevitably have</a:t>
            </a:r>
            <a:endParaRPr lang="en-US" altLang="ko-KR" sz="1800" dirty="0"/>
          </a:p>
        </p:txBody>
      </p:sp>
      <p:sp>
        <p:nvSpPr>
          <p:cNvPr id="13" name="reveal_10_kr"/>
          <p:cNvSpPr/>
          <p:nvPr/>
        </p:nvSpPr>
        <p:spPr>
          <a:xfrm>
            <a:off x="548640" y="3226820"/>
            <a:ext cx="284142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그들은 필연적으로 갖게 될 것이다</a:t>
            </a:r>
            <a:endParaRPr lang="en-US" altLang="ko-KR" sz="1450" dirty="0"/>
          </a:p>
        </p:txBody>
      </p:sp>
      <p:sp>
        <p:nvSpPr>
          <p:cNvPr id="14" name="Sep"/>
          <p:cNvSpPr/>
          <p:nvPr/>
        </p:nvSpPr>
        <p:spPr>
          <a:xfrm>
            <a:off x="3344341" y="289306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5" name="En"/>
          <p:cNvSpPr/>
          <p:nvPr/>
        </p:nvSpPr>
        <p:spPr>
          <a:xfrm>
            <a:off x="3572134" y="2893064"/>
            <a:ext cx="245877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 much wider network</a:t>
            </a:r>
            <a:endParaRPr lang="en-US" altLang="ko-KR" sz="1800" dirty="0"/>
          </a:p>
        </p:txBody>
      </p:sp>
      <p:sp>
        <p:nvSpPr>
          <p:cNvPr id="16" name="reveal_11_kr"/>
          <p:cNvSpPr/>
          <p:nvPr/>
        </p:nvSpPr>
        <p:spPr>
          <a:xfrm>
            <a:off x="3572134" y="3226820"/>
            <a:ext cx="245877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훨씬 더 넓은 네트워크를</a:t>
            </a:r>
            <a:endParaRPr lang="en-US" altLang="ko-KR" sz="1450" dirty="0"/>
          </a:p>
        </p:txBody>
      </p:sp>
      <p:sp>
        <p:nvSpPr>
          <p:cNvPr id="17" name="En"/>
          <p:cNvSpPr/>
          <p:nvPr/>
        </p:nvSpPr>
        <p:spPr>
          <a:xfrm>
            <a:off x="548640" y="3588643"/>
            <a:ext cx="583542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than any non-professional collector can ever develop.</a:t>
            </a:r>
            <a:endParaRPr lang="en-US" altLang="ko-KR" sz="1800" dirty="0"/>
          </a:p>
        </p:txBody>
      </p:sp>
      <p:sp>
        <p:nvSpPr>
          <p:cNvPr id="18" name="reveal_12_kr"/>
          <p:cNvSpPr/>
          <p:nvPr/>
        </p:nvSpPr>
        <p:spPr>
          <a:xfrm>
            <a:off x="548640" y="3922399"/>
            <a:ext cx="583542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어떤 비전문 수집가가 발전시킬 수 있는 것보다</a:t>
            </a:r>
            <a:endParaRPr lang="en-US" altLang="ko-KR" sz="1450" dirty="0"/>
          </a:p>
        </p:txBody>
      </p:sp>
      <p:sp>
        <p:nvSpPr>
          <p:cNvPr id="19" name="En"/>
          <p:cNvSpPr/>
          <p:nvPr/>
        </p:nvSpPr>
        <p:spPr>
          <a:xfrm>
            <a:off x="548640" y="4366518"/>
            <a:ext cx="271961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② As a matter of course</a:t>
            </a:r>
            <a:endParaRPr lang="en-US" altLang="ko-KR" sz="1800" dirty="0"/>
          </a:p>
        </p:txBody>
      </p:sp>
      <p:sp>
        <p:nvSpPr>
          <p:cNvPr id="20" name="reveal_13_kr"/>
          <p:cNvSpPr/>
          <p:nvPr/>
        </p:nvSpPr>
        <p:spPr>
          <a:xfrm>
            <a:off x="548640" y="4700274"/>
            <a:ext cx="271961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당연한 일로</a:t>
            </a:r>
            <a:endParaRPr lang="en-US" altLang="ko-KR" sz="1450" dirty="0"/>
          </a:p>
        </p:txBody>
      </p:sp>
      <p:sp>
        <p:nvSpPr>
          <p:cNvPr id="21" name="Sep"/>
          <p:cNvSpPr/>
          <p:nvPr/>
        </p:nvSpPr>
        <p:spPr>
          <a:xfrm>
            <a:off x="3222530" y="436651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2" name="En"/>
          <p:cNvSpPr/>
          <p:nvPr/>
        </p:nvSpPr>
        <p:spPr>
          <a:xfrm>
            <a:off x="3450323" y="4366518"/>
            <a:ext cx="522922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they can enquire about the availability of pieces</a:t>
            </a:r>
            <a:endParaRPr lang="en-US" altLang="ko-KR" sz="1800" dirty="0"/>
          </a:p>
        </p:txBody>
      </p:sp>
      <p:sp>
        <p:nvSpPr>
          <p:cNvPr id="23" name="reveal_14_kr"/>
          <p:cNvSpPr/>
          <p:nvPr/>
        </p:nvSpPr>
        <p:spPr>
          <a:xfrm>
            <a:off x="3450323" y="4700274"/>
            <a:ext cx="522922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그들은 물건의 구입 가능성에 대해 문의할 수 있다</a:t>
            </a:r>
            <a:endParaRPr lang="en-US" altLang="ko-KR" sz="1450" dirty="0"/>
          </a:p>
        </p:txBody>
      </p:sp>
      <p:sp>
        <p:nvSpPr>
          <p:cNvPr id="24" name="En"/>
          <p:cNvSpPr/>
          <p:nvPr/>
        </p:nvSpPr>
        <p:spPr>
          <a:xfrm>
            <a:off x="548640" y="5062097"/>
            <a:ext cx="293213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from dealers in other cities</a:t>
            </a:r>
            <a:endParaRPr lang="en-US" altLang="ko-KR" sz="1800" dirty="0"/>
          </a:p>
        </p:txBody>
      </p:sp>
      <p:sp>
        <p:nvSpPr>
          <p:cNvPr id="25" name="reveal_15_kr"/>
          <p:cNvSpPr/>
          <p:nvPr/>
        </p:nvSpPr>
        <p:spPr>
          <a:xfrm>
            <a:off x="548640" y="5395853"/>
            <a:ext cx="293213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다른 도시의 딜러들에게</a:t>
            </a:r>
            <a:endParaRPr lang="en-US" altLang="ko-KR" sz="1450" dirty="0"/>
          </a:p>
        </p:txBody>
      </p:sp>
      <p:sp>
        <p:nvSpPr>
          <p:cNvPr id="26" name="Sep"/>
          <p:cNvSpPr/>
          <p:nvPr/>
        </p:nvSpPr>
        <p:spPr>
          <a:xfrm>
            <a:off x="3435056" y="506209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7" name="En"/>
          <p:cNvSpPr/>
          <p:nvPr/>
        </p:nvSpPr>
        <p:spPr>
          <a:xfrm>
            <a:off x="3662849" y="5062097"/>
            <a:ext cx="588273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most crucially in some categories, from overseas.</a:t>
            </a:r>
            <a:endParaRPr lang="en-US" altLang="ko-KR" sz="1800" dirty="0"/>
          </a:p>
        </p:txBody>
      </p:sp>
      <p:sp>
        <p:nvSpPr>
          <p:cNvPr id="28" name="reveal_16_kr"/>
          <p:cNvSpPr/>
          <p:nvPr/>
        </p:nvSpPr>
        <p:spPr>
          <a:xfrm>
            <a:off x="3662849" y="5395853"/>
            <a:ext cx="588273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그리고 몇몇 부문에서는 가장 결정적으로 해외로부터</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0-#ppt_w/2"/>
                                          </p:val>
                                        </p:tav>
                                        <p:tav tm="100000">
                                          <p:val>
                                            <p:strVal val="#ppt_x"/>
                                          </p:val>
                                        </p:tav>
                                      </p:tavLst>
                                    </p:anim>
                                    <p:anim calcmode="lin" valueType="num">
                                      <p:cBhvr additive="base">
                                        <p:cTn id="3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5"/>
                                        </p:tgtEl>
                                        <p:attrNameLst>
                                          <p:attrName>style.visibility</p:attrName>
                                        </p:attrNameLst>
                                      </p:cBhvr>
                                      <p:to>
                                        <p:strVal val="visible"/>
                                      </p:to>
                                    </p:set>
                                    <p:anim calcmode="lin" valueType="num">
                                      <p:cBhvr additive="base">
                                        <p:cTn id="49" dur="500" fill="hold"/>
                                        <p:tgtEl>
                                          <p:spTgt spid="25"/>
                                        </p:tgtEl>
                                        <p:attrNameLst>
                                          <p:attrName>ppt_x</p:attrName>
                                        </p:attrNameLst>
                                      </p:cBhvr>
                                      <p:tavLst>
                                        <p:tav tm="0">
                                          <p:val>
                                            <p:strVal val="0-#ppt_w/2"/>
                                          </p:val>
                                        </p:tav>
                                        <p:tav tm="100000">
                                          <p:val>
                                            <p:strVal val="#ppt_x"/>
                                          </p:val>
                                        </p:tav>
                                      </p:tavLst>
                                    </p:anim>
                                    <p:anim calcmode="lin" valueType="num">
                                      <p:cBhvr additive="base">
                                        <p:cTn id="50"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0-#ppt_w/2"/>
                                          </p:val>
                                        </p:tav>
                                        <p:tav tm="100000">
                                          <p:val>
                                            <p:strVal val="#ppt_x"/>
                                          </p:val>
                                        </p:tav>
                                      </p:tavLst>
                                    </p:anim>
                                    <p:anim calcmode="lin" valueType="num">
                                      <p:cBhvr additive="base">
                                        <p:cTn id="56"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6" grpId="0" animBg="1"/>
      <p:bldP spid="18" grpId="0" animBg="1"/>
      <p:bldP spid="20" grpId="0" animBg="1"/>
      <p:bldP spid="23" grpId="0" animBg="1"/>
      <p:bldP spid="25" grpId="0" animBg="1"/>
      <p:bldP spid="28" grpId="0" animBg="1"/>
    </p:bldLst>
  </p:timing>
</p:sld>
</file>

<file path=ppt/slides/slide11.xml><?xml version="1.0" encoding="utf-8"?>
<p:sld xmlns:a="http://schemas.openxmlformats.org/drawingml/2006/main" xmlns:p="http://schemas.openxmlformats.org/presentationml/2006/main" xmlns:r="http://schemas.openxmlformats.org/officeDocument/2006/relationships">
  <p:cSld name="11 구문 3">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11</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(3/3)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1808547"/>
            <a:ext cx="382936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③ They will be routinely informed</a:t>
            </a:r>
            <a:endParaRPr lang="en-US" altLang="ko-KR" sz="1800" dirty="0"/>
          </a:p>
        </p:txBody>
      </p:sp>
      <p:sp>
        <p:nvSpPr>
          <p:cNvPr id="8" name="reveal_17_kr"/>
          <p:cNvSpPr/>
          <p:nvPr/>
        </p:nvSpPr>
        <p:spPr>
          <a:xfrm>
            <a:off x="548640" y="2142303"/>
            <a:ext cx="382936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그들은 일상적으로 통지받을 것이다</a:t>
            </a:r>
            <a:endParaRPr lang="en-US" altLang="ko-KR" sz="1450" dirty="0"/>
          </a:p>
        </p:txBody>
      </p:sp>
      <p:sp>
        <p:nvSpPr>
          <p:cNvPr id="9" name="Sep"/>
          <p:cNvSpPr/>
          <p:nvPr/>
        </p:nvSpPr>
        <p:spPr>
          <a:xfrm>
            <a:off x="4332282" y="180854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4560075" y="1808547"/>
            <a:ext cx="556235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of news of all auctions and important private sales,</a:t>
            </a:r>
            <a:endParaRPr lang="en-US" altLang="ko-KR" sz="1800" dirty="0"/>
          </a:p>
        </p:txBody>
      </p:sp>
      <p:sp>
        <p:nvSpPr>
          <p:cNvPr id="11" name="reveal_18_kr"/>
          <p:cNvSpPr/>
          <p:nvPr/>
        </p:nvSpPr>
        <p:spPr>
          <a:xfrm>
            <a:off x="4560075" y="2142303"/>
            <a:ext cx="556235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모든 경매와 중요한 개인 판매에 관한 소식을</a:t>
            </a:r>
            <a:endParaRPr lang="en-US" altLang="ko-KR" sz="1450" dirty="0"/>
          </a:p>
        </p:txBody>
      </p:sp>
      <p:sp>
        <p:nvSpPr>
          <p:cNvPr id="12" name="En"/>
          <p:cNvSpPr/>
          <p:nvPr/>
        </p:nvSpPr>
        <p:spPr>
          <a:xfrm>
            <a:off x="548640" y="2504126"/>
            <a:ext cx="415023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should be well-enough connected</a:t>
            </a:r>
            <a:endParaRPr lang="en-US" altLang="ko-KR" sz="1800" dirty="0"/>
          </a:p>
        </p:txBody>
      </p:sp>
      <p:sp>
        <p:nvSpPr>
          <p:cNvPr id="13" name="reveal_19_kr"/>
          <p:cNvSpPr/>
          <p:nvPr/>
        </p:nvSpPr>
        <p:spPr>
          <a:xfrm>
            <a:off x="548640" y="2837882"/>
            <a:ext cx="415023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그리고 충분히 잘 연결되어 있어야 한다</a:t>
            </a:r>
            <a:endParaRPr lang="en-US" altLang="ko-KR" sz="1450" dirty="0"/>
          </a:p>
        </p:txBody>
      </p:sp>
      <p:sp>
        <p:nvSpPr>
          <p:cNvPr id="14" name="Sep"/>
          <p:cNvSpPr/>
          <p:nvPr/>
        </p:nvSpPr>
        <p:spPr>
          <a:xfrm>
            <a:off x="4653158" y="2504126"/>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5" name="En"/>
          <p:cNvSpPr/>
          <p:nvPr/>
        </p:nvSpPr>
        <p:spPr>
          <a:xfrm>
            <a:off x="4880951" y="2504126"/>
            <a:ext cx="311716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to hear occasionally of items</a:t>
            </a:r>
            <a:endParaRPr lang="en-US" altLang="ko-KR" sz="1800" dirty="0"/>
          </a:p>
        </p:txBody>
      </p:sp>
      <p:sp>
        <p:nvSpPr>
          <p:cNvPr id="16" name="reveal_20_kr"/>
          <p:cNvSpPr/>
          <p:nvPr/>
        </p:nvSpPr>
        <p:spPr>
          <a:xfrm>
            <a:off x="4880951" y="2837882"/>
            <a:ext cx="311716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이따금 물건에 관해 듣기 위해</a:t>
            </a:r>
            <a:endParaRPr lang="en-US" altLang="ko-KR" sz="1450" dirty="0"/>
          </a:p>
        </p:txBody>
      </p:sp>
      <p:sp>
        <p:nvSpPr>
          <p:cNvPr id="17" name="Sep"/>
          <p:cNvSpPr/>
          <p:nvPr/>
        </p:nvSpPr>
        <p:spPr>
          <a:xfrm>
            <a:off x="7952394" y="2504126"/>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8" name="En"/>
          <p:cNvSpPr/>
          <p:nvPr/>
        </p:nvSpPr>
        <p:spPr>
          <a:xfrm>
            <a:off x="8180187" y="2504126"/>
            <a:ext cx="335949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which are not yet quite on sale</a:t>
            </a:r>
            <a:endParaRPr lang="en-US" altLang="ko-KR" sz="1800" dirty="0"/>
          </a:p>
        </p:txBody>
      </p:sp>
      <p:sp>
        <p:nvSpPr>
          <p:cNvPr id="19" name="reveal_21_kr"/>
          <p:cNvSpPr/>
          <p:nvPr/>
        </p:nvSpPr>
        <p:spPr>
          <a:xfrm>
            <a:off x="8180187" y="2837882"/>
            <a:ext cx="335949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아직 완전히 판매되지 않은</a:t>
            </a:r>
            <a:endParaRPr lang="en-US" altLang="ko-KR" sz="1450" dirty="0"/>
          </a:p>
        </p:txBody>
      </p:sp>
      <p:sp>
        <p:nvSpPr>
          <p:cNvPr id="20" name="En"/>
          <p:cNvSpPr/>
          <p:nvPr/>
        </p:nvSpPr>
        <p:spPr>
          <a:xfrm>
            <a:off x="548640" y="3199705"/>
            <a:ext cx="448396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but might be available for a certain price.</a:t>
            </a:r>
            <a:endParaRPr lang="en-US" altLang="ko-KR" sz="1800" dirty="0"/>
          </a:p>
        </p:txBody>
      </p:sp>
      <p:sp>
        <p:nvSpPr>
          <p:cNvPr id="21" name="reveal_22_kr"/>
          <p:cNvSpPr/>
          <p:nvPr/>
        </p:nvSpPr>
        <p:spPr>
          <a:xfrm>
            <a:off x="548640" y="3533461"/>
            <a:ext cx="448396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하지만 어느 정도의 가격에 구할 수 있을지도 모르는</a:t>
            </a:r>
            <a:endParaRPr lang="en-US" altLang="ko-KR" sz="1450" dirty="0"/>
          </a:p>
        </p:txBody>
      </p:sp>
      <p:sp>
        <p:nvSpPr>
          <p:cNvPr id="22" name="En"/>
          <p:cNvSpPr/>
          <p:nvPr/>
        </p:nvSpPr>
        <p:spPr>
          <a:xfrm>
            <a:off x="548640" y="3977580"/>
            <a:ext cx="5223044"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④ The main advantage of buying from a dealer</a:t>
            </a:r>
            <a:endParaRPr lang="en-US" altLang="ko-KR" sz="1800" dirty="0"/>
          </a:p>
        </p:txBody>
      </p:sp>
      <p:sp>
        <p:nvSpPr>
          <p:cNvPr id="23" name="reveal_23_kr"/>
          <p:cNvSpPr/>
          <p:nvPr/>
        </p:nvSpPr>
        <p:spPr>
          <a:xfrm>
            <a:off x="548640" y="4311336"/>
            <a:ext cx="5223044"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딜러로부터 구매하는 것의 주된 이점은</a:t>
            </a:r>
            <a:endParaRPr lang="en-US" altLang="ko-KR" sz="1450" dirty="0"/>
          </a:p>
        </p:txBody>
      </p:sp>
      <p:sp>
        <p:nvSpPr>
          <p:cNvPr id="24" name="Sep"/>
          <p:cNvSpPr/>
          <p:nvPr/>
        </p:nvSpPr>
        <p:spPr>
          <a:xfrm>
            <a:off x="5725964" y="3977580"/>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5" name="En"/>
          <p:cNvSpPr/>
          <p:nvPr/>
        </p:nvSpPr>
        <p:spPr>
          <a:xfrm>
            <a:off x="5953757" y="3977580"/>
            <a:ext cx="5376602"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is getting personalised service on your purchases.</a:t>
            </a:r>
            <a:endParaRPr lang="en-US" altLang="ko-KR" sz="1800" dirty="0"/>
          </a:p>
        </p:txBody>
      </p:sp>
      <p:sp>
        <p:nvSpPr>
          <p:cNvPr id="26" name="reveal_24_kr"/>
          <p:cNvSpPr/>
          <p:nvPr/>
        </p:nvSpPr>
        <p:spPr>
          <a:xfrm>
            <a:off x="5953757" y="4311336"/>
            <a:ext cx="5376602"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당신의 구매에 대해 맞춤형 서비스를 받는 것이다</a:t>
            </a:r>
            <a:endParaRPr lang="en-US" altLang="ko-KR" sz="1450" dirty="0"/>
          </a:p>
        </p:txBody>
      </p:sp>
      <p:sp>
        <p:nvSpPr>
          <p:cNvPr id="27" name="En"/>
          <p:cNvSpPr/>
          <p:nvPr/>
        </p:nvSpPr>
        <p:spPr>
          <a:xfrm>
            <a:off x="548640" y="4755455"/>
            <a:ext cx="527719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⑤ In turn, they can circulate their own contacts</a:t>
            </a:r>
            <a:endParaRPr lang="en-US" altLang="ko-KR" sz="1800" dirty="0"/>
          </a:p>
        </p:txBody>
      </p:sp>
      <p:sp>
        <p:nvSpPr>
          <p:cNvPr id="28" name="reveal_25_kr"/>
          <p:cNvSpPr/>
          <p:nvPr/>
        </p:nvSpPr>
        <p:spPr>
          <a:xfrm>
            <a:off x="548640" y="5089211"/>
            <a:ext cx="527719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 대가로 그들은 자신의 인맥을 돌게 할 수 있다</a:t>
            </a:r>
            <a:endParaRPr lang="en-US" altLang="ko-KR" sz="1450" dirty="0"/>
          </a:p>
        </p:txBody>
      </p:sp>
      <p:sp>
        <p:nvSpPr>
          <p:cNvPr id="29" name="Sep"/>
          <p:cNvSpPr/>
          <p:nvPr/>
        </p:nvSpPr>
        <p:spPr>
          <a:xfrm>
            <a:off x="5780117" y="475545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0" name="En"/>
          <p:cNvSpPr/>
          <p:nvPr/>
        </p:nvSpPr>
        <p:spPr>
          <a:xfrm>
            <a:off x="6007910" y="4755455"/>
            <a:ext cx="486846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with ‘want-lists’ of desired items or subjects,</a:t>
            </a:r>
            <a:endParaRPr lang="en-US" altLang="ko-KR" sz="1800" dirty="0"/>
          </a:p>
        </p:txBody>
      </p:sp>
      <p:sp>
        <p:nvSpPr>
          <p:cNvPr id="31" name="reveal_26_kr"/>
          <p:cNvSpPr/>
          <p:nvPr/>
        </p:nvSpPr>
        <p:spPr>
          <a:xfrm>
            <a:off x="6007910" y="5089211"/>
            <a:ext cx="486846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원하는 물건이나 주제의 '희망 목록'을 가지고</a:t>
            </a:r>
            <a:endParaRPr lang="en-US" altLang="ko-KR" sz="1450" dirty="0"/>
          </a:p>
        </p:txBody>
      </p:sp>
      <p:sp>
        <p:nvSpPr>
          <p:cNvPr id="32" name="En"/>
          <p:cNvSpPr/>
          <p:nvPr/>
        </p:nvSpPr>
        <p:spPr>
          <a:xfrm>
            <a:off x="548640" y="5451034"/>
            <a:ext cx="457882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multiplying their client collectors’ chances</a:t>
            </a:r>
            <a:endParaRPr lang="en-US" altLang="ko-KR" sz="1800" dirty="0"/>
          </a:p>
        </p:txBody>
      </p:sp>
      <p:sp>
        <p:nvSpPr>
          <p:cNvPr id="33" name="reveal_27_kr"/>
          <p:cNvSpPr/>
          <p:nvPr/>
        </p:nvSpPr>
        <p:spPr>
          <a:xfrm>
            <a:off x="548640" y="5784790"/>
            <a:ext cx="457882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자신의 고객 수집가들의 기회를 배가시키면서</a:t>
            </a:r>
            <a:endParaRPr lang="en-US" altLang="ko-KR" sz="1450" dirty="0"/>
          </a:p>
        </p:txBody>
      </p:sp>
      <p:sp>
        <p:nvSpPr>
          <p:cNvPr id="34" name="Sep"/>
          <p:cNvSpPr/>
          <p:nvPr/>
        </p:nvSpPr>
        <p:spPr>
          <a:xfrm>
            <a:off x="5081747" y="545103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5" name="En"/>
          <p:cNvSpPr/>
          <p:nvPr/>
        </p:nvSpPr>
        <p:spPr>
          <a:xfrm>
            <a:off x="5309540" y="5451034"/>
            <a:ext cx="329057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of expanding their collections.</a:t>
            </a:r>
            <a:endParaRPr lang="en-US" altLang="ko-KR" sz="1800" dirty="0"/>
          </a:p>
        </p:txBody>
      </p:sp>
      <p:sp>
        <p:nvSpPr>
          <p:cNvPr id="36" name="reveal_28_kr"/>
          <p:cNvSpPr/>
          <p:nvPr/>
        </p:nvSpPr>
        <p:spPr>
          <a:xfrm>
            <a:off x="5309540" y="5784790"/>
            <a:ext cx="329057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소장품을 확장할</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0-#ppt_w/2"/>
                                          </p:val>
                                        </p:tav>
                                        <p:tav tm="100000">
                                          <p:val>
                                            <p:strVal val="#ppt_x"/>
                                          </p:val>
                                        </p:tav>
                                      </p:tavLst>
                                    </p:anim>
                                    <p:anim calcmode="lin" valueType="num">
                                      <p:cBhvr additive="base">
                                        <p:cTn id="3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0-#ppt_w/2"/>
                                          </p:val>
                                        </p:tav>
                                        <p:tav tm="100000">
                                          <p:val>
                                            <p:strVal val="#ppt_x"/>
                                          </p:val>
                                        </p:tav>
                                      </p:tavLst>
                                    </p:anim>
                                    <p:anim calcmode="lin" valueType="num">
                                      <p:cBhvr additive="base">
                                        <p:cTn id="56"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1"/>
                                        </p:tgtEl>
                                        <p:attrNameLst>
                                          <p:attrName>style.visibility</p:attrName>
                                        </p:attrNameLst>
                                      </p:cBhvr>
                                      <p:to>
                                        <p:strVal val="visible"/>
                                      </p:to>
                                    </p:set>
                                    <p:anim calcmode="lin" valueType="num">
                                      <p:cBhvr additive="base">
                                        <p:cTn id="61" dur="500" fill="hold"/>
                                        <p:tgtEl>
                                          <p:spTgt spid="31"/>
                                        </p:tgtEl>
                                        <p:attrNameLst>
                                          <p:attrName>ppt_x</p:attrName>
                                        </p:attrNameLst>
                                      </p:cBhvr>
                                      <p:tavLst>
                                        <p:tav tm="0">
                                          <p:val>
                                            <p:strVal val="0-#ppt_w/2"/>
                                          </p:val>
                                        </p:tav>
                                        <p:tav tm="100000">
                                          <p:val>
                                            <p:strVal val="#ppt_x"/>
                                          </p:val>
                                        </p:tav>
                                      </p:tavLst>
                                    </p:anim>
                                    <p:anim calcmode="lin" valueType="num">
                                      <p:cBhvr additive="base">
                                        <p:cTn id="6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additive="base">
                                        <p:cTn id="66" dur="1" fill="hold">
                                          <p:stCondLst>
                                            <p:cond delay="0"/>
                                          </p:stCondLst>
                                        </p:cTn>
                                        <p:tgtEl>
                                          <p:spTgt spid="33"/>
                                        </p:tgtEl>
                                        <p:attrNameLst>
                                          <p:attrName>style.visibility</p:attrName>
                                        </p:attrNameLst>
                                      </p:cBhvr>
                                      <p:to>
                                        <p:strVal val="visible"/>
                                      </p:to>
                                    </p:set>
                                    <p:anim calcmode="lin" valueType="num">
                                      <p:cBhvr additive="base">
                                        <p:cTn id="67" dur="500" fill="hold"/>
                                        <p:tgtEl>
                                          <p:spTgt spid="33"/>
                                        </p:tgtEl>
                                        <p:attrNameLst>
                                          <p:attrName>ppt_x</p:attrName>
                                        </p:attrNameLst>
                                      </p:cBhvr>
                                      <p:tavLst>
                                        <p:tav tm="0">
                                          <p:val>
                                            <p:strVal val="0-#ppt_w/2"/>
                                          </p:val>
                                        </p:tav>
                                        <p:tav tm="100000">
                                          <p:val>
                                            <p:strVal val="#ppt_x"/>
                                          </p:val>
                                        </p:tav>
                                      </p:tavLst>
                                    </p:anim>
                                    <p:anim calcmode="lin" valueType="num">
                                      <p:cBhvr additive="base">
                                        <p:cTn id="68"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additive="base">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0-#ppt_w/2"/>
                                          </p:val>
                                        </p:tav>
                                        <p:tav tm="100000">
                                          <p:val>
                                            <p:strVal val="#ppt_x"/>
                                          </p:val>
                                        </p:tav>
                                      </p:tavLst>
                                    </p:anim>
                                    <p:anim calcmode="lin" valueType="num">
                                      <p:cBhvr additive="base">
                                        <p:cTn id="74" dur="5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6" grpId="0" animBg="1"/>
      <p:bldP spid="19" grpId="0" animBg="1"/>
      <p:bldP spid="21" grpId="0" animBg="1"/>
      <p:bldP spid="23" grpId="0" animBg="1"/>
      <p:bldP spid="26" grpId="0" animBg="1"/>
      <p:bldP spid="28" grpId="0" animBg="1"/>
      <p:bldP spid="31" grpId="0" animBg="1"/>
      <p:bldP spid="33" grpId="0" animBg="1"/>
      <p:bldP spid="36" grpId="0" animBg="1"/>
    </p:bldLst>
  </p:timing>
</p:sld>
</file>

<file path=ppt/slides/slide12.xml><?xml version="1.0" encoding="utf-8"?>
<p:sld xmlns:a="http://schemas.openxmlformats.org/drawingml/2006/main" xmlns:p="http://schemas.openxmlformats.org/presentationml/2006/main" xmlns:r="http://schemas.openxmlformats.org/officeDocument/2006/relationships">
  <p:cSld name="11 문제">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11</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2025학년도 9월 35번 — 무관한 문장 찾기</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클릭하면 정답이 노란 박스로 나타납니다</a:t>
            </a:r>
            <a:endParaRPr lang="en-US" altLang="ko-KR" sz="1100" dirty="0"/>
          </a:p>
        </p:txBody>
      </p:sp>
      <p:sp>
        <p:nvSpPr>
          <p:cNvPr id="7" name="Prompt"/>
          <p:cNvSpPr/>
          <p:nvPr/>
        </p:nvSpPr>
        <p:spPr>
          <a:xfrm>
            <a:off x="548640" y="1325880"/>
            <a:ext cx="11091672" cy="324000"/>
          </a:xfrm>
          <a:prstGeom prst="rect">
            <a:avLst/>
          </a:prstGeom>
          <a:noFill/>
          <a:ln>
            <a:noFill/>
          </a:ln>
        </p:spPr>
        <p:txBody>
          <a:bodyPr wrap="square" lIns="0" tIns="0" rIns="0" bIns="0" rtlCol="0" anchor="ctr"/>
          <a:lstStyle/>
          <a:p>
            <a:pPr marL="0" indent="0">
              <a:buNone/>
            </a:pPr>
            <a:r>
              <a:rPr lang="en-US" altLang="ko-KR" sz="1300" b="1" dirty="0">
                <a:solidFill>
                  <a:srgbClr val="1E2761"/>
                </a:solidFill>
                <a:latin typeface="맑은 고딕" pitchFamily="34" charset="0"/>
                <a:ea typeface="맑은 고딕" pitchFamily="34" charset="-122"/>
                <a:cs typeface="맑은 고딕" pitchFamily="34" charset="-120"/>
              </a:rPr>
              <a:t>다음 글에서 전체 흐름과 관계 </a:t>
            </a:r>
            <a:r>
              <a:rPr lang="en-US" altLang="ko-KR" sz="1300" b="1" u="sng" dirty="0">
                <a:solidFill>
                  <a:srgbClr val="1E2761"/>
                </a:solidFill>
                <a:latin typeface="맑은 고딕" pitchFamily="34" charset="0"/>
                <a:ea typeface="맑은 고딕" pitchFamily="34" charset="-122"/>
                <a:cs typeface="맑은 고딕" pitchFamily="34" charset="-120"/>
              </a:rPr>
              <a:t>없는</a:t>
            </a:r>
            <a:r>
              <a:rPr lang="en-US" altLang="ko-KR" sz="1300" b="1" dirty="0">
                <a:solidFill>
                  <a:srgbClr val="1E2761"/>
                </a:solidFill>
                <a:latin typeface="맑은 고딕" pitchFamily="34" charset="0"/>
                <a:ea typeface="맑은 고딕" pitchFamily="34" charset="-122"/>
                <a:cs typeface="맑은 고딕" pitchFamily="34" charset="-120"/>
              </a:rPr>
              <a:t> 문장은?</a:t>
            </a:r>
            <a:endParaRPr lang="en-US" altLang="ko-KR" sz="1300" dirty="0"/>
          </a:p>
        </p:txBody>
      </p:sp>
      <p:sp>
        <p:nvSpPr>
          <p:cNvPr id="8" name="Passage"/>
          <p:cNvSpPr/>
          <p:nvPr/>
        </p:nvSpPr>
        <p:spPr>
          <a:xfrm>
            <a:off x="548640" y="1787040"/>
            <a:ext cx="11091672" cy="2124475"/>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solidFill>
                <a:latin typeface="Calibri" pitchFamily="34" charset="0"/>
                <a:ea typeface="Calibri" pitchFamily="34" charset="-122"/>
                <a:cs typeface="Calibri" pitchFamily="34" charset="-120"/>
              </a:rPr>
              <a:t>The best dealers offer a much broader service than merely having their goods on display and ‘selling from stock’. Once they know the needs of a particular collector they can actively seek specific items to fill gaps in the collection. ① Because it is their business, to which they devote themselves full-time, they will inevitably have a much wider network than any non-professional collector can ever develop. ② As a matter of course they can enquire about the availability of pieces from dealers in other cities and, most crucially in some categories, from overseas. ③ They will be routinely informed of news of all auctions and important private sales, and should be well-enough connected to hear occasionally of items which are not yet quite on sale but might be available for a certain price. </a:t>
            </a:r>
            <a:r>
              <a:rPr lang="en-US" altLang="ko-KR" sz="1400" dirty="0">
                <a:solidFill>
                  <a:srgbClr val="333333"/>
                </a:solidFill>
                <a:latin typeface="Calibri" pitchFamily="34" charset="0"/>
                <a:ea typeface="Calibri" pitchFamily="34" charset="-122"/>
                <a:cs typeface="Calibri" pitchFamily="34" charset="-120"/>
              </a:rPr>
              <a:t>④ The main advantage of buying from a dealer is getting personalised service on your purchases.</a:t>
            </a:r>
            <a:r>
              <a:rPr lang="en-US" altLang="ko-KR" sz="1400" dirty="0">
                <a:solidFill>
                  <a:srgbClr val="333333"/>
                </a:solidFill>
                <a:latin typeface="Calibri" pitchFamily="34" charset="0"/>
                <a:ea typeface="Calibri" pitchFamily="34" charset="-122"/>
                <a:cs typeface="Calibri" pitchFamily="34" charset="-120"/>
              </a:rPr>
              <a:t> ⑤ In turn, they can circulate their own contacts with ‘want-lists’ of desired items or subjects, multiplying their client collectors’ chances of expanding their collections.</a:t>
            </a:r>
            <a:endParaRPr lang="en-US" altLang="ko-KR" sz="1400" dirty="0"/>
          </a:p>
        </p:txBody>
      </p:sp>
      <p:sp>
        <p:nvSpPr>
          <p:cNvPr id="9" name="AnsOverlay"/>
          <p:cNvSpPr/>
          <p:nvPr/>
        </p:nvSpPr>
        <p:spPr>
          <a:xfrm>
            <a:off x="548640" y="1787040"/>
            <a:ext cx="11091672" cy="2124475"/>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alpha val="0"/>
                  </a:srgbClr>
                </a:solidFill>
                <a:latin typeface="Calibri" pitchFamily="34" charset="0"/>
                <a:ea typeface="Calibri" pitchFamily="34" charset="-122"/>
                <a:cs typeface="Calibri" pitchFamily="34" charset="-120"/>
              </a:rPr>
              <a:t>The best dealers offer a much broader service than merely having their goods on display and ‘selling from stock’. Once they know the needs of a particular collector they can actively seek specific items to fill gaps in the collection. ① Because it is their business, to which they devote themselves full-time, they will inevitably have a much wider network than any non-professional collector can ever develop. ② As a matter of course they can enquire about the availability of pieces from dealers in other cities and, most crucially in some categories, from overseas. ③ They will be routinely informed of news of all auctions and important private sales, and should be well-enough connected to hear occasionally of items which are not yet quite on sale but might be available for a certain price. </a:t>
            </a:r>
            <a:r>
              <a:rPr lang="en-US" altLang="ko-KR" sz="1400" dirty="0">
                <a:solidFill>
                  <a:srgbClr val="C00000"/>
                </a:solidFill>
                <a:latin typeface="Calibri" pitchFamily="34" charset="0"/>
                <a:ea typeface="Calibri" pitchFamily="34" charset="-122"/>
                <a:cs typeface="Calibri" pitchFamily="34" charset="-120"/>
              </a:rPr>
              <a:t>④ The main advantage of buying from a dealer is getting personalised service on your purchases.</a:t>
            </a:r>
            <a:r>
              <a:rPr lang="en-US" altLang="ko-KR" sz="1400" dirty="0">
                <a:solidFill>
                  <a:srgbClr val="333333">
                    <a:alpha val="0"/>
                  </a:srgbClr>
                </a:solidFill>
                <a:latin typeface="Calibri" pitchFamily="34" charset="0"/>
                <a:ea typeface="Calibri" pitchFamily="34" charset="-122"/>
                <a:cs typeface="Calibri" pitchFamily="34" charset="-120"/>
              </a:rPr>
              <a:t> ⑤ In turn, they can circulate their own contacts with ‘want-lists’ of desired items or subjects, multiplying their client collectors’ chances of expanding their collections.</a:t>
            </a:r>
            <a:endParaRPr lang="en-US" altLang="ko-KR" sz="1400" dirty="0"/>
          </a:p>
        </p:txBody>
      </p:sp>
      <p:sp>
        <p:nvSpPr>
          <p:cNvPr id="10" name="AnsBg"/>
          <p:cNvSpPr/>
          <p:nvPr/>
        </p:nvSpPr>
        <p:spPr>
          <a:xfrm>
            <a:off x="548640" y="4033915"/>
            <a:ext cx="11091672" cy="457200"/>
          </a:xfrm>
          <a:prstGeom prst="rect">
            <a:avLst/>
          </a:prstGeom>
          <a:solidFill>
            <a:srgbClr val="FFF4CC"/>
          </a:solidFill>
          <a:ln>
            <a:noFill/>
          </a:ln>
        </p:spPr>
        <p:txBody>
          <a:bodyPr/>
          <a:lstStyle/>
          <a:p>
            <a:endParaRPr lang="ko-KR" altLang="en-US"/>
          </a:p>
        </p:txBody>
      </p:sp>
      <p:sp>
        <p:nvSpPr>
          <p:cNvPr id="11" name="reveal_11_en"/>
          <p:cNvSpPr/>
          <p:nvPr/>
        </p:nvSpPr>
        <p:spPr>
          <a:xfrm>
            <a:off x="732240" y="4033915"/>
            <a:ext cx="10724472" cy="457200"/>
          </a:xfrm>
          <a:prstGeom prst="rect">
            <a:avLst/>
          </a:prstGeom>
          <a:noFill/>
          <a:ln>
            <a:noFill/>
          </a:ln>
        </p:spPr>
        <p:txBody>
          <a:bodyPr wrap="square" lIns="0" tIns="0" rIns="0" bIns="0" rtlCol="0" anchor="ctr"/>
          <a:lstStyle/>
          <a:p>
            <a:pPr marL="0" indent="0">
              <a:buNone/>
            </a:pPr>
            <a:r>
              <a:rPr lang="en-US" altLang="ko-KR" sz="1500" b="1" dirty="0">
                <a:solidFill>
                  <a:srgbClr val="5A4200"/>
                </a:solidFill>
                <a:latin typeface="맑은 고딕" pitchFamily="34" charset="0"/>
                <a:ea typeface="맑은 고딕" pitchFamily="34" charset="-122"/>
                <a:cs typeface="맑은 고딕" pitchFamily="34" charset="-120"/>
              </a:rPr>
              <a:t>정답   ④</a:t>
            </a:r>
            <a:endParaRPr lang="en-US" altLang="ko-KR"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additive="base">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additive="base">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additive="base">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9" grpId="0" animBg="1"/>
    </p:bldLst>
  </p:timing>
</p:sld>
</file>

<file path=ppt/slides/slide13.xml><?xml version="1.0" encoding="utf-8"?>
<p:sld xmlns:a="http://schemas.openxmlformats.org/drawingml/2006/main" xmlns:p="http://schemas.openxmlformats.org/presentationml/2006/main" xmlns:r="http://schemas.openxmlformats.org/officeDocument/2006/relationships">
  <p:cSld name="12 구문 1">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12</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(1/3)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2197485"/>
            <a:ext cx="462380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 the case of classical music performance,</a:t>
            </a:r>
            <a:endParaRPr lang="en-US" altLang="ko-KR" sz="1800" dirty="0"/>
          </a:p>
        </p:txBody>
      </p:sp>
      <p:sp>
        <p:nvSpPr>
          <p:cNvPr id="8" name="reveal_1_kr"/>
          <p:cNvSpPr/>
          <p:nvPr/>
        </p:nvSpPr>
        <p:spPr>
          <a:xfrm>
            <a:off x="548640" y="2531241"/>
            <a:ext cx="462380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클래식 음악 연주의 경우</a:t>
            </a:r>
            <a:endParaRPr lang="en-US" altLang="ko-KR" sz="1450" dirty="0"/>
          </a:p>
        </p:txBody>
      </p:sp>
      <p:sp>
        <p:nvSpPr>
          <p:cNvPr id="9" name="Sep"/>
          <p:cNvSpPr/>
          <p:nvPr/>
        </p:nvSpPr>
        <p:spPr>
          <a:xfrm>
            <a:off x="5126726" y="219748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5354519" y="2197485"/>
            <a:ext cx="427073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notwithstanding the perhaps increased</a:t>
            </a:r>
            <a:endParaRPr lang="en-US" altLang="ko-KR" sz="1800" dirty="0"/>
          </a:p>
        </p:txBody>
      </p:sp>
      <p:sp>
        <p:nvSpPr>
          <p:cNvPr id="11" name="reveal_2_kr"/>
          <p:cNvSpPr/>
          <p:nvPr/>
        </p:nvSpPr>
        <p:spPr>
          <a:xfrm>
            <a:off x="5354519" y="2531241"/>
            <a:ext cx="427073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아마도 증가된</a:t>
            </a:r>
            <a:endParaRPr lang="en-US" altLang="ko-KR" sz="1450" dirty="0"/>
          </a:p>
        </p:txBody>
      </p:sp>
      <p:sp>
        <p:nvSpPr>
          <p:cNvPr id="12" name="En"/>
          <p:cNvSpPr/>
          <p:nvPr/>
        </p:nvSpPr>
        <p:spPr>
          <a:xfrm>
            <a:off x="548640" y="2893064"/>
            <a:ext cx="509340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psychological pressure to achieve “perfection,”</a:t>
            </a:r>
            <a:endParaRPr lang="en-US" altLang="ko-KR" sz="1800" dirty="0"/>
          </a:p>
        </p:txBody>
      </p:sp>
      <p:sp>
        <p:nvSpPr>
          <p:cNvPr id="13" name="reveal_3_kr"/>
          <p:cNvSpPr/>
          <p:nvPr/>
        </p:nvSpPr>
        <p:spPr>
          <a:xfrm>
            <a:off x="548640" y="3226820"/>
            <a:ext cx="509340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'완벽함'을 이루려는 심리적 압박에도 불구하고</a:t>
            </a:r>
            <a:endParaRPr lang="en-US" altLang="ko-KR" sz="1450" dirty="0"/>
          </a:p>
        </p:txBody>
      </p:sp>
      <p:sp>
        <p:nvSpPr>
          <p:cNvPr id="14" name="Sep"/>
          <p:cNvSpPr/>
          <p:nvPr/>
        </p:nvSpPr>
        <p:spPr>
          <a:xfrm>
            <a:off x="5596322" y="289306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5" name="En"/>
          <p:cNvSpPr/>
          <p:nvPr/>
        </p:nvSpPr>
        <p:spPr>
          <a:xfrm>
            <a:off x="5824115" y="2893064"/>
            <a:ext cx="410076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to a large extent it is the participation</a:t>
            </a:r>
            <a:endParaRPr lang="en-US" altLang="ko-KR" sz="1800" dirty="0"/>
          </a:p>
        </p:txBody>
      </p:sp>
      <p:sp>
        <p:nvSpPr>
          <p:cNvPr id="16" name="reveal_4_kr"/>
          <p:cNvSpPr/>
          <p:nvPr/>
        </p:nvSpPr>
        <p:spPr>
          <a:xfrm>
            <a:off x="5824115" y="3226820"/>
            <a:ext cx="410076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상당 부분 그것은 참여이다</a:t>
            </a:r>
            <a:endParaRPr lang="en-US" altLang="ko-KR" sz="1450" dirty="0"/>
          </a:p>
        </p:txBody>
      </p:sp>
      <p:sp>
        <p:nvSpPr>
          <p:cNvPr id="17" name="En"/>
          <p:cNvSpPr/>
          <p:nvPr/>
        </p:nvSpPr>
        <p:spPr>
          <a:xfrm>
            <a:off x="548640" y="3588643"/>
            <a:ext cx="363381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 a physical pursuit of excellence</a:t>
            </a:r>
            <a:endParaRPr lang="en-US" altLang="ko-KR" sz="1800" dirty="0"/>
          </a:p>
        </p:txBody>
      </p:sp>
      <p:sp>
        <p:nvSpPr>
          <p:cNvPr id="18" name="reveal_5_kr"/>
          <p:cNvSpPr/>
          <p:nvPr/>
        </p:nvSpPr>
        <p:spPr>
          <a:xfrm>
            <a:off x="548640" y="3922399"/>
            <a:ext cx="363381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탁월함에 대한 신체적 추구에의</a:t>
            </a:r>
            <a:endParaRPr lang="en-US" altLang="ko-KR" sz="1450" dirty="0"/>
          </a:p>
        </p:txBody>
      </p:sp>
      <p:sp>
        <p:nvSpPr>
          <p:cNvPr id="19" name="Sep"/>
          <p:cNvSpPr/>
          <p:nvPr/>
        </p:nvSpPr>
        <p:spPr>
          <a:xfrm>
            <a:off x="4136735" y="3588643"/>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0" name="En"/>
          <p:cNvSpPr/>
          <p:nvPr/>
        </p:nvSpPr>
        <p:spPr>
          <a:xfrm>
            <a:off x="4364528" y="3588643"/>
            <a:ext cx="247871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links art to sports.</a:t>
            </a:r>
            <a:endParaRPr lang="en-US" altLang="ko-KR" sz="1800" dirty="0"/>
          </a:p>
        </p:txBody>
      </p:sp>
      <p:sp>
        <p:nvSpPr>
          <p:cNvPr id="21" name="reveal_6_kr"/>
          <p:cNvSpPr/>
          <p:nvPr/>
        </p:nvSpPr>
        <p:spPr>
          <a:xfrm>
            <a:off x="4364528" y="3922399"/>
            <a:ext cx="247871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예술을 스포츠와 연결하는</a:t>
            </a:r>
            <a:endParaRPr lang="en-US" altLang="ko-KR" sz="1450" dirty="0"/>
          </a:p>
        </p:txBody>
      </p:sp>
      <p:sp>
        <p:nvSpPr>
          <p:cNvPr id="22" name="En"/>
          <p:cNvSpPr/>
          <p:nvPr/>
        </p:nvSpPr>
        <p:spPr>
          <a:xfrm>
            <a:off x="548640" y="4366518"/>
            <a:ext cx="502466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① Musicians and athletes both must attempt</a:t>
            </a:r>
            <a:endParaRPr lang="en-US" altLang="ko-KR" sz="1800" dirty="0"/>
          </a:p>
        </p:txBody>
      </p:sp>
      <p:sp>
        <p:nvSpPr>
          <p:cNvPr id="23" name="reveal_7_kr"/>
          <p:cNvSpPr/>
          <p:nvPr/>
        </p:nvSpPr>
        <p:spPr>
          <a:xfrm>
            <a:off x="548640" y="4700274"/>
            <a:ext cx="502466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음악가와 운동선수 둘 다 시도해야 한다</a:t>
            </a:r>
            <a:endParaRPr lang="en-US" altLang="ko-KR" sz="1450" dirty="0"/>
          </a:p>
        </p:txBody>
      </p:sp>
      <p:sp>
        <p:nvSpPr>
          <p:cNvPr id="24" name="Sep"/>
          <p:cNvSpPr/>
          <p:nvPr/>
        </p:nvSpPr>
        <p:spPr>
          <a:xfrm>
            <a:off x="5527587" y="436651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5" name="En"/>
          <p:cNvSpPr/>
          <p:nvPr/>
        </p:nvSpPr>
        <p:spPr>
          <a:xfrm>
            <a:off x="5755380" y="4366518"/>
            <a:ext cx="396838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to create mistake-free performances</a:t>
            </a:r>
            <a:endParaRPr lang="en-US" altLang="ko-KR" sz="1800" dirty="0"/>
          </a:p>
        </p:txBody>
      </p:sp>
      <p:sp>
        <p:nvSpPr>
          <p:cNvPr id="26" name="reveal_8_kr"/>
          <p:cNvSpPr/>
          <p:nvPr/>
        </p:nvSpPr>
        <p:spPr>
          <a:xfrm>
            <a:off x="5755380" y="4700274"/>
            <a:ext cx="396838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실수 없는 연주를 만들어 내려고</a:t>
            </a:r>
            <a:endParaRPr lang="en-US" altLang="ko-KR" sz="1450" dirty="0"/>
          </a:p>
        </p:txBody>
      </p:sp>
      <p:sp>
        <p:nvSpPr>
          <p:cNvPr id="27" name="En"/>
          <p:cNvSpPr/>
          <p:nvPr/>
        </p:nvSpPr>
        <p:spPr>
          <a:xfrm>
            <a:off x="548640" y="5062097"/>
            <a:ext cx="556502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require finely tuned neural and muscle control</a:t>
            </a:r>
            <a:endParaRPr lang="en-US" altLang="ko-KR" sz="1800" dirty="0"/>
          </a:p>
        </p:txBody>
      </p:sp>
      <p:sp>
        <p:nvSpPr>
          <p:cNvPr id="28" name="reveal_9_kr"/>
          <p:cNvSpPr/>
          <p:nvPr/>
        </p:nvSpPr>
        <p:spPr>
          <a:xfrm>
            <a:off x="548640" y="5395853"/>
            <a:ext cx="556502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정교하게 조율된 신경과 근육 조절을 요구하는</a:t>
            </a:r>
            <a:endParaRPr lang="en-US" altLang="ko-KR" sz="1450" dirty="0"/>
          </a:p>
        </p:txBody>
      </p:sp>
      <p:sp>
        <p:nvSpPr>
          <p:cNvPr id="29" name="Sep"/>
          <p:cNvSpPr/>
          <p:nvPr/>
        </p:nvSpPr>
        <p:spPr>
          <a:xfrm>
            <a:off x="6067949" y="506209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0" name="En"/>
          <p:cNvSpPr/>
          <p:nvPr/>
        </p:nvSpPr>
        <p:spPr>
          <a:xfrm>
            <a:off x="6295742" y="5062097"/>
            <a:ext cx="424921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enabled by countless hours of practice.</a:t>
            </a:r>
            <a:endParaRPr lang="en-US" altLang="ko-KR" sz="1800" dirty="0"/>
          </a:p>
        </p:txBody>
      </p:sp>
      <p:sp>
        <p:nvSpPr>
          <p:cNvPr id="31" name="reveal_10_kr"/>
          <p:cNvSpPr/>
          <p:nvPr/>
        </p:nvSpPr>
        <p:spPr>
          <a:xfrm>
            <a:off x="6295742" y="5395853"/>
            <a:ext cx="424921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수많은 시간의 연습으로 가능해진</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0-#ppt_w/2"/>
                                          </p:val>
                                        </p:tav>
                                        <p:tav tm="100000">
                                          <p:val>
                                            <p:strVal val="#ppt_x"/>
                                          </p:val>
                                        </p:tav>
                                      </p:tavLst>
                                    </p:anim>
                                    <p:anim calcmode="lin" valueType="num">
                                      <p:cBhvr additive="base">
                                        <p:cTn id="56"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1"/>
                                        </p:tgtEl>
                                        <p:attrNameLst>
                                          <p:attrName>style.visibility</p:attrName>
                                        </p:attrNameLst>
                                      </p:cBhvr>
                                      <p:to>
                                        <p:strVal val="visible"/>
                                      </p:to>
                                    </p:set>
                                    <p:anim calcmode="lin" valueType="num">
                                      <p:cBhvr additive="base">
                                        <p:cTn id="61" dur="500" fill="hold"/>
                                        <p:tgtEl>
                                          <p:spTgt spid="31"/>
                                        </p:tgtEl>
                                        <p:attrNameLst>
                                          <p:attrName>ppt_x</p:attrName>
                                        </p:attrNameLst>
                                      </p:cBhvr>
                                      <p:tavLst>
                                        <p:tav tm="0">
                                          <p:val>
                                            <p:strVal val="0-#ppt_w/2"/>
                                          </p:val>
                                        </p:tav>
                                        <p:tav tm="100000">
                                          <p:val>
                                            <p:strVal val="#ppt_x"/>
                                          </p:val>
                                        </p:tav>
                                      </p:tavLst>
                                    </p:anim>
                                    <p:anim calcmode="lin" valueType="num">
                                      <p:cBhvr additive="base">
                                        <p:cTn id="62"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6" grpId="0" animBg="1"/>
      <p:bldP spid="18" grpId="0" animBg="1"/>
      <p:bldP spid="21" grpId="0" animBg="1"/>
      <p:bldP spid="23" grpId="0" animBg="1"/>
      <p:bldP spid="26" grpId="0" animBg="1"/>
      <p:bldP spid="28" grpId="0" animBg="1"/>
      <p:bldP spid="31" grpId="0" animBg="1"/>
    </p:bldLst>
  </p:timing>
</p:sld>
</file>

<file path=ppt/slides/slide14.xml><?xml version="1.0" encoding="utf-8"?>
<p:sld xmlns:a="http://schemas.openxmlformats.org/drawingml/2006/main" xmlns:p="http://schemas.openxmlformats.org/presentationml/2006/main" xmlns:r="http://schemas.openxmlformats.org/officeDocument/2006/relationships">
  <p:cSld name="12 구문 2">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12</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(2/3)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2197485"/>
            <a:ext cx="584460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② For both activities, disciplining the body and mind</a:t>
            </a:r>
            <a:endParaRPr lang="en-US" altLang="ko-KR" sz="1800" dirty="0"/>
          </a:p>
        </p:txBody>
      </p:sp>
      <p:sp>
        <p:nvSpPr>
          <p:cNvPr id="8" name="reveal_11_kr"/>
          <p:cNvSpPr/>
          <p:nvPr/>
        </p:nvSpPr>
        <p:spPr>
          <a:xfrm>
            <a:off x="548640" y="2531241"/>
            <a:ext cx="584460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두 활동 모두에서 몸과 마음을 단련하는 것은</a:t>
            </a:r>
            <a:endParaRPr lang="en-US" altLang="ko-KR" sz="1450" dirty="0"/>
          </a:p>
        </p:txBody>
      </p:sp>
      <p:sp>
        <p:nvSpPr>
          <p:cNvPr id="9" name="Sep"/>
          <p:cNvSpPr/>
          <p:nvPr/>
        </p:nvSpPr>
        <p:spPr>
          <a:xfrm>
            <a:off x="6347521" y="219748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6575314" y="2197485"/>
            <a:ext cx="236292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is central to achieving</a:t>
            </a:r>
            <a:endParaRPr lang="en-US" altLang="ko-KR" sz="1800" dirty="0"/>
          </a:p>
        </p:txBody>
      </p:sp>
      <p:sp>
        <p:nvSpPr>
          <p:cNvPr id="11" name="reveal_12_kr"/>
          <p:cNvSpPr/>
          <p:nvPr/>
        </p:nvSpPr>
        <p:spPr>
          <a:xfrm>
            <a:off x="6575314" y="2531241"/>
            <a:ext cx="236292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이루는 데 핵심적이다</a:t>
            </a:r>
            <a:endParaRPr lang="en-US" altLang="ko-KR" sz="1450" dirty="0"/>
          </a:p>
        </p:txBody>
      </p:sp>
      <p:sp>
        <p:nvSpPr>
          <p:cNvPr id="12" name="En"/>
          <p:cNvSpPr/>
          <p:nvPr/>
        </p:nvSpPr>
        <p:spPr>
          <a:xfrm>
            <a:off x="548640" y="2893064"/>
            <a:ext cx="589512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what is typically considered a successful performance.</a:t>
            </a:r>
            <a:endParaRPr lang="en-US" altLang="ko-KR" sz="1800" dirty="0"/>
          </a:p>
        </p:txBody>
      </p:sp>
      <p:sp>
        <p:nvSpPr>
          <p:cNvPr id="13" name="reveal_13_kr"/>
          <p:cNvSpPr/>
          <p:nvPr/>
        </p:nvSpPr>
        <p:spPr>
          <a:xfrm>
            <a:off x="548640" y="3226820"/>
            <a:ext cx="589512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일반적으로 성공적인 연주로 여겨지는 것을</a:t>
            </a:r>
            <a:endParaRPr lang="en-US" altLang="ko-KR" sz="1450" dirty="0"/>
          </a:p>
        </p:txBody>
      </p:sp>
      <p:sp>
        <p:nvSpPr>
          <p:cNvPr id="14" name="En"/>
          <p:cNvSpPr/>
          <p:nvPr/>
        </p:nvSpPr>
        <p:spPr>
          <a:xfrm>
            <a:off x="548640" y="3670939"/>
            <a:ext cx="5968652"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③ Standard descriptions of the actions of the muscles</a:t>
            </a:r>
            <a:endParaRPr lang="en-US" altLang="ko-KR" sz="1800" dirty="0"/>
          </a:p>
        </p:txBody>
      </p:sp>
      <p:sp>
        <p:nvSpPr>
          <p:cNvPr id="15" name="reveal_14_kr"/>
          <p:cNvSpPr/>
          <p:nvPr/>
        </p:nvSpPr>
        <p:spPr>
          <a:xfrm>
            <a:off x="548640" y="4004695"/>
            <a:ext cx="5968652"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근육의 작용에 대한 표준적인 설명은</a:t>
            </a:r>
            <a:endParaRPr lang="en-US" altLang="ko-KR" sz="1450" dirty="0"/>
          </a:p>
        </p:txBody>
      </p:sp>
      <p:sp>
        <p:nvSpPr>
          <p:cNvPr id="16" name="Sep"/>
          <p:cNvSpPr/>
          <p:nvPr/>
        </p:nvSpPr>
        <p:spPr>
          <a:xfrm>
            <a:off x="6471572" y="3670939"/>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7" name="En"/>
          <p:cNvSpPr/>
          <p:nvPr/>
        </p:nvSpPr>
        <p:spPr>
          <a:xfrm>
            <a:off x="6699365" y="3670939"/>
            <a:ext cx="2207203"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controlling the hand</a:t>
            </a:r>
            <a:endParaRPr lang="en-US" altLang="ko-KR" sz="1800" dirty="0"/>
          </a:p>
        </p:txBody>
      </p:sp>
      <p:sp>
        <p:nvSpPr>
          <p:cNvPr id="18" name="reveal_15_kr"/>
          <p:cNvSpPr/>
          <p:nvPr/>
        </p:nvSpPr>
        <p:spPr>
          <a:xfrm>
            <a:off x="6699365" y="4004695"/>
            <a:ext cx="2207203"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손을 조절하는</a:t>
            </a:r>
            <a:endParaRPr lang="en-US" altLang="ko-KR" sz="1450" dirty="0"/>
          </a:p>
        </p:txBody>
      </p:sp>
      <p:sp>
        <p:nvSpPr>
          <p:cNvPr id="19" name="En"/>
          <p:cNvSpPr/>
          <p:nvPr/>
        </p:nvSpPr>
        <p:spPr>
          <a:xfrm>
            <a:off x="548640" y="4366518"/>
            <a:ext cx="3570671"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can give a misleading impression</a:t>
            </a:r>
            <a:endParaRPr lang="en-US" altLang="ko-KR" sz="1800" dirty="0"/>
          </a:p>
        </p:txBody>
      </p:sp>
      <p:sp>
        <p:nvSpPr>
          <p:cNvPr id="20" name="reveal_16_kr"/>
          <p:cNvSpPr/>
          <p:nvPr/>
        </p:nvSpPr>
        <p:spPr>
          <a:xfrm>
            <a:off x="548640" y="4700274"/>
            <a:ext cx="3570671"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오해의 소지가 있는 인상을 줄 수 있다</a:t>
            </a:r>
            <a:endParaRPr lang="en-US" altLang="ko-KR" sz="1450" dirty="0"/>
          </a:p>
        </p:txBody>
      </p:sp>
      <p:sp>
        <p:nvSpPr>
          <p:cNvPr id="21" name="Sep"/>
          <p:cNvSpPr/>
          <p:nvPr/>
        </p:nvSpPr>
        <p:spPr>
          <a:xfrm>
            <a:off x="4073591" y="436651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2" name="En"/>
          <p:cNvSpPr/>
          <p:nvPr/>
        </p:nvSpPr>
        <p:spPr>
          <a:xfrm>
            <a:off x="4301384" y="4366518"/>
            <a:ext cx="1461138"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of the degree</a:t>
            </a:r>
            <a:endParaRPr lang="en-US" altLang="ko-KR" sz="1800" dirty="0"/>
          </a:p>
        </p:txBody>
      </p:sp>
      <p:sp>
        <p:nvSpPr>
          <p:cNvPr id="23" name="reveal_17_kr"/>
          <p:cNvSpPr/>
          <p:nvPr/>
        </p:nvSpPr>
        <p:spPr>
          <a:xfrm>
            <a:off x="4301384" y="4700274"/>
            <a:ext cx="1461138"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정도에 대해</a:t>
            </a:r>
            <a:endParaRPr lang="en-US" altLang="ko-KR" sz="1450" dirty="0"/>
          </a:p>
        </p:txBody>
      </p:sp>
      <p:sp>
        <p:nvSpPr>
          <p:cNvPr id="24" name="En"/>
          <p:cNvSpPr/>
          <p:nvPr/>
        </p:nvSpPr>
        <p:spPr>
          <a:xfrm>
            <a:off x="548640" y="5062097"/>
            <a:ext cx="5805715"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to which the fingers can be controlled independently.</a:t>
            </a:r>
            <a:endParaRPr lang="en-US" altLang="ko-KR" sz="1800" dirty="0"/>
          </a:p>
        </p:txBody>
      </p:sp>
      <p:sp>
        <p:nvSpPr>
          <p:cNvPr id="25" name="reveal_18_kr"/>
          <p:cNvSpPr/>
          <p:nvPr/>
        </p:nvSpPr>
        <p:spPr>
          <a:xfrm>
            <a:off x="548640" y="5395853"/>
            <a:ext cx="5805715"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손가락이 독립적으로 조절될 수 있는</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0-#ppt_w/2"/>
                                          </p:val>
                                        </p:tav>
                                        <p:tav tm="100000">
                                          <p:val>
                                            <p:strVal val="#ppt_x"/>
                                          </p:val>
                                        </p:tav>
                                      </p:tavLst>
                                    </p:anim>
                                    <p:anim calcmode="lin" valueType="num">
                                      <p:cBhvr additive="base">
                                        <p:cTn id="26"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0-#ppt_w/2"/>
                                          </p:val>
                                        </p:tav>
                                        <p:tav tm="100000">
                                          <p:val>
                                            <p:strVal val="#ppt_x"/>
                                          </p:val>
                                        </p:tav>
                                      </p:tavLst>
                                    </p:anim>
                                    <p:anim calcmode="lin" valueType="num">
                                      <p:cBhvr additive="base">
                                        <p:cTn id="3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5"/>
                                        </p:tgtEl>
                                        <p:attrNameLst>
                                          <p:attrName>style.visibility</p:attrName>
                                        </p:attrNameLst>
                                      </p:cBhvr>
                                      <p:to>
                                        <p:strVal val="visible"/>
                                      </p:to>
                                    </p:set>
                                    <p:anim calcmode="lin" valueType="num">
                                      <p:cBhvr additive="base">
                                        <p:cTn id="49" dur="500" fill="hold"/>
                                        <p:tgtEl>
                                          <p:spTgt spid="25"/>
                                        </p:tgtEl>
                                        <p:attrNameLst>
                                          <p:attrName>ppt_x</p:attrName>
                                        </p:attrNameLst>
                                      </p:cBhvr>
                                      <p:tavLst>
                                        <p:tav tm="0">
                                          <p:val>
                                            <p:strVal val="0-#ppt_w/2"/>
                                          </p:val>
                                        </p:tav>
                                        <p:tav tm="100000">
                                          <p:val>
                                            <p:strVal val="#ppt_x"/>
                                          </p:val>
                                        </p:tav>
                                      </p:tavLst>
                                    </p:anim>
                                    <p:anim calcmode="lin" valueType="num">
                                      <p:cBhvr additive="base">
                                        <p:cTn id="50"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5" grpId="0" animBg="1"/>
      <p:bldP spid="18" grpId="0" animBg="1"/>
      <p:bldP spid="20" grpId="0" animBg="1"/>
      <p:bldP spid="23" grpId="0" animBg="1"/>
      <p:bldP spid="25" grpId="0" animBg="1"/>
    </p:bldLst>
  </p:timing>
</p:sld>
</file>

<file path=ppt/slides/slide15.xml><?xml version="1.0" encoding="utf-8"?>
<p:sld xmlns:a="http://schemas.openxmlformats.org/drawingml/2006/main" xmlns:p="http://schemas.openxmlformats.org/presentationml/2006/main" xmlns:r="http://schemas.openxmlformats.org/officeDocument/2006/relationships">
  <p:cSld name="12 구문 3">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12</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(3/3)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2197485"/>
            <a:ext cx="321919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④ Indeed one might assume</a:t>
            </a:r>
            <a:endParaRPr lang="en-US" altLang="ko-KR" sz="1800" dirty="0"/>
          </a:p>
        </p:txBody>
      </p:sp>
      <p:sp>
        <p:nvSpPr>
          <p:cNvPr id="8" name="reveal_19_kr"/>
          <p:cNvSpPr/>
          <p:nvPr/>
        </p:nvSpPr>
        <p:spPr>
          <a:xfrm>
            <a:off x="548640" y="2531241"/>
            <a:ext cx="321919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실제로 사람들은 생각할지도 모른다</a:t>
            </a:r>
            <a:endParaRPr lang="en-US" altLang="ko-KR" sz="1450" dirty="0"/>
          </a:p>
        </p:txBody>
      </p:sp>
      <p:sp>
        <p:nvSpPr>
          <p:cNvPr id="9" name="Sep"/>
          <p:cNvSpPr/>
          <p:nvPr/>
        </p:nvSpPr>
        <p:spPr>
          <a:xfrm>
            <a:off x="3722113" y="219748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3949906" y="2197485"/>
            <a:ext cx="559045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one of the prime objectives of art, as in sports,</a:t>
            </a:r>
            <a:endParaRPr lang="en-US" altLang="ko-KR" sz="1800" dirty="0"/>
          </a:p>
        </p:txBody>
      </p:sp>
      <p:sp>
        <p:nvSpPr>
          <p:cNvPr id="11" name="reveal_20_kr"/>
          <p:cNvSpPr/>
          <p:nvPr/>
        </p:nvSpPr>
        <p:spPr>
          <a:xfrm>
            <a:off x="3949906" y="2531241"/>
            <a:ext cx="559045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스포츠에서처럼 예술의 주된 목적 중 하나는</a:t>
            </a:r>
            <a:endParaRPr lang="en-US" altLang="ko-KR" sz="1450" dirty="0"/>
          </a:p>
        </p:txBody>
      </p:sp>
      <p:sp>
        <p:nvSpPr>
          <p:cNvPr id="12" name="En"/>
          <p:cNvSpPr/>
          <p:nvPr/>
        </p:nvSpPr>
        <p:spPr>
          <a:xfrm>
            <a:off x="548640" y="2893064"/>
            <a:ext cx="221863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is to win recognition</a:t>
            </a:r>
            <a:endParaRPr lang="en-US" altLang="ko-KR" sz="1800" dirty="0"/>
          </a:p>
        </p:txBody>
      </p:sp>
      <p:sp>
        <p:nvSpPr>
          <p:cNvPr id="13" name="reveal_21_kr"/>
          <p:cNvSpPr/>
          <p:nvPr/>
        </p:nvSpPr>
        <p:spPr>
          <a:xfrm>
            <a:off x="548640" y="3226820"/>
            <a:ext cx="221863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인정을 얻는 것이라고</a:t>
            </a:r>
            <a:endParaRPr lang="en-US" altLang="ko-KR" sz="1450" dirty="0"/>
          </a:p>
        </p:txBody>
      </p:sp>
      <p:sp>
        <p:nvSpPr>
          <p:cNvPr id="14" name="Sep"/>
          <p:cNvSpPr/>
          <p:nvPr/>
        </p:nvSpPr>
        <p:spPr>
          <a:xfrm>
            <a:off x="2721556" y="289306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5" name="En"/>
          <p:cNvSpPr/>
          <p:nvPr/>
        </p:nvSpPr>
        <p:spPr>
          <a:xfrm>
            <a:off x="2949349" y="2893064"/>
            <a:ext cx="553351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for the artist/performer’s technical physical ability.</a:t>
            </a:r>
            <a:endParaRPr lang="en-US" altLang="ko-KR" sz="1800" dirty="0"/>
          </a:p>
        </p:txBody>
      </p:sp>
      <p:sp>
        <p:nvSpPr>
          <p:cNvPr id="16" name="reveal_22_kr"/>
          <p:cNvSpPr/>
          <p:nvPr/>
        </p:nvSpPr>
        <p:spPr>
          <a:xfrm>
            <a:off x="2949349" y="3226820"/>
            <a:ext cx="553351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예술가/연주자의 기술적인 신체 능력에 대해</a:t>
            </a:r>
            <a:endParaRPr lang="en-US" altLang="ko-KR" sz="1450" dirty="0"/>
          </a:p>
        </p:txBody>
      </p:sp>
      <p:sp>
        <p:nvSpPr>
          <p:cNvPr id="17" name="En"/>
          <p:cNvSpPr/>
          <p:nvPr/>
        </p:nvSpPr>
        <p:spPr>
          <a:xfrm>
            <a:off x="548640" y="3670939"/>
            <a:ext cx="224367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⑤ Thus, in essence,</a:t>
            </a:r>
            <a:endParaRPr lang="en-US" altLang="ko-KR" sz="1800" dirty="0"/>
          </a:p>
        </p:txBody>
      </p:sp>
      <p:sp>
        <p:nvSpPr>
          <p:cNvPr id="18" name="reveal_23_kr"/>
          <p:cNvSpPr/>
          <p:nvPr/>
        </p:nvSpPr>
        <p:spPr>
          <a:xfrm>
            <a:off x="548640" y="4004695"/>
            <a:ext cx="224367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그러므로 본질적으로</a:t>
            </a:r>
            <a:endParaRPr lang="en-US" altLang="ko-KR" sz="1450" dirty="0"/>
          </a:p>
        </p:txBody>
      </p:sp>
      <p:sp>
        <p:nvSpPr>
          <p:cNvPr id="19" name="Sep"/>
          <p:cNvSpPr/>
          <p:nvPr/>
        </p:nvSpPr>
        <p:spPr>
          <a:xfrm>
            <a:off x="2746590" y="3670939"/>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0" name="En"/>
          <p:cNvSpPr/>
          <p:nvPr/>
        </p:nvSpPr>
        <p:spPr>
          <a:xfrm>
            <a:off x="2974383" y="3670939"/>
            <a:ext cx="555129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even music becomes a competition for performers,</a:t>
            </a:r>
            <a:endParaRPr lang="en-US" altLang="ko-KR" sz="1800" dirty="0"/>
          </a:p>
        </p:txBody>
      </p:sp>
      <p:sp>
        <p:nvSpPr>
          <p:cNvPr id="21" name="reveal_24_kr"/>
          <p:cNvSpPr/>
          <p:nvPr/>
        </p:nvSpPr>
        <p:spPr>
          <a:xfrm>
            <a:off x="2974383" y="4004695"/>
            <a:ext cx="555129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음악조차도 연주자에게는 경쟁이 된다</a:t>
            </a:r>
            <a:endParaRPr lang="en-US" altLang="ko-KR" sz="1450" dirty="0"/>
          </a:p>
        </p:txBody>
      </p:sp>
      <p:sp>
        <p:nvSpPr>
          <p:cNvPr id="22" name="En"/>
          <p:cNvSpPr/>
          <p:nvPr/>
        </p:nvSpPr>
        <p:spPr>
          <a:xfrm>
            <a:off x="548640" y="4366518"/>
            <a:ext cx="430299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who compete against their own bodies,</a:t>
            </a:r>
            <a:endParaRPr lang="en-US" altLang="ko-KR" sz="1800" dirty="0"/>
          </a:p>
        </p:txBody>
      </p:sp>
      <p:sp>
        <p:nvSpPr>
          <p:cNvPr id="23" name="reveal_25_kr"/>
          <p:cNvSpPr/>
          <p:nvPr/>
        </p:nvSpPr>
        <p:spPr>
          <a:xfrm>
            <a:off x="548640" y="4700274"/>
            <a:ext cx="430299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자신의 몸과 경쟁하는</a:t>
            </a:r>
            <a:endParaRPr lang="en-US" altLang="ko-KR" sz="1450" dirty="0"/>
          </a:p>
        </p:txBody>
      </p:sp>
      <p:sp>
        <p:nvSpPr>
          <p:cNvPr id="24" name="Sep"/>
          <p:cNvSpPr/>
          <p:nvPr/>
        </p:nvSpPr>
        <p:spPr>
          <a:xfrm>
            <a:off x="4805918" y="436651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5" name="En"/>
          <p:cNvSpPr/>
          <p:nvPr/>
        </p:nvSpPr>
        <p:spPr>
          <a:xfrm>
            <a:off x="5033711" y="4366518"/>
            <a:ext cx="241570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if not those of others,</a:t>
            </a:r>
            <a:endParaRPr lang="en-US" altLang="ko-KR" sz="1800" dirty="0"/>
          </a:p>
        </p:txBody>
      </p:sp>
      <p:sp>
        <p:nvSpPr>
          <p:cNvPr id="26" name="reveal_26_kr"/>
          <p:cNvSpPr/>
          <p:nvPr/>
        </p:nvSpPr>
        <p:spPr>
          <a:xfrm>
            <a:off x="5033711" y="4700274"/>
            <a:ext cx="241570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다른 사람의 몸이 아니더라도</a:t>
            </a:r>
            <a:endParaRPr lang="en-US" altLang="ko-KR" sz="1450" dirty="0"/>
          </a:p>
        </p:txBody>
      </p:sp>
      <p:sp>
        <p:nvSpPr>
          <p:cNvPr id="27" name="En"/>
          <p:cNvSpPr/>
          <p:nvPr/>
        </p:nvSpPr>
        <p:spPr>
          <a:xfrm>
            <a:off x="548640" y="5062097"/>
            <a:ext cx="512478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 attaining recognition for their performances.</a:t>
            </a:r>
            <a:endParaRPr lang="en-US" altLang="ko-KR" sz="1800" dirty="0"/>
          </a:p>
        </p:txBody>
      </p:sp>
      <p:sp>
        <p:nvSpPr>
          <p:cNvPr id="28" name="reveal_27_kr"/>
          <p:cNvSpPr/>
          <p:nvPr/>
        </p:nvSpPr>
        <p:spPr>
          <a:xfrm>
            <a:off x="548640" y="5395853"/>
            <a:ext cx="512478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자신의 연주에 대한 인정을 얻는 데 있어서</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0-#ppt_w/2"/>
                                          </p:val>
                                        </p:tav>
                                        <p:tav tm="100000">
                                          <p:val>
                                            <p:strVal val="#ppt_x"/>
                                          </p:val>
                                        </p:tav>
                                      </p:tavLst>
                                    </p:anim>
                                    <p:anim calcmode="lin" valueType="num">
                                      <p:cBhvr additive="base">
                                        <p:cTn id="56" dur="500" fill="hold"/>
                                        <p:tgtEl>
                                          <p:spTgt spid="2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6" grpId="0" animBg="1"/>
      <p:bldP spid="18" grpId="0" animBg="1"/>
      <p:bldP spid="21" grpId="0" animBg="1"/>
      <p:bldP spid="23" grpId="0" animBg="1"/>
      <p:bldP spid="26" grpId="0" animBg="1"/>
      <p:bldP spid="28" grpId="0" animBg="1"/>
    </p:bldLst>
  </p:timing>
</p:sld>
</file>

<file path=ppt/slides/slide16.xml><?xml version="1.0" encoding="utf-8"?>
<p:sld xmlns:a="http://schemas.openxmlformats.org/drawingml/2006/main" xmlns:p="http://schemas.openxmlformats.org/presentationml/2006/main" xmlns:r="http://schemas.openxmlformats.org/officeDocument/2006/relationships">
  <p:cSld name="12 문제">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12</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2020년 10월 35번 — 무관한 문장 찾기</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클릭하면 정답이 노란 박스로 나타납니다</a:t>
            </a:r>
            <a:endParaRPr lang="en-US" altLang="ko-KR" sz="1100" dirty="0"/>
          </a:p>
        </p:txBody>
      </p:sp>
      <p:sp>
        <p:nvSpPr>
          <p:cNvPr id="7" name="Prompt"/>
          <p:cNvSpPr/>
          <p:nvPr/>
        </p:nvSpPr>
        <p:spPr>
          <a:xfrm>
            <a:off x="548640" y="1325880"/>
            <a:ext cx="11091672" cy="324000"/>
          </a:xfrm>
          <a:prstGeom prst="rect">
            <a:avLst/>
          </a:prstGeom>
          <a:noFill/>
          <a:ln>
            <a:noFill/>
          </a:ln>
        </p:spPr>
        <p:txBody>
          <a:bodyPr wrap="square" lIns="0" tIns="0" rIns="0" bIns="0" rtlCol="0" anchor="ctr"/>
          <a:lstStyle/>
          <a:p>
            <a:pPr marL="0" indent="0">
              <a:buNone/>
            </a:pPr>
            <a:r>
              <a:rPr lang="en-US" altLang="ko-KR" sz="1300" b="1" dirty="0">
                <a:solidFill>
                  <a:srgbClr val="1E2761"/>
                </a:solidFill>
                <a:latin typeface="맑은 고딕" pitchFamily="34" charset="0"/>
                <a:ea typeface="맑은 고딕" pitchFamily="34" charset="-122"/>
                <a:cs typeface="맑은 고딕" pitchFamily="34" charset="-120"/>
              </a:rPr>
              <a:t>다음 글에서 전체 흐름과 관계 </a:t>
            </a:r>
            <a:r>
              <a:rPr lang="en-US" altLang="ko-KR" sz="1300" b="1" u="sng" dirty="0">
                <a:solidFill>
                  <a:srgbClr val="1E2761"/>
                </a:solidFill>
                <a:latin typeface="맑은 고딕" pitchFamily="34" charset="0"/>
                <a:ea typeface="맑은 고딕" pitchFamily="34" charset="-122"/>
                <a:cs typeface="맑은 고딕" pitchFamily="34" charset="-120"/>
              </a:rPr>
              <a:t>없는</a:t>
            </a:r>
            <a:r>
              <a:rPr lang="en-US" altLang="ko-KR" sz="1300" b="1" dirty="0">
                <a:solidFill>
                  <a:srgbClr val="1E2761"/>
                </a:solidFill>
                <a:latin typeface="맑은 고딕" pitchFamily="34" charset="0"/>
                <a:ea typeface="맑은 고딕" pitchFamily="34" charset="-122"/>
                <a:cs typeface="맑은 고딕" pitchFamily="34" charset="-120"/>
              </a:rPr>
              <a:t> 문장은?</a:t>
            </a:r>
            <a:endParaRPr lang="en-US" altLang="ko-KR" sz="1300" dirty="0"/>
          </a:p>
        </p:txBody>
      </p:sp>
      <p:sp>
        <p:nvSpPr>
          <p:cNvPr id="8" name="Passage"/>
          <p:cNvSpPr/>
          <p:nvPr/>
        </p:nvSpPr>
        <p:spPr>
          <a:xfrm>
            <a:off x="548640" y="1787040"/>
            <a:ext cx="11091672" cy="2124475"/>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solidFill>
                <a:latin typeface="Calibri" pitchFamily="34" charset="0"/>
                <a:ea typeface="Calibri" pitchFamily="34" charset="-122"/>
                <a:cs typeface="Calibri" pitchFamily="34" charset="-120"/>
              </a:rPr>
              <a:t>In the case of classical music performance, notwithstanding the perhaps increased psychological pressure to achieve “perfection,” to a large extent it is the participation in a physical pursuit of excellence that links art to sports. ① Musicians and athletes both must attempt to create mistake-free performances that require finely tuned neural and muscle control enabled by countless hours of practice. ② For both activities, disciplining the body and mind is central to achieving what is typically considered a successful performance. </a:t>
            </a:r>
            <a:r>
              <a:rPr lang="en-US" altLang="ko-KR" sz="1400" dirty="0">
                <a:solidFill>
                  <a:srgbClr val="333333"/>
                </a:solidFill>
                <a:latin typeface="Calibri" pitchFamily="34" charset="0"/>
                <a:ea typeface="Calibri" pitchFamily="34" charset="-122"/>
                <a:cs typeface="Calibri" pitchFamily="34" charset="-120"/>
              </a:rPr>
              <a:t>③ Standard descriptions of the actions of the muscles controlling the hand can give a misleading impression of the degree to which the fingers can be controlled independently.</a:t>
            </a:r>
            <a:r>
              <a:rPr lang="en-US" altLang="ko-KR" sz="1400" dirty="0">
                <a:solidFill>
                  <a:srgbClr val="333333"/>
                </a:solidFill>
                <a:latin typeface="Calibri" pitchFamily="34" charset="0"/>
                <a:ea typeface="Calibri" pitchFamily="34" charset="-122"/>
                <a:cs typeface="Calibri" pitchFamily="34" charset="-120"/>
              </a:rPr>
              <a:t> ④ Indeed one might assume that one of the prime objectives of art, as in sports, is to win recognition for the artist/performer’s technical physical ability. ⑤ Thus, in essence, even music becomes a competition for performers, who compete against their own bodies, if not those of others, in attaining recognition for their performances.</a:t>
            </a:r>
            <a:endParaRPr lang="en-US" altLang="ko-KR" sz="1400" dirty="0"/>
          </a:p>
        </p:txBody>
      </p:sp>
      <p:sp>
        <p:nvSpPr>
          <p:cNvPr id="9" name="AnsOverlay"/>
          <p:cNvSpPr/>
          <p:nvPr/>
        </p:nvSpPr>
        <p:spPr>
          <a:xfrm>
            <a:off x="548640" y="1787040"/>
            <a:ext cx="11091672" cy="2124475"/>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alpha val="0"/>
                  </a:srgbClr>
                </a:solidFill>
                <a:latin typeface="Calibri" pitchFamily="34" charset="0"/>
                <a:ea typeface="Calibri" pitchFamily="34" charset="-122"/>
                <a:cs typeface="Calibri" pitchFamily="34" charset="-120"/>
              </a:rPr>
              <a:t>In the case of classical music performance, notwithstanding the perhaps increased psychological pressure to achieve “perfection,” to a large extent it is the participation in a physical pursuit of excellence that links art to sports. ① Musicians and athletes both must attempt to create mistake-free performances that require finely tuned neural and muscle control enabled by countless hours of practice. ② For both activities, disciplining the body and mind is central to achieving what is typically considered a successful performance. </a:t>
            </a:r>
            <a:r>
              <a:rPr lang="en-US" altLang="ko-KR" sz="1400" dirty="0">
                <a:solidFill>
                  <a:srgbClr val="C00000"/>
                </a:solidFill>
                <a:latin typeface="Calibri" pitchFamily="34" charset="0"/>
                <a:ea typeface="Calibri" pitchFamily="34" charset="-122"/>
                <a:cs typeface="Calibri" pitchFamily="34" charset="-120"/>
              </a:rPr>
              <a:t>③ Standard descriptions of the actions of the muscles controlling the hand can give a misleading impression of the degree to which the fingers can be controlled independently.</a:t>
            </a:r>
            <a:r>
              <a:rPr lang="en-US" altLang="ko-KR" sz="1400" dirty="0">
                <a:solidFill>
                  <a:srgbClr val="333333">
                    <a:alpha val="0"/>
                  </a:srgbClr>
                </a:solidFill>
                <a:latin typeface="Calibri" pitchFamily="34" charset="0"/>
                <a:ea typeface="Calibri" pitchFamily="34" charset="-122"/>
                <a:cs typeface="Calibri" pitchFamily="34" charset="-120"/>
              </a:rPr>
              <a:t> ④ Indeed one might assume that one of the prime objectives of art, as in sports, is to win recognition for the artist/performer’s technical physical ability. ⑤ Thus, in essence, even music becomes a competition for performers, who compete against their own bodies, if not those of others, in attaining recognition for their performances.</a:t>
            </a:r>
            <a:endParaRPr lang="en-US" altLang="ko-KR" sz="1400" dirty="0"/>
          </a:p>
        </p:txBody>
      </p:sp>
      <p:sp>
        <p:nvSpPr>
          <p:cNvPr id="10" name="AnsBg"/>
          <p:cNvSpPr/>
          <p:nvPr/>
        </p:nvSpPr>
        <p:spPr>
          <a:xfrm>
            <a:off x="548640" y="4033915"/>
            <a:ext cx="11091672" cy="457200"/>
          </a:xfrm>
          <a:prstGeom prst="rect">
            <a:avLst/>
          </a:prstGeom>
          <a:solidFill>
            <a:srgbClr val="FFF4CC"/>
          </a:solidFill>
          <a:ln>
            <a:noFill/>
          </a:ln>
        </p:spPr>
        <p:txBody>
          <a:bodyPr/>
          <a:lstStyle/>
          <a:p>
            <a:endParaRPr lang="ko-KR" altLang="en-US"/>
          </a:p>
        </p:txBody>
      </p:sp>
      <p:sp>
        <p:nvSpPr>
          <p:cNvPr id="11" name="reveal_12_en"/>
          <p:cNvSpPr/>
          <p:nvPr/>
        </p:nvSpPr>
        <p:spPr>
          <a:xfrm>
            <a:off x="732240" y="4033915"/>
            <a:ext cx="10724472" cy="457200"/>
          </a:xfrm>
          <a:prstGeom prst="rect">
            <a:avLst/>
          </a:prstGeom>
          <a:noFill/>
          <a:ln>
            <a:noFill/>
          </a:ln>
        </p:spPr>
        <p:txBody>
          <a:bodyPr wrap="square" lIns="0" tIns="0" rIns="0" bIns="0" rtlCol="0" anchor="ctr"/>
          <a:lstStyle/>
          <a:p>
            <a:pPr marL="0" indent="0">
              <a:buNone/>
            </a:pPr>
            <a:r>
              <a:rPr lang="en-US" altLang="ko-KR" sz="1500" b="1" dirty="0">
                <a:solidFill>
                  <a:srgbClr val="5A4200"/>
                </a:solidFill>
                <a:latin typeface="맑은 고딕" pitchFamily="34" charset="0"/>
                <a:ea typeface="맑은 고딕" pitchFamily="34" charset="-122"/>
                <a:cs typeface="맑은 고딕" pitchFamily="34" charset="-120"/>
              </a:rPr>
              <a:t>정답   ③</a:t>
            </a:r>
            <a:endParaRPr lang="en-US" altLang="ko-KR"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additive="base">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additive="base">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additive="base">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9" grpId="0" animBg="1"/>
    </p:bldLst>
  </p:timing>
</p:sld>
</file>

<file path=ppt/slides/slide17.xml><?xml version="1.0" encoding="utf-8"?>
<p:sld xmlns:a="http://schemas.openxmlformats.org/drawingml/2006/main" xmlns:p="http://schemas.openxmlformats.org/presentationml/2006/main" xmlns:r="http://schemas.openxmlformats.org/officeDocument/2006/relationships">
  <p:cSld name="14 구문 1">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14</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(1/3)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1849695"/>
            <a:ext cx="665063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Although organizations are offering telecommuting programs</a:t>
            </a:r>
            <a:endParaRPr lang="en-US" altLang="ko-KR" sz="1800" dirty="0"/>
          </a:p>
        </p:txBody>
      </p:sp>
      <p:sp>
        <p:nvSpPr>
          <p:cNvPr id="8" name="reveal_1_kr"/>
          <p:cNvSpPr/>
          <p:nvPr/>
        </p:nvSpPr>
        <p:spPr>
          <a:xfrm>
            <a:off x="548640" y="2183451"/>
            <a:ext cx="665063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조직들이 재택근무 프로그램을 제공하고 있지만</a:t>
            </a:r>
            <a:endParaRPr lang="en-US" altLang="ko-KR" sz="1450" dirty="0"/>
          </a:p>
        </p:txBody>
      </p:sp>
      <p:sp>
        <p:nvSpPr>
          <p:cNvPr id="9" name="Sep"/>
          <p:cNvSpPr/>
          <p:nvPr/>
        </p:nvSpPr>
        <p:spPr>
          <a:xfrm>
            <a:off x="7153557" y="184969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7381350" y="1849695"/>
            <a:ext cx="402032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 greater numbers than ever before,</a:t>
            </a:r>
            <a:endParaRPr lang="en-US" altLang="ko-KR" sz="1800" dirty="0"/>
          </a:p>
        </p:txBody>
      </p:sp>
      <p:sp>
        <p:nvSpPr>
          <p:cNvPr id="11" name="reveal_2_kr"/>
          <p:cNvSpPr/>
          <p:nvPr/>
        </p:nvSpPr>
        <p:spPr>
          <a:xfrm>
            <a:off x="7381350" y="2183451"/>
            <a:ext cx="402032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 어느 때보다 더 많이</a:t>
            </a:r>
            <a:endParaRPr lang="en-US" altLang="ko-KR" sz="1450" dirty="0"/>
          </a:p>
        </p:txBody>
      </p:sp>
      <p:sp>
        <p:nvSpPr>
          <p:cNvPr id="12" name="En"/>
          <p:cNvSpPr/>
          <p:nvPr/>
        </p:nvSpPr>
        <p:spPr>
          <a:xfrm>
            <a:off x="548640" y="2545274"/>
            <a:ext cx="417107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acceptance and use of these programs</a:t>
            </a:r>
            <a:endParaRPr lang="en-US" altLang="ko-KR" sz="1800" dirty="0"/>
          </a:p>
        </p:txBody>
      </p:sp>
      <p:sp>
        <p:nvSpPr>
          <p:cNvPr id="13" name="reveal_3_kr"/>
          <p:cNvSpPr/>
          <p:nvPr/>
        </p:nvSpPr>
        <p:spPr>
          <a:xfrm>
            <a:off x="548640" y="2879030"/>
            <a:ext cx="417107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이러한 프로그램의 수용과 이용은</a:t>
            </a:r>
            <a:endParaRPr lang="en-US" altLang="ko-KR" sz="1450" dirty="0"/>
          </a:p>
        </p:txBody>
      </p:sp>
      <p:sp>
        <p:nvSpPr>
          <p:cNvPr id="14" name="Sep"/>
          <p:cNvSpPr/>
          <p:nvPr/>
        </p:nvSpPr>
        <p:spPr>
          <a:xfrm>
            <a:off x="4673993" y="254527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5" name="En"/>
          <p:cNvSpPr/>
          <p:nvPr/>
        </p:nvSpPr>
        <p:spPr>
          <a:xfrm>
            <a:off x="4901786" y="2545274"/>
            <a:ext cx="421769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are still limited by a number of factors.</a:t>
            </a:r>
            <a:endParaRPr lang="en-US" altLang="ko-KR" sz="1800" dirty="0"/>
          </a:p>
        </p:txBody>
      </p:sp>
      <p:sp>
        <p:nvSpPr>
          <p:cNvPr id="16" name="reveal_4_kr"/>
          <p:cNvSpPr/>
          <p:nvPr/>
        </p:nvSpPr>
        <p:spPr>
          <a:xfrm>
            <a:off x="4901786" y="2879030"/>
            <a:ext cx="421769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여전히 여러 요인에 의해 제한된다</a:t>
            </a:r>
            <a:endParaRPr lang="en-US" altLang="ko-KR" sz="1450" dirty="0"/>
          </a:p>
        </p:txBody>
      </p:sp>
      <p:sp>
        <p:nvSpPr>
          <p:cNvPr id="17" name="En"/>
          <p:cNvSpPr/>
          <p:nvPr/>
        </p:nvSpPr>
        <p:spPr>
          <a:xfrm>
            <a:off x="548640" y="3323149"/>
            <a:ext cx="270667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① These factors include</a:t>
            </a:r>
            <a:endParaRPr lang="en-US" altLang="ko-KR" sz="1800" dirty="0"/>
          </a:p>
        </p:txBody>
      </p:sp>
      <p:sp>
        <p:nvSpPr>
          <p:cNvPr id="18" name="reveal_5_kr"/>
          <p:cNvSpPr/>
          <p:nvPr/>
        </p:nvSpPr>
        <p:spPr>
          <a:xfrm>
            <a:off x="548640" y="3656905"/>
            <a:ext cx="270667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이러한 요인들은 포함한다</a:t>
            </a:r>
            <a:endParaRPr lang="en-US" altLang="ko-KR" sz="1450" dirty="0"/>
          </a:p>
        </p:txBody>
      </p:sp>
      <p:sp>
        <p:nvSpPr>
          <p:cNvPr id="19" name="Sep"/>
          <p:cNvSpPr/>
          <p:nvPr/>
        </p:nvSpPr>
        <p:spPr>
          <a:xfrm>
            <a:off x="3209591" y="3323149"/>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0" name="En"/>
          <p:cNvSpPr/>
          <p:nvPr/>
        </p:nvSpPr>
        <p:spPr>
          <a:xfrm>
            <a:off x="3437384" y="3323149"/>
            <a:ext cx="617992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manager reliance on face-to-face management practices,</a:t>
            </a:r>
            <a:endParaRPr lang="en-US" altLang="ko-KR" sz="1800" dirty="0"/>
          </a:p>
        </p:txBody>
      </p:sp>
      <p:sp>
        <p:nvSpPr>
          <p:cNvPr id="21" name="reveal_6_kr"/>
          <p:cNvSpPr/>
          <p:nvPr/>
        </p:nvSpPr>
        <p:spPr>
          <a:xfrm>
            <a:off x="3437384" y="3656905"/>
            <a:ext cx="617992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대면 관리 방식에 대한 관리자의 의존</a:t>
            </a:r>
            <a:endParaRPr lang="en-US" altLang="ko-KR" sz="1450" dirty="0"/>
          </a:p>
        </p:txBody>
      </p:sp>
      <p:sp>
        <p:nvSpPr>
          <p:cNvPr id="22" name="En"/>
          <p:cNvSpPr/>
          <p:nvPr/>
        </p:nvSpPr>
        <p:spPr>
          <a:xfrm>
            <a:off x="548640" y="4018728"/>
            <a:ext cx="590069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lack of telecommuting training within an organization,</a:t>
            </a:r>
            <a:endParaRPr lang="en-US" altLang="ko-KR" sz="1800" dirty="0"/>
          </a:p>
        </p:txBody>
      </p:sp>
      <p:sp>
        <p:nvSpPr>
          <p:cNvPr id="23" name="reveal_7_kr"/>
          <p:cNvSpPr/>
          <p:nvPr/>
        </p:nvSpPr>
        <p:spPr>
          <a:xfrm>
            <a:off x="548640" y="4352484"/>
            <a:ext cx="590069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조직 내 재택근무 훈련의 부족</a:t>
            </a:r>
            <a:endParaRPr lang="en-US" altLang="ko-KR" sz="1450" dirty="0"/>
          </a:p>
        </p:txBody>
      </p:sp>
      <p:sp>
        <p:nvSpPr>
          <p:cNvPr id="24" name="Sep"/>
          <p:cNvSpPr/>
          <p:nvPr/>
        </p:nvSpPr>
        <p:spPr>
          <a:xfrm>
            <a:off x="6403613" y="401872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5" name="En"/>
          <p:cNvSpPr/>
          <p:nvPr/>
        </p:nvSpPr>
        <p:spPr>
          <a:xfrm>
            <a:off x="6631406" y="4018728"/>
            <a:ext cx="366286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misperceptions of and discomfort</a:t>
            </a:r>
            <a:endParaRPr lang="en-US" altLang="ko-KR" sz="1800" dirty="0"/>
          </a:p>
        </p:txBody>
      </p:sp>
      <p:sp>
        <p:nvSpPr>
          <p:cNvPr id="26" name="reveal_8_kr"/>
          <p:cNvSpPr/>
          <p:nvPr/>
        </p:nvSpPr>
        <p:spPr>
          <a:xfrm>
            <a:off x="6631406" y="4352484"/>
            <a:ext cx="366286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오해와 불편함</a:t>
            </a:r>
            <a:endParaRPr lang="en-US" altLang="ko-KR" sz="1450" dirty="0"/>
          </a:p>
        </p:txBody>
      </p:sp>
      <p:sp>
        <p:nvSpPr>
          <p:cNvPr id="27" name="En"/>
          <p:cNvSpPr/>
          <p:nvPr/>
        </p:nvSpPr>
        <p:spPr>
          <a:xfrm>
            <a:off x="548640" y="4714307"/>
            <a:ext cx="370181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with flexible workplace programs,</a:t>
            </a:r>
            <a:endParaRPr lang="en-US" altLang="ko-KR" sz="1800" dirty="0"/>
          </a:p>
        </p:txBody>
      </p:sp>
      <p:sp>
        <p:nvSpPr>
          <p:cNvPr id="28" name="reveal_9_kr"/>
          <p:cNvSpPr/>
          <p:nvPr/>
        </p:nvSpPr>
        <p:spPr>
          <a:xfrm>
            <a:off x="548640" y="5048063"/>
            <a:ext cx="370181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유연 근무 프로그램에 대한</a:t>
            </a:r>
            <a:endParaRPr lang="en-US" altLang="ko-KR" sz="1450" dirty="0"/>
          </a:p>
        </p:txBody>
      </p:sp>
      <p:sp>
        <p:nvSpPr>
          <p:cNvPr id="29" name="Sep"/>
          <p:cNvSpPr/>
          <p:nvPr/>
        </p:nvSpPr>
        <p:spPr>
          <a:xfrm>
            <a:off x="4204739" y="471430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0" name="En"/>
          <p:cNvSpPr/>
          <p:nvPr/>
        </p:nvSpPr>
        <p:spPr>
          <a:xfrm>
            <a:off x="4432532" y="4714307"/>
            <a:ext cx="273013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a lack of information</a:t>
            </a:r>
            <a:endParaRPr lang="en-US" altLang="ko-KR" sz="1800" dirty="0"/>
          </a:p>
        </p:txBody>
      </p:sp>
      <p:sp>
        <p:nvSpPr>
          <p:cNvPr id="31" name="reveal_10_kr"/>
          <p:cNvSpPr/>
          <p:nvPr/>
        </p:nvSpPr>
        <p:spPr>
          <a:xfrm>
            <a:off x="4432532" y="5048063"/>
            <a:ext cx="273013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그리고 정보의 부족을</a:t>
            </a:r>
            <a:endParaRPr lang="en-US" altLang="ko-KR" sz="1450" dirty="0"/>
          </a:p>
        </p:txBody>
      </p:sp>
      <p:sp>
        <p:nvSpPr>
          <p:cNvPr id="32" name="Sep"/>
          <p:cNvSpPr/>
          <p:nvPr/>
        </p:nvSpPr>
        <p:spPr>
          <a:xfrm>
            <a:off x="7116942" y="471430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3" name="En"/>
          <p:cNvSpPr/>
          <p:nvPr/>
        </p:nvSpPr>
        <p:spPr>
          <a:xfrm>
            <a:off x="7344735" y="4714307"/>
            <a:ext cx="384885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about the effects of telecommuting</a:t>
            </a:r>
            <a:endParaRPr lang="en-US" altLang="ko-KR" sz="1800" dirty="0"/>
          </a:p>
        </p:txBody>
      </p:sp>
      <p:sp>
        <p:nvSpPr>
          <p:cNvPr id="34" name="reveal_11_kr"/>
          <p:cNvSpPr/>
          <p:nvPr/>
        </p:nvSpPr>
        <p:spPr>
          <a:xfrm>
            <a:off x="7344735" y="5048063"/>
            <a:ext cx="384885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재택근무의 영향에 대한</a:t>
            </a:r>
            <a:endParaRPr lang="en-US" altLang="ko-KR" sz="1450" dirty="0"/>
          </a:p>
        </p:txBody>
      </p:sp>
      <p:sp>
        <p:nvSpPr>
          <p:cNvPr id="35" name="En"/>
          <p:cNvSpPr/>
          <p:nvPr/>
        </p:nvSpPr>
        <p:spPr>
          <a:xfrm>
            <a:off x="548640" y="5409886"/>
            <a:ext cx="358119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on an organization’s bottom line.</a:t>
            </a:r>
            <a:endParaRPr lang="en-US" altLang="ko-KR" sz="1800" dirty="0"/>
          </a:p>
        </p:txBody>
      </p:sp>
      <p:sp>
        <p:nvSpPr>
          <p:cNvPr id="36" name="reveal_12_kr"/>
          <p:cNvSpPr/>
          <p:nvPr/>
        </p:nvSpPr>
        <p:spPr>
          <a:xfrm>
            <a:off x="548640" y="5743642"/>
            <a:ext cx="358119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조직의 순이익에 미치는</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0-#ppt_w/2"/>
                                          </p:val>
                                        </p:tav>
                                        <p:tav tm="100000">
                                          <p:val>
                                            <p:strVal val="#ppt_x"/>
                                          </p:val>
                                        </p:tav>
                                      </p:tavLst>
                                    </p:anim>
                                    <p:anim calcmode="lin" valueType="num">
                                      <p:cBhvr additive="base">
                                        <p:cTn id="56"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1"/>
                                        </p:tgtEl>
                                        <p:attrNameLst>
                                          <p:attrName>style.visibility</p:attrName>
                                        </p:attrNameLst>
                                      </p:cBhvr>
                                      <p:to>
                                        <p:strVal val="visible"/>
                                      </p:to>
                                    </p:set>
                                    <p:anim calcmode="lin" valueType="num">
                                      <p:cBhvr additive="base">
                                        <p:cTn id="61" dur="500" fill="hold"/>
                                        <p:tgtEl>
                                          <p:spTgt spid="31"/>
                                        </p:tgtEl>
                                        <p:attrNameLst>
                                          <p:attrName>ppt_x</p:attrName>
                                        </p:attrNameLst>
                                      </p:cBhvr>
                                      <p:tavLst>
                                        <p:tav tm="0">
                                          <p:val>
                                            <p:strVal val="0-#ppt_w/2"/>
                                          </p:val>
                                        </p:tav>
                                        <p:tav tm="100000">
                                          <p:val>
                                            <p:strVal val="#ppt_x"/>
                                          </p:val>
                                        </p:tav>
                                      </p:tavLst>
                                    </p:anim>
                                    <p:anim calcmode="lin" valueType="num">
                                      <p:cBhvr additive="base">
                                        <p:cTn id="6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additive="base">
                                        <p:cTn id="66" dur="1" fill="hold">
                                          <p:stCondLst>
                                            <p:cond delay="0"/>
                                          </p:stCondLst>
                                        </p:cTn>
                                        <p:tgtEl>
                                          <p:spTgt spid="34"/>
                                        </p:tgtEl>
                                        <p:attrNameLst>
                                          <p:attrName>style.visibility</p:attrName>
                                        </p:attrNameLst>
                                      </p:cBhvr>
                                      <p:to>
                                        <p:strVal val="visible"/>
                                      </p:to>
                                    </p:set>
                                    <p:anim calcmode="lin" valueType="num">
                                      <p:cBhvr additive="base">
                                        <p:cTn id="67" dur="500" fill="hold"/>
                                        <p:tgtEl>
                                          <p:spTgt spid="34"/>
                                        </p:tgtEl>
                                        <p:attrNameLst>
                                          <p:attrName>ppt_x</p:attrName>
                                        </p:attrNameLst>
                                      </p:cBhvr>
                                      <p:tavLst>
                                        <p:tav tm="0">
                                          <p:val>
                                            <p:strVal val="0-#ppt_w/2"/>
                                          </p:val>
                                        </p:tav>
                                        <p:tav tm="100000">
                                          <p:val>
                                            <p:strVal val="#ppt_x"/>
                                          </p:val>
                                        </p:tav>
                                      </p:tavLst>
                                    </p:anim>
                                    <p:anim calcmode="lin" valueType="num">
                                      <p:cBhvr additive="base">
                                        <p:cTn id="68"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additive="base">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0-#ppt_w/2"/>
                                          </p:val>
                                        </p:tav>
                                        <p:tav tm="100000">
                                          <p:val>
                                            <p:strVal val="#ppt_x"/>
                                          </p:val>
                                        </p:tav>
                                      </p:tavLst>
                                    </p:anim>
                                    <p:anim calcmode="lin" valueType="num">
                                      <p:cBhvr additive="base">
                                        <p:cTn id="74" dur="5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6" grpId="0" animBg="1"/>
      <p:bldP spid="18" grpId="0" animBg="1"/>
      <p:bldP spid="21" grpId="0" animBg="1"/>
      <p:bldP spid="23" grpId="0" animBg="1"/>
      <p:bldP spid="26" grpId="0" animBg="1"/>
      <p:bldP spid="28" grpId="0" animBg="1"/>
      <p:bldP spid="31" grpId="0" animBg="1"/>
      <p:bldP spid="34" grpId="0" animBg="1"/>
      <p:bldP spid="36" grpId="0" animBg="1"/>
    </p:bldLst>
  </p:timing>
</p:sld>
</file>

<file path=ppt/slides/slide18.xml><?xml version="1.0" encoding="utf-8"?>
<p:sld xmlns:a="http://schemas.openxmlformats.org/drawingml/2006/main" xmlns:p="http://schemas.openxmlformats.org/presentationml/2006/main" xmlns:r="http://schemas.openxmlformats.org/officeDocument/2006/relationships">
  <p:cSld name="14 구문 2">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14</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(2/3)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2545274"/>
            <a:ext cx="319043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② Despite these limitations,</a:t>
            </a:r>
            <a:endParaRPr lang="en-US" altLang="ko-KR" sz="1800" dirty="0"/>
          </a:p>
        </p:txBody>
      </p:sp>
      <p:sp>
        <p:nvSpPr>
          <p:cNvPr id="8" name="reveal_13_kr"/>
          <p:cNvSpPr/>
          <p:nvPr/>
        </p:nvSpPr>
        <p:spPr>
          <a:xfrm>
            <a:off x="548640" y="2879030"/>
            <a:ext cx="319043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이러한 제약에도 불구하고</a:t>
            </a:r>
            <a:endParaRPr lang="en-US" altLang="ko-KR" sz="1450" dirty="0"/>
          </a:p>
        </p:txBody>
      </p:sp>
      <p:sp>
        <p:nvSpPr>
          <p:cNvPr id="9" name="Sep"/>
          <p:cNvSpPr/>
          <p:nvPr/>
        </p:nvSpPr>
        <p:spPr>
          <a:xfrm>
            <a:off x="3693359" y="254527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3921152" y="2545274"/>
            <a:ext cx="394745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at the beginning of the 21st century,</a:t>
            </a:r>
            <a:endParaRPr lang="en-US" altLang="ko-KR" sz="1800" dirty="0"/>
          </a:p>
        </p:txBody>
      </p:sp>
      <p:sp>
        <p:nvSpPr>
          <p:cNvPr id="11" name="reveal_14_kr"/>
          <p:cNvSpPr/>
          <p:nvPr/>
        </p:nvSpPr>
        <p:spPr>
          <a:xfrm>
            <a:off x="3921152" y="2879030"/>
            <a:ext cx="394745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21세기 초에</a:t>
            </a:r>
            <a:endParaRPr lang="en-US" altLang="ko-KR" sz="1450" dirty="0"/>
          </a:p>
        </p:txBody>
      </p:sp>
      <p:sp>
        <p:nvSpPr>
          <p:cNvPr id="12" name="En"/>
          <p:cNvSpPr/>
          <p:nvPr/>
        </p:nvSpPr>
        <p:spPr>
          <a:xfrm>
            <a:off x="548640" y="3240853"/>
            <a:ext cx="586796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 new “anytime, anywhere” work culture is emerging.</a:t>
            </a:r>
            <a:endParaRPr lang="en-US" altLang="ko-KR" sz="1800" dirty="0"/>
          </a:p>
        </p:txBody>
      </p:sp>
      <p:sp>
        <p:nvSpPr>
          <p:cNvPr id="13" name="reveal_15_kr"/>
          <p:cNvSpPr/>
          <p:nvPr/>
        </p:nvSpPr>
        <p:spPr>
          <a:xfrm>
            <a:off x="548640" y="3574609"/>
            <a:ext cx="586796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새로운 '언제 어디서나'라는 근무 문화가 나타나고 있다</a:t>
            </a:r>
            <a:endParaRPr lang="en-US" altLang="ko-KR" sz="1450" dirty="0"/>
          </a:p>
        </p:txBody>
      </p:sp>
      <p:sp>
        <p:nvSpPr>
          <p:cNvPr id="14" name="En"/>
          <p:cNvSpPr/>
          <p:nvPr/>
        </p:nvSpPr>
        <p:spPr>
          <a:xfrm>
            <a:off x="548640" y="4018728"/>
            <a:ext cx="2510804"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③ Care must be taken</a:t>
            </a:r>
            <a:endParaRPr lang="en-US" altLang="ko-KR" sz="1800" dirty="0"/>
          </a:p>
        </p:txBody>
      </p:sp>
      <p:sp>
        <p:nvSpPr>
          <p:cNvPr id="15" name="reveal_16_kr"/>
          <p:cNvSpPr/>
          <p:nvPr/>
        </p:nvSpPr>
        <p:spPr>
          <a:xfrm>
            <a:off x="548640" y="4352484"/>
            <a:ext cx="2510804"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주의를 기울여야 한다</a:t>
            </a:r>
            <a:endParaRPr lang="en-US" altLang="ko-KR" sz="1450" dirty="0"/>
          </a:p>
        </p:txBody>
      </p:sp>
      <p:sp>
        <p:nvSpPr>
          <p:cNvPr id="16" name="Sep"/>
          <p:cNvSpPr/>
          <p:nvPr/>
        </p:nvSpPr>
        <p:spPr>
          <a:xfrm>
            <a:off x="3013724" y="401872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7" name="En"/>
          <p:cNvSpPr/>
          <p:nvPr/>
        </p:nvSpPr>
        <p:spPr>
          <a:xfrm>
            <a:off x="3241517" y="4018728"/>
            <a:ext cx="2166765"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to select employees</a:t>
            </a:r>
            <a:endParaRPr lang="en-US" altLang="ko-KR" sz="1800" dirty="0"/>
          </a:p>
        </p:txBody>
      </p:sp>
      <p:sp>
        <p:nvSpPr>
          <p:cNvPr id="18" name="reveal_17_kr"/>
          <p:cNvSpPr/>
          <p:nvPr/>
        </p:nvSpPr>
        <p:spPr>
          <a:xfrm>
            <a:off x="3241517" y="4352484"/>
            <a:ext cx="2166765"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직원을 선발하는 데</a:t>
            </a:r>
            <a:endParaRPr lang="en-US" altLang="ko-KR" sz="1450" dirty="0"/>
          </a:p>
        </p:txBody>
      </p:sp>
      <p:sp>
        <p:nvSpPr>
          <p:cNvPr id="19" name="Sep"/>
          <p:cNvSpPr/>
          <p:nvPr/>
        </p:nvSpPr>
        <p:spPr>
          <a:xfrm>
            <a:off x="5362562" y="401872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0" name="En"/>
          <p:cNvSpPr/>
          <p:nvPr/>
        </p:nvSpPr>
        <p:spPr>
          <a:xfrm>
            <a:off x="5590355" y="4018728"/>
            <a:ext cx="4752672"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whose personal and working characteristics</a:t>
            </a:r>
            <a:endParaRPr lang="en-US" altLang="ko-KR" sz="1800" dirty="0"/>
          </a:p>
        </p:txBody>
      </p:sp>
      <p:sp>
        <p:nvSpPr>
          <p:cNvPr id="21" name="reveal_18_kr"/>
          <p:cNvSpPr/>
          <p:nvPr/>
        </p:nvSpPr>
        <p:spPr>
          <a:xfrm>
            <a:off x="5590355" y="4352484"/>
            <a:ext cx="4752672"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그들의 개인적, 업무적 특성이</a:t>
            </a:r>
            <a:endParaRPr lang="en-US" altLang="ko-KR" sz="1450" dirty="0"/>
          </a:p>
        </p:txBody>
      </p:sp>
      <p:sp>
        <p:nvSpPr>
          <p:cNvPr id="22" name="En"/>
          <p:cNvSpPr/>
          <p:nvPr/>
        </p:nvSpPr>
        <p:spPr>
          <a:xfrm>
            <a:off x="548640" y="4714307"/>
            <a:ext cx="3768477"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are best suited for telecommuting.</a:t>
            </a:r>
            <a:endParaRPr lang="en-US" altLang="ko-KR" sz="1800" dirty="0"/>
          </a:p>
        </p:txBody>
      </p:sp>
      <p:sp>
        <p:nvSpPr>
          <p:cNvPr id="23" name="reveal_19_kr"/>
          <p:cNvSpPr/>
          <p:nvPr/>
        </p:nvSpPr>
        <p:spPr>
          <a:xfrm>
            <a:off x="548640" y="5048063"/>
            <a:ext cx="3768477"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재택근무에 가장 적합한</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0-#ppt_w/2"/>
                                          </p:val>
                                        </p:tav>
                                        <p:tav tm="100000">
                                          <p:val>
                                            <p:strVal val="#ppt_x"/>
                                          </p:val>
                                        </p:tav>
                                      </p:tavLst>
                                    </p:anim>
                                    <p:anim calcmode="lin" valueType="num">
                                      <p:cBhvr additive="base">
                                        <p:cTn id="26"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5" grpId="0" animBg="1"/>
      <p:bldP spid="18" grpId="0" animBg="1"/>
      <p:bldP spid="21" grpId="0" animBg="1"/>
      <p:bldP spid="23" grpId="0" animBg="1"/>
    </p:bldLst>
  </p:timing>
</p:sld>
</file>

<file path=ppt/slides/slide19.xml><?xml version="1.0" encoding="utf-8"?>
<p:sld xmlns:a="http://schemas.openxmlformats.org/drawingml/2006/main" xmlns:p="http://schemas.openxmlformats.org/presentationml/2006/main" xmlns:r="http://schemas.openxmlformats.org/officeDocument/2006/relationships">
  <p:cSld name="14 구문 3">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14</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(3/3)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1501906"/>
            <a:ext cx="560318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④ Continuing advances in information technology,</a:t>
            </a:r>
            <a:endParaRPr lang="en-US" altLang="ko-KR" sz="1800" dirty="0"/>
          </a:p>
        </p:txBody>
      </p:sp>
      <p:sp>
        <p:nvSpPr>
          <p:cNvPr id="8" name="reveal_20_kr"/>
          <p:cNvSpPr/>
          <p:nvPr/>
        </p:nvSpPr>
        <p:spPr>
          <a:xfrm>
            <a:off x="548640" y="1835662"/>
            <a:ext cx="560318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정보 기술의 지속적인 발전</a:t>
            </a:r>
            <a:endParaRPr lang="en-US" altLang="ko-KR" sz="1450" dirty="0"/>
          </a:p>
        </p:txBody>
      </p:sp>
      <p:sp>
        <p:nvSpPr>
          <p:cNvPr id="9" name="Sep"/>
          <p:cNvSpPr/>
          <p:nvPr/>
        </p:nvSpPr>
        <p:spPr>
          <a:xfrm>
            <a:off x="6106105" y="1501906"/>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6333898" y="1501906"/>
            <a:ext cx="396973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 expansion of a global workforce,</a:t>
            </a:r>
            <a:endParaRPr lang="en-US" altLang="ko-KR" sz="1800" dirty="0"/>
          </a:p>
        </p:txBody>
      </p:sp>
      <p:sp>
        <p:nvSpPr>
          <p:cNvPr id="11" name="reveal_21_kr"/>
          <p:cNvSpPr/>
          <p:nvPr/>
        </p:nvSpPr>
        <p:spPr>
          <a:xfrm>
            <a:off x="6333898" y="1835662"/>
            <a:ext cx="396973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세계적인 노동력의 확대</a:t>
            </a:r>
            <a:endParaRPr lang="en-US" altLang="ko-KR" sz="1450" dirty="0"/>
          </a:p>
        </p:txBody>
      </p:sp>
      <p:sp>
        <p:nvSpPr>
          <p:cNvPr id="12" name="En"/>
          <p:cNvSpPr/>
          <p:nvPr/>
        </p:nvSpPr>
        <p:spPr>
          <a:xfrm>
            <a:off x="548640" y="2197485"/>
            <a:ext cx="526145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increased desire to balance work and family</a:t>
            </a:r>
            <a:endParaRPr lang="en-US" altLang="ko-KR" sz="1800" dirty="0"/>
          </a:p>
        </p:txBody>
      </p:sp>
      <p:sp>
        <p:nvSpPr>
          <p:cNvPr id="13" name="reveal_22_kr"/>
          <p:cNvSpPr/>
          <p:nvPr/>
        </p:nvSpPr>
        <p:spPr>
          <a:xfrm>
            <a:off x="548640" y="2531241"/>
            <a:ext cx="526145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그리고 일과 가정의 균형을 맞추려는 커진 욕구는</a:t>
            </a:r>
            <a:endParaRPr lang="en-US" altLang="ko-KR" sz="1450" dirty="0"/>
          </a:p>
        </p:txBody>
      </p:sp>
      <p:sp>
        <p:nvSpPr>
          <p:cNvPr id="14" name="Sep"/>
          <p:cNvSpPr/>
          <p:nvPr/>
        </p:nvSpPr>
        <p:spPr>
          <a:xfrm>
            <a:off x="5764371" y="219748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5" name="En"/>
          <p:cNvSpPr/>
          <p:nvPr/>
        </p:nvSpPr>
        <p:spPr>
          <a:xfrm>
            <a:off x="5992164" y="2197485"/>
            <a:ext cx="370531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are only three of the many factors</a:t>
            </a:r>
            <a:endParaRPr lang="en-US" altLang="ko-KR" sz="1800" dirty="0"/>
          </a:p>
        </p:txBody>
      </p:sp>
      <p:sp>
        <p:nvSpPr>
          <p:cNvPr id="16" name="reveal_23_kr"/>
          <p:cNvSpPr/>
          <p:nvPr/>
        </p:nvSpPr>
        <p:spPr>
          <a:xfrm>
            <a:off x="5992164" y="2531241"/>
            <a:ext cx="370531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많은 요인 중 단 세 가지일 뿐이다</a:t>
            </a:r>
            <a:endParaRPr lang="en-US" altLang="ko-KR" sz="1450" dirty="0"/>
          </a:p>
        </p:txBody>
      </p:sp>
      <p:sp>
        <p:nvSpPr>
          <p:cNvPr id="17" name="En"/>
          <p:cNvSpPr/>
          <p:nvPr/>
        </p:nvSpPr>
        <p:spPr>
          <a:xfrm>
            <a:off x="548640" y="2893064"/>
            <a:ext cx="277353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will gradually reduce</a:t>
            </a:r>
            <a:endParaRPr lang="en-US" altLang="ko-KR" sz="1800" dirty="0"/>
          </a:p>
        </p:txBody>
      </p:sp>
      <p:sp>
        <p:nvSpPr>
          <p:cNvPr id="18" name="reveal_24_kr"/>
          <p:cNvSpPr/>
          <p:nvPr/>
        </p:nvSpPr>
        <p:spPr>
          <a:xfrm>
            <a:off x="548640" y="3226820"/>
            <a:ext cx="277353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점차 줄여 줄</a:t>
            </a:r>
            <a:endParaRPr lang="en-US" altLang="ko-KR" sz="1450" dirty="0"/>
          </a:p>
        </p:txBody>
      </p:sp>
      <p:sp>
        <p:nvSpPr>
          <p:cNvPr id="19" name="Sep"/>
          <p:cNvSpPr/>
          <p:nvPr/>
        </p:nvSpPr>
        <p:spPr>
          <a:xfrm>
            <a:off x="3276455" y="289306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0" name="En"/>
          <p:cNvSpPr/>
          <p:nvPr/>
        </p:nvSpPr>
        <p:spPr>
          <a:xfrm>
            <a:off x="3504248" y="2893064"/>
            <a:ext cx="413469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 current barriers to telecommuting</a:t>
            </a:r>
            <a:endParaRPr lang="en-US" altLang="ko-KR" sz="1800" dirty="0"/>
          </a:p>
        </p:txBody>
      </p:sp>
      <p:sp>
        <p:nvSpPr>
          <p:cNvPr id="21" name="reveal_25_kr"/>
          <p:cNvSpPr/>
          <p:nvPr/>
        </p:nvSpPr>
        <p:spPr>
          <a:xfrm>
            <a:off x="3504248" y="3226820"/>
            <a:ext cx="413469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재택근무에 대한 현재의 장벽을</a:t>
            </a:r>
            <a:endParaRPr lang="en-US" altLang="ko-KR" sz="1450" dirty="0"/>
          </a:p>
        </p:txBody>
      </p:sp>
      <p:sp>
        <p:nvSpPr>
          <p:cNvPr id="22" name="En"/>
          <p:cNvSpPr/>
          <p:nvPr/>
        </p:nvSpPr>
        <p:spPr>
          <a:xfrm>
            <a:off x="548640" y="3588643"/>
            <a:ext cx="429040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as a dominant workforce development.</a:t>
            </a:r>
            <a:endParaRPr lang="en-US" altLang="ko-KR" sz="1800" dirty="0"/>
          </a:p>
        </p:txBody>
      </p:sp>
      <p:sp>
        <p:nvSpPr>
          <p:cNvPr id="23" name="reveal_26_kr"/>
          <p:cNvSpPr/>
          <p:nvPr/>
        </p:nvSpPr>
        <p:spPr>
          <a:xfrm>
            <a:off x="548640" y="3922399"/>
            <a:ext cx="429040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지배적인 노동력 발전으로서</a:t>
            </a:r>
            <a:endParaRPr lang="en-US" altLang="ko-KR" sz="1450" dirty="0"/>
          </a:p>
        </p:txBody>
      </p:sp>
      <p:sp>
        <p:nvSpPr>
          <p:cNvPr id="24" name="En"/>
          <p:cNvSpPr/>
          <p:nvPr/>
        </p:nvSpPr>
        <p:spPr>
          <a:xfrm>
            <a:off x="548640" y="4366518"/>
            <a:ext cx="572812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⑤ With implications for organizational cost savings,</a:t>
            </a:r>
            <a:endParaRPr lang="en-US" altLang="ko-KR" sz="1800" dirty="0"/>
          </a:p>
        </p:txBody>
      </p:sp>
      <p:sp>
        <p:nvSpPr>
          <p:cNvPr id="25" name="reveal_27_kr"/>
          <p:cNvSpPr/>
          <p:nvPr/>
        </p:nvSpPr>
        <p:spPr>
          <a:xfrm>
            <a:off x="548640" y="4700274"/>
            <a:ext cx="572812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조직의 비용 절감에 대한 함의와 더불어</a:t>
            </a:r>
            <a:endParaRPr lang="en-US" altLang="ko-KR" sz="1450" dirty="0"/>
          </a:p>
        </p:txBody>
      </p:sp>
      <p:sp>
        <p:nvSpPr>
          <p:cNvPr id="26" name="Sep"/>
          <p:cNvSpPr/>
          <p:nvPr/>
        </p:nvSpPr>
        <p:spPr>
          <a:xfrm>
            <a:off x="6231046" y="436651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7" name="En"/>
          <p:cNvSpPr/>
          <p:nvPr/>
        </p:nvSpPr>
        <p:spPr>
          <a:xfrm>
            <a:off x="6458839" y="4366518"/>
            <a:ext cx="482067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especially with regard to lower facility costs,</a:t>
            </a:r>
            <a:endParaRPr lang="en-US" altLang="ko-KR" sz="1800" dirty="0"/>
          </a:p>
        </p:txBody>
      </p:sp>
      <p:sp>
        <p:nvSpPr>
          <p:cNvPr id="28" name="reveal_28_kr"/>
          <p:cNvSpPr/>
          <p:nvPr/>
        </p:nvSpPr>
        <p:spPr>
          <a:xfrm>
            <a:off x="6458839" y="4700274"/>
            <a:ext cx="482067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특히 낮은 시설 비용과 관련하여</a:t>
            </a:r>
            <a:endParaRPr lang="en-US" altLang="ko-KR" sz="1450" dirty="0"/>
          </a:p>
        </p:txBody>
      </p:sp>
      <p:sp>
        <p:nvSpPr>
          <p:cNvPr id="29" name="En"/>
          <p:cNvSpPr/>
          <p:nvPr/>
        </p:nvSpPr>
        <p:spPr>
          <a:xfrm>
            <a:off x="548640" y="5062097"/>
            <a:ext cx="521074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increased employee flexibility, and productivity,</a:t>
            </a:r>
            <a:endParaRPr lang="en-US" altLang="ko-KR" sz="1800" dirty="0"/>
          </a:p>
        </p:txBody>
      </p:sp>
      <p:sp>
        <p:nvSpPr>
          <p:cNvPr id="30" name="reveal_29_kr"/>
          <p:cNvSpPr/>
          <p:nvPr/>
        </p:nvSpPr>
        <p:spPr>
          <a:xfrm>
            <a:off x="548640" y="5395853"/>
            <a:ext cx="521074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늘어난 직원 유연성 그리고 생산성과 관련하여</a:t>
            </a:r>
            <a:endParaRPr lang="en-US" altLang="ko-KR" sz="1450" dirty="0"/>
          </a:p>
        </p:txBody>
      </p:sp>
      <p:sp>
        <p:nvSpPr>
          <p:cNvPr id="31" name="Sep"/>
          <p:cNvSpPr/>
          <p:nvPr/>
        </p:nvSpPr>
        <p:spPr>
          <a:xfrm>
            <a:off x="5713664" y="506209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2" name="En"/>
          <p:cNvSpPr/>
          <p:nvPr/>
        </p:nvSpPr>
        <p:spPr>
          <a:xfrm>
            <a:off x="5941457" y="5062097"/>
            <a:ext cx="441913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telecommuting is increasingly of interest</a:t>
            </a:r>
            <a:endParaRPr lang="en-US" altLang="ko-KR" sz="1800" dirty="0"/>
          </a:p>
        </p:txBody>
      </p:sp>
      <p:sp>
        <p:nvSpPr>
          <p:cNvPr id="33" name="reveal_30_kr"/>
          <p:cNvSpPr/>
          <p:nvPr/>
        </p:nvSpPr>
        <p:spPr>
          <a:xfrm>
            <a:off x="5941457" y="5395853"/>
            <a:ext cx="441913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재택근무는 점점 더 관심의 대상이 되고 있다</a:t>
            </a:r>
            <a:endParaRPr lang="en-US" altLang="ko-KR" sz="1450" dirty="0"/>
          </a:p>
        </p:txBody>
      </p:sp>
      <p:sp>
        <p:nvSpPr>
          <p:cNvPr id="34" name="En"/>
          <p:cNvSpPr/>
          <p:nvPr/>
        </p:nvSpPr>
        <p:spPr>
          <a:xfrm>
            <a:off x="548640" y="5757676"/>
            <a:ext cx="248038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to many organizations.</a:t>
            </a:r>
            <a:endParaRPr lang="en-US" altLang="ko-KR" sz="1800" dirty="0"/>
          </a:p>
        </p:txBody>
      </p:sp>
      <p:sp>
        <p:nvSpPr>
          <p:cNvPr id="35" name="reveal_31_kr"/>
          <p:cNvSpPr/>
          <p:nvPr/>
        </p:nvSpPr>
        <p:spPr>
          <a:xfrm>
            <a:off x="548640" y="6091432"/>
            <a:ext cx="248038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많은 조직에게</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5"/>
                                        </p:tgtEl>
                                        <p:attrNameLst>
                                          <p:attrName>style.visibility</p:attrName>
                                        </p:attrNameLst>
                                      </p:cBhvr>
                                      <p:to>
                                        <p:strVal val="visible"/>
                                      </p:to>
                                    </p:set>
                                    <p:anim calcmode="lin" valueType="num">
                                      <p:cBhvr additive="base">
                                        <p:cTn id="49" dur="500" fill="hold"/>
                                        <p:tgtEl>
                                          <p:spTgt spid="25"/>
                                        </p:tgtEl>
                                        <p:attrNameLst>
                                          <p:attrName>ppt_x</p:attrName>
                                        </p:attrNameLst>
                                      </p:cBhvr>
                                      <p:tavLst>
                                        <p:tav tm="0">
                                          <p:val>
                                            <p:strVal val="0-#ppt_w/2"/>
                                          </p:val>
                                        </p:tav>
                                        <p:tav tm="100000">
                                          <p:val>
                                            <p:strVal val="#ppt_x"/>
                                          </p:val>
                                        </p:tav>
                                      </p:tavLst>
                                    </p:anim>
                                    <p:anim calcmode="lin" valueType="num">
                                      <p:cBhvr additive="base">
                                        <p:cTn id="50" dur="500" fill="hold"/>
                                        <p:tgtEl>
                                          <p:spTgt spid="25"/>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0-#ppt_w/2"/>
                                          </p:val>
                                        </p:tav>
                                        <p:tav tm="100000">
                                          <p:val>
                                            <p:strVal val="#ppt_x"/>
                                          </p:val>
                                        </p:tav>
                                      </p:tavLst>
                                    </p:anim>
                                    <p:anim calcmode="lin" valueType="num">
                                      <p:cBhvr additive="base">
                                        <p:cTn id="56"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0"/>
                                        </p:tgtEl>
                                        <p:attrNameLst>
                                          <p:attrName>style.visibility</p:attrName>
                                        </p:attrNameLst>
                                      </p:cBhvr>
                                      <p:to>
                                        <p:strVal val="visible"/>
                                      </p:to>
                                    </p:set>
                                    <p:anim calcmode="lin" valueType="num">
                                      <p:cBhvr additive="base">
                                        <p:cTn id="61" dur="500" fill="hold"/>
                                        <p:tgtEl>
                                          <p:spTgt spid="30"/>
                                        </p:tgtEl>
                                        <p:attrNameLst>
                                          <p:attrName>ppt_x</p:attrName>
                                        </p:attrNameLst>
                                      </p:cBhvr>
                                      <p:tavLst>
                                        <p:tav tm="0">
                                          <p:val>
                                            <p:strVal val="0-#ppt_w/2"/>
                                          </p:val>
                                        </p:tav>
                                        <p:tav tm="100000">
                                          <p:val>
                                            <p:strVal val="#ppt_x"/>
                                          </p:val>
                                        </p:tav>
                                      </p:tavLst>
                                    </p:anim>
                                    <p:anim calcmode="lin" valueType="num">
                                      <p:cBhvr additive="base">
                                        <p:cTn id="62"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additive="base">
                                        <p:cTn id="66" dur="1" fill="hold">
                                          <p:stCondLst>
                                            <p:cond delay="0"/>
                                          </p:stCondLst>
                                        </p:cTn>
                                        <p:tgtEl>
                                          <p:spTgt spid="33"/>
                                        </p:tgtEl>
                                        <p:attrNameLst>
                                          <p:attrName>style.visibility</p:attrName>
                                        </p:attrNameLst>
                                      </p:cBhvr>
                                      <p:to>
                                        <p:strVal val="visible"/>
                                      </p:to>
                                    </p:set>
                                    <p:anim calcmode="lin" valueType="num">
                                      <p:cBhvr additive="base">
                                        <p:cTn id="67" dur="500" fill="hold"/>
                                        <p:tgtEl>
                                          <p:spTgt spid="33"/>
                                        </p:tgtEl>
                                        <p:attrNameLst>
                                          <p:attrName>ppt_x</p:attrName>
                                        </p:attrNameLst>
                                      </p:cBhvr>
                                      <p:tavLst>
                                        <p:tav tm="0">
                                          <p:val>
                                            <p:strVal val="0-#ppt_w/2"/>
                                          </p:val>
                                        </p:tav>
                                        <p:tav tm="100000">
                                          <p:val>
                                            <p:strVal val="#ppt_x"/>
                                          </p:val>
                                        </p:tav>
                                      </p:tavLst>
                                    </p:anim>
                                    <p:anim calcmode="lin" valueType="num">
                                      <p:cBhvr additive="base">
                                        <p:cTn id="68"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additive="base">
                                        <p:cTn id="72" dur="1" fill="hold">
                                          <p:stCondLst>
                                            <p:cond delay="0"/>
                                          </p:stCondLst>
                                        </p:cTn>
                                        <p:tgtEl>
                                          <p:spTgt spid="35"/>
                                        </p:tgtEl>
                                        <p:attrNameLst>
                                          <p:attrName>style.visibility</p:attrName>
                                        </p:attrNameLst>
                                      </p:cBhvr>
                                      <p:to>
                                        <p:strVal val="visible"/>
                                      </p:to>
                                    </p:set>
                                    <p:anim calcmode="lin" valueType="num">
                                      <p:cBhvr additive="base">
                                        <p:cTn id="73" dur="500" fill="hold"/>
                                        <p:tgtEl>
                                          <p:spTgt spid="35"/>
                                        </p:tgtEl>
                                        <p:attrNameLst>
                                          <p:attrName>ppt_x</p:attrName>
                                        </p:attrNameLst>
                                      </p:cBhvr>
                                      <p:tavLst>
                                        <p:tav tm="0">
                                          <p:val>
                                            <p:strVal val="0-#ppt_w/2"/>
                                          </p:val>
                                        </p:tav>
                                        <p:tav tm="100000">
                                          <p:val>
                                            <p:strVal val="#ppt_x"/>
                                          </p:val>
                                        </p:tav>
                                      </p:tavLst>
                                    </p:anim>
                                    <p:anim calcmode="lin" valueType="num">
                                      <p:cBhvr additive="base">
                                        <p:cTn id="74" dur="500" fill="hold"/>
                                        <p:tgtEl>
                                          <p:spTgt spid="3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6" grpId="0" animBg="1"/>
      <p:bldP spid="18" grpId="0" animBg="1"/>
      <p:bldP spid="21" grpId="0" animBg="1"/>
      <p:bldP spid="23" grpId="0" animBg="1"/>
      <p:bldP spid="25" grpId="0" animBg="1"/>
      <p:bldP spid="28" grpId="0" animBg="1"/>
      <p:bldP spid="30" grpId="0" animBg="1"/>
      <p:bldP spid="33" grpId="0" animBg="1"/>
      <p:bldP spid="35" grpId="0" animBg="1"/>
    </p:bldLst>
  </p:timing>
</p:sld>
</file>

<file path=ppt/slides/slide20.xml><?xml version="1.0" encoding="utf-8"?>
<p:sld xmlns:a="http://schemas.openxmlformats.org/drawingml/2006/main" xmlns:p="http://schemas.openxmlformats.org/presentationml/2006/main" xmlns:r="http://schemas.openxmlformats.org/officeDocument/2006/relationships">
  <p:cSld name="14 문제">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14</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2024학년도 9월 35번 — 무관한 문장 찾기</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클릭하면 정답이 노란 박스로 나타납니다</a:t>
            </a:r>
            <a:endParaRPr lang="en-US" altLang="ko-KR" sz="1100" dirty="0"/>
          </a:p>
        </p:txBody>
      </p:sp>
      <p:sp>
        <p:nvSpPr>
          <p:cNvPr id="7" name="Prompt"/>
          <p:cNvSpPr/>
          <p:nvPr/>
        </p:nvSpPr>
        <p:spPr>
          <a:xfrm>
            <a:off x="548640" y="1325880"/>
            <a:ext cx="11091672" cy="324000"/>
          </a:xfrm>
          <a:prstGeom prst="rect">
            <a:avLst/>
          </a:prstGeom>
          <a:noFill/>
          <a:ln>
            <a:noFill/>
          </a:ln>
        </p:spPr>
        <p:txBody>
          <a:bodyPr wrap="square" lIns="0" tIns="0" rIns="0" bIns="0" rtlCol="0" anchor="ctr"/>
          <a:lstStyle/>
          <a:p>
            <a:pPr marL="0" indent="0">
              <a:buNone/>
            </a:pPr>
            <a:r>
              <a:rPr lang="en-US" altLang="ko-KR" sz="1300" b="1" dirty="0">
                <a:solidFill>
                  <a:srgbClr val="1E2761"/>
                </a:solidFill>
                <a:latin typeface="맑은 고딕" pitchFamily="34" charset="0"/>
                <a:ea typeface="맑은 고딕" pitchFamily="34" charset="-122"/>
                <a:cs typeface="맑은 고딕" pitchFamily="34" charset="-120"/>
              </a:rPr>
              <a:t>다음 글에서 전체 흐름과 관계 </a:t>
            </a:r>
            <a:r>
              <a:rPr lang="en-US" altLang="ko-KR" sz="1300" b="1" u="sng" dirty="0">
                <a:solidFill>
                  <a:srgbClr val="1E2761"/>
                </a:solidFill>
                <a:latin typeface="맑은 고딕" pitchFamily="34" charset="0"/>
                <a:ea typeface="맑은 고딕" pitchFamily="34" charset="-122"/>
                <a:cs typeface="맑은 고딕" pitchFamily="34" charset="-120"/>
              </a:rPr>
              <a:t>없는</a:t>
            </a:r>
            <a:r>
              <a:rPr lang="en-US" altLang="ko-KR" sz="1300" b="1" dirty="0">
                <a:solidFill>
                  <a:srgbClr val="1E2761"/>
                </a:solidFill>
                <a:latin typeface="맑은 고딕" pitchFamily="34" charset="0"/>
                <a:ea typeface="맑은 고딕" pitchFamily="34" charset="-122"/>
                <a:cs typeface="맑은 고딕" pitchFamily="34" charset="-120"/>
              </a:rPr>
              <a:t> 문장은?</a:t>
            </a:r>
            <a:endParaRPr lang="en-US" altLang="ko-KR" sz="1300" dirty="0"/>
          </a:p>
        </p:txBody>
      </p:sp>
      <p:sp>
        <p:nvSpPr>
          <p:cNvPr id="8" name="Passage"/>
          <p:cNvSpPr/>
          <p:nvPr/>
        </p:nvSpPr>
        <p:spPr>
          <a:xfrm>
            <a:off x="548640" y="1787040"/>
            <a:ext cx="11091672" cy="2380436"/>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solidFill>
                <a:latin typeface="Calibri" pitchFamily="34" charset="0"/>
                <a:ea typeface="Calibri" pitchFamily="34" charset="-122"/>
                <a:cs typeface="Calibri" pitchFamily="34" charset="-120"/>
              </a:rPr>
              <a:t>Although organizations are offering telecommuting programs in greater numbers than ever before, acceptance and use of these programs are still limited by a number of factors. ① These factors include manager reliance on face-to-face management practices, lack of telecommuting training within an organization, misperceptions of and discomfort with flexible workplace programs, and a lack of information about the effects of telecommuting on an organization’s bottom line. ② Despite these limitations, at the beginning of the 21st century, a new “anytime, anywhere” work culture is emerging. </a:t>
            </a:r>
            <a:r>
              <a:rPr lang="en-US" altLang="ko-KR" sz="1400" dirty="0">
                <a:solidFill>
                  <a:srgbClr val="333333"/>
                </a:solidFill>
                <a:latin typeface="Calibri" pitchFamily="34" charset="0"/>
                <a:ea typeface="Calibri" pitchFamily="34" charset="-122"/>
                <a:cs typeface="Calibri" pitchFamily="34" charset="-120"/>
              </a:rPr>
              <a:t>③ Care must be taken to select employees whose personal and working characteristics are best suited for telecommuting.</a:t>
            </a:r>
            <a:r>
              <a:rPr lang="en-US" altLang="ko-KR" sz="1400" dirty="0">
                <a:solidFill>
                  <a:srgbClr val="333333"/>
                </a:solidFill>
                <a:latin typeface="Calibri" pitchFamily="34" charset="0"/>
                <a:ea typeface="Calibri" pitchFamily="34" charset="-122"/>
                <a:cs typeface="Calibri" pitchFamily="34" charset="-120"/>
              </a:rPr>
              <a:t> ④ Continuing advances in information technology, the expansion of a global workforce, and increased desire to balance work and family are only three of the many factors that will gradually reduce the current barriers to telecommuting as a dominant workforce development. ⑤ With implications for organizational cost savings, especially with regard to lower facility costs, increased employee flexibility, and productivity, telecommuting is increasingly of interest to many organizations.</a:t>
            </a:r>
            <a:endParaRPr lang="en-US" altLang="ko-KR" sz="1400" dirty="0"/>
          </a:p>
        </p:txBody>
      </p:sp>
      <p:sp>
        <p:nvSpPr>
          <p:cNvPr id="9" name="AnsOverlay"/>
          <p:cNvSpPr/>
          <p:nvPr/>
        </p:nvSpPr>
        <p:spPr>
          <a:xfrm>
            <a:off x="548640" y="1787040"/>
            <a:ext cx="11091672" cy="2380436"/>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alpha val="0"/>
                  </a:srgbClr>
                </a:solidFill>
                <a:latin typeface="Calibri" pitchFamily="34" charset="0"/>
                <a:ea typeface="Calibri" pitchFamily="34" charset="-122"/>
                <a:cs typeface="Calibri" pitchFamily="34" charset="-120"/>
              </a:rPr>
              <a:t>Although organizations are offering telecommuting programs in greater numbers than ever before, acceptance and use of these programs are still limited by a number of factors. ① These factors include manager reliance on face-to-face management practices, lack of telecommuting training within an organization, misperceptions of and discomfort with flexible workplace programs, and a lack of information about the effects of telecommuting on an organization’s bottom line. ② Despite these limitations, at the beginning of the 21st century, a new “anytime, anywhere” work culture is emerging. </a:t>
            </a:r>
            <a:r>
              <a:rPr lang="en-US" altLang="ko-KR" sz="1400" dirty="0">
                <a:solidFill>
                  <a:srgbClr val="C00000"/>
                </a:solidFill>
                <a:latin typeface="Calibri" pitchFamily="34" charset="0"/>
                <a:ea typeface="Calibri" pitchFamily="34" charset="-122"/>
                <a:cs typeface="Calibri" pitchFamily="34" charset="-120"/>
              </a:rPr>
              <a:t>③ Care must be taken to select employees whose personal and working characteristics are best suited for telecommuting.</a:t>
            </a:r>
            <a:r>
              <a:rPr lang="en-US" altLang="ko-KR" sz="1400" dirty="0">
                <a:solidFill>
                  <a:srgbClr val="333333">
                    <a:alpha val="0"/>
                  </a:srgbClr>
                </a:solidFill>
                <a:latin typeface="Calibri" pitchFamily="34" charset="0"/>
                <a:ea typeface="Calibri" pitchFamily="34" charset="-122"/>
                <a:cs typeface="Calibri" pitchFamily="34" charset="-120"/>
              </a:rPr>
              <a:t> ④ Continuing advances in information technology, the expansion of a global workforce, and increased desire to balance work and family are only three of the many factors that will gradually reduce the current barriers to telecommuting as a dominant workforce development. ⑤ With implications for organizational cost savings, especially with regard to lower facility costs, increased employee flexibility, and productivity, telecommuting is increasingly of interest to many organizations.</a:t>
            </a:r>
            <a:endParaRPr lang="en-US" altLang="ko-KR" sz="1400" dirty="0"/>
          </a:p>
        </p:txBody>
      </p:sp>
      <p:sp>
        <p:nvSpPr>
          <p:cNvPr id="10" name="Notes"/>
          <p:cNvSpPr/>
          <p:nvPr/>
        </p:nvSpPr>
        <p:spPr>
          <a:xfrm>
            <a:off x="548640" y="4304636"/>
            <a:ext cx="11091672" cy="274320"/>
          </a:xfrm>
          <a:prstGeom prst="rect">
            <a:avLst/>
          </a:prstGeom>
          <a:noFill/>
          <a:ln>
            <a:noFill/>
          </a:ln>
        </p:spPr>
        <p:txBody>
          <a:bodyPr wrap="square" lIns="0" tIns="0" rIns="0" bIns="0" rtlCol="0" anchor="t"/>
          <a:lstStyle/>
          <a:p>
            <a:pPr marL="0" indent="0">
              <a:buNone/>
            </a:pPr>
            <a:r>
              <a:rPr lang="en-US" altLang="ko-KR" sz="1050" i="1" dirty="0">
                <a:solidFill>
                  <a:srgbClr val="8A8A8A"/>
                </a:solidFill>
                <a:latin typeface="맑은 고딕" pitchFamily="34" charset="0"/>
                <a:ea typeface="맑은 고딕" pitchFamily="34" charset="-122"/>
                <a:cs typeface="맑은 고딕" pitchFamily="34" charset="-120"/>
              </a:rPr>
              <a:t>♦ telecommute: (컴퓨터로) 집에서 근무하다</a:t>
            </a:r>
            <a:endParaRPr lang="en-US" altLang="ko-KR" sz="1050" dirty="0"/>
          </a:p>
        </p:txBody>
      </p:sp>
      <p:sp>
        <p:nvSpPr>
          <p:cNvPr id="11" name="AnsBg"/>
          <p:cNvSpPr/>
          <p:nvPr/>
        </p:nvSpPr>
        <p:spPr>
          <a:xfrm>
            <a:off x="548640" y="4701356"/>
            <a:ext cx="11091672" cy="457200"/>
          </a:xfrm>
          <a:prstGeom prst="rect">
            <a:avLst/>
          </a:prstGeom>
          <a:solidFill>
            <a:srgbClr val="FFF4CC"/>
          </a:solidFill>
          <a:ln>
            <a:noFill/>
          </a:ln>
        </p:spPr>
        <p:txBody>
          <a:bodyPr/>
          <a:lstStyle/>
          <a:p>
            <a:endParaRPr lang="ko-KR" altLang="en-US"/>
          </a:p>
        </p:txBody>
      </p:sp>
      <p:sp>
        <p:nvSpPr>
          <p:cNvPr id="12" name="reveal_14_en"/>
          <p:cNvSpPr/>
          <p:nvPr/>
        </p:nvSpPr>
        <p:spPr>
          <a:xfrm>
            <a:off x="732240" y="4701356"/>
            <a:ext cx="10724472" cy="457200"/>
          </a:xfrm>
          <a:prstGeom prst="rect">
            <a:avLst/>
          </a:prstGeom>
          <a:noFill/>
          <a:ln>
            <a:noFill/>
          </a:ln>
        </p:spPr>
        <p:txBody>
          <a:bodyPr wrap="square" lIns="0" tIns="0" rIns="0" bIns="0" rtlCol="0" anchor="ctr"/>
          <a:lstStyle/>
          <a:p>
            <a:pPr marL="0" indent="0">
              <a:buNone/>
            </a:pPr>
            <a:r>
              <a:rPr lang="en-US" altLang="ko-KR" sz="1500" b="1" dirty="0">
                <a:solidFill>
                  <a:srgbClr val="5A4200"/>
                </a:solidFill>
                <a:latin typeface="맑은 고딕" pitchFamily="34" charset="0"/>
                <a:ea typeface="맑은 고딕" pitchFamily="34" charset="-122"/>
                <a:cs typeface="맑은 고딕" pitchFamily="34" charset="-120"/>
              </a:rPr>
              <a:t>정답   ③</a:t>
            </a:r>
            <a:endParaRPr lang="en-US" altLang="ko-KR"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additive="base">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additive="base">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additive="base">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9" grpId="0" animBg="1"/>
    </p:bldLst>
  </p:timing>
</p:sld>
</file>

<file path=ppt/slides/slide21.xml><?xml version="1.0" encoding="utf-8"?>
<p:sld xmlns:a="http://schemas.openxmlformats.org/drawingml/2006/main" xmlns:p="http://schemas.openxmlformats.org/presentationml/2006/main" xmlns:r="http://schemas.openxmlformats.org/officeDocument/2006/relationships">
  <p:cSld name="17 구문 1">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17</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(1/3)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1849695"/>
            <a:ext cx="127656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 a context</a:t>
            </a:r>
            <a:endParaRPr lang="en-US" altLang="ko-KR" sz="1800" dirty="0"/>
          </a:p>
        </p:txBody>
      </p:sp>
      <p:sp>
        <p:nvSpPr>
          <p:cNvPr id="8" name="reveal_1_kr"/>
          <p:cNvSpPr/>
          <p:nvPr/>
        </p:nvSpPr>
        <p:spPr>
          <a:xfrm>
            <a:off x="548640" y="2183451"/>
            <a:ext cx="127656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상황에서</a:t>
            </a:r>
            <a:endParaRPr lang="en-US" altLang="ko-KR" sz="1450" dirty="0"/>
          </a:p>
        </p:txBody>
      </p:sp>
      <p:sp>
        <p:nvSpPr>
          <p:cNvPr id="9" name="Sep"/>
          <p:cNvSpPr/>
          <p:nvPr/>
        </p:nvSpPr>
        <p:spPr>
          <a:xfrm>
            <a:off x="1779488" y="184969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2007281" y="1849695"/>
            <a:ext cx="338569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 which the cultural obligation</a:t>
            </a:r>
            <a:endParaRPr lang="en-US" altLang="ko-KR" sz="1800" dirty="0"/>
          </a:p>
        </p:txBody>
      </p:sp>
      <p:sp>
        <p:nvSpPr>
          <p:cNvPr id="11" name="reveal_2_kr"/>
          <p:cNvSpPr/>
          <p:nvPr/>
        </p:nvSpPr>
        <p:spPr>
          <a:xfrm>
            <a:off x="2007281" y="2183451"/>
            <a:ext cx="338569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문화적 의무가</a:t>
            </a:r>
            <a:endParaRPr lang="en-US" altLang="ko-KR" sz="1450" dirty="0"/>
          </a:p>
        </p:txBody>
      </p:sp>
      <p:sp>
        <p:nvSpPr>
          <p:cNvPr id="12" name="Sep"/>
          <p:cNvSpPr/>
          <p:nvPr/>
        </p:nvSpPr>
        <p:spPr>
          <a:xfrm>
            <a:off x="5347251" y="184969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3" name="En"/>
          <p:cNvSpPr/>
          <p:nvPr/>
        </p:nvSpPr>
        <p:spPr>
          <a:xfrm>
            <a:off x="5575044" y="1849695"/>
            <a:ext cx="601958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to produce the self as a distinctive, authentic individual</a:t>
            </a:r>
            <a:endParaRPr lang="en-US" altLang="ko-KR" sz="1800" dirty="0"/>
          </a:p>
        </p:txBody>
      </p:sp>
      <p:sp>
        <p:nvSpPr>
          <p:cNvPr id="14" name="reveal_3_kr"/>
          <p:cNvSpPr/>
          <p:nvPr/>
        </p:nvSpPr>
        <p:spPr>
          <a:xfrm>
            <a:off x="5575044" y="2183451"/>
            <a:ext cx="601958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독특하고 진정성 있는 개인으로 자아를 만들어 내야 한다는</a:t>
            </a:r>
            <a:endParaRPr lang="en-US" altLang="ko-KR" sz="1450" dirty="0"/>
          </a:p>
        </p:txBody>
      </p:sp>
      <p:sp>
        <p:nvSpPr>
          <p:cNvPr id="15" name="En"/>
          <p:cNvSpPr/>
          <p:nvPr/>
        </p:nvSpPr>
        <p:spPr>
          <a:xfrm>
            <a:off x="548640" y="2545274"/>
            <a:ext cx="204198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is difficult to fulfill,</a:t>
            </a:r>
            <a:endParaRPr lang="en-US" altLang="ko-KR" sz="1800" dirty="0"/>
          </a:p>
        </p:txBody>
      </p:sp>
      <p:sp>
        <p:nvSpPr>
          <p:cNvPr id="16" name="reveal_4_kr"/>
          <p:cNvSpPr/>
          <p:nvPr/>
        </p:nvSpPr>
        <p:spPr>
          <a:xfrm>
            <a:off x="548640" y="2879030"/>
            <a:ext cx="204198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이행하기 어려운</a:t>
            </a:r>
            <a:endParaRPr lang="en-US" altLang="ko-KR" sz="1450" dirty="0"/>
          </a:p>
        </p:txBody>
      </p:sp>
      <p:sp>
        <p:nvSpPr>
          <p:cNvPr id="17" name="Sep"/>
          <p:cNvSpPr/>
          <p:nvPr/>
        </p:nvSpPr>
        <p:spPr>
          <a:xfrm>
            <a:off x="2544904" y="254527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8" name="En"/>
          <p:cNvSpPr/>
          <p:nvPr/>
        </p:nvSpPr>
        <p:spPr>
          <a:xfrm>
            <a:off x="2772697" y="2545274"/>
            <a:ext cx="520506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 burdensome work of individualizing the self</a:t>
            </a:r>
            <a:endParaRPr lang="en-US" altLang="ko-KR" sz="1800" dirty="0"/>
          </a:p>
        </p:txBody>
      </p:sp>
      <p:sp>
        <p:nvSpPr>
          <p:cNvPr id="19" name="reveal_5_kr"/>
          <p:cNvSpPr/>
          <p:nvPr/>
        </p:nvSpPr>
        <p:spPr>
          <a:xfrm>
            <a:off x="2772697" y="2879030"/>
            <a:ext cx="520506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자아를 개별화하는 부담스러운 작업은</a:t>
            </a:r>
            <a:endParaRPr lang="en-US" altLang="ko-KR" sz="1450" dirty="0"/>
          </a:p>
        </p:txBody>
      </p:sp>
      <p:sp>
        <p:nvSpPr>
          <p:cNvPr id="20" name="En"/>
          <p:cNvSpPr/>
          <p:nvPr/>
        </p:nvSpPr>
        <p:spPr>
          <a:xfrm>
            <a:off x="548640" y="3240853"/>
            <a:ext cx="445434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is turned over increasingly to algorithms.</a:t>
            </a:r>
            <a:endParaRPr lang="en-US" altLang="ko-KR" sz="1800" dirty="0"/>
          </a:p>
        </p:txBody>
      </p:sp>
      <p:sp>
        <p:nvSpPr>
          <p:cNvPr id="21" name="reveal_6_kr"/>
          <p:cNvSpPr/>
          <p:nvPr/>
        </p:nvSpPr>
        <p:spPr>
          <a:xfrm>
            <a:off x="548640" y="3574609"/>
            <a:ext cx="445434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점점 더 알고리즘에 넘겨지고 있다</a:t>
            </a:r>
            <a:endParaRPr lang="en-US" altLang="ko-KR" sz="1450" dirty="0"/>
          </a:p>
        </p:txBody>
      </p:sp>
      <p:sp>
        <p:nvSpPr>
          <p:cNvPr id="22" name="En"/>
          <p:cNvSpPr/>
          <p:nvPr/>
        </p:nvSpPr>
        <p:spPr>
          <a:xfrm>
            <a:off x="548640" y="4018728"/>
            <a:ext cx="277494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① The “personalization”</a:t>
            </a:r>
            <a:endParaRPr lang="en-US" altLang="ko-KR" sz="1800" dirty="0"/>
          </a:p>
        </p:txBody>
      </p:sp>
      <p:sp>
        <p:nvSpPr>
          <p:cNvPr id="23" name="reveal_7_kr"/>
          <p:cNvSpPr/>
          <p:nvPr/>
        </p:nvSpPr>
        <p:spPr>
          <a:xfrm>
            <a:off x="548640" y="4352484"/>
            <a:ext cx="277494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'개인화'는</a:t>
            </a:r>
            <a:endParaRPr lang="en-US" altLang="ko-KR" sz="1450" dirty="0"/>
          </a:p>
        </p:txBody>
      </p:sp>
      <p:sp>
        <p:nvSpPr>
          <p:cNvPr id="24" name="Sep"/>
          <p:cNvSpPr/>
          <p:nvPr/>
        </p:nvSpPr>
        <p:spPr>
          <a:xfrm>
            <a:off x="3277869" y="401872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5" name="En"/>
          <p:cNvSpPr/>
          <p:nvPr/>
        </p:nvSpPr>
        <p:spPr>
          <a:xfrm>
            <a:off x="3505662" y="4018728"/>
            <a:ext cx="367539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is promised on every front —</a:t>
            </a:r>
            <a:endParaRPr lang="en-US" altLang="ko-KR" sz="1800" dirty="0"/>
          </a:p>
        </p:txBody>
      </p:sp>
      <p:sp>
        <p:nvSpPr>
          <p:cNvPr id="26" name="reveal_8_kr"/>
          <p:cNvSpPr/>
          <p:nvPr/>
        </p:nvSpPr>
        <p:spPr>
          <a:xfrm>
            <a:off x="3505662" y="4352484"/>
            <a:ext cx="367539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모든 방면에서 약속되는</a:t>
            </a:r>
            <a:endParaRPr lang="en-US" altLang="ko-KR" sz="1450" dirty="0"/>
          </a:p>
        </p:txBody>
      </p:sp>
      <p:sp>
        <p:nvSpPr>
          <p:cNvPr id="27" name="En"/>
          <p:cNvSpPr/>
          <p:nvPr/>
        </p:nvSpPr>
        <p:spPr>
          <a:xfrm>
            <a:off x="548640" y="4714307"/>
            <a:ext cx="540090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 the domains of search, shopping, health, news,</a:t>
            </a:r>
            <a:endParaRPr lang="en-US" altLang="ko-KR" sz="1800" dirty="0"/>
          </a:p>
        </p:txBody>
      </p:sp>
      <p:sp>
        <p:nvSpPr>
          <p:cNvPr id="28" name="reveal_9_kr"/>
          <p:cNvSpPr/>
          <p:nvPr/>
        </p:nvSpPr>
        <p:spPr>
          <a:xfrm>
            <a:off x="548640" y="5048063"/>
            <a:ext cx="540090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검색, 쇼핑, 건강, 뉴스</a:t>
            </a:r>
            <a:endParaRPr lang="en-US" altLang="ko-KR" sz="1450" dirty="0"/>
          </a:p>
        </p:txBody>
      </p:sp>
      <p:sp>
        <p:nvSpPr>
          <p:cNvPr id="29" name="Sep"/>
          <p:cNvSpPr/>
          <p:nvPr/>
        </p:nvSpPr>
        <p:spPr>
          <a:xfrm>
            <a:off x="5903826" y="471430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0" name="En"/>
          <p:cNvSpPr/>
          <p:nvPr/>
        </p:nvSpPr>
        <p:spPr>
          <a:xfrm>
            <a:off x="6131619" y="4714307"/>
            <a:ext cx="547623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advertising, learning, music, and entertainment ―</a:t>
            </a:r>
            <a:endParaRPr lang="en-US" altLang="ko-KR" sz="1800" dirty="0"/>
          </a:p>
        </p:txBody>
      </p:sp>
      <p:sp>
        <p:nvSpPr>
          <p:cNvPr id="31" name="reveal_10_kr"/>
          <p:cNvSpPr/>
          <p:nvPr/>
        </p:nvSpPr>
        <p:spPr>
          <a:xfrm>
            <a:off x="6131619" y="5048063"/>
            <a:ext cx="547623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광고, 학습, 음악, 그리고 오락의 영역에서</a:t>
            </a:r>
            <a:endParaRPr lang="en-US" altLang="ko-KR" sz="1450" dirty="0"/>
          </a:p>
        </p:txBody>
      </p:sp>
      <p:sp>
        <p:nvSpPr>
          <p:cNvPr id="32" name="En"/>
          <p:cNvSpPr/>
          <p:nvPr/>
        </p:nvSpPr>
        <p:spPr>
          <a:xfrm>
            <a:off x="548640" y="5409886"/>
            <a:ext cx="611705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depends on ever more refined algorithmic constructions</a:t>
            </a:r>
            <a:endParaRPr lang="en-US" altLang="ko-KR" sz="1800" dirty="0"/>
          </a:p>
        </p:txBody>
      </p:sp>
      <p:sp>
        <p:nvSpPr>
          <p:cNvPr id="33" name="reveal_11_kr"/>
          <p:cNvSpPr/>
          <p:nvPr/>
        </p:nvSpPr>
        <p:spPr>
          <a:xfrm>
            <a:off x="548640" y="5743642"/>
            <a:ext cx="611705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점점 더 정교해지는 알고리즘적 구성에 의존한다</a:t>
            </a:r>
            <a:endParaRPr lang="en-US" altLang="ko-KR" sz="1450" dirty="0"/>
          </a:p>
        </p:txBody>
      </p:sp>
      <p:sp>
        <p:nvSpPr>
          <p:cNvPr id="34" name="Sep"/>
          <p:cNvSpPr/>
          <p:nvPr/>
        </p:nvSpPr>
        <p:spPr>
          <a:xfrm>
            <a:off x="6619973" y="5409886"/>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5" name="En"/>
          <p:cNvSpPr/>
          <p:nvPr/>
        </p:nvSpPr>
        <p:spPr>
          <a:xfrm>
            <a:off x="6847766" y="5409886"/>
            <a:ext cx="169502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of individuality.</a:t>
            </a:r>
            <a:endParaRPr lang="en-US" altLang="ko-KR" sz="1800" dirty="0"/>
          </a:p>
        </p:txBody>
      </p:sp>
      <p:sp>
        <p:nvSpPr>
          <p:cNvPr id="36" name="reveal_12_kr"/>
          <p:cNvSpPr/>
          <p:nvPr/>
        </p:nvSpPr>
        <p:spPr>
          <a:xfrm>
            <a:off x="6847766" y="5743642"/>
            <a:ext cx="169502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개별성에 대한</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0-#ppt_w/2"/>
                                          </p:val>
                                        </p:tav>
                                        <p:tav tm="100000">
                                          <p:val>
                                            <p:strVal val="#ppt_x"/>
                                          </p:val>
                                        </p:tav>
                                      </p:tavLst>
                                    </p:anim>
                                    <p:anim calcmode="lin" valueType="num">
                                      <p:cBhvr additive="base">
                                        <p:cTn id="3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0-#ppt_w/2"/>
                                          </p:val>
                                        </p:tav>
                                        <p:tav tm="100000">
                                          <p:val>
                                            <p:strVal val="#ppt_x"/>
                                          </p:val>
                                        </p:tav>
                                      </p:tavLst>
                                    </p:anim>
                                    <p:anim calcmode="lin" valueType="num">
                                      <p:cBhvr additive="base">
                                        <p:cTn id="56"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1"/>
                                        </p:tgtEl>
                                        <p:attrNameLst>
                                          <p:attrName>style.visibility</p:attrName>
                                        </p:attrNameLst>
                                      </p:cBhvr>
                                      <p:to>
                                        <p:strVal val="visible"/>
                                      </p:to>
                                    </p:set>
                                    <p:anim calcmode="lin" valueType="num">
                                      <p:cBhvr additive="base">
                                        <p:cTn id="61" dur="500" fill="hold"/>
                                        <p:tgtEl>
                                          <p:spTgt spid="31"/>
                                        </p:tgtEl>
                                        <p:attrNameLst>
                                          <p:attrName>ppt_x</p:attrName>
                                        </p:attrNameLst>
                                      </p:cBhvr>
                                      <p:tavLst>
                                        <p:tav tm="0">
                                          <p:val>
                                            <p:strVal val="0-#ppt_w/2"/>
                                          </p:val>
                                        </p:tav>
                                        <p:tav tm="100000">
                                          <p:val>
                                            <p:strVal val="#ppt_x"/>
                                          </p:val>
                                        </p:tav>
                                      </p:tavLst>
                                    </p:anim>
                                    <p:anim calcmode="lin" valueType="num">
                                      <p:cBhvr additive="base">
                                        <p:cTn id="6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additive="base">
                                        <p:cTn id="66" dur="1" fill="hold">
                                          <p:stCondLst>
                                            <p:cond delay="0"/>
                                          </p:stCondLst>
                                        </p:cTn>
                                        <p:tgtEl>
                                          <p:spTgt spid="33"/>
                                        </p:tgtEl>
                                        <p:attrNameLst>
                                          <p:attrName>style.visibility</p:attrName>
                                        </p:attrNameLst>
                                      </p:cBhvr>
                                      <p:to>
                                        <p:strVal val="visible"/>
                                      </p:to>
                                    </p:set>
                                    <p:anim calcmode="lin" valueType="num">
                                      <p:cBhvr additive="base">
                                        <p:cTn id="67" dur="500" fill="hold"/>
                                        <p:tgtEl>
                                          <p:spTgt spid="33"/>
                                        </p:tgtEl>
                                        <p:attrNameLst>
                                          <p:attrName>ppt_x</p:attrName>
                                        </p:attrNameLst>
                                      </p:cBhvr>
                                      <p:tavLst>
                                        <p:tav tm="0">
                                          <p:val>
                                            <p:strVal val="0-#ppt_w/2"/>
                                          </p:val>
                                        </p:tav>
                                        <p:tav tm="100000">
                                          <p:val>
                                            <p:strVal val="#ppt_x"/>
                                          </p:val>
                                        </p:tav>
                                      </p:tavLst>
                                    </p:anim>
                                    <p:anim calcmode="lin" valueType="num">
                                      <p:cBhvr additive="base">
                                        <p:cTn id="68"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additive="base">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0-#ppt_w/2"/>
                                          </p:val>
                                        </p:tav>
                                        <p:tav tm="100000">
                                          <p:val>
                                            <p:strVal val="#ppt_x"/>
                                          </p:val>
                                        </p:tav>
                                      </p:tavLst>
                                    </p:anim>
                                    <p:anim calcmode="lin" valueType="num">
                                      <p:cBhvr additive="base">
                                        <p:cTn id="74" dur="5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6" grpId="0" animBg="1"/>
      <p:bldP spid="19" grpId="0" animBg="1"/>
      <p:bldP spid="21" grpId="0" animBg="1"/>
      <p:bldP spid="23" grpId="0" animBg="1"/>
      <p:bldP spid="26" grpId="0" animBg="1"/>
      <p:bldP spid="28" grpId="0" animBg="1"/>
      <p:bldP spid="31" grpId="0" animBg="1"/>
      <p:bldP spid="33" grpId="0" animBg="1"/>
      <p:bldP spid="36" grpId="0" animBg="1"/>
    </p:bldLst>
  </p:timing>
</p:sld>
</file>

<file path=ppt/slides/slide22.xml><?xml version="1.0" encoding="utf-8"?>
<p:sld xmlns:a="http://schemas.openxmlformats.org/drawingml/2006/main" xmlns:p="http://schemas.openxmlformats.org/presentationml/2006/main" xmlns:r="http://schemas.openxmlformats.org/officeDocument/2006/relationships">
  <p:cSld name="17 구문 2">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17</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(2/3)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2197485"/>
            <a:ext cx="345168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② As it becomes more difficult</a:t>
            </a:r>
            <a:endParaRPr lang="en-US" altLang="ko-KR" sz="1800" dirty="0"/>
          </a:p>
        </p:txBody>
      </p:sp>
      <p:sp>
        <p:nvSpPr>
          <p:cNvPr id="8" name="reveal_13_kr"/>
          <p:cNvSpPr/>
          <p:nvPr/>
        </p:nvSpPr>
        <p:spPr>
          <a:xfrm>
            <a:off x="548640" y="2531241"/>
            <a:ext cx="345168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더 어려워짐에 따라</a:t>
            </a:r>
            <a:endParaRPr lang="en-US" altLang="ko-KR" sz="1450" dirty="0"/>
          </a:p>
        </p:txBody>
      </p:sp>
      <p:sp>
        <p:nvSpPr>
          <p:cNvPr id="9" name="Sep"/>
          <p:cNvSpPr/>
          <p:nvPr/>
        </p:nvSpPr>
        <p:spPr>
          <a:xfrm>
            <a:off x="3954606" y="219748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4182399" y="2197485"/>
            <a:ext cx="550279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to produce our digital selves as unique individuals,</a:t>
            </a:r>
            <a:endParaRPr lang="en-US" altLang="ko-KR" sz="1800" dirty="0"/>
          </a:p>
        </p:txBody>
      </p:sp>
      <p:sp>
        <p:nvSpPr>
          <p:cNvPr id="11" name="reveal_14_kr"/>
          <p:cNvSpPr/>
          <p:nvPr/>
        </p:nvSpPr>
        <p:spPr>
          <a:xfrm>
            <a:off x="4182399" y="2531241"/>
            <a:ext cx="550279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우리의 디지털 자아를 고유한 개인으로 만들어 내는 것이</a:t>
            </a:r>
            <a:endParaRPr lang="en-US" altLang="ko-KR" sz="1450" dirty="0"/>
          </a:p>
        </p:txBody>
      </p:sp>
      <p:sp>
        <p:nvSpPr>
          <p:cNvPr id="12" name="En"/>
          <p:cNvSpPr/>
          <p:nvPr/>
        </p:nvSpPr>
        <p:spPr>
          <a:xfrm>
            <a:off x="548640" y="2893064"/>
            <a:ext cx="385088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we are increasingly being produced</a:t>
            </a:r>
            <a:endParaRPr lang="en-US" altLang="ko-KR" sz="1800" dirty="0"/>
          </a:p>
        </p:txBody>
      </p:sp>
      <p:sp>
        <p:nvSpPr>
          <p:cNvPr id="13" name="reveal_15_kr"/>
          <p:cNvSpPr/>
          <p:nvPr/>
        </p:nvSpPr>
        <p:spPr>
          <a:xfrm>
            <a:off x="548640" y="3226820"/>
            <a:ext cx="385088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우리는 점점 더 만들어지고 있다</a:t>
            </a:r>
            <a:endParaRPr lang="en-US" altLang="ko-KR" sz="1450" dirty="0"/>
          </a:p>
        </p:txBody>
      </p:sp>
      <p:sp>
        <p:nvSpPr>
          <p:cNvPr id="14" name="Sep"/>
          <p:cNvSpPr/>
          <p:nvPr/>
        </p:nvSpPr>
        <p:spPr>
          <a:xfrm>
            <a:off x="4353802" y="289306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5" name="En"/>
          <p:cNvSpPr/>
          <p:nvPr/>
        </p:nvSpPr>
        <p:spPr>
          <a:xfrm>
            <a:off x="4581595" y="2893064"/>
            <a:ext cx="425432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as unique individuals from the outside.</a:t>
            </a:r>
            <a:endParaRPr lang="en-US" altLang="ko-KR" sz="1800" dirty="0"/>
          </a:p>
        </p:txBody>
      </p:sp>
      <p:sp>
        <p:nvSpPr>
          <p:cNvPr id="16" name="reveal_16_kr"/>
          <p:cNvSpPr/>
          <p:nvPr/>
        </p:nvSpPr>
        <p:spPr>
          <a:xfrm>
            <a:off x="4581595" y="3226820"/>
            <a:ext cx="425432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외부로부터 고유한 개인으로</a:t>
            </a:r>
            <a:endParaRPr lang="en-US" altLang="ko-KR" sz="1450" dirty="0"/>
          </a:p>
        </p:txBody>
      </p:sp>
      <p:sp>
        <p:nvSpPr>
          <p:cNvPr id="17" name="En"/>
          <p:cNvSpPr/>
          <p:nvPr/>
        </p:nvSpPr>
        <p:spPr>
          <a:xfrm>
            <a:off x="548640" y="3670939"/>
            <a:ext cx="6122233"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③ When AI algorithms learn more about our identities,</a:t>
            </a:r>
            <a:endParaRPr lang="en-US" altLang="ko-KR" sz="1800" dirty="0"/>
          </a:p>
        </p:txBody>
      </p:sp>
      <p:sp>
        <p:nvSpPr>
          <p:cNvPr id="18" name="reveal_17_kr"/>
          <p:cNvSpPr/>
          <p:nvPr/>
        </p:nvSpPr>
        <p:spPr>
          <a:xfrm>
            <a:off x="548640" y="4004695"/>
            <a:ext cx="6122233"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AI 알고리즘이 우리의 정체성에 대해 더 많이 알게 될 때</a:t>
            </a:r>
            <a:endParaRPr lang="en-US" altLang="ko-KR" sz="1450" dirty="0"/>
          </a:p>
        </p:txBody>
      </p:sp>
      <p:sp>
        <p:nvSpPr>
          <p:cNvPr id="19" name="En"/>
          <p:cNvSpPr/>
          <p:nvPr/>
        </p:nvSpPr>
        <p:spPr>
          <a:xfrm>
            <a:off x="548640" y="4366518"/>
            <a:ext cx="5446318"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it becomes essential to safeguard this information</a:t>
            </a:r>
            <a:endParaRPr lang="en-US" altLang="ko-KR" sz="1800" dirty="0"/>
          </a:p>
        </p:txBody>
      </p:sp>
      <p:sp>
        <p:nvSpPr>
          <p:cNvPr id="20" name="reveal_18_kr"/>
          <p:cNvSpPr/>
          <p:nvPr/>
        </p:nvSpPr>
        <p:spPr>
          <a:xfrm>
            <a:off x="548640" y="4700274"/>
            <a:ext cx="5446318"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이 정보를 보호하는 것이 필수적이 된다</a:t>
            </a:r>
            <a:endParaRPr lang="en-US" altLang="ko-KR" sz="1450" dirty="0"/>
          </a:p>
        </p:txBody>
      </p:sp>
      <p:sp>
        <p:nvSpPr>
          <p:cNvPr id="21" name="En"/>
          <p:cNvSpPr/>
          <p:nvPr/>
        </p:nvSpPr>
        <p:spPr>
          <a:xfrm>
            <a:off x="548640" y="5062097"/>
            <a:ext cx="5769842"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and ensure that individuals have control and consent</a:t>
            </a:r>
            <a:endParaRPr lang="en-US" altLang="ko-KR" sz="1800" dirty="0"/>
          </a:p>
        </p:txBody>
      </p:sp>
      <p:sp>
        <p:nvSpPr>
          <p:cNvPr id="22" name="reveal_19_kr"/>
          <p:cNvSpPr/>
          <p:nvPr/>
        </p:nvSpPr>
        <p:spPr>
          <a:xfrm>
            <a:off x="548640" y="5395853"/>
            <a:ext cx="5769842"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그리고 개인이 통제권과 동의권을 갖도록 보장하는 것이</a:t>
            </a:r>
            <a:endParaRPr lang="en-US" altLang="ko-KR" sz="1450" dirty="0"/>
          </a:p>
        </p:txBody>
      </p:sp>
      <p:sp>
        <p:nvSpPr>
          <p:cNvPr id="23" name="Sep"/>
          <p:cNvSpPr/>
          <p:nvPr/>
        </p:nvSpPr>
        <p:spPr>
          <a:xfrm>
            <a:off x="6272762" y="506209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4" name="En"/>
          <p:cNvSpPr/>
          <p:nvPr/>
        </p:nvSpPr>
        <p:spPr>
          <a:xfrm>
            <a:off x="6500555" y="5062097"/>
            <a:ext cx="3912633"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over the data collected about them.</a:t>
            </a:r>
            <a:endParaRPr lang="en-US" altLang="ko-KR" sz="1800" dirty="0"/>
          </a:p>
        </p:txBody>
      </p:sp>
      <p:sp>
        <p:nvSpPr>
          <p:cNvPr id="25" name="reveal_20_kr"/>
          <p:cNvSpPr/>
          <p:nvPr/>
        </p:nvSpPr>
        <p:spPr>
          <a:xfrm>
            <a:off x="6500555" y="5395853"/>
            <a:ext cx="3912633"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자신에 관해 수집된 데이터에 대해</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0-#ppt_w/2"/>
                                          </p:val>
                                        </p:tav>
                                        <p:tav tm="100000">
                                          <p:val>
                                            <p:strVal val="#ppt_x"/>
                                          </p:val>
                                        </p:tav>
                                      </p:tavLst>
                                    </p:anim>
                                    <p:anim calcmode="lin" valueType="num">
                                      <p:cBhvr additive="base">
                                        <p:cTn id="3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2"/>
                                        </p:tgtEl>
                                        <p:attrNameLst>
                                          <p:attrName>style.visibility</p:attrName>
                                        </p:attrNameLst>
                                      </p:cBhvr>
                                      <p:to>
                                        <p:strVal val="visible"/>
                                      </p:to>
                                    </p:set>
                                    <p:anim calcmode="lin" valueType="num">
                                      <p:cBhvr additive="base">
                                        <p:cTn id="43" dur="500" fill="hold"/>
                                        <p:tgtEl>
                                          <p:spTgt spid="22"/>
                                        </p:tgtEl>
                                        <p:attrNameLst>
                                          <p:attrName>ppt_x</p:attrName>
                                        </p:attrNameLst>
                                      </p:cBhvr>
                                      <p:tavLst>
                                        <p:tav tm="0">
                                          <p:val>
                                            <p:strVal val="0-#ppt_w/2"/>
                                          </p:val>
                                        </p:tav>
                                        <p:tav tm="100000">
                                          <p:val>
                                            <p:strVal val="#ppt_x"/>
                                          </p:val>
                                        </p:tav>
                                      </p:tavLst>
                                    </p:anim>
                                    <p:anim calcmode="lin" valueType="num">
                                      <p:cBhvr additive="base">
                                        <p:cTn id="44"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5"/>
                                        </p:tgtEl>
                                        <p:attrNameLst>
                                          <p:attrName>style.visibility</p:attrName>
                                        </p:attrNameLst>
                                      </p:cBhvr>
                                      <p:to>
                                        <p:strVal val="visible"/>
                                      </p:to>
                                    </p:set>
                                    <p:anim calcmode="lin" valueType="num">
                                      <p:cBhvr additive="base">
                                        <p:cTn id="49" dur="500" fill="hold"/>
                                        <p:tgtEl>
                                          <p:spTgt spid="25"/>
                                        </p:tgtEl>
                                        <p:attrNameLst>
                                          <p:attrName>ppt_x</p:attrName>
                                        </p:attrNameLst>
                                      </p:cBhvr>
                                      <p:tavLst>
                                        <p:tav tm="0">
                                          <p:val>
                                            <p:strVal val="0-#ppt_w/2"/>
                                          </p:val>
                                        </p:tav>
                                        <p:tav tm="100000">
                                          <p:val>
                                            <p:strVal val="#ppt_x"/>
                                          </p:val>
                                        </p:tav>
                                      </p:tavLst>
                                    </p:anim>
                                    <p:anim calcmode="lin" valueType="num">
                                      <p:cBhvr additive="base">
                                        <p:cTn id="50" dur="500" fill="hold"/>
                                        <p:tgtEl>
                                          <p:spTgt spid="2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6" grpId="0" animBg="1"/>
      <p:bldP spid="18" grpId="0" animBg="1"/>
      <p:bldP spid="20" grpId="0" animBg="1"/>
      <p:bldP spid="22" grpId="0" animBg="1"/>
      <p:bldP spid="25" grpId="0" animBg="1"/>
    </p:bldLst>
  </p:timing>
</p:sld>
</file>

<file path=ppt/slides/slide23.xml><?xml version="1.0" encoding="utf-8"?>
<p:sld xmlns:a="http://schemas.openxmlformats.org/drawingml/2006/main" xmlns:p="http://schemas.openxmlformats.org/presentationml/2006/main" xmlns:r="http://schemas.openxmlformats.org/officeDocument/2006/relationships">
  <p:cSld name="17 구문 3">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17</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(3/3)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2545274"/>
            <a:ext cx="311380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④ Individuality is redefined</a:t>
            </a:r>
            <a:endParaRPr lang="en-US" altLang="ko-KR" sz="1800" dirty="0"/>
          </a:p>
        </p:txBody>
      </p:sp>
      <p:sp>
        <p:nvSpPr>
          <p:cNvPr id="8" name="reveal_21_kr"/>
          <p:cNvSpPr/>
          <p:nvPr/>
        </p:nvSpPr>
        <p:spPr>
          <a:xfrm>
            <a:off x="548640" y="2879030"/>
            <a:ext cx="311380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개별성은 재정의된다</a:t>
            </a:r>
            <a:endParaRPr lang="en-US" altLang="ko-KR" sz="1450" dirty="0"/>
          </a:p>
        </p:txBody>
      </p:sp>
      <p:sp>
        <p:nvSpPr>
          <p:cNvPr id="9" name="Sep"/>
          <p:cNvSpPr/>
          <p:nvPr/>
        </p:nvSpPr>
        <p:spPr>
          <a:xfrm>
            <a:off x="3616728" y="254527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3844521" y="2545274"/>
            <a:ext cx="482925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from a cultural practice and reflexive project</a:t>
            </a:r>
            <a:endParaRPr lang="en-US" altLang="ko-KR" sz="1800" dirty="0"/>
          </a:p>
        </p:txBody>
      </p:sp>
      <p:sp>
        <p:nvSpPr>
          <p:cNvPr id="11" name="reveal_22_kr"/>
          <p:cNvSpPr/>
          <p:nvPr/>
        </p:nvSpPr>
        <p:spPr>
          <a:xfrm>
            <a:off x="3844521" y="2879030"/>
            <a:ext cx="482925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문화적 관행이자 성찰적 기획에서</a:t>
            </a:r>
            <a:endParaRPr lang="en-US" altLang="ko-KR" sz="1450" dirty="0"/>
          </a:p>
        </p:txBody>
      </p:sp>
      <p:sp>
        <p:nvSpPr>
          <p:cNvPr id="12" name="En"/>
          <p:cNvSpPr/>
          <p:nvPr/>
        </p:nvSpPr>
        <p:spPr>
          <a:xfrm>
            <a:off x="548640" y="3240853"/>
            <a:ext cx="281041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to an algorithmic process.</a:t>
            </a:r>
            <a:endParaRPr lang="en-US" altLang="ko-KR" sz="1800" dirty="0"/>
          </a:p>
        </p:txBody>
      </p:sp>
      <p:sp>
        <p:nvSpPr>
          <p:cNvPr id="13" name="reveal_23_kr"/>
          <p:cNvSpPr/>
          <p:nvPr/>
        </p:nvSpPr>
        <p:spPr>
          <a:xfrm>
            <a:off x="548640" y="3574609"/>
            <a:ext cx="281041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알고리즘적 과정으로</a:t>
            </a:r>
            <a:endParaRPr lang="en-US" altLang="ko-KR" sz="1450" dirty="0"/>
          </a:p>
        </p:txBody>
      </p:sp>
      <p:sp>
        <p:nvSpPr>
          <p:cNvPr id="14" name="En"/>
          <p:cNvSpPr/>
          <p:nvPr/>
        </p:nvSpPr>
        <p:spPr>
          <a:xfrm>
            <a:off x="548640" y="4018728"/>
            <a:ext cx="518568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⑤ Our unique selfhood is no longer something</a:t>
            </a:r>
            <a:endParaRPr lang="en-US" altLang="ko-KR" sz="1800" dirty="0"/>
          </a:p>
        </p:txBody>
      </p:sp>
      <p:sp>
        <p:nvSpPr>
          <p:cNvPr id="15" name="reveal_24_kr"/>
          <p:cNvSpPr/>
          <p:nvPr/>
        </p:nvSpPr>
        <p:spPr>
          <a:xfrm>
            <a:off x="548640" y="4352484"/>
            <a:ext cx="518568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우리의 고유한 자아 정체성은 더 이상 어떤 것이 아니다</a:t>
            </a:r>
            <a:endParaRPr lang="en-US" altLang="ko-KR" sz="1450" dirty="0"/>
          </a:p>
        </p:txBody>
      </p:sp>
      <p:sp>
        <p:nvSpPr>
          <p:cNvPr id="16" name="Sep"/>
          <p:cNvSpPr/>
          <p:nvPr/>
        </p:nvSpPr>
        <p:spPr>
          <a:xfrm>
            <a:off x="5688607" y="401872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7" name="En"/>
          <p:cNvSpPr/>
          <p:nvPr/>
        </p:nvSpPr>
        <p:spPr>
          <a:xfrm>
            <a:off x="5916400" y="4018728"/>
            <a:ext cx="400555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for which we are wholly responsible;</a:t>
            </a:r>
            <a:endParaRPr lang="en-US" altLang="ko-KR" sz="1800" dirty="0"/>
          </a:p>
        </p:txBody>
      </p:sp>
      <p:sp>
        <p:nvSpPr>
          <p:cNvPr id="18" name="reveal_25_kr"/>
          <p:cNvSpPr/>
          <p:nvPr/>
        </p:nvSpPr>
        <p:spPr>
          <a:xfrm>
            <a:off x="5916400" y="4352484"/>
            <a:ext cx="400555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우리가 전적으로 책임지는</a:t>
            </a:r>
            <a:endParaRPr lang="en-US" altLang="ko-KR" sz="1450" dirty="0"/>
          </a:p>
        </p:txBody>
      </p:sp>
      <p:sp>
        <p:nvSpPr>
          <p:cNvPr id="19" name="En"/>
          <p:cNvSpPr/>
          <p:nvPr/>
        </p:nvSpPr>
        <p:spPr>
          <a:xfrm>
            <a:off x="548640" y="4714307"/>
            <a:ext cx="343717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it is algorithmically guaranteed.</a:t>
            </a:r>
            <a:endParaRPr lang="en-US" altLang="ko-KR" sz="1800" dirty="0"/>
          </a:p>
        </p:txBody>
      </p:sp>
      <p:sp>
        <p:nvSpPr>
          <p:cNvPr id="20" name="reveal_26_kr"/>
          <p:cNvSpPr/>
          <p:nvPr/>
        </p:nvSpPr>
        <p:spPr>
          <a:xfrm>
            <a:off x="548640" y="5048063"/>
            <a:ext cx="343717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그것은 알고리즘적으로 보장된다</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5"/>
                                        </p:tgtEl>
                                        <p:attrNameLst>
                                          <p:attrName>style.visibility</p:attrName>
                                        </p:attrNameLst>
                                      </p:cBhvr>
                                      <p:to>
                                        <p:strVal val="visible"/>
                                      </p:to>
                                    </p:set>
                                    <p:anim calcmode="lin" valueType="num">
                                      <p:cBhvr additive="base">
                                        <p:cTn id="25" dur="500" fill="hold"/>
                                        <p:tgtEl>
                                          <p:spTgt spid="15"/>
                                        </p:tgtEl>
                                        <p:attrNameLst>
                                          <p:attrName>ppt_x</p:attrName>
                                        </p:attrNameLst>
                                      </p:cBhvr>
                                      <p:tavLst>
                                        <p:tav tm="0">
                                          <p:val>
                                            <p:strVal val="0-#ppt_w/2"/>
                                          </p:val>
                                        </p:tav>
                                        <p:tav tm="100000">
                                          <p:val>
                                            <p:strVal val="#ppt_x"/>
                                          </p:val>
                                        </p:tav>
                                      </p:tavLst>
                                    </p:anim>
                                    <p:anim calcmode="lin" valueType="num">
                                      <p:cBhvr additive="base">
                                        <p:cTn id="26" dur="500" fill="hold"/>
                                        <p:tgtEl>
                                          <p:spTgt spid="15"/>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0-#ppt_w/2"/>
                                          </p:val>
                                        </p:tav>
                                        <p:tav tm="100000">
                                          <p:val>
                                            <p:strVal val="#ppt_x"/>
                                          </p:val>
                                        </p:tav>
                                      </p:tavLst>
                                    </p:anim>
                                    <p:anim calcmode="lin" valueType="num">
                                      <p:cBhvr additive="base">
                                        <p:cTn id="38" dur="500" fill="hold"/>
                                        <p:tgtEl>
                                          <p:spTgt spid="2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5" grpId="0" animBg="1"/>
      <p:bldP spid="18" grpId="0" animBg="1"/>
      <p:bldP spid="20" grpId="0" animBg="1"/>
    </p:bldLst>
  </p:timing>
</p:sld>
</file>

<file path=ppt/slides/slide24.xml><?xml version="1.0" encoding="utf-8"?>
<p:sld xmlns:a="http://schemas.openxmlformats.org/drawingml/2006/main" xmlns:p="http://schemas.openxmlformats.org/presentationml/2006/main" xmlns:r="http://schemas.openxmlformats.org/officeDocument/2006/relationships">
  <p:cSld name="17 문제">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17</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2024년 7월 35번 — 무관한 문장 찾기</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클릭하면 정답이 노란 박스로 나타납니다</a:t>
            </a:r>
            <a:endParaRPr lang="en-US" altLang="ko-KR" sz="1100" dirty="0"/>
          </a:p>
        </p:txBody>
      </p:sp>
      <p:sp>
        <p:nvSpPr>
          <p:cNvPr id="7" name="Prompt"/>
          <p:cNvSpPr/>
          <p:nvPr/>
        </p:nvSpPr>
        <p:spPr>
          <a:xfrm>
            <a:off x="548640" y="1325880"/>
            <a:ext cx="11091672" cy="324000"/>
          </a:xfrm>
          <a:prstGeom prst="rect">
            <a:avLst/>
          </a:prstGeom>
          <a:noFill/>
          <a:ln>
            <a:noFill/>
          </a:ln>
        </p:spPr>
        <p:txBody>
          <a:bodyPr wrap="square" lIns="0" tIns="0" rIns="0" bIns="0" rtlCol="0" anchor="ctr"/>
          <a:lstStyle/>
          <a:p>
            <a:pPr marL="0" indent="0">
              <a:buNone/>
            </a:pPr>
            <a:r>
              <a:rPr lang="en-US" altLang="ko-KR" sz="1300" b="1" dirty="0">
                <a:solidFill>
                  <a:srgbClr val="1E2761"/>
                </a:solidFill>
                <a:latin typeface="맑은 고딕" pitchFamily="34" charset="0"/>
                <a:ea typeface="맑은 고딕" pitchFamily="34" charset="-122"/>
                <a:cs typeface="맑은 고딕" pitchFamily="34" charset="-120"/>
              </a:rPr>
              <a:t>다음 글에서 전체 흐름과 관계 </a:t>
            </a:r>
            <a:r>
              <a:rPr lang="en-US" altLang="ko-KR" sz="1300" b="1" u="sng" dirty="0">
                <a:solidFill>
                  <a:srgbClr val="1E2761"/>
                </a:solidFill>
                <a:latin typeface="맑은 고딕" pitchFamily="34" charset="0"/>
                <a:ea typeface="맑은 고딕" pitchFamily="34" charset="-122"/>
                <a:cs typeface="맑은 고딕" pitchFamily="34" charset="-120"/>
              </a:rPr>
              <a:t>없는</a:t>
            </a:r>
            <a:r>
              <a:rPr lang="en-US" altLang="ko-KR" sz="1300" b="1" dirty="0">
                <a:solidFill>
                  <a:srgbClr val="1E2761"/>
                </a:solidFill>
                <a:latin typeface="맑은 고딕" pitchFamily="34" charset="0"/>
                <a:ea typeface="맑은 고딕" pitchFamily="34" charset="-122"/>
                <a:cs typeface="맑은 고딕" pitchFamily="34" charset="-120"/>
              </a:rPr>
              <a:t> 문장은? [3점]</a:t>
            </a:r>
            <a:endParaRPr lang="en-US" altLang="ko-KR" sz="1300" dirty="0"/>
          </a:p>
        </p:txBody>
      </p:sp>
      <p:sp>
        <p:nvSpPr>
          <p:cNvPr id="8" name="Passage"/>
          <p:cNvSpPr/>
          <p:nvPr/>
        </p:nvSpPr>
        <p:spPr>
          <a:xfrm>
            <a:off x="548640" y="1787040"/>
            <a:ext cx="11091672" cy="2124475"/>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solidFill>
                <a:latin typeface="Calibri" pitchFamily="34" charset="0"/>
                <a:ea typeface="Calibri" pitchFamily="34" charset="-122"/>
                <a:cs typeface="Calibri" pitchFamily="34" charset="-120"/>
              </a:rPr>
              <a:t>In a context in which the cultural obligation to produce the self as a distinctive, authentic individual is difficult to fulfill, the burdensome work of individualizing the self is turned over increasingly to algorithms. ① The “personalization” that is promised on every front — in the domains of search, shopping, health, news, advertising, learning, music, and entertainment ― depends on ever more refined algorithmic constructions of individuality. ② As it becomes more difficult to produce our digital selves as unique individuals, we are increasingly being produced as unique individuals from the outside. </a:t>
            </a:r>
            <a:r>
              <a:rPr lang="en-US" altLang="ko-KR" sz="1400" dirty="0">
                <a:solidFill>
                  <a:srgbClr val="333333"/>
                </a:solidFill>
                <a:latin typeface="Calibri" pitchFamily="34" charset="0"/>
                <a:ea typeface="Calibri" pitchFamily="34" charset="-122"/>
                <a:cs typeface="Calibri" pitchFamily="34" charset="-120"/>
              </a:rPr>
              <a:t>③ When AI algorithms learn more about our identities, it becomes essential to safeguard this information and ensure that individuals have control and consent over the data collected about them.</a:t>
            </a:r>
            <a:r>
              <a:rPr lang="en-US" altLang="ko-KR" sz="1400" dirty="0">
                <a:solidFill>
                  <a:srgbClr val="333333"/>
                </a:solidFill>
                <a:latin typeface="Calibri" pitchFamily="34" charset="0"/>
                <a:ea typeface="Calibri" pitchFamily="34" charset="-122"/>
                <a:cs typeface="Calibri" pitchFamily="34" charset="-120"/>
              </a:rPr>
              <a:t> ④ Individuality is redefined from a cultural practice and reflexive project to an algorithmic process. ⑤ Our unique selfhood is no longer something for which we are wholly responsible; it is algorithmically guaranteed.</a:t>
            </a:r>
            <a:endParaRPr lang="en-US" altLang="ko-KR" sz="1400" dirty="0"/>
          </a:p>
        </p:txBody>
      </p:sp>
      <p:sp>
        <p:nvSpPr>
          <p:cNvPr id="9" name="AnsOverlay"/>
          <p:cNvSpPr/>
          <p:nvPr/>
        </p:nvSpPr>
        <p:spPr>
          <a:xfrm>
            <a:off x="548640" y="1787040"/>
            <a:ext cx="11091672" cy="2124475"/>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alpha val="0"/>
                  </a:srgbClr>
                </a:solidFill>
                <a:latin typeface="Calibri" pitchFamily="34" charset="0"/>
                <a:ea typeface="Calibri" pitchFamily="34" charset="-122"/>
                <a:cs typeface="Calibri" pitchFamily="34" charset="-120"/>
              </a:rPr>
              <a:t>In a context in which the cultural obligation to produce the self as a distinctive, authentic individual is difficult to fulfill, the burdensome work of individualizing the self is turned over increasingly to algorithms. ① The “personalization” that is promised on every front — in the domains of search, shopping, health, news, advertising, learning, music, and entertainment ― depends on ever more refined algorithmic constructions of individuality. ② As it becomes more difficult to produce our digital selves as unique individuals, we are increasingly being produced as unique individuals from the outside. </a:t>
            </a:r>
            <a:r>
              <a:rPr lang="en-US" altLang="ko-KR" sz="1400" dirty="0">
                <a:solidFill>
                  <a:srgbClr val="C00000"/>
                </a:solidFill>
                <a:latin typeface="Calibri" pitchFamily="34" charset="0"/>
                <a:ea typeface="Calibri" pitchFamily="34" charset="-122"/>
                <a:cs typeface="Calibri" pitchFamily="34" charset="-120"/>
              </a:rPr>
              <a:t>③ When AI algorithms learn more about our identities, it becomes essential to safeguard this information and ensure that individuals have control and consent over the data collected about them.</a:t>
            </a:r>
            <a:r>
              <a:rPr lang="en-US" altLang="ko-KR" sz="1400" dirty="0">
                <a:solidFill>
                  <a:srgbClr val="333333">
                    <a:alpha val="0"/>
                  </a:srgbClr>
                </a:solidFill>
                <a:latin typeface="Calibri" pitchFamily="34" charset="0"/>
                <a:ea typeface="Calibri" pitchFamily="34" charset="-122"/>
                <a:cs typeface="Calibri" pitchFamily="34" charset="-120"/>
              </a:rPr>
              <a:t> ④ Individuality is redefined from a cultural practice and reflexive project to an algorithmic process. ⑤ Our unique selfhood is no longer something for which we are wholly responsible; it is algorithmically guaranteed.</a:t>
            </a:r>
            <a:endParaRPr lang="en-US" altLang="ko-KR" sz="1400" dirty="0"/>
          </a:p>
        </p:txBody>
      </p:sp>
      <p:sp>
        <p:nvSpPr>
          <p:cNvPr id="10" name="AnsBg"/>
          <p:cNvSpPr/>
          <p:nvPr/>
        </p:nvSpPr>
        <p:spPr>
          <a:xfrm>
            <a:off x="548640" y="4033915"/>
            <a:ext cx="11091672" cy="457200"/>
          </a:xfrm>
          <a:prstGeom prst="rect">
            <a:avLst/>
          </a:prstGeom>
          <a:solidFill>
            <a:srgbClr val="FFF4CC"/>
          </a:solidFill>
          <a:ln>
            <a:noFill/>
          </a:ln>
        </p:spPr>
        <p:txBody>
          <a:bodyPr/>
          <a:lstStyle/>
          <a:p>
            <a:endParaRPr lang="ko-KR" altLang="en-US"/>
          </a:p>
        </p:txBody>
      </p:sp>
      <p:sp>
        <p:nvSpPr>
          <p:cNvPr id="11" name="reveal_17_en"/>
          <p:cNvSpPr/>
          <p:nvPr/>
        </p:nvSpPr>
        <p:spPr>
          <a:xfrm>
            <a:off x="732240" y="4033915"/>
            <a:ext cx="10724472" cy="457200"/>
          </a:xfrm>
          <a:prstGeom prst="rect">
            <a:avLst/>
          </a:prstGeom>
          <a:noFill/>
          <a:ln>
            <a:noFill/>
          </a:ln>
        </p:spPr>
        <p:txBody>
          <a:bodyPr wrap="square" lIns="0" tIns="0" rIns="0" bIns="0" rtlCol="0" anchor="ctr"/>
          <a:lstStyle/>
          <a:p>
            <a:pPr marL="0" indent="0">
              <a:buNone/>
            </a:pPr>
            <a:r>
              <a:rPr lang="en-US" altLang="ko-KR" sz="1500" b="1" dirty="0">
                <a:solidFill>
                  <a:srgbClr val="5A4200"/>
                </a:solidFill>
                <a:latin typeface="맑은 고딕" pitchFamily="34" charset="0"/>
                <a:ea typeface="맑은 고딕" pitchFamily="34" charset="-122"/>
                <a:cs typeface="맑은 고딕" pitchFamily="34" charset="-120"/>
              </a:rPr>
              <a:t>정답   ③</a:t>
            </a:r>
            <a:endParaRPr lang="en-US" altLang="ko-KR"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additive="base">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additive="base">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additive="base">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9" grpId="0" animBg="1"/>
    </p:bldLst>
  </p:timing>
</p:sld>
</file>

<file path=ppt/slides/slide25.xml><?xml version="1.0" encoding="utf-8"?>
<p:sld xmlns:a="http://schemas.openxmlformats.org/drawingml/2006/main" xmlns:p="http://schemas.openxmlformats.org/presentationml/2006/main" xmlns:r="http://schemas.openxmlformats.org/officeDocument/2006/relationships">
  <p:cSld name="18 구문 1">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18</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(1/2)</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1460758"/>
            <a:ext cx="426377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While the transportation infrastructure</a:t>
            </a:r>
            <a:endParaRPr lang="en-US" altLang="ko-KR" sz="1800" dirty="0"/>
          </a:p>
        </p:txBody>
      </p:sp>
      <p:sp>
        <p:nvSpPr>
          <p:cNvPr id="8" name="reveal_1_kr"/>
          <p:cNvSpPr/>
          <p:nvPr/>
        </p:nvSpPr>
        <p:spPr>
          <a:xfrm>
            <a:off x="548640" y="1794514"/>
            <a:ext cx="426377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교통 기반 시설은</a:t>
            </a:r>
            <a:endParaRPr lang="en-US" altLang="ko-KR" sz="1450" dirty="0"/>
          </a:p>
        </p:txBody>
      </p:sp>
      <p:sp>
        <p:nvSpPr>
          <p:cNvPr id="9" name="Sep"/>
          <p:cNvSpPr/>
          <p:nvPr/>
        </p:nvSpPr>
        <p:spPr>
          <a:xfrm>
            <a:off x="4766690" y="146075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4994483" y="1460758"/>
            <a:ext cx="445188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may shape where we travel today,</a:t>
            </a:r>
            <a:endParaRPr lang="en-US" altLang="ko-KR" sz="1800" dirty="0"/>
          </a:p>
        </p:txBody>
      </p:sp>
      <p:sp>
        <p:nvSpPr>
          <p:cNvPr id="11" name="reveal_2_kr"/>
          <p:cNvSpPr/>
          <p:nvPr/>
        </p:nvSpPr>
        <p:spPr>
          <a:xfrm>
            <a:off x="4994483" y="1794514"/>
            <a:ext cx="445188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오늘날 우리가 어디로 여행하는지를 형성할 수 있지만</a:t>
            </a:r>
            <a:endParaRPr lang="en-US" altLang="ko-KR" sz="1450" dirty="0"/>
          </a:p>
        </p:txBody>
      </p:sp>
      <p:sp>
        <p:nvSpPr>
          <p:cNvPr id="12" name="En"/>
          <p:cNvSpPr/>
          <p:nvPr/>
        </p:nvSpPr>
        <p:spPr>
          <a:xfrm>
            <a:off x="548640" y="2156337"/>
            <a:ext cx="278261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 the early eras of travel,</a:t>
            </a:r>
            <a:endParaRPr lang="en-US" altLang="ko-KR" sz="1800" dirty="0"/>
          </a:p>
        </p:txBody>
      </p:sp>
      <p:sp>
        <p:nvSpPr>
          <p:cNvPr id="13" name="reveal_3_kr"/>
          <p:cNvSpPr/>
          <p:nvPr/>
        </p:nvSpPr>
        <p:spPr>
          <a:xfrm>
            <a:off x="548640" y="2490093"/>
            <a:ext cx="278261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여행의 초기 시대에는</a:t>
            </a:r>
            <a:endParaRPr lang="en-US" altLang="ko-KR" sz="1450" dirty="0"/>
          </a:p>
        </p:txBody>
      </p:sp>
      <p:sp>
        <p:nvSpPr>
          <p:cNvPr id="14" name="Sep"/>
          <p:cNvSpPr/>
          <p:nvPr/>
        </p:nvSpPr>
        <p:spPr>
          <a:xfrm>
            <a:off x="3285537" y="215633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5" name="En"/>
          <p:cNvSpPr/>
          <p:nvPr/>
        </p:nvSpPr>
        <p:spPr>
          <a:xfrm>
            <a:off x="3513330" y="2156337"/>
            <a:ext cx="529618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it determined whether people could travel at all.</a:t>
            </a:r>
            <a:endParaRPr lang="en-US" altLang="ko-KR" sz="1800" dirty="0"/>
          </a:p>
        </p:txBody>
      </p:sp>
      <p:sp>
        <p:nvSpPr>
          <p:cNvPr id="16" name="reveal_4_kr"/>
          <p:cNvSpPr/>
          <p:nvPr/>
        </p:nvSpPr>
        <p:spPr>
          <a:xfrm>
            <a:off x="3513330" y="2490093"/>
            <a:ext cx="529618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그것은 사람들이 애초에 여행할 수 있는지 여부를 결정했다</a:t>
            </a:r>
            <a:endParaRPr lang="en-US" altLang="ko-KR" sz="1450" dirty="0"/>
          </a:p>
        </p:txBody>
      </p:sp>
      <p:sp>
        <p:nvSpPr>
          <p:cNvPr id="17" name="En"/>
          <p:cNvSpPr/>
          <p:nvPr/>
        </p:nvSpPr>
        <p:spPr>
          <a:xfrm>
            <a:off x="548640" y="2934212"/>
            <a:ext cx="625819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① The development and improvement of transportation</a:t>
            </a:r>
            <a:endParaRPr lang="en-US" altLang="ko-KR" sz="1800" dirty="0"/>
          </a:p>
        </p:txBody>
      </p:sp>
      <p:sp>
        <p:nvSpPr>
          <p:cNvPr id="18" name="reveal_5_kr"/>
          <p:cNvSpPr/>
          <p:nvPr/>
        </p:nvSpPr>
        <p:spPr>
          <a:xfrm>
            <a:off x="548640" y="3267968"/>
            <a:ext cx="625819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교통의 발전과 개선은</a:t>
            </a:r>
            <a:endParaRPr lang="en-US" altLang="ko-KR" sz="1450" dirty="0"/>
          </a:p>
        </p:txBody>
      </p:sp>
      <p:sp>
        <p:nvSpPr>
          <p:cNvPr id="19" name="Sep"/>
          <p:cNvSpPr/>
          <p:nvPr/>
        </p:nvSpPr>
        <p:spPr>
          <a:xfrm>
            <a:off x="6761116" y="2934212"/>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0" name="En"/>
          <p:cNvSpPr/>
          <p:nvPr/>
        </p:nvSpPr>
        <p:spPr>
          <a:xfrm>
            <a:off x="6988909" y="2934212"/>
            <a:ext cx="418248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was one of the most important factors</a:t>
            </a:r>
            <a:endParaRPr lang="en-US" altLang="ko-KR" sz="1800" dirty="0"/>
          </a:p>
        </p:txBody>
      </p:sp>
      <p:sp>
        <p:nvSpPr>
          <p:cNvPr id="21" name="reveal_6_kr"/>
          <p:cNvSpPr/>
          <p:nvPr/>
        </p:nvSpPr>
        <p:spPr>
          <a:xfrm>
            <a:off x="6988909" y="3267968"/>
            <a:ext cx="418248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가장 중요한 요인 중 하나였다</a:t>
            </a:r>
            <a:endParaRPr lang="en-US" altLang="ko-KR" sz="1450" dirty="0"/>
          </a:p>
        </p:txBody>
      </p:sp>
      <p:sp>
        <p:nvSpPr>
          <p:cNvPr id="22" name="En"/>
          <p:cNvSpPr/>
          <p:nvPr/>
        </p:nvSpPr>
        <p:spPr>
          <a:xfrm>
            <a:off x="548640" y="3629791"/>
            <a:ext cx="597155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 allowing modern tourism to develop on a large scale</a:t>
            </a:r>
            <a:endParaRPr lang="en-US" altLang="ko-KR" sz="1800" dirty="0"/>
          </a:p>
        </p:txBody>
      </p:sp>
      <p:sp>
        <p:nvSpPr>
          <p:cNvPr id="23" name="reveal_7_kr"/>
          <p:cNvSpPr/>
          <p:nvPr/>
        </p:nvSpPr>
        <p:spPr>
          <a:xfrm>
            <a:off x="548640" y="3963547"/>
            <a:ext cx="597155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현대 관광이 대규모로 발전하도록 허용하는 데 있어</a:t>
            </a:r>
            <a:endParaRPr lang="en-US" altLang="ko-KR" sz="1450" dirty="0"/>
          </a:p>
        </p:txBody>
      </p:sp>
      <p:sp>
        <p:nvSpPr>
          <p:cNvPr id="24" name="Sep"/>
          <p:cNvSpPr/>
          <p:nvPr/>
        </p:nvSpPr>
        <p:spPr>
          <a:xfrm>
            <a:off x="6474470" y="3629791"/>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5" name="En"/>
          <p:cNvSpPr/>
          <p:nvPr/>
        </p:nvSpPr>
        <p:spPr>
          <a:xfrm>
            <a:off x="6702263" y="3629791"/>
            <a:ext cx="413647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become a regular part of the lives</a:t>
            </a:r>
            <a:endParaRPr lang="en-US" altLang="ko-KR" sz="1800" dirty="0"/>
          </a:p>
        </p:txBody>
      </p:sp>
      <p:sp>
        <p:nvSpPr>
          <p:cNvPr id="26" name="reveal_8_kr"/>
          <p:cNvSpPr/>
          <p:nvPr/>
        </p:nvSpPr>
        <p:spPr>
          <a:xfrm>
            <a:off x="6702263" y="3963547"/>
            <a:ext cx="413647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그리고 삶의 일상적인 부분이 되도록 하는 데 있어</a:t>
            </a:r>
            <a:endParaRPr lang="en-US" altLang="ko-KR" sz="1450" dirty="0"/>
          </a:p>
        </p:txBody>
      </p:sp>
      <p:sp>
        <p:nvSpPr>
          <p:cNvPr id="27" name="En"/>
          <p:cNvSpPr/>
          <p:nvPr/>
        </p:nvSpPr>
        <p:spPr>
          <a:xfrm>
            <a:off x="548640" y="4325370"/>
            <a:ext cx="419829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of billions of people around the world.</a:t>
            </a:r>
            <a:endParaRPr lang="en-US" altLang="ko-KR" sz="1800" dirty="0"/>
          </a:p>
        </p:txBody>
      </p:sp>
      <p:sp>
        <p:nvSpPr>
          <p:cNvPr id="28" name="reveal_9_kr"/>
          <p:cNvSpPr/>
          <p:nvPr/>
        </p:nvSpPr>
        <p:spPr>
          <a:xfrm>
            <a:off x="548640" y="4659126"/>
            <a:ext cx="419829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전 세계 수십억 명의 사람들의</a:t>
            </a:r>
            <a:endParaRPr lang="en-US" altLang="ko-KR" sz="1450" dirty="0"/>
          </a:p>
        </p:txBody>
      </p:sp>
      <p:sp>
        <p:nvSpPr>
          <p:cNvPr id="29" name="En"/>
          <p:cNvSpPr/>
          <p:nvPr/>
        </p:nvSpPr>
        <p:spPr>
          <a:xfrm>
            <a:off x="548640" y="5103245"/>
            <a:ext cx="5904755"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② Another important factor was the industrialization</a:t>
            </a:r>
            <a:endParaRPr lang="en-US" altLang="ko-KR" sz="1800" dirty="0"/>
          </a:p>
        </p:txBody>
      </p:sp>
      <p:sp>
        <p:nvSpPr>
          <p:cNvPr id="30" name="reveal_10_kr"/>
          <p:cNvSpPr/>
          <p:nvPr/>
        </p:nvSpPr>
        <p:spPr>
          <a:xfrm>
            <a:off x="548640" y="5437001"/>
            <a:ext cx="5904755"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또 다른 중요한 요인은 산업화였다</a:t>
            </a:r>
            <a:endParaRPr lang="en-US" altLang="ko-KR" sz="1450" dirty="0"/>
          </a:p>
        </p:txBody>
      </p:sp>
      <p:sp>
        <p:nvSpPr>
          <p:cNvPr id="31" name="Sep"/>
          <p:cNvSpPr/>
          <p:nvPr/>
        </p:nvSpPr>
        <p:spPr>
          <a:xfrm>
            <a:off x="6407675" y="510324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2" name="En"/>
          <p:cNvSpPr/>
          <p:nvPr/>
        </p:nvSpPr>
        <p:spPr>
          <a:xfrm>
            <a:off x="6635468" y="5103245"/>
            <a:ext cx="4363996"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that led to more efficient transportation</a:t>
            </a:r>
            <a:endParaRPr lang="en-US" altLang="ko-KR" sz="1800" dirty="0"/>
          </a:p>
        </p:txBody>
      </p:sp>
      <p:sp>
        <p:nvSpPr>
          <p:cNvPr id="33" name="reveal_11_kr"/>
          <p:cNvSpPr/>
          <p:nvPr/>
        </p:nvSpPr>
        <p:spPr>
          <a:xfrm>
            <a:off x="6635468" y="5437001"/>
            <a:ext cx="4363996"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더 효율적인 운송으로 이어진</a:t>
            </a:r>
            <a:endParaRPr lang="en-US" altLang="ko-KR" sz="1450" dirty="0"/>
          </a:p>
        </p:txBody>
      </p:sp>
      <p:sp>
        <p:nvSpPr>
          <p:cNvPr id="34" name="En"/>
          <p:cNvSpPr/>
          <p:nvPr/>
        </p:nvSpPr>
        <p:spPr>
          <a:xfrm>
            <a:off x="548640" y="5798824"/>
            <a:ext cx="2071947"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of factory products</a:t>
            </a:r>
            <a:endParaRPr lang="en-US" altLang="ko-KR" sz="1800" dirty="0"/>
          </a:p>
        </p:txBody>
      </p:sp>
      <p:sp>
        <p:nvSpPr>
          <p:cNvPr id="35" name="reveal_12_kr"/>
          <p:cNvSpPr/>
          <p:nvPr/>
        </p:nvSpPr>
        <p:spPr>
          <a:xfrm>
            <a:off x="548640" y="6132580"/>
            <a:ext cx="2071947"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공장 제품의</a:t>
            </a:r>
            <a:endParaRPr lang="en-US" altLang="ko-KR" sz="1450" dirty="0"/>
          </a:p>
        </p:txBody>
      </p:sp>
      <p:sp>
        <p:nvSpPr>
          <p:cNvPr id="36" name="Sep"/>
          <p:cNvSpPr/>
          <p:nvPr/>
        </p:nvSpPr>
        <p:spPr>
          <a:xfrm>
            <a:off x="2574867" y="579882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7" name="En"/>
          <p:cNvSpPr/>
          <p:nvPr/>
        </p:nvSpPr>
        <p:spPr>
          <a:xfrm>
            <a:off x="2802660" y="5798824"/>
            <a:ext cx="3412960"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to consumers than ever before.</a:t>
            </a:r>
            <a:endParaRPr lang="en-US" altLang="ko-KR" sz="1800" dirty="0"/>
          </a:p>
        </p:txBody>
      </p:sp>
      <p:sp>
        <p:nvSpPr>
          <p:cNvPr id="38" name="reveal_13_kr"/>
          <p:cNvSpPr/>
          <p:nvPr/>
        </p:nvSpPr>
        <p:spPr>
          <a:xfrm>
            <a:off x="2802660" y="6132580"/>
            <a:ext cx="3412960"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그 어느 때보다 소비자에게</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0-#ppt_w/2"/>
                                          </p:val>
                                        </p:tav>
                                        <p:tav tm="100000">
                                          <p:val>
                                            <p:strVal val="#ppt_x"/>
                                          </p:val>
                                        </p:tav>
                                      </p:tavLst>
                                    </p:anim>
                                    <p:anim calcmode="lin" valueType="num">
                                      <p:cBhvr additive="base">
                                        <p:cTn id="56"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0"/>
                                        </p:tgtEl>
                                        <p:attrNameLst>
                                          <p:attrName>style.visibility</p:attrName>
                                        </p:attrNameLst>
                                      </p:cBhvr>
                                      <p:to>
                                        <p:strVal val="visible"/>
                                      </p:to>
                                    </p:set>
                                    <p:anim calcmode="lin" valueType="num">
                                      <p:cBhvr additive="base">
                                        <p:cTn id="61" dur="500" fill="hold"/>
                                        <p:tgtEl>
                                          <p:spTgt spid="30"/>
                                        </p:tgtEl>
                                        <p:attrNameLst>
                                          <p:attrName>ppt_x</p:attrName>
                                        </p:attrNameLst>
                                      </p:cBhvr>
                                      <p:tavLst>
                                        <p:tav tm="0">
                                          <p:val>
                                            <p:strVal val="0-#ppt_w/2"/>
                                          </p:val>
                                        </p:tav>
                                        <p:tav tm="100000">
                                          <p:val>
                                            <p:strVal val="#ppt_x"/>
                                          </p:val>
                                        </p:tav>
                                      </p:tavLst>
                                    </p:anim>
                                    <p:anim calcmode="lin" valueType="num">
                                      <p:cBhvr additive="base">
                                        <p:cTn id="62"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additive="base">
                                        <p:cTn id="66" dur="1" fill="hold">
                                          <p:stCondLst>
                                            <p:cond delay="0"/>
                                          </p:stCondLst>
                                        </p:cTn>
                                        <p:tgtEl>
                                          <p:spTgt spid="33"/>
                                        </p:tgtEl>
                                        <p:attrNameLst>
                                          <p:attrName>style.visibility</p:attrName>
                                        </p:attrNameLst>
                                      </p:cBhvr>
                                      <p:to>
                                        <p:strVal val="visible"/>
                                      </p:to>
                                    </p:set>
                                    <p:anim calcmode="lin" valueType="num">
                                      <p:cBhvr additive="base">
                                        <p:cTn id="67" dur="500" fill="hold"/>
                                        <p:tgtEl>
                                          <p:spTgt spid="33"/>
                                        </p:tgtEl>
                                        <p:attrNameLst>
                                          <p:attrName>ppt_x</p:attrName>
                                        </p:attrNameLst>
                                      </p:cBhvr>
                                      <p:tavLst>
                                        <p:tav tm="0">
                                          <p:val>
                                            <p:strVal val="0-#ppt_w/2"/>
                                          </p:val>
                                        </p:tav>
                                        <p:tav tm="100000">
                                          <p:val>
                                            <p:strVal val="#ppt_x"/>
                                          </p:val>
                                        </p:tav>
                                      </p:tavLst>
                                    </p:anim>
                                    <p:anim calcmode="lin" valueType="num">
                                      <p:cBhvr additive="base">
                                        <p:cTn id="68"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additive="base">
                                        <p:cTn id="72" dur="1" fill="hold">
                                          <p:stCondLst>
                                            <p:cond delay="0"/>
                                          </p:stCondLst>
                                        </p:cTn>
                                        <p:tgtEl>
                                          <p:spTgt spid="35"/>
                                        </p:tgtEl>
                                        <p:attrNameLst>
                                          <p:attrName>style.visibility</p:attrName>
                                        </p:attrNameLst>
                                      </p:cBhvr>
                                      <p:to>
                                        <p:strVal val="visible"/>
                                      </p:to>
                                    </p:set>
                                    <p:anim calcmode="lin" valueType="num">
                                      <p:cBhvr additive="base">
                                        <p:cTn id="73" dur="500" fill="hold"/>
                                        <p:tgtEl>
                                          <p:spTgt spid="35"/>
                                        </p:tgtEl>
                                        <p:attrNameLst>
                                          <p:attrName>ppt_x</p:attrName>
                                        </p:attrNameLst>
                                      </p:cBhvr>
                                      <p:tavLst>
                                        <p:tav tm="0">
                                          <p:val>
                                            <p:strVal val="0-#ppt_w/2"/>
                                          </p:val>
                                        </p:tav>
                                        <p:tav tm="100000">
                                          <p:val>
                                            <p:strVal val="#ppt_x"/>
                                          </p:val>
                                        </p:tav>
                                      </p:tavLst>
                                    </p:anim>
                                    <p:anim calcmode="lin" valueType="num">
                                      <p:cBhvr additive="base">
                                        <p:cTn id="74"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additive="base">
                                        <p:cTn id="78" dur="1" fill="hold">
                                          <p:stCondLst>
                                            <p:cond delay="0"/>
                                          </p:stCondLst>
                                        </p:cTn>
                                        <p:tgtEl>
                                          <p:spTgt spid="38"/>
                                        </p:tgtEl>
                                        <p:attrNameLst>
                                          <p:attrName>style.visibility</p:attrName>
                                        </p:attrNameLst>
                                      </p:cBhvr>
                                      <p:to>
                                        <p:strVal val="visible"/>
                                      </p:to>
                                    </p:set>
                                    <p:anim calcmode="lin" valueType="num">
                                      <p:cBhvr additive="base">
                                        <p:cTn id="79" dur="500" fill="hold"/>
                                        <p:tgtEl>
                                          <p:spTgt spid="38"/>
                                        </p:tgtEl>
                                        <p:attrNameLst>
                                          <p:attrName>ppt_x</p:attrName>
                                        </p:attrNameLst>
                                      </p:cBhvr>
                                      <p:tavLst>
                                        <p:tav tm="0">
                                          <p:val>
                                            <p:strVal val="0-#ppt_w/2"/>
                                          </p:val>
                                        </p:tav>
                                        <p:tav tm="100000">
                                          <p:val>
                                            <p:strVal val="#ppt_x"/>
                                          </p:val>
                                        </p:tav>
                                      </p:tavLst>
                                    </p:anim>
                                    <p:anim calcmode="lin" valueType="num">
                                      <p:cBhvr additive="base">
                                        <p:cTn id="80" dur="500" fill="hold"/>
                                        <p:tgtEl>
                                          <p:spTgt spid="38"/>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6" grpId="0" animBg="1"/>
      <p:bldP spid="18" grpId="0" animBg="1"/>
      <p:bldP spid="21" grpId="0" animBg="1"/>
      <p:bldP spid="23" grpId="0" animBg="1"/>
      <p:bldP spid="26" grpId="0" animBg="1"/>
      <p:bldP spid="28" grpId="0" animBg="1"/>
      <p:bldP spid="30" grpId="0" animBg="1"/>
      <p:bldP spid="33" grpId="0" animBg="1"/>
      <p:bldP spid="35" grpId="0" animBg="1"/>
      <p:bldP spid="38" grpId="0" animBg="1"/>
    </p:bldLst>
  </p:timing>
</p:sld>
</file>

<file path=ppt/slides/slide26.xml><?xml version="1.0" encoding="utf-8"?>
<p:sld xmlns:a="http://schemas.openxmlformats.org/drawingml/2006/main" xmlns:p="http://schemas.openxmlformats.org/presentationml/2006/main" xmlns:r="http://schemas.openxmlformats.org/officeDocument/2006/relationships">
  <p:cSld name="18 구문 2">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18</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(2/2)</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1808547"/>
            <a:ext cx="501195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③ Technological advances provided the basis</a:t>
            </a:r>
            <a:endParaRPr lang="en-US" altLang="ko-KR" sz="1800" dirty="0"/>
          </a:p>
        </p:txBody>
      </p:sp>
      <p:sp>
        <p:nvSpPr>
          <p:cNvPr id="8" name="reveal_14_kr"/>
          <p:cNvSpPr/>
          <p:nvPr/>
        </p:nvSpPr>
        <p:spPr>
          <a:xfrm>
            <a:off x="548640" y="2142303"/>
            <a:ext cx="501195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기술의 발전은 기반을 제공했다</a:t>
            </a:r>
            <a:endParaRPr lang="en-US" altLang="ko-KR" sz="1450" dirty="0"/>
          </a:p>
        </p:txBody>
      </p:sp>
      <p:sp>
        <p:nvSpPr>
          <p:cNvPr id="9" name="Sep"/>
          <p:cNvSpPr/>
          <p:nvPr/>
        </p:nvSpPr>
        <p:spPr>
          <a:xfrm>
            <a:off x="5514876" y="180854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5742669" y="1808547"/>
            <a:ext cx="298930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for the explosive expansion</a:t>
            </a:r>
            <a:endParaRPr lang="en-US" altLang="ko-KR" sz="1800" dirty="0"/>
          </a:p>
        </p:txBody>
      </p:sp>
      <p:sp>
        <p:nvSpPr>
          <p:cNvPr id="11" name="reveal_15_kr"/>
          <p:cNvSpPr/>
          <p:nvPr/>
        </p:nvSpPr>
        <p:spPr>
          <a:xfrm>
            <a:off x="5742669" y="2142303"/>
            <a:ext cx="298930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폭발적인 확장을 위한</a:t>
            </a:r>
            <a:endParaRPr lang="en-US" altLang="ko-KR" sz="1450" dirty="0"/>
          </a:p>
        </p:txBody>
      </p:sp>
      <p:sp>
        <p:nvSpPr>
          <p:cNvPr id="12" name="En"/>
          <p:cNvSpPr/>
          <p:nvPr/>
        </p:nvSpPr>
        <p:spPr>
          <a:xfrm>
            <a:off x="548640" y="2504126"/>
            <a:ext cx="579469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of local, regional, and global transportation networks</a:t>
            </a:r>
            <a:endParaRPr lang="en-US" altLang="ko-KR" sz="1800" dirty="0"/>
          </a:p>
        </p:txBody>
      </p:sp>
      <p:sp>
        <p:nvSpPr>
          <p:cNvPr id="13" name="reveal_16_kr"/>
          <p:cNvSpPr/>
          <p:nvPr/>
        </p:nvSpPr>
        <p:spPr>
          <a:xfrm>
            <a:off x="548640" y="2837882"/>
            <a:ext cx="579469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지역, 광역, 그리고 세계 교통망의</a:t>
            </a:r>
            <a:endParaRPr lang="en-US" altLang="ko-KR" sz="1450" dirty="0"/>
          </a:p>
        </p:txBody>
      </p:sp>
      <p:sp>
        <p:nvSpPr>
          <p:cNvPr id="14" name="Sep"/>
          <p:cNvSpPr/>
          <p:nvPr/>
        </p:nvSpPr>
        <p:spPr>
          <a:xfrm>
            <a:off x="6297613" y="2504126"/>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5" name="En"/>
          <p:cNvSpPr/>
          <p:nvPr/>
        </p:nvSpPr>
        <p:spPr>
          <a:xfrm>
            <a:off x="6525406" y="2504126"/>
            <a:ext cx="472709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made travel faster, easier, and cheaper.</a:t>
            </a:r>
            <a:endParaRPr lang="en-US" altLang="ko-KR" sz="1800" dirty="0"/>
          </a:p>
        </p:txBody>
      </p:sp>
      <p:sp>
        <p:nvSpPr>
          <p:cNvPr id="16" name="reveal_17_kr"/>
          <p:cNvSpPr/>
          <p:nvPr/>
        </p:nvSpPr>
        <p:spPr>
          <a:xfrm>
            <a:off x="6525406" y="2837882"/>
            <a:ext cx="472709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그리고 여행을 더 빠르고 쉽고 저렴하게 만들었다</a:t>
            </a:r>
            <a:endParaRPr lang="en-US" altLang="ko-KR" sz="1450" dirty="0"/>
          </a:p>
        </p:txBody>
      </p:sp>
      <p:sp>
        <p:nvSpPr>
          <p:cNvPr id="17" name="En"/>
          <p:cNvSpPr/>
          <p:nvPr/>
        </p:nvSpPr>
        <p:spPr>
          <a:xfrm>
            <a:off x="548640" y="3282001"/>
            <a:ext cx="269407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④ This not only created</a:t>
            </a:r>
            <a:endParaRPr lang="en-US" altLang="ko-KR" sz="1800" dirty="0"/>
          </a:p>
        </p:txBody>
      </p:sp>
      <p:sp>
        <p:nvSpPr>
          <p:cNvPr id="18" name="reveal_18_kr"/>
          <p:cNvSpPr/>
          <p:nvPr/>
        </p:nvSpPr>
        <p:spPr>
          <a:xfrm>
            <a:off x="548640" y="3615757"/>
            <a:ext cx="269407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이것은 만들어 냈을 뿐만 아니라</a:t>
            </a:r>
            <a:endParaRPr lang="en-US" altLang="ko-KR" sz="1450" dirty="0"/>
          </a:p>
        </p:txBody>
      </p:sp>
      <p:sp>
        <p:nvSpPr>
          <p:cNvPr id="19" name="Sep"/>
          <p:cNvSpPr/>
          <p:nvPr/>
        </p:nvSpPr>
        <p:spPr>
          <a:xfrm>
            <a:off x="3196994" y="3282001"/>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0" name="En"/>
          <p:cNvSpPr/>
          <p:nvPr/>
        </p:nvSpPr>
        <p:spPr>
          <a:xfrm>
            <a:off x="3424787" y="3282001"/>
            <a:ext cx="565590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new tourist-generating and tourist-receiving regions</a:t>
            </a:r>
            <a:endParaRPr lang="en-US" altLang="ko-KR" sz="1800" dirty="0"/>
          </a:p>
        </p:txBody>
      </p:sp>
      <p:sp>
        <p:nvSpPr>
          <p:cNvPr id="21" name="reveal_19_kr"/>
          <p:cNvSpPr/>
          <p:nvPr/>
        </p:nvSpPr>
        <p:spPr>
          <a:xfrm>
            <a:off x="3424787" y="3615757"/>
            <a:ext cx="565590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새로운 관광객 발생 지역과 수용 지역을</a:t>
            </a:r>
            <a:endParaRPr lang="en-US" altLang="ko-KR" sz="1450" dirty="0"/>
          </a:p>
        </p:txBody>
      </p:sp>
      <p:sp>
        <p:nvSpPr>
          <p:cNvPr id="22" name="En"/>
          <p:cNvSpPr/>
          <p:nvPr/>
        </p:nvSpPr>
        <p:spPr>
          <a:xfrm>
            <a:off x="548640" y="3977580"/>
            <a:ext cx="462775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but also prompted a host of other changes</a:t>
            </a:r>
            <a:endParaRPr lang="en-US" altLang="ko-KR" sz="1800" dirty="0"/>
          </a:p>
        </p:txBody>
      </p:sp>
      <p:sp>
        <p:nvSpPr>
          <p:cNvPr id="23" name="reveal_20_kr"/>
          <p:cNvSpPr/>
          <p:nvPr/>
        </p:nvSpPr>
        <p:spPr>
          <a:xfrm>
            <a:off x="548640" y="4311336"/>
            <a:ext cx="462775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또한 다른 많은 변화를 촉발했다</a:t>
            </a:r>
            <a:endParaRPr lang="en-US" altLang="ko-KR" sz="1450" dirty="0"/>
          </a:p>
        </p:txBody>
      </p:sp>
      <p:sp>
        <p:nvSpPr>
          <p:cNvPr id="24" name="Sep"/>
          <p:cNvSpPr/>
          <p:nvPr/>
        </p:nvSpPr>
        <p:spPr>
          <a:xfrm>
            <a:off x="5130673" y="3977580"/>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5" name="En"/>
          <p:cNvSpPr/>
          <p:nvPr/>
        </p:nvSpPr>
        <p:spPr>
          <a:xfrm>
            <a:off x="5358466" y="3977580"/>
            <a:ext cx="601018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 the tourism infrastructure, such as accommodations.</a:t>
            </a:r>
            <a:endParaRPr lang="en-US" altLang="ko-KR" sz="1800" dirty="0"/>
          </a:p>
        </p:txBody>
      </p:sp>
      <p:sp>
        <p:nvSpPr>
          <p:cNvPr id="26" name="reveal_21_kr"/>
          <p:cNvSpPr/>
          <p:nvPr/>
        </p:nvSpPr>
        <p:spPr>
          <a:xfrm>
            <a:off x="5358466" y="4311336"/>
            <a:ext cx="601018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숙박 시설과 같은 관광 기반 시설에서</a:t>
            </a:r>
            <a:endParaRPr lang="en-US" altLang="ko-KR" sz="1450" dirty="0"/>
          </a:p>
        </p:txBody>
      </p:sp>
      <p:sp>
        <p:nvSpPr>
          <p:cNvPr id="27" name="En"/>
          <p:cNvSpPr/>
          <p:nvPr/>
        </p:nvSpPr>
        <p:spPr>
          <a:xfrm>
            <a:off x="548640" y="4755455"/>
            <a:ext cx="161366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⑤ As a result,</a:t>
            </a:r>
            <a:endParaRPr lang="en-US" altLang="ko-KR" sz="1800" dirty="0"/>
          </a:p>
        </p:txBody>
      </p:sp>
      <p:sp>
        <p:nvSpPr>
          <p:cNvPr id="28" name="reveal_22_kr"/>
          <p:cNvSpPr/>
          <p:nvPr/>
        </p:nvSpPr>
        <p:spPr>
          <a:xfrm>
            <a:off x="548640" y="5089211"/>
            <a:ext cx="161366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 결과</a:t>
            </a:r>
            <a:endParaRPr lang="en-US" altLang="ko-KR" sz="1450" dirty="0"/>
          </a:p>
        </p:txBody>
      </p:sp>
      <p:sp>
        <p:nvSpPr>
          <p:cNvPr id="29" name="Sep"/>
          <p:cNvSpPr/>
          <p:nvPr/>
        </p:nvSpPr>
        <p:spPr>
          <a:xfrm>
            <a:off x="2116589" y="475545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0" name="En"/>
          <p:cNvSpPr/>
          <p:nvPr/>
        </p:nvSpPr>
        <p:spPr>
          <a:xfrm>
            <a:off x="2344382" y="4755455"/>
            <a:ext cx="649253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 availability of transportation infrastructure and services</a:t>
            </a:r>
            <a:endParaRPr lang="en-US" altLang="ko-KR" sz="1800" dirty="0"/>
          </a:p>
        </p:txBody>
      </p:sp>
      <p:sp>
        <p:nvSpPr>
          <p:cNvPr id="31" name="reveal_23_kr"/>
          <p:cNvSpPr/>
          <p:nvPr/>
        </p:nvSpPr>
        <p:spPr>
          <a:xfrm>
            <a:off x="2344382" y="5089211"/>
            <a:ext cx="649253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교통 기반 시설과 서비스의 이용 가능성은</a:t>
            </a:r>
            <a:endParaRPr lang="en-US" altLang="ko-KR" sz="1450" dirty="0"/>
          </a:p>
        </p:txBody>
      </p:sp>
      <p:sp>
        <p:nvSpPr>
          <p:cNvPr id="32" name="En"/>
          <p:cNvSpPr/>
          <p:nvPr/>
        </p:nvSpPr>
        <p:spPr>
          <a:xfrm>
            <a:off x="548640" y="5451034"/>
            <a:ext cx="534828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has been considered a fundamental precondition</a:t>
            </a:r>
            <a:endParaRPr lang="en-US" altLang="ko-KR" sz="1800" dirty="0"/>
          </a:p>
        </p:txBody>
      </p:sp>
      <p:sp>
        <p:nvSpPr>
          <p:cNvPr id="33" name="reveal_24_kr"/>
          <p:cNvSpPr/>
          <p:nvPr/>
        </p:nvSpPr>
        <p:spPr>
          <a:xfrm>
            <a:off x="548640" y="5784790"/>
            <a:ext cx="534828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근본적인 전제 조건으로 여겨져 왔다</a:t>
            </a:r>
            <a:endParaRPr lang="en-US" altLang="ko-KR" sz="1450" dirty="0"/>
          </a:p>
        </p:txBody>
      </p:sp>
      <p:sp>
        <p:nvSpPr>
          <p:cNvPr id="34" name="Sep"/>
          <p:cNvSpPr/>
          <p:nvPr/>
        </p:nvSpPr>
        <p:spPr>
          <a:xfrm>
            <a:off x="5851202" y="545103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5" name="En"/>
          <p:cNvSpPr/>
          <p:nvPr/>
        </p:nvSpPr>
        <p:spPr>
          <a:xfrm>
            <a:off x="6078995" y="5451034"/>
            <a:ext cx="129135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for tourism.</a:t>
            </a:r>
            <a:endParaRPr lang="en-US" altLang="ko-KR" sz="1800" dirty="0"/>
          </a:p>
        </p:txBody>
      </p:sp>
      <p:sp>
        <p:nvSpPr>
          <p:cNvPr id="36" name="reveal_25_kr"/>
          <p:cNvSpPr/>
          <p:nvPr/>
        </p:nvSpPr>
        <p:spPr>
          <a:xfrm>
            <a:off x="6078995" y="5784790"/>
            <a:ext cx="129135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관광을 위한</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0-#ppt_w/2"/>
                                          </p:val>
                                        </p:tav>
                                        <p:tav tm="100000">
                                          <p:val>
                                            <p:strVal val="#ppt_x"/>
                                          </p:val>
                                        </p:tav>
                                      </p:tavLst>
                                    </p:anim>
                                    <p:anim calcmode="lin" valueType="num">
                                      <p:cBhvr additive="base">
                                        <p:cTn id="56"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1"/>
                                        </p:tgtEl>
                                        <p:attrNameLst>
                                          <p:attrName>style.visibility</p:attrName>
                                        </p:attrNameLst>
                                      </p:cBhvr>
                                      <p:to>
                                        <p:strVal val="visible"/>
                                      </p:to>
                                    </p:set>
                                    <p:anim calcmode="lin" valueType="num">
                                      <p:cBhvr additive="base">
                                        <p:cTn id="61" dur="500" fill="hold"/>
                                        <p:tgtEl>
                                          <p:spTgt spid="31"/>
                                        </p:tgtEl>
                                        <p:attrNameLst>
                                          <p:attrName>ppt_x</p:attrName>
                                        </p:attrNameLst>
                                      </p:cBhvr>
                                      <p:tavLst>
                                        <p:tav tm="0">
                                          <p:val>
                                            <p:strVal val="0-#ppt_w/2"/>
                                          </p:val>
                                        </p:tav>
                                        <p:tav tm="100000">
                                          <p:val>
                                            <p:strVal val="#ppt_x"/>
                                          </p:val>
                                        </p:tav>
                                      </p:tavLst>
                                    </p:anim>
                                    <p:anim calcmode="lin" valueType="num">
                                      <p:cBhvr additive="base">
                                        <p:cTn id="6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additive="base">
                                        <p:cTn id="66" dur="1" fill="hold">
                                          <p:stCondLst>
                                            <p:cond delay="0"/>
                                          </p:stCondLst>
                                        </p:cTn>
                                        <p:tgtEl>
                                          <p:spTgt spid="33"/>
                                        </p:tgtEl>
                                        <p:attrNameLst>
                                          <p:attrName>style.visibility</p:attrName>
                                        </p:attrNameLst>
                                      </p:cBhvr>
                                      <p:to>
                                        <p:strVal val="visible"/>
                                      </p:to>
                                    </p:set>
                                    <p:anim calcmode="lin" valueType="num">
                                      <p:cBhvr additive="base">
                                        <p:cTn id="67" dur="500" fill="hold"/>
                                        <p:tgtEl>
                                          <p:spTgt spid="33"/>
                                        </p:tgtEl>
                                        <p:attrNameLst>
                                          <p:attrName>ppt_x</p:attrName>
                                        </p:attrNameLst>
                                      </p:cBhvr>
                                      <p:tavLst>
                                        <p:tav tm="0">
                                          <p:val>
                                            <p:strVal val="0-#ppt_w/2"/>
                                          </p:val>
                                        </p:tav>
                                        <p:tav tm="100000">
                                          <p:val>
                                            <p:strVal val="#ppt_x"/>
                                          </p:val>
                                        </p:tav>
                                      </p:tavLst>
                                    </p:anim>
                                    <p:anim calcmode="lin" valueType="num">
                                      <p:cBhvr additive="base">
                                        <p:cTn id="68" dur="500" fill="hold"/>
                                        <p:tgtEl>
                                          <p:spTgt spid="33"/>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additive="base">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0-#ppt_w/2"/>
                                          </p:val>
                                        </p:tav>
                                        <p:tav tm="100000">
                                          <p:val>
                                            <p:strVal val="#ppt_x"/>
                                          </p:val>
                                        </p:tav>
                                      </p:tavLst>
                                    </p:anim>
                                    <p:anim calcmode="lin" valueType="num">
                                      <p:cBhvr additive="base">
                                        <p:cTn id="74" dur="500" fill="hold"/>
                                        <p:tgtEl>
                                          <p:spTgt spid="3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6" grpId="0" animBg="1"/>
      <p:bldP spid="18" grpId="0" animBg="1"/>
      <p:bldP spid="21" grpId="0" animBg="1"/>
      <p:bldP spid="23" grpId="0" animBg="1"/>
      <p:bldP spid="26" grpId="0" animBg="1"/>
      <p:bldP spid="28" grpId="0" animBg="1"/>
      <p:bldP spid="31" grpId="0" animBg="1"/>
      <p:bldP spid="33" grpId="0" animBg="1"/>
      <p:bldP spid="36" grpId="0" animBg="1"/>
    </p:bldLst>
  </p:timing>
</p:sld>
</file>

<file path=ppt/slides/slide27.xml><?xml version="1.0" encoding="utf-8"?>
<p:sld xmlns:a="http://schemas.openxmlformats.org/drawingml/2006/main" xmlns:p="http://schemas.openxmlformats.org/presentationml/2006/main" xmlns:r="http://schemas.openxmlformats.org/officeDocument/2006/relationships">
  <p:cSld name="18 문제">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18</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2019학년도 9월 35번 — 무관한 문장 찾기</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(2019~2025학년도)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클릭하면 정답이 노란 박스로 나타납니다</a:t>
            </a:r>
            <a:endParaRPr lang="en-US" altLang="ko-KR" sz="1100" dirty="0"/>
          </a:p>
        </p:txBody>
      </p:sp>
      <p:sp>
        <p:nvSpPr>
          <p:cNvPr id="7" name="Prompt"/>
          <p:cNvSpPr/>
          <p:nvPr/>
        </p:nvSpPr>
        <p:spPr>
          <a:xfrm>
            <a:off x="548640" y="1325880"/>
            <a:ext cx="11091672" cy="324000"/>
          </a:xfrm>
          <a:prstGeom prst="rect">
            <a:avLst/>
          </a:prstGeom>
          <a:noFill/>
          <a:ln>
            <a:noFill/>
          </a:ln>
        </p:spPr>
        <p:txBody>
          <a:bodyPr wrap="square" lIns="0" tIns="0" rIns="0" bIns="0" rtlCol="0" anchor="ctr"/>
          <a:lstStyle/>
          <a:p>
            <a:pPr marL="0" indent="0">
              <a:buNone/>
            </a:pPr>
            <a:r>
              <a:rPr lang="en-US" altLang="ko-KR" sz="1300" b="1" dirty="0">
                <a:solidFill>
                  <a:srgbClr val="1E2761"/>
                </a:solidFill>
                <a:latin typeface="맑은 고딕" pitchFamily="34" charset="0"/>
                <a:ea typeface="맑은 고딕" pitchFamily="34" charset="-122"/>
                <a:cs typeface="맑은 고딕" pitchFamily="34" charset="-120"/>
              </a:rPr>
              <a:t>다음 글에서 전체 흐름과 관계 </a:t>
            </a:r>
            <a:r>
              <a:rPr lang="en-US" altLang="ko-KR" sz="1300" b="1" u="sng" dirty="0">
                <a:solidFill>
                  <a:srgbClr val="1E2761"/>
                </a:solidFill>
                <a:latin typeface="맑은 고딕" pitchFamily="34" charset="0"/>
                <a:ea typeface="맑은 고딕" pitchFamily="34" charset="-122"/>
                <a:cs typeface="맑은 고딕" pitchFamily="34" charset="-120"/>
              </a:rPr>
              <a:t>없는</a:t>
            </a:r>
            <a:r>
              <a:rPr lang="en-US" altLang="ko-KR" sz="1300" b="1" dirty="0">
                <a:solidFill>
                  <a:srgbClr val="1E2761"/>
                </a:solidFill>
                <a:latin typeface="맑은 고딕" pitchFamily="34" charset="0"/>
                <a:ea typeface="맑은 고딕" pitchFamily="34" charset="-122"/>
                <a:cs typeface="맑은 고딕" pitchFamily="34" charset="-120"/>
              </a:rPr>
              <a:t> 문장은?</a:t>
            </a:r>
            <a:endParaRPr lang="en-US" altLang="ko-KR" sz="1300" dirty="0"/>
          </a:p>
        </p:txBody>
      </p:sp>
      <p:sp>
        <p:nvSpPr>
          <p:cNvPr id="8" name="Passage"/>
          <p:cNvSpPr/>
          <p:nvPr/>
        </p:nvSpPr>
        <p:spPr>
          <a:xfrm>
            <a:off x="548640" y="1787040"/>
            <a:ext cx="11091672" cy="1868514"/>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solidFill>
                <a:latin typeface="Calibri" pitchFamily="34" charset="0"/>
                <a:ea typeface="Calibri" pitchFamily="34" charset="-122"/>
                <a:cs typeface="Calibri" pitchFamily="34" charset="-120"/>
              </a:rPr>
              <a:t>While the transportation infrastructure may shape where we travel today, in the early eras of travel, it determined whether people could travel at all. ① The development and improvement of transportation was one of the most important factors in allowing modern tourism to develop on a large scale and become a regular part of the lives of billions of people around the world. </a:t>
            </a:r>
            <a:r>
              <a:rPr lang="en-US" altLang="ko-KR" sz="1400" dirty="0">
                <a:solidFill>
                  <a:srgbClr val="333333"/>
                </a:solidFill>
                <a:latin typeface="Calibri" pitchFamily="34" charset="0"/>
                <a:ea typeface="Calibri" pitchFamily="34" charset="-122"/>
                <a:cs typeface="Calibri" pitchFamily="34" charset="-120"/>
              </a:rPr>
              <a:t>② Another important factor was the industrialization that led to more efficient transportation of factory products to consumers than ever before.</a:t>
            </a:r>
            <a:r>
              <a:rPr lang="en-US" altLang="ko-KR" sz="1400" dirty="0">
                <a:solidFill>
                  <a:srgbClr val="333333"/>
                </a:solidFill>
                <a:latin typeface="Calibri" pitchFamily="34" charset="0"/>
                <a:ea typeface="Calibri" pitchFamily="34" charset="-122"/>
                <a:cs typeface="Calibri" pitchFamily="34" charset="-120"/>
              </a:rPr>
              <a:t> ③ Technological advances provided the basis for the explosive expansion of local, regional, and global transportation networks and made travel faster, easier, and cheaper. ④ This not only created new tourist-generating and tourist-receiving regions but also prompted a host of other changes in the tourism infrastructure, such as accommodations. ⑤ As a result, the availability of transportation infrastructure and services has been considered a fundamental precondition for tourism.</a:t>
            </a:r>
            <a:endParaRPr lang="en-US" altLang="ko-KR" sz="1400" dirty="0"/>
          </a:p>
        </p:txBody>
      </p:sp>
      <p:sp>
        <p:nvSpPr>
          <p:cNvPr id="9" name="AnsOverlay"/>
          <p:cNvSpPr/>
          <p:nvPr/>
        </p:nvSpPr>
        <p:spPr>
          <a:xfrm>
            <a:off x="548640" y="1787040"/>
            <a:ext cx="11091672" cy="1868514"/>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alpha val="0"/>
                  </a:srgbClr>
                </a:solidFill>
                <a:latin typeface="Calibri" pitchFamily="34" charset="0"/>
                <a:ea typeface="Calibri" pitchFamily="34" charset="-122"/>
                <a:cs typeface="Calibri" pitchFamily="34" charset="-120"/>
              </a:rPr>
              <a:t>While the transportation infrastructure may shape where we travel today, in the early eras of travel, it determined whether people could travel at all. ① The development and improvement of transportation was one of the most important factors in allowing modern tourism to develop on a large scale and become a regular part of the lives of billions of people around the world. </a:t>
            </a:r>
            <a:r>
              <a:rPr lang="en-US" altLang="ko-KR" sz="1400" dirty="0">
                <a:solidFill>
                  <a:srgbClr val="C00000"/>
                </a:solidFill>
                <a:latin typeface="Calibri" pitchFamily="34" charset="0"/>
                <a:ea typeface="Calibri" pitchFamily="34" charset="-122"/>
                <a:cs typeface="Calibri" pitchFamily="34" charset="-120"/>
              </a:rPr>
              <a:t>② Another important factor was the industrialization that led to more efficient transportation of factory products to consumers than ever before.</a:t>
            </a:r>
            <a:r>
              <a:rPr lang="en-US" altLang="ko-KR" sz="1400" dirty="0">
                <a:solidFill>
                  <a:srgbClr val="333333">
                    <a:alpha val="0"/>
                  </a:srgbClr>
                </a:solidFill>
                <a:latin typeface="Calibri" pitchFamily="34" charset="0"/>
                <a:ea typeface="Calibri" pitchFamily="34" charset="-122"/>
                <a:cs typeface="Calibri" pitchFamily="34" charset="-120"/>
              </a:rPr>
              <a:t> ③ Technological advances provided the basis for the explosive expansion of local, regional, and global transportation networks and made travel faster, easier, and cheaper. ④ This not only created new tourist-generating and tourist-receiving regions but also prompted a host of other changes in the tourism infrastructure, such as accommodations. ⑤ As a result, the availability of transportation infrastructure and services has been considered a fundamental precondition for tourism.</a:t>
            </a:r>
            <a:endParaRPr lang="en-US" altLang="ko-KR" sz="1400" dirty="0"/>
          </a:p>
        </p:txBody>
      </p:sp>
      <p:sp>
        <p:nvSpPr>
          <p:cNvPr id="10" name="Notes"/>
          <p:cNvSpPr/>
          <p:nvPr/>
        </p:nvSpPr>
        <p:spPr>
          <a:xfrm>
            <a:off x="548640" y="3792714"/>
            <a:ext cx="11091672" cy="274320"/>
          </a:xfrm>
          <a:prstGeom prst="rect">
            <a:avLst/>
          </a:prstGeom>
          <a:noFill/>
          <a:ln>
            <a:noFill/>
          </a:ln>
        </p:spPr>
        <p:txBody>
          <a:bodyPr wrap="square" lIns="0" tIns="0" rIns="0" bIns="0" rtlCol="0" anchor="t"/>
          <a:lstStyle/>
          <a:p>
            <a:pPr marL="0" indent="0">
              <a:buNone/>
            </a:pPr>
            <a:r>
              <a:rPr lang="en-US" altLang="ko-KR" sz="1050" i="1" dirty="0">
                <a:solidFill>
                  <a:srgbClr val="8A8A8A"/>
                </a:solidFill>
                <a:latin typeface="맑은 고딕" pitchFamily="34" charset="0"/>
                <a:ea typeface="맑은 고딕" pitchFamily="34" charset="-122"/>
                <a:cs typeface="맑은 고딕" pitchFamily="34" charset="-120"/>
              </a:rPr>
              <a:t>♦ infrastructure: 산업 기반 시설</a:t>
            </a:r>
            <a:endParaRPr lang="en-US" altLang="ko-KR" sz="1050" dirty="0"/>
          </a:p>
        </p:txBody>
      </p:sp>
      <p:sp>
        <p:nvSpPr>
          <p:cNvPr id="11" name="AnsBg"/>
          <p:cNvSpPr/>
          <p:nvPr/>
        </p:nvSpPr>
        <p:spPr>
          <a:xfrm>
            <a:off x="548640" y="4189434"/>
            <a:ext cx="11091672" cy="457200"/>
          </a:xfrm>
          <a:prstGeom prst="rect">
            <a:avLst/>
          </a:prstGeom>
          <a:solidFill>
            <a:srgbClr val="FFF4CC"/>
          </a:solidFill>
          <a:ln>
            <a:noFill/>
          </a:ln>
        </p:spPr>
        <p:txBody>
          <a:bodyPr/>
          <a:lstStyle/>
          <a:p>
            <a:endParaRPr lang="ko-KR" altLang="en-US"/>
          </a:p>
        </p:txBody>
      </p:sp>
      <p:sp>
        <p:nvSpPr>
          <p:cNvPr id="12" name="reveal_18_en"/>
          <p:cNvSpPr/>
          <p:nvPr/>
        </p:nvSpPr>
        <p:spPr>
          <a:xfrm>
            <a:off x="732240" y="4189434"/>
            <a:ext cx="10724472" cy="457200"/>
          </a:xfrm>
          <a:prstGeom prst="rect">
            <a:avLst/>
          </a:prstGeom>
          <a:noFill/>
          <a:ln>
            <a:noFill/>
          </a:ln>
        </p:spPr>
        <p:txBody>
          <a:bodyPr wrap="square" lIns="0" tIns="0" rIns="0" bIns="0" rtlCol="0" anchor="ctr"/>
          <a:lstStyle/>
          <a:p>
            <a:pPr marL="0" indent="0">
              <a:buNone/>
            </a:pPr>
            <a:r>
              <a:rPr lang="en-US" altLang="ko-KR" sz="1500" b="1" dirty="0">
                <a:solidFill>
                  <a:srgbClr val="5A4200"/>
                </a:solidFill>
                <a:latin typeface="맑은 고딕" pitchFamily="34" charset="0"/>
                <a:ea typeface="맑은 고딕" pitchFamily="34" charset="-122"/>
                <a:cs typeface="맑은 고딕" pitchFamily="34" charset="-120"/>
              </a:rPr>
              <a:t>정답   ②</a:t>
            </a:r>
            <a:endParaRPr lang="en-US" altLang="ko-KR"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additive="base">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additive="base">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additive="base">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9" grpId="0" animBg="1"/>
    </p:bldLst>
  </p:timing>
</p:sld>
</file>

<file path=ppt/slides/slide28.xml><?xml version="1.0" encoding="utf-8"?>
<p:sld xmlns:a="http://schemas.openxmlformats.org/drawingml/2006/main" xmlns:p="http://schemas.openxmlformats.org/presentationml/2006/main" xmlns:r="http://schemas.openxmlformats.org/officeDocument/2006/relationships">
  <p:cSld name="02 구문 1">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02</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(1/3)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(2026학년도)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2545274"/>
            <a:ext cx="223520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Almost all life shows</a:t>
            </a:r>
            <a:endParaRPr lang="en-US" altLang="ko-KR" sz="1800" dirty="0"/>
          </a:p>
        </p:txBody>
      </p:sp>
      <p:sp>
        <p:nvSpPr>
          <p:cNvPr id="8" name="reveal_1_kr"/>
          <p:cNvSpPr/>
          <p:nvPr/>
        </p:nvSpPr>
        <p:spPr>
          <a:xfrm>
            <a:off x="548640" y="2879030"/>
            <a:ext cx="223520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거의 모든 생명체는 보인다</a:t>
            </a:r>
            <a:endParaRPr lang="en-US" altLang="ko-KR" sz="1450" dirty="0"/>
          </a:p>
        </p:txBody>
      </p:sp>
      <p:sp>
        <p:nvSpPr>
          <p:cNvPr id="9" name="Sep"/>
          <p:cNvSpPr/>
          <p:nvPr/>
        </p:nvSpPr>
        <p:spPr>
          <a:xfrm>
            <a:off x="2738123" y="254527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2965916" y="2545274"/>
            <a:ext cx="407324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 24-hour pattern of activity and rest,</a:t>
            </a:r>
            <a:endParaRPr lang="en-US" altLang="ko-KR" sz="1800" dirty="0"/>
          </a:p>
        </p:txBody>
      </p:sp>
      <p:sp>
        <p:nvSpPr>
          <p:cNvPr id="11" name="reveal_2_kr"/>
          <p:cNvSpPr/>
          <p:nvPr/>
        </p:nvSpPr>
        <p:spPr>
          <a:xfrm>
            <a:off x="2965916" y="2879030"/>
            <a:ext cx="407324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24시간 주기의 활동과 휴식 패턴을</a:t>
            </a:r>
            <a:endParaRPr lang="en-US" altLang="ko-KR" sz="1450" dirty="0"/>
          </a:p>
        </p:txBody>
      </p:sp>
      <p:sp>
        <p:nvSpPr>
          <p:cNvPr id="12" name="Sep"/>
          <p:cNvSpPr/>
          <p:nvPr/>
        </p:nvSpPr>
        <p:spPr>
          <a:xfrm>
            <a:off x="6993439" y="254527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3" name="En"/>
          <p:cNvSpPr/>
          <p:nvPr/>
        </p:nvSpPr>
        <p:spPr>
          <a:xfrm>
            <a:off x="7221232" y="2545274"/>
            <a:ext cx="194377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even bacteria.</a:t>
            </a:r>
            <a:endParaRPr lang="en-US" altLang="ko-KR" sz="1800" dirty="0"/>
          </a:p>
        </p:txBody>
      </p:sp>
      <p:sp>
        <p:nvSpPr>
          <p:cNvPr id="14" name="reveal_3_kr"/>
          <p:cNvSpPr/>
          <p:nvPr/>
        </p:nvSpPr>
        <p:spPr>
          <a:xfrm>
            <a:off x="7221232" y="2879030"/>
            <a:ext cx="194377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심지어 박테리아조차도</a:t>
            </a:r>
            <a:endParaRPr lang="en-US" altLang="ko-KR" sz="1450" dirty="0"/>
          </a:p>
        </p:txBody>
      </p:sp>
      <p:sp>
        <p:nvSpPr>
          <p:cNvPr id="15" name="En"/>
          <p:cNvSpPr/>
          <p:nvPr/>
        </p:nvSpPr>
        <p:spPr>
          <a:xfrm>
            <a:off x="548640" y="3323149"/>
            <a:ext cx="207069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It seems very likely</a:t>
            </a:r>
            <a:endParaRPr lang="en-US" altLang="ko-KR" sz="1800" dirty="0"/>
          </a:p>
        </p:txBody>
      </p:sp>
      <p:sp>
        <p:nvSpPr>
          <p:cNvPr id="16" name="reveal_4_kr"/>
          <p:cNvSpPr/>
          <p:nvPr/>
        </p:nvSpPr>
        <p:spPr>
          <a:xfrm>
            <a:off x="548640" y="3656905"/>
            <a:ext cx="207069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매우 그럴듯해 보인다</a:t>
            </a:r>
            <a:endParaRPr lang="en-US" altLang="ko-KR" sz="1450" dirty="0"/>
          </a:p>
        </p:txBody>
      </p:sp>
      <p:sp>
        <p:nvSpPr>
          <p:cNvPr id="17" name="Sep"/>
          <p:cNvSpPr/>
          <p:nvPr/>
        </p:nvSpPr>
        <p:spPr>
          <a:xfrm>
            <a:off x="2573612" y="3323149"/>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8" name="En"/>
          <p:cNvSpPr/>
          <p:nvPr/>
        </p:nvSpPr>
        <p:spPr>
          <a:xfrm>
            <a:off x="2801405" y="3323149"/>
            <a:ext cx="268652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this rhythm evolved</a:t>
            </a:r>
            <a:endParaRPr lang="en-US" altLang="ko-KR" sz="1800" dirty="0"/>
          </a:p>
        </p:txBody>
      </p:sp>
      <p:sp>
        <p:nvSpPr>
          <p:cNvPr id="19" name="reveal_5_kr"/>
          <p:cNvSpPr/>
          <p:nvPr/>
        </p:nvSpPr>
        <p:spPr>
          <a:xfrm>
            <a:off x="2801405" y="3656905"/>
            <a:ext cx="268652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이 리듬이 진화했다는 것이</a:t>
            </a:r>
            <a:endParaRPr lang="en-US" altLang="ko-KR" sz="1450" dirty="0"/>
          </a:p>
        </p:txBody>
      </p:sp>
      <p:sp>
        <p:nvSpPr>
          <p:cNvPr id="20" name="Sep"/>
          <p:cNvSpPr/>
          <p:nvPr/>
        </p:nvSpPr>
        <p:spPr>
          <a:xfrm>
            <a:off x="5442206" y="3323149"/>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1" name="En"/>
          <p:cNvSpPr/>
          <p:nvPr/>
        </p:nvSpPr>
        <p:spPr>
          <a:xfrm>
            <a:off x="5669999" y="3323149"/>
            <a:ext cx="332355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as a result of living on a planet</a:t>
            </a:r>
            <a:endParaRPr lang="en-US" altLang="ko-KR" sz="1800" dirty="0"/>
          </a:p>
        </p:txBody>
      </p:sp>
      <p:sp>
        <p:nvSpPr>
          <p:cNvPr id="22" name="reveal_6_kr"/>
          <p:cNvSpPr/>
          <p:nvPr/>
        </p:nvSpPr>
        <p:spPr>
          <a:xfrm>
            <a:off x="5669999" y="3656905"/>
            <a:ext cx="332355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한 행성에 사는 결과로서</a:t>
            </a:r>
            <a:endParaRPr lang="en-US" altLang="ko-KR" sz="1450" dirty="0"/>
          </a:p>
        </p:txBody>
      </p:sp>
      <p:sp>
        <p:nvSpPr>
          <p:cNvPr id="23" name="En"/>
          <p:cNvSpPr/>
          <p:nvPr/>
        </p:nvSpPr>
        <p:spPr>
          <a:xfrm>
            <a:off x="548640" y="4018728"/>
            <a:ext cx="353475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rotates once every 24 hours</a:t>
            </a:r>
            <a:endParaRPr lang="en-US" altLang="ko-KR" sz="1800" dirty="0"/>
          </a:p>
        </p:txBody>
      </p:sp>
      <p:sp>
        <p:nvSpPr>
          <p:cNvPr id="24" name="reveal_7_kr"/>
          <p:cNvSpPr/>
          <p:nvPr/>
        </p:nvSpPr>
        <p:spPr>
          <a:xfrm>
            <a:off x="548640" y="4352484"/>
            <a:ext cx="353475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24시간마다 한 번씩 자전하는</a:t>
            </a:r>
            <a:endParaRPr lang="en-US" altLang="ko-KR" sz="1450" dirty="0"/>
          </a:p>
        </p:txBody>
      </p:sp>
      <p:sp>
        <p:nvSpPr>
          <p:cNvPr id="25" name="Sep"/>
          <p:cNvSpPr/>
          <p:nvPr/>
        </p:nvSpPr>
        <p:spPr>
          <a:xfrm>
            <a:off x="4037672" y="401872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6" name="En"/>
          <p:cNvSpPr/>
          <p:nvPr/>
        </p:nvSpPr>
        <p:spPr>
          <a:xfrm>
            <a:off x="4265465" y="4018728"/>
            <a:ext cx="332736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that the resultant changes</a:t>
            </a:r>
            <a:endParaRPr lang="en-US" altLang="ko-KR" sz="1800" dirty="0"/>
          </a:p>
        </p:txBody>
      </p:sp>
      <p:sp>
        <p:nvSpPr>
          <p:cNvPr id="27" name="reveal_8_kr"/>
          <p:cNvSpPr/>
          <p:nvPr/>
        </p:nvSpPr>
        <p:spPr>
          <a:xfrm>
            <a:off x="4265465" y="4352484"/>
            <a:ext cx="332736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그리고 그 결과로 생긴 변화들이</a:t>
            </a:r>
            <a:endParaRPr lang="en-US" altLang="ko-KR" sz="1450" dirty="0"/>
          </a:p>
        </p:txBody>
      </p:sp>
      <p:sp>
        <p:nvSpPr>
          <p:cNvPr id="28" name="En"/>
          <p:cNvSpPr/>
          <p:nvPr/>
        </p:nvSpPr>
        <p:spPr>
          <a:xfrm>
            <a:off x="548640" y="4714307"/>
            <a:ext cx="453220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 light, temperature and food availability</a:t>
            </a:r>
            <a:endParaRPr lang="en-US" altLang="ko-KR" sz="1800" dirty="0"/>
          </a:p>
        </p:txBody>
      </p:sp>
      <p:sp>
        <p:nvSpPr>
          <p:cNvPr id="29" name="reveal_9_kr"/>
          <p:cNvSpPr/>
          <p:nvPr/>
        </p:nvSpPr>
        <p:spPr>
          <a:xfrm>
            <a:off x="548640" y="5048063"/>
            <a:ext cx="453220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빛, 온도, 먹이 이용 가능성에서의</a:t>
            </a:r>
            <a:endParaRPr lang="en-US" altLang="ko-KR" sz="1450" dirty="0"/>
          </a:p>
        </p:txBody>
      </p:sp>
      <p:sp>
        <p:nvSpPr>
          <p:cNvPr id="30" name="Sep"/>
          <p:cNvSpPr/>
          <p:nvPr/>
        </p:nvSpPr>
        <p:spPr>
          <a:xfrm>
            <a:off x="5035125" y="471430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1" name="En"/>
          <p:cNvSpPr/>
          <p:nvPr/>
        </p:nvSpPr>
        <p:spPr>
          <a:xfrm>
            <a:off x="5262918" y="4714307"/>
            <a:ext cx="459491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forced an adaptive evolutionary response.</a:t>
            </a:r>
            <a:endParaRPr lang="en-US" altLang="ko-KR" sz="1800" dirty="0"/>
          </a:p>
        </p:txBody>
      </p:sp>
      <p:sp>
        <p:nvSpPr>
          <p:cNvPr id="32" name="reveal_10_kr"/>
          <p:cNvSpPr/>
          <p:nvPr/>
        </p:nvSpPr>
        <p:spPr>
          <a:xfrm>
            <a:off x="5262918" y="5048063"/>
            <a:ext cx="459491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적응적인 진화적 반응을 강요했다는 것이</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0-#ppt_w/2"/>
                                          </p:val>
                                        </p:tav>
                                        <p:tav tm="100000">
                                          <p:val>
                                            <p:strVal val="#ppt_x"/>
                                          </p:val>
                                        </p:tav>
                                      </p:tavLst>
                                    </p:anim>
                                    <p:anim calcmode="lin" valueType="num">
                                      <p:cBhvr additive="base">
                                        <p:cTn id="3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2"/>
                                        </p:tgtEl>
                                        <p:attrNameLst>
                                          <p:attrName>style.visibility</p:attrName>
                                        </p:attrNameLst>
                                      </p:cBhvr>
                                      <p:to>
                                        <p:strVal val="visible"/>
                                      </p:to>
                                    </p:set>
                                    <p:anim calcmode="lin" valueType="num">
                                      <p:cBhvr additive="base">
                                        <p:cTn id="37" dur="500" fill="hold"/>
                                        <p:tgtEl>
                                          <p:spTgt spid="22"/>
                                        </p:tgtEl>
                                        <p:attrNameLst>
                                          <p:attrName>ppt_x</p:attrName>
                                        </p:attrNameLst>
                                      </p:cBhvr>
                                      <p:tavLst>
                                        <p:tav tm="0">
                                          <p:val>
                                            <p:strVal val="0-#ppt_w/2"/>
                                          </p:val>
                                        </p:tav>
                                        <p:tav tm="100000">
                                          <p:val>
                                            <p:strVal val="#ppt_x"/>
                                          </p:val>
                                        </p:tav>
                                      </p:tavLst>
                                    </p:anim>
                                    <p:anim calcmode="lin" valueType="num">
                                      <p:cBhvr additive="base">
                                        <p:cTn id="38" dur="500" fill="hold"/>
                                        <p:tgtEl>
                                          <p:spTgt spid="22"/>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0-#ppt_w/2"/>
                                          </p:val>
                                        </p:tav>
                                        <p:tav tm="100000">
                                          <p:val>
                                            <p:strVal val="#ppt_x"/>
                                          </p:val>
                                        </p:tav>
                                      </p:tavLst>
                                    </p:anim>
                                    <p:anim calcmode="lin" valueType="num">
                                      <p:cBhvr additive="base">
                                        <p:cTn id="44"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7"/>
                                        </p:tgtEl>
                                        <p:attrNameLst>
                                          <p:attrName>style.visibility</p:attrName>
                                        </p:attrNameLst>
                                      </p:cBhvr>
                                      <p:to>
                                        <p:strVal val="visible"/>
                                      </p:to>
                                    </p:set>
                                    <p:anim calcmode="lin" valueType="num">
                                      <p:cBhvr additive="base">
                                        <p:cTn id="49" dur="500" fill="hold"/>
                                        <p:tgtEl>
                                          <p:spTgt spid="27"/>
                                        </p:tgtEl>
                                        <p:attrNameLst>
                                          <p:attrName>ppt_x</p:attrName>
                                        </p:attrNameLst>
                                      </p:cBhvr>
                                      <p:tavLst>
                                        <p:tav tm="0">
                                          <p:val>
                                            <p:strVal val="0-#ppt_w/2"/>
                                          </p:val>
                                        </p:tav>
                                        <p:tav tm="100000">
                                          <p:val>
                                            <p:strVal val="#ppt_x"/>
                                          </p:val>
                                        </p:tav>
                                      </p:tavLst>
                                    </p:anim>
                                    <p:anim calcmode="lin" valueType="num">
                                      <p:cBhvr additive="base">
                                        <p:cTn id="50"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9"/>
                                        </p:tgtEl>
                                        <p:attrNameLst>
                                          <p:attrName>style.visibility</p:attrName>
                                        </p:attrNameLst>
                                      </p:cBhvr>
                                      <p:to>
                                        <p:strVal val="visible"/>
                                      </p:to>
                                    </p:set>
                                    <p:anim calcmode="lin" valueType="num">
                                      <p:cBhvr additive="base">
                                        <p:cTn id="55" dur="500" fill="hold"/>
                                        <p:tgtEl>
                                          <p:spTgt spid="29"/>
                                        </p:tgtEl>
                                        <p:attrNameLst>
                                          <p:attrName>ppt_x</p:attrName>
                                        </p:attrNameLst>
                                      </p:cBhvr>
                                      <p:tavLst>
                                        <p:tav tm="0">
                                          <p:val>
                                            <p:strVal val="0-#ppt_w/2"/>
                                          </p:val>
                                        </p:tav>
                                        <p:tav tm="100000">
                                          <p:val>
                                            <p:strVal val="#ppt_x"/>
                                          </p:val>
                                        </p:tav>
                                      </p:tavLst>
                                    </p:anim>
                                    <p:anim calcmode="lin" valueType="num">
                                      <p:cBhvr additive="base">
                                        <p:cTn id="56"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2"/>
                                        </p:tgtEl>
                                        <p:attrNameLst>
                                          <p:attrName>style.visibility</p:attrName>
                                        </p:attrNameLst>
                                      </p:cBhvr>
                                      <p:to>
                                        <p:strVal val="visible"/>
                                      </p:to>
                                    </p:set>
                                    <p:anim calcmode="lin" valueType="num">
                                      <p:cBhvr additive="base">
                                        <p:cTn id="61" dur="500" fill="hold"/>
                                        <p:tgtEl>
                                          <p:spTgt spid="32"/>
                                        </p:tgtEl>
                                        <p:attrNameLst>
                                          <p:attrName>ppt_x</p:attrName>
                                        </p:attrNameLst>
                                      </p:cBhvr>
                                      <p:tavLst>
                                        <p:tav tm="0">
                                          <p:val>
                                            <p:strVal val="0-#ppt_w/2"/>
                                          </p:val>
                                        </p:tav>
                                        <p:tav tm="100000">
                                          <p:val>
                                            <p:strVal val="#ppt_x"/>
                                          </p:val>
                                        </p:tav>
                                      </p:tavLst>
                                    </p:anim>
                                    <p:anim calcmode="lin" valueType="num">
                                      <p:cBhvr additive="base">
                                        <p:cTn id="62" dur="500" fill="hold"/>
                                        <p:tgtEl>
                                          <p:spTgt spid="3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6" grpId="0" animBg="1"/>
      <p:bldP spid="19" grpId="0" animBg="1"/>
      <p:bldP spid="22" grpId="0" animBg="1"/>
      <p:bldP spid="24" grpId="0" animBg="1"/>
      <p:bldP spid="27" grpId="0" animBg="1"/>
      <p:bldP spid="29" grpId="0" animBg="1"/>
      <p:bldP spid="32" grpId="0" animBg="1"/>
    </p:bldLst>
  </p:timing>
</p:sld>
</file>

<file path=ppt/slides/slide29.xml><?xml version="1.0" encoding="utf-8"?>
<p:sld xmlns:a="http://schemas.openxmlformats.org/drawingml/2006/main" xmlns:p="http://schemas.openxmlformats.org/presentationml/2006/main" xmlns:r="http://schemas.openxmlformats.org/officeDocument/2006/relationships">
  <p:cSld name="02 구문 2">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02</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(2/3)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(2026학년도)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1849695"/>
            <a:ext cx="364257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① Diurnal and nocturnal species</a:t>
            </a:r>
            <a:endParaRPr lang="en-US" altLang="ko-KR" sz="1800" dirty="0"/>
          </a:p>
        </p:txBody>
      </p:sp>
      <p:sp>
        <p:nvSpPr>
          <p:cNvPr id="8" name="reveal_11_kr"/>
          <p:cNvSpPr/>
          <p:nvPr/>
        </p:nvSpPr>
        <p:spPr>
          <a:xfrm>
            <a:off x="548640" y="2183451"/>
            <a:ext cx="364257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주행성과 야행성 종들은</a:t>
            </a:r>
            <a:endParaRPr lang="en-US" altLang="ko-KR" sz="1450" dirty="0"/>
          </a:p>
        </p:txBody>
      </p:sp>
      <p:sp>
        <p:nvSpPr>
          <p:cNvPr id="9" name="Sep"/>
          <p:cNvSpPr/>
          <p:nvPr/>
        </p:nvSpPr>
        <p:spPr>
          <a:xfrm>
            <a:off x="4145498" y="184969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4373291" y="1849695"/>
            <a:ext cx="424124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have evolved numerous specializations</a:t>
            </a:r>
            <a:endParaRPr lang="en-US" altLang="ko-KR" sz="1800" dirty="0"/>
          </a:p>
        </p:txBody>
      </p:sp>
      <p:sp>
        <p:nvSpPr>
          <p:cNvPr id="11" name="reveal_12_kr"/>
          <p:cNvSpPr/>
          <p:nvPr/>
        </p:nvSpPr>
        <p:spPr>
          <a:xfrm>
            <a:off x="4373291" y="2183451"/>
            <a:ext cx="424124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수많은 특수화를 진화시켜 왔다</a:t>
            </a:r>
            <a:endParaRPr lang="en-US" altLang="ko-KR" sz="1450" dirty="0"/>
          </a:p>
        </p:txBody>
      </p:sp>
      <p:sp>
        <p:nvSpPr>
          <p:cNvPr id="12" name="En"/>
          <p:cNvSpPr/>
          <p:nvPr/>
        </p:nvSpPr>
        <p:spPr>
          <a:xfrm>
            <a:off x="548640" y="2545274"/>
            <a:ext cx="436513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have allowed them to perform best</a:t>
            </a:r>
            <a:endParaRPr lang="en-US" altLang="ko-KR" sz="1800" dirty="0"/>
          </a:p>
        </p:txBody>
      </p:sp>
      <p:sp>
        <p:nvSpPr>
          <p:cNvPr id="13" name="reveal_13_kr"/>
          <p:cNvSpPr/>
          <p:nvPr/>
        </p:nvSpPr>
        <p:spPr>
          <a:xfrm>
            <a:off x="548640" y="2879030"/>
            <a:ext cx="436513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그들이 최상으로 수행하도록 해 준</a:t>
            </a:r>
            <a:endParaRPr lang="en-US" altLang="ko-KR" sz="1450" dirty="0"/>
          </a:p>
        </p:txBody>
      </p:sp>
      <p:sp>
        <p:nvSpPr>
          <p:cNvPr id="14" name="Sep"/>
          <p:cNvSpPr/>
          <p:nvPr/>
        </p:nvSpPr>
        <p:spPr>
          <a:xfrm>
            <a:off x="4868057" y="254527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5" name="En"/>
          <p:cNvSpPr/>
          <p:nvPr/>
        </p:nvSpPr>
        <p:spPr>
          <a:xfrm>
            <a:off x="5095850" y="2545274"/>
            <a:ext cx="501243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under the different conditions of light or dark,</a:t>
            </a:r>
            <a:endParaRPr lang="en-US" altLang="ko-KR" sz="1800" dirty="0"/>
          </a:p>
        </p:txBody>
      </p:sp>
      <p:sp>
        <p:nvSpPr>
          <p:cNvPr id="16" name="reveal_14_kr"/>
          <p:cNvSpPr/>
          <p:nvPr/>
        </p:nvSpPr>
        <p:spPr>
          <a:xfrm>
            <a:off x="5095850" y="2879030"/>
            <a:ext cx="501243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빛 또는 어둠의 서로 다른 조건 하에서</a:t>
            </a:r>
            <a:endParaRPr lang="en-US" altLang="ko-KR" sz="1450" dirty="0"/>
          </a:p>
        </p:txBody>
      </p:sp>
      <p:sp>
        <p:nvSpPr>
          <p:cNvPr id="17" name="En"/>
          <p:cNvSpPr/>
          <p:nvPr/>
        </p:nvSpPr>
        <p:spPr>
          <a:xfrm>
            <a:off x="548640" y="3240853"/>
            <a:ext cx="284142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but, critically, not both.</a:t>
            </a:r>
            <a:endParaRPr lang="en-US" altLang="ko-KR" sz="1800" dirty="0"/>
          </a:p>
        </p:txBody>
      </p:sp>
      <p:sp>
        <p:nvSpPr>
          <p:cNvPr id="18" name="reveal_15_kr"/>
          <p:cNvSpPr/>
          <p:nvPr/>
        </p:nvSpPr>
        <p:spPr>
          <a:xfrm>
            <a:off x="548640" y="3574609"/>
            <a:ext cx="284142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하지만 결정적으로 둘 다는 아니다</a:t>
            </a:r>
            <a:endParaRPr lang="en-US" altLang="ko-KR" sz="1450" dirty="0"/>
          </a:p>
        </p:txBody>
      </p:sp>
      <p:sp>
        <p:nvSpPr>
          <p:cNvPr id="19" name="En"/>
          <p:cNvSpPr/>
          <p:nvPr/>
        </p:nvSpPr>
        <p:spPr>
          <a:xfrm>
            <a:off x="548640" y="4018728"/>
            <a:ext cx="308955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② Life seems to have made</a:t>
            </a:r>
            <a:endParaRPr lang="en-US" altLang="ko-KR" sz="1800" dirty="0"/>
          </a:p>
        </p:txBody>
      </p:sp>
      <p:sp>
        <p:nvSpPr>
          <p:cNvPr id="20" name="reveal_16_kr"/>
          <p:cNvSpPr/>
          <p:nvPr/>
        </p:nvSpPr>
        <p:spPr>
          <a:xfrm>
            <a:off x="548640" y="4352484"/>
            <a:ext cx="308955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생명체는 내린 것으로 보인다</a:t>
            </a:r>
            <a:endParaRPr lang="en-US" altLang="ko-KR" sz="1450" dirty="0"/>
          </a:p>
        </p:txBody>
      </p:sp>
      <p:sp>
        <p:nvSpPr>
          <p:cNvPr id="21" name="Sep"/>
          <p:cNvSpPr/>
          <p:nvPr/>
        </p:nvSpPr>
        <p:spPr>
          <a:xfrm>
            <a:off x="3592470" y="401872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2" name="En"/>
          <p:cNvSpPr/>
          <p:nvPr/>
        </p:nvSpPr>
        <p:spPr>
          <a:xfrm>
            <a:off x="3820263" y="4018728"/>
            <a:ext cx="279998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 evolutionary ‘decision’</a:t>
            </a:r>
            <a:endParaRPr lang="en-US" altLang="ko-KR" sz="1800" dirty="0"/>
          </a:p>
        </p:txBody>
      </p:sp>
      <p:sp>
        <p:nvSpPr>
          <p:cNvPr id="23" name="reveal_17_kr"/>
          <p:cNvSpPr/>
          <p:nvPr/>
        </p:nvSpPr>
        <p:spPr>
          <a:xfrm>
            <a:off x="3820263" y="4352484"/>
            <a:ext cx="279998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진화적 '결정'을</a:t>
            </a:r>
            <a:endParaRPr lang="en-US" altLang="ko-KR" sz="1450" dirty="0"/>
          </a:p>
        </p:txBody>
      </p:sp>
      <p:sp>
        <p:nvSpPr>
          <p:cNvPr id="24" name="Sep"/>
          <p:cNvSpPr/>
          <p:nvPr/>
        </p:nvSpPr>
        <p:spPr>
          <a:xfrm>
            <a:off x="6574526" y="401872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5" name="En"/>
          <p:cNvSpPr/>
          <p:nvPr/>
        </p:nvSpPr>
        <p:spPr>
          <a:xfrm>
            <a:off x="6802319" y="4018728"/>
            <a:ext cx="127015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to be active</a:t>
            </a:r>
            <a:endParaRPr lang="en-US" altLang="ko-KR" sz="1800" dirty="0"/>
          </a:p>
        </p:txBody>
      </p:sp>
      <p:sp>
        <p:nvSpPr>
          <p:cNvPr id="26" name="reveal_18_kr"/>
          <p:cNvSpPr/>
          <p:nvPr/>
        </p:nvSpPr>
        <p:spPr>
          <a:xfrm>
            <a:off x="6802319" y="4352484"/>
            <a:ext cx="127015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활동적이기로</a:t>
            </a:r>
            <a:endParaRPr lang="en-US" altLang="ko-KR" sz="1450" dirty="0"/>
          </a:p>
        </p:txBody>
      </p:sp>
      <p:sp>
        <p:nvSpPr>
          <p:cNvPr id="27" name="En"/>
          <p:cNvSpPr/>
          <p:nvPr/>
        </p:nvSpPr>
        <p:spPr>
          <a:xfrm>
            <a:off x="548640" y="4714307"/>
            <a:ext cx="428681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at a specific part of the day/night cycle,</a:t>
            </a:r>
            <a:endParaRPr lang="en-US" altLang="ko-KR" sz="1800" dirty="0"/>
          </a:p>
        </p:txBody>
      </p:sp>
      <p:sp>
        <p:nvSpPr>
          <p:cNvPr id="28" name="reveal_19_kr"/>
          <p:cNvSpPr/>
          <p:nvPr/>
        </p:nvSpPr>
        <p:spPr>
          <a:xfrm>
            <a:off x="548640" y="5048063"/>
            <a:ext cx="428681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낮밤 주기의 특정 부분에</a:t>
            </a:r>
            <a:endParaRPr lang="en-US" altLang="ko-KR" sz="1450" dirty="0"/>
          </a:p>
        </p:txBody>
      </p:sp>
      <p:sp>
        <p:nvSpPr>
          <p:cNvPr id="29" name="Sep"/>
          <p:cNvSpPr/>
          <p:nvPr/>
        </p:nvSpPr>
        <p:spPr>
          <a:xfrm>
            <a:off x="4789738" y="471430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0" name="En"/>
          <p:cNvSpPr/>
          <p:nvPr/>
        </p:nvSpPr>
        <p:spPr>
          <a:xfrm>
            <a:off x="5017531" y="4714307"/>
            <a:ext cx="171469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as a result,</a:t>
            </a:r>
            <a:endParaRPr lang="en-US" altLang="ko-KR" sz="1800" dirty="0"/>
          </a:p>
        </p:txBody>
      </p:sp>
      <p:sp>
        <p:nvSpPr>
          <p:cNvPr id="31" name="reveal_20_kr"/>
          <p:cNvSpPr/>
          <p:nvPr/>
        </p:nvSpPr>
        <p:spPr>
          <a:xfrm>
            <a:off x="5017531" y="5048063"/>
            <a:ext cx="171469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그리고 그 결과</a:t>
            </a:r>
            <a:endParaRPr lang="en-US" altLang="ko-KR" sz="1450" dirty="0"/>
          </a:p>
        </p:txBody>
      </p:sp>
      <p:sp>
        <p:nvSpPr>
          <p:cNvPr id="32" name="Sep"/>
          <p:cNvSpPr/>
          <p:nvPr/>
        </p:nvSpPr>
        <p:spPr>
          <a:xfrm>
            <a:off x="6686506" y="471430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3" name="En"/>
          <p:cNvSpPr/>
          <p:nvPr/>
        </p:nvSpPr>
        <p:spPr>
          <a:xfrm>
            <a:off x="6914299" y="4714307"/>
            <a:ext cx="146027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those species</a:t>
            </a:r>
            <a:endParaRPr lang="en-US" altLang="ko-KR" sz="1800" dirty="0"/>
          </a:p>
        </p:txBody>
      </p:sp>
      <p:sp>
        <p:nvSpPr>
          <p:cNvPr id="34" name="reveal_21_kr"/>
          <p:cNvSpPr/>
          <p:nvPr/>
        </p:nvSpPr>
        <p:spPr>
          <a:xfrm>
            <a:off x="6914299" y="5048063"/>
            <a:ext cx="146027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 종들은</a:t>
            </a:r>
            <a:endParaRPr lang="en-US" altLang="ko-KR" sz="1450" dirty="0"/>
          </a:p>
        </p:txBody>
      </p:sp>
      <p:sp>
        <p:nvSpPr>
          <p:cNvPr id="35" name="En"/>
          <p:cNvSpPr/>
          <p:nvPr/>
        </p:nvSpPr>
        <p:spPr>
          <a:xfrm>
            <a:off x="548640" y="5409886"/>
            <a:ext cx="507585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are specialized to be active during the day</a:t>
            </a:r>
            <a:endParaRPr lang="en-US" altLang="ko-KR" sz="1800" dirty="0"/>
          </a:p>
        </p:txBody>
      </p:sp>
      <p:sp>
        <p:nvSpPr>
          <p:cNvPr id="36" name="reveal_22_kr"/>
          <p:cNvSpPr/>
          <p:nvPr/>
        </p:nvSpPr>
        <p:spPr>
          <a:xfrm>
            <a:off x="548640" y="5743642"/>
            <a:ext cx="507585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낮 동안 활동적이도록 특화된</a:t>
            </a:r>
            <a:endParaRPr lang="en-US" altLang="ko-KR" sz="1450" dirty="0"/>
          </a:p>
        </p:txBody>
      </p:sp>
      <p:sp>
        <p:nvSpPr>
          <p:cNvPr id="37" name="Sep"/>
          <p:cNvSpPr/>
          <p:nvPr/>
        </p:nvSpPr>
        <p:spPr>
          <a:xfrm>
            <a:off x="5578773" y="5409886"/>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8" name="En"/>
          <p:cNvSpPr/>
          <p:nvPr/>
        </p:nvSpPr>
        <p:spPr>
          <a:xfrm>
            <a:off x="5806566" y="5409886"/>
            <a:ext cx="442221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will not be particularly effective at night.</a:t>
            </a:r>
            <a:endParaRPr lang="en-US" altLang="ko-KR" sz="1800" dirty="0"/>
          </a:p>
        </p:txBody>
      </p:sp>
      <p:sp>
        <p:nvSpPr>
          <p:cNvPr id="39" name="reveal_23_kr"/>
          <p:cNvSpPr/>
          <p:nvPr/>
        </p:nvSpPr>
        <p:spPr>
          <a:xfrm>
            <a:off x="5806566" y="5743642"/>
            <a:ext cx="442221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밤에는 특별히 효과적이지 못할 것이다</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0"/>
                                        </p:tgtEl>
                                        <p:attrNameLst>
                                          <p:attrName>style.visibility</p:attrName>
                                        </p:attrNameLst>
                                      </p:cBhvr>
                                      <p:to>
                                        <p:strVal val="visible"/>
                                      </p:to>
                                    </p:set>
                                    <p:anim calcmode="lin" valueType="num">
                                      <p:cBhvr additive="base">
                                        <p:cTn id="37" dur="500" fill="hold"/>
                                        <p:tgtEl>
                                          <p:spTgt spid="20"/>
                                        </p:tgtEl>
                                        <p:attrNameLst>
                                          <p:attrName>ppt_x</p:attrName>
                                        </p:attrNameLst>
                                      </p:cBhvr>
                                      <p:tavLst>
                                        <p:tav tm="0">
                                          <p:val>
                                            <p:strVal val="0-#ppt_w/2"/>
                                          </p:val>
                                        </p:tav>
                                        <p:tav tm="100000">
                                          <p:val>
                                            <p:strVal val="#ppt_x"/>
                                          </p:val>
                                        </p:tav>
                                      </p:tavLst>
                                    </p:anim>
                                    <p:anim calcmode="lin" valueType="num">
                                      <p:cBhvr additive="base">
                                        <p:cTn id="38" dur="500" fill="hold"/>
                                        <p:tgtEl>
                                          <p:spTgt spid="20"/>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8"/>
                                        </p:tgtEl>
                                        <p:attrNameLst>
                                          <p:attrName>style.visibility</p:attrName>
                                        </p:attrNameLst>
                                      </p:cBhvr>
                                      <p:to>
                                        <p:strVal val="visible"/>
                                      </p:to>
                                    </p:set>
                                    <p:anim calcmode="lin" valueType="num">
                                      <p:cBhvr additive="base">
                                        <p:cTn id="55" dur="500" fill="hold"/>
                                        <p:tgtEl>
                                          <p:spTgt spid="28"/>
                                        </p:tgtEl>
                                        <p:attrNameLst>
                                          <p:attrName>ppt_x</p:attrName>
                                        </p:attrNameLst>
                                      </p:cBhvr>
                                      <p:tavLst>
                                        <p:tav tm="0">
                                          <p:val>
                                            <p:strVal val="0-#ppt_w/2"/>
                                          </p:val>
                                        </p:tav>
                                        <p:tav tm="100000">
                                          <p:val>
                                            <p:strVal val="#ppt_x"/>
                                          </p:val>
                                        </p:tav>
                                      </p:tavLst>
                                    </p:anim>
                                    <p:anim calcmode="lin" valueType="num">
                                      <p:cBhvr additive="base">
                                        <p:cTn id="56" dur="500" fill="hold"/>
                                        <p:tgtEl>
                                          <p:spTgt spid="28"/>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1"/>
                                        </p:tgtEl>
                                        <p:attrNameLst>
                                          <p:attrName>style.visibility</p:attrName>
                                        </p:attrNameLst>
                                      </p:cBhvr>
                                      <p:to>
                                        <p:strVal val="visible"/>
                                      </p:to>
                                    </p:set>
                                    <p:anim calcmode="lin" valueType="num">
                                      <p:cBhvr additive="base">
                                        <p:cTn id="61" dur="500" fill="hold"/>
                                        <p:tgtEl>
                                          <p:spTgt spid="31"/>
                                        </p:tgtEl>
                                        <p:attrNameLst>
                                          <p:attrName>ppt_x</p:attrName>
                                        </p:attrNameLst>
                                      </p:cBhvr>
                                      <p:tavLst>
                                        <p:tav tm="0">
                                          <p:val>
                                            <p:strVal val="0-#ppt_w/2"/>
                                          </p:val>
                                        </p:tav>
                                        <p:tav tm="100000">
                                          <p:val>
                                            <p:strVal val="#ppt_x"/>
                                          </p:val>
                                        </p:tav>
                                      </p:tavLst>
                                    </p:anim>
                                    <p:anim calcmode="lin" valueType="num">
                                      <p:cBhvr additive="base">
                                        <p:cTn id="6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additive="base">
                                        <p:cTn id="66" dur="1" fill="hold">
                                          <p:stCondLst>
                                            <p:cond delay="0"/>
                                          </p:stCondLst>
                                        </p:cTn>
                                        <p:tgtEl>
                                          <p:spTgt spid="34"/>
                                        </p:tgtEl>
                                        <p:attrNameLst>
                                          <p:attrName>style.visibility</p:attrName>
                                        </p:attrNameLst>
                                      </p:cBhvr>
                                      <p:to>
                                        <p:strVal val="visible"/>
                                      </p:to>
                                    </p:set>
                                    <p:anim calcmode="lin" valueType="num">
                                      <p:cBhvr additive="base">
                                        <p:cTn id="67" dur="500" fill="hold"/>
                                        <p:tgtEl>
                                          <p:spTgt spid="34"/>
                                        </p:tgtEl>
                                        <p:attrNameLst>
                                          <p:attrName>ppt_x</p:attrName>
                                        </p:attrNameLst>
                                      </p:cBhvr>
                                      <p:tavLst>
                                        <p:tav tm="0">
                                          <p:val>
                                            <p:strVal val="0-#ppt_w/2"/>
                                          </p:val>
                                        </p:tav>
                                        <p:tav tm="100000">
                                          <p:val>
                                            <p:strVal val="#ppt_x"/>
                                          </p:val>
                                        </p:tav>
                                      </p:tavLst>
                                    </p:anim>
                                    <p:anim calcmode="lin" valueType="num">
                                      <p:cBhvr additive="base">
                                        <p:cTn id="68"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additive="base">
                                        <p:cTn id="72" dur="1" fill="hold">
                                          <p:stCondLst>
                                            <p:cond delay="0"/>
                                          </p:stCondLst>
                                        </p:cTn>
                                        <p:tgtEl>
                                          <p:spTgt spid="36"/>
                                        </p:tgtEl>
                                        <p:attrNameLst>
                                          <p:attrName>style.visibility</p:attrName>
                                        </p:attrNameLst>
                                      </p:cBhvr>
                                      <p:to>
                                        <p:strVal val="visible"/>
                                      </p:to>
                                    </p:set>
                                    <p:anim calcmode="lin" valueType="num">
                                      <p:cBhvr additive="base">
                                        <p:cTn id="73" dur="500" fill="hold"/>
                                        <p:tgtEl>
                                          <p:spTgt spid="36"/>
                                        </p:tgtEl>
                                        <p:attrNameLst>
                                          <p:attrName>ppt_x</p:attrName>
                                        </p:attrNameLst>
                                      </p:cBhvr>
                                      <p:tavLst>
                                        <p:tav tm="0">
                                          <p:val>
                                            <p:strVal val="0-#ppt_w/2"/>
                                          </p:val>
                                        </p:tav>
                                        <p:tav tm="100000">
                                          <p:val>
                                            <p:strVal val="#ppt_x"/>
                                          </p:val>
                                        </p:tav>
                                      </p:tavLst>
                                    </p:anim>
                                    <p:anim calcmode="lin" valueType="num">
                                      <p:cBhvr additive="base">
                                        <p:cTn id="74" dur="500" fill="hold"/>
                                        <p:tgtEl>
                                          <p:spTgt spid="36"/>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additive="base">
                                        <p:cTn id="78" dur="1" fill="hold">
                                          <p:stCondLst>
                                            <p:cond delay="0"/>
                                          </p:stCondLst>
                                        </p:cTn>
                                        <p:tgtEl>
                                          <p:spTgt spid="39"/>
                                        </p:tgtEl>
                                        <p:attrNameLst>
                                          <p:attrName>style.visibility</p:attrName>
                                        </p:attrNameLst>
                                      </p:cBhvr>
                                      <p:to>
                                        <p:strVal val="visible"/>
                                      </p:to>
                                    </p:set>
                                    <p:anim calcmode="lin" valueType="num">
                                      <p:cBhvr additive="base">
                                        <p:cTn id="79" dur="500" fill="hold"/>
                                        <p:tgtEl>
                                          <p:spTgt spid="39"/>
                                        </p:tgtEl>
                                        <p:attrNameLst>
                                          <p:attrName>ppt_x</p:attrName>
                                        </p:attrNameLst>
                                      </p:cBhvr>
                                      <p:tavLst>
                                        <p:tav tm="0">
                                          <p:val>
                                            <p:strVal val="0-#ppt_w/2"/>
                                          </p:val>
                                        </p:tav>
                                        <p:tav tm="100000">
                                          <p:val>
                                            <p:strVal val="#ppt_x"/>
                                          </p:val>
                                        </p:tav>
                                      </p:tavLst>
                                    </p:anim>
                                    <p:anim calcmode="lin" valueType="num">
                                      <p:cBhvr additive="base">
                                        <p:cTn id="80" dur="500" fill="hold"/>
                                        <p:tgtEl>
                                          <p:spTgt spid="39"/>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6" grpId="0" animBg="1"/>
      <p:bldP spid="18" grpId="0" animBg="1"/>
      <p:bldP spid="20" grpId="0" animBg="1"/>
      <p:bldP spid="23" grpId="0" animBg="1"/>
      <p:bldP spid="26" grpId="0" animBg="1"/>
      <p:bldP spid="28" grpId="0" animBg="1"/>
      <p:bldP spid="31" grpId="0" animBg="1"/>
      <p:bldP spid="34" grpId="0" animBg="1"/>
      <p:bldP spid="36" grpId="0" animBg="1"/>
      <p:bldP spid="39" grpId="0" animBg="1"/>
    </p:bldLst>
  </p:timing>
</p:sld>
</file>

<file path=ppt/slides/slide30.xml><?xml version="1.0" encoding="utf-8"?>
<p:sld xmlns:a="http://schemas.openxmlformats.org/drawingml/2006/main" xmlns:p="http://schemas.openxmlformats.org/presentationml/2006/main" xmlns:r="http://schemas.openxmlformats.org/officeDocument/2006/relationships">
  <p:cSld name="02 구문 3">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02</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(3/3)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(2026학년도)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1808547"/>
            <a:ext cx="3214332"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③ Light is the primary factor</a:t>
            </a:r>
            <a:endParaRPr lang="en-US" altLang="ko-KR" sz="1800" dirty="0"/>
          </a:p>
        </p:txBody>
      </p:sp>
      <p:sp>
        <p:nvSpPr>
          <p:cNvPr id="8" name="reveal_24_kr"/>
          <p:cNvSpPr/>
          <p:nvPr/>
        </p:nvSpPr>
        <p:spPr>
          <a:xfrm>
            <a:off x="548640" y="2142303"/>
            <a:ext cx="3214332"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빛이 주된 요인이다</a:t>
            </a:r>
            <a:endParaRPr lang="en-US" altLang="ko-KR" sz="1450" dirty="0"/>
          </a:p>
        </p:txBody>
      </p:sp>
      <p:sp>
        <p:nvSpPr>
          <p:cNvPr id="9" name="Sep"/>
          <p:cNvSpPr/>
          <p:nvPr/>
        </p:nvSpPr>
        <p:spPr>
          <a:xfrm>
            <a:off x="3717252" y="180854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3945045" y="1808547"/>
            <a:ext cx="3402143"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controlling the body’s rhythms,</a:t>
            </a:r>
            <a:endParaRPr lang="en-US" altLang="ko-KR" sz="1800" dirty="0"/>
          </a:p>
        </p:txBody>
      </p:sp>
      <p:sp>
        <p:nvSpPr>
          <p:cNvPr id="11" name="reveal_25_kr"/>
          <p:cNvSpPr/>
          <p:nvPr/>
        </p:nvSpPr>
        <p:spPr>
          <a:xfrm>
            <a:off x="3945045" y="2142303"/>
            <a:ext cx="3402143"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신체 리듬을 통제하는</a:t>
            </a:r>
            <a:endParaRPr lang="en-US" altLang="ko-KR" sz="1450" dirty="0"/>
          </a:p>
        </p:txBody>
      </p:sp>
      <p:sp>
        <p:nvSpPr>
          <p:cNvPr id="12" name="Sep"/>
          <p:cNvSpPr/>
          <p:nvPr/>
        </p:nvSpPr>
        <p:spPr>
          <a:xfrm>
            <a:off x="7301468" y="180854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3" name="En"/>
          <p:cNvSpPr/>
          <p:nvPr/>
        </p:nvSpPr>
        <p:spPr>
          <a:xfrm>
            <a:off x="7529261" y="1808547"/>
            <a:ext cx="2838322"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and irregularly timed light</a:t>
            </a:r>
            <a:endParaRPr lang="en-US" altLang="ko-KR" sz="1800" dirty="0"/>
          </a:p>
        </p:txBody>
      </p:sp>
      <p:sp>
        <p:nvSpPr>
          <p:cNvPr id="14" name="reveal_26_kr"/>
          <p:cNvSpPr/>
          <p:nvPr/>
        </p:nvSpPr>
        <p:spPr>
          <a:xfrm>
            <a:off x="7529261" y="2142303"/>
            <a:ext cx="2838322"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그리고 불규칙한 시간대의 빛은</a:t>
            </a:r>
            <a:endParaRPr lang="en-US" altLang="ko-KR" sz="1450" dirty="0"/>
          </a:p>
        </p:txBody>
      </p:sp>
      <p:sp>
        <p:nvSpPr>
          <p:cNvPr id="15" name="En"/>
          <p:cNvSpPr/>
          <p:nvPr/>
        </p:nvSpPr>
        <p:spPr>
          <a:xfrm>
            <a:off x="548640" y="2504126"/>
            <a:ext cx="1985390"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is a common issue</a:t>
            </a:r>
            <a:endParaRPr lang="en-US" altLang="ko-KR" sz="1800" dirty="0"/>
          </a:p>
        </p:txBody>
      </p:sp>
      <p:sp>
        <p:nvSpPr>
          <p:cNvPr id="16" name="reveal_27_kr"/>
          <p:cNvSpPr/>
          <p:nvPr/>
        </p:nvSpPr>
        <p:spPr>
          <a:xfrm>
            <a:off x="548640" y="2837882"/>
            <a:ext cx="1985390"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흔한 문제이다</a:t>
            </a:r>
            <a:endParaRPr lang="en-US" altLang="ko-KR" sz="1450" dirty="0"/>
          </a:p>
        </p:txBody>
      </p:sp>
      <p:sp>
        <p:nvSpPr>
          <p:cNvPr id="17" name="Sep"/>
          <p:cNvSpPr/>
          <p:nvPr/>
        </p:nvSpPr>
        <p:spPr>
          <a:xfrm>
            <a:off x="2488310" y="2504126"/>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8" name="En"/>
          <p:cNvSpPr/>
          <p:nvPr/>
        </p:nvSpPr>
        <p:spPr>
          <a:xfrm>
            <a:off x="2716103" y="2504126"/>
            <a:ext cx="3772220"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that disrupts the sleep-wake cycle.</a:t>
            </a:r>
            <a:endParaRPr lang="en-US" altLang="ko-KR" sz="1800" dirty="0"/>
          </a:p>
        </p:txBody>
      </p:sp>
      <p:sp>
        <p:nvSpPr>
          <p:cNvPr id="19" name="reveal_28_kr"/>
          <p:cNvSpPr/>
          <p:nvPr/>
        </p:nvSpPr>
        <p:spPr>
          <a:xfrm>
            <a:off x="2716103" y="2837882"/>
            <a:ext cx="3772220"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수면-각성 주기를 교란시키는</a:t>
            </a:r>
            <a:endParaRPr lang="en-US" altLang="ko-KR" sz="1450" dirty="0"/>
          </a:p>
        </p:txBody>
      </p:sp>
      <p:sp>
        <p:nvSpPr>
          <p:cNvPr id="20" name="En"/>
          <p:cNvSpPr/>
          <p:nvPr/>
        </p:nvSpPr>
        <p:spPr>
          <a:xfrm>
            <a:off x="548640" y="3282001"/>
            <a:ext cx="223787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④ In the same way,</a:t>
            </a:r>
            <a:endParaRPr lang="en-US" altLang="ko-KR" sz="1800" dirty="0"/>
          </a:p>
        </p:txBody>
      </p:sp>
      <p:sp>
        <p:nvSpPr>
          <p:cNvPr id="21" name="reveal_29_kr"/>
          <p:cNvSpPr/>
          <p:nvPr/>
        </p:nvSpPr>
        <p:spPr>
          <a:xfrm>
            <a:off x="548640" y="3615757"/>
            <a:ext cx="223787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마찬가지로</a:t>
            </a:r>
            <a:endParaRPr lang="en-US" altLang="ko-KR" sz="1450" dirty="0"/>
          </a:p>
        </p:txBody>
      </p:sp>
      <p:sp>
        <p:nvSpPr>
          <p:cNvPr id="22" name="Sep"/>
          <p:cNvSpPr/>
          <p:nvPr/>
        </p:nvSpPr>
        <p:spPr>
          <a:xfrm>
            <a:off x="2740793" y="3282001"/>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3" name="En"/>
          <p:cNvSpPr/>
          <p:nvPr/>
        </p:nvSpPr>
        <p:spPr>
          <a:xfrm>
            <a:off x="2968586" y="3282001"/>
            <a:ext cx="196140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nocturnal animals</a:t>
            </a:r>
            <a:endParaRPr lang="en-US" altLang="ko-KR" sz="1800" dirty="0"/>
          </a:p>
        </p:txBody>
      </p:sp>
      <p:sp>
        <p:nvSpPr>
          <p:cNvPr id="24" name="reveal_30_kr"/>
          <p:cNvSpPr/>
          <p:nvPr/>
        </p:nvSpPr>
        <p:spPr>
          <a:xfrm>
            <a:off x="2968586" y="3615757"/>
            <a:ext cx="196140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야행성 동물들은</a:t>
            </a:r>
            <a:endParaRPr lang="en-US" altLang="ko-KR" sz="1450" dirty="0"/>
          </a:p>
        </p:txBody>
      </p:sp>
      <p:sp>
        <p:nvSpPr>
          <p:cNvPr id="25" name="Sep"/>
          <p:cNvSpPr/>
          <p:nvPr/>
        </p:nvSpPr>
        <p:spPr>
          <a:xfrm>
            <a:off x="4884271" y="3282001"/>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6" name="En"/>
          <p:cNvSpPr/>
          <p:nvPr/>
        </p:nvSpPr>
        <p:spPr>
          <a:xfrm>
            <a:off x="5112064" y="3282001"/>
            <a:ext cx="285160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are perfectly adapted</a:t>
            </a:r>
            <a:endParaRPr lang="en-US" altLang="ko-KR" sz="1800" dirty="0"/>
          </a:p>
        </p:txBody>
      </p:sp>
      <p:sp>
        <p:nvSpPr>
          <p:cNvPr id="27" name="reveal_31_kr"/>
          <p:cNvSpPr/>
          <p:nvPr/>
        </p:nvSpPr>
        <p:spPr>
          <a:xfrm>
            <a:off x="5112064" y="3615757"/>
            <a:ext cx="285160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완벽하게 적응된</a:t>
            </a:r>
            <a:endParaRPr lang="en-US" altLang="ko-KR" sz="1450" dirty="0"/>
          </a:p>
        </p:txBody>
      </p:sp>
      <p:sp>
        <p:nvSpPr>
          <p:cNvPr id="28" name="Sep"/>
          <p:cNvSpPr/>
          <p:nvPr/>
        </p:nvSpPr>
        <p:spPr>
          <a:xfrm>
            <a:off x="7917947" y="3282001"/>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9" name="En"/>
          <p:cNvSpPr/>
          <p:nvPr/>
        </p:nvSpPr>
        <p:spPr>
          <a:xfrm>
            <a:off x="8145740" y="3282001"/>
            <a:ext cx="278471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to move around and hunt</a:t>
            </a:r>
            <a:endParaRPr lang="en-US" altLang="ko-KR" sz="1800" dirty="0"/>
          </a:p>
        </p:txBody>
      </p:sp>
      <p:sp>
        <p:nvSpPr>
          <p:cNvPr id="30" name="reveal_32_kr"/>
          <p:cNvSpPr/>
          <p:nvPr/>
        </p:nvSpPr>
        <p:spPr>
          <a:xfrm>
            <a:off x="8145740" y="3615757"/>
            <a:ext cx="278471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돌아다니고 사냥하도록</a:t>
            </a:r>
            <a:endParaRPr lang="en-US" altLang="ko-KR" sz="1450" dirty="0"/>
          </a:p>
        </p:txBody>
      </p:sp>
      <p:sp>
        <p:nvSpPr>
          <p:cNvPr id="31" name="En"/>
          <p:cNvSpPr/>
          <p:nvPr/>
        </p:nvSpPr>
        <p:spPr>
          <a:xfrm>
            <a:off x="548640" y="3977580"/>
            <a:ext cx="265166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under dim or no light</a:t>
            </a:r>
            <a:endParaRPr lang="en-US" altLang="ko-KR" sz="1800" dirty="0"/>
          </a:p>
        </p:txBody>
      </p:sp>
      <p:sp>
        <p:nvSpPr>
          <p:cNvPr id="32" name="reveal_33_kr"/>
          <p:cNvSpPr/>
          <p:nvPr/>
        </p:nvSpPr>
        <p:spPr>
          <a:xfrm>
            <a:off x="548640" y="4311336"/>
            <a:ext cx="265166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희미하거나 전혀 없는 빛 아래서</a:t>
            </a:r>
            <a:endParaRPr lang="en-US" altLang="ko-KR" sz="1450" dirty="0"/>
          </a:p>
        </p:txBody>
      </p:sp>
      <p:sp>
        <p:nvSpPr>
          <p:cNvPr id="33" name="Sep"/>
          <p:cNvSpPr/>
          <p:nvPr/>
        </p:nvSpPr>
        <p:spPr>
          <a:xfrm>
            <a:off x="3154584" y="3977580"/>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4" name="En"/>
          <p:cNvSpPr/>
          <p:nvPr/>
        </p:nvSpPr>
        <p:spPr>
          <a:xfrm>
            <a:off x="3382377" y="3977580"/>
            <a:ext cx="315397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fail miserably during the day.</a:t>
            </a:r>
            <a:endParaRPr lang="en-US" altLang="ko-KR" sz="1800" dirty="0"/>
          </a:p>
        </p:txBody>
      </p:sp>
      <p:sp>
        <p:nvSpPr>
          <p:cNvPr id="35" name="reveal_34_kr"/>
          <p:cNvSpPr/>
          <p:nvPr/>
        </p:nvSpPr>
        <p:spPr>
          <a:xfrm>
            <a:off x="3382377" y="4311336"/>
            <a:ext cx="315397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낮 동안에는 비참하게 실패한다</a:t>
            </a:r>
            <a:endParaRPr lang="en-US" altLang="ko-KR" sz="1450" dirty="0"/>
          </a:p>
        </p:txBody>
      </p:sp>
      <p:sp>
        <p:nvSpPr>
          <p:cNvPr id="36" name="En"/>
          <p:cNvSpPr/>
          <p:nvPr/>
        </p:nvSpPr>
        <p:spPr>
          <a:xfrm>
            <a:off x="548640" y="4755455"/>
            <a:ext cx="319959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⑤ The struggle for existence</a:t>
            </a:r>
            <a:endParaRPr lang="en-US" altLang="ko-KR" sz="1800" dirty="0"/>
          </a:p>
        </p:txBody>
      </p:sp>
      <p:sp>
        <p:nvSpPr>
          <p:cNvPr id="37" name="reveal_35_kr"/>
          <p:cNvSpPr/>
          <p:nvPr/>
        </p:nvSpPr>
        <p:spPr>
          <a:xfrm>
            <a:off x="548640" y="5089211"/>
            <a:ext cx="319959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생존을 위한 투쟁은</a:t>
            </a:r>
            <a:endParaRPr lang="en-US" altLang="ko-KR" sz="1450" dirty="0"/>
          </a:p>
        </p:txBody>
      </p:sp>
      <p:sp>
        <p:nvSpPr>
          <p:cNvPr id="38" name="Sep"/>
          <p:cNvSpPr/>
          <p:nvPr/>
        </p:nvSpPr>
        <p:spPr>
          <a:xfrm>
            <a:off x="3702510" y="475545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9" name="En"/>
          <p:cNvSpPr/>
          <p:nvPr/>
        </p:nvSpPr>
        <p:spPr>
          <a:xfrm>
            <a:off x="3930303" y="4755455"/>
            <a:ext cx="436593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has forced species to become specialists</a:t>
            </a:r>
            <a:endParaRPr lang="en-US" altLang="ko-KR" sz="1800" dirty="0"/>
          </a:p>
        </p:txBody>
      </p:sp>
      <p:sp>
        <p:nvSpPr>
          <p:cNvPr id="40" name="reveal_36_kr"/>
          <p:cNvSpPr/>
          <p:nvPr/>
        </p:nvSpPr>
        <p:spPr>
          <a:xfrm>
            <a:off x="3930303" y="5089211"/>
            <a:ext cx="436593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종들이 전문가가 되도록 강요해 왔다</a:t>
            </a:r>
            <a:endParaRPr lang="en-US" altLang="ko-KR" sz="1450" dirty="0"/>
          </a:p>
        </p:txBody>
      </p:sp>
      <p:sp>
        <p:nvSpPr>
          <p:cNvPr id="41" name="Sep"/>
          <p:cNvSpPr/>
          <p:nvPr/>
        </p:nvSpPr>
        <p:spPr>
          <a:xfrm>
            <a:off x="8250519" y="475545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42" name="En"/>
          <p:cNvSpPr/>
          <p:nvPr/>
        </p:nvSpPr>
        <p:spPr>
          <a:xfrm>
            <a:off x="8478312" y="4755455"/>
            <a:ext cx="214419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not generalists,</a:t>
            </a:r>
            <a:endParaRPr lang="en-US" altLang="ko-KR" sz="1800" dirty="0"/>
          </a:p>
        </p:txBody>
      </p:sp>
      <p:sp>
        <p:nvSpPr>
          <p:cNvPr id="43" name="reveal_37_kr"/>
          <p:cNvSpPr/>
          <p:nvPr/>
        </p:nvSpPr>
        <p:spPr>
          <a:xfrm>
            <a:off x="8478312" y="5089211"/>
            <a:ext cx="214419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그리고 일반가가 아니라</a:t>
            </a:r>
            <a:endParaRPr lang="en-US" altLang="ko-KR" sz="1450" dirty="0"/>
          </a:p>
        </p:txBody>
      </p:sp>
      <p:sp>
        <p:nvSpPr>
          <p:cNvPr id="44" name="En"/>
          <p:cNvSpPr/>
          <p:nvPr/>
        </p:nvSpPr>
        <p:spPr>
          <a:xfrm>
            <a:off x="548640" y="5451034"/>
            <a:ext cx="295146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no species can operate</a:t>
            </a:r>
            <a:endParaRPr lang="en-US" altLang="ko-KR" sz="1800" dirty="0"/>
          </a:p>
        </p:txBody>
      </p:sp>
      <p:sp>
        <p:nvSpPr>
          <p:cNvPr id="45" name="reveal_38_kr"/>
          <p:cNvSpPr/>
          <p:nvPr/>
        </p:nvSpPr>
        <p:spPr>
          <a:xfrm>
            <a:off x="548640" y="5784790"/>
            <a:ext cx="295146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그리고 어떤 종도 작동할 수 없다</a:t>
            </a:r>
            <a:endParaRPr lang="en-US" altLang="ko-KR" sz="1450" dirty="0"/>
          </a:p>
        </p:txBody>
      </p:sp>
      <p:sp>
        <p:nvSpPr>
          <p:cNvPr id="46" name="Sep"/>
          <p:cNvSpPr/>
          <p:nvPr/>
        </p:nvSpPr>
        <p:spPr>
          <a:xfrm>
            <a:off x="3454385" y="545103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47" name="En"/>
          <p:cNvSpPr/>
          <p:nvPr/>
        </p:nvSpPr>
        <p:spPr>
          <a:xfrm>
            <a:off x="3682178" y="5451034"/>
            <a:ext cx="303375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with the same effectiveness</a:t>
            </a:r>
            <a:endParaRPr lang="en-US" altLang="ko-KR" sz="1800" dirty="0"/>
          </a:p>
        </p:txBody>
      </p:sp>
      <p:sp>
        <p:nvSpPr>
          <p:cNvPr id="48" name="reveal_39_kr"/>
          <p:cNvSpPr/>
          <p:nvPr/>
        </p:nvSpPr>
        <p:spPr>
          <a:xfrm>
            <a:off x="3682178" y="5784790"/>
            <a:ext cx="303375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동일한 효율성으로</a:t>
            </a:r>
            <a:endParaRPr lang="en-US" altLang="ko-KR" sz="1450" dirty="0"/>
          </a:p>
        </p:txBody>
      </p:sp>
      <p:sp>
        <p:nvSpPr>
          <p:cNvPr id="49" name="Sep"/>
          <p:cNvSpPr/>
          <p:nvPr/>
        </p:nvSpPr>
        <p:spPr>
          <a:xfrm>
            <a:off x="6670213" y="545103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50" name="En"/>
          <p:cNvSpPr/>
          <p:nvPr/>
        </p:nvSpPr>
        <p:spPr>
          <a:xfrm>
            <a:off x="6898006" y="5451034"/>
            <a:ext cx="471170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across the 24-hour light/dark environment.</a:t>
            </a:r>
            <a:endParaRPr lang="en-US" altLang="ko-KR" sz="1800" dirty="0"/>
          </a:p>
        </p:txBody>
      </p:sp>
      <p:sp>
        <p:nvSpPr>
          <p:cNvPr id="51" name="reveal_40_kr"/>
          <p:cNvSpPr/>
          <p:nvPr/>
        </p:nvSpPr>
        <p:spPr>
          <a:xfrm>
            <a:off x="6898006" y="5784790"/>
            <a:ext cx="471170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24시간의 명암 환경 전체에 걸쳐</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0-#ppt_w/2"/>
                                          </p:val>
                                        </p:tav>
                                        <p:tav tm="100000">
                                          <p:val>
                                            <p:strVal val="#ppt_x"/>
                                          </p:val>
                                        </p:tav>
                                      </p:tavLst>
                                    </p:anim>
                                    <p:anim calcmode="lin" valueType="num">
                                      <p:cBhvr additive="base">
                                        <p:cTn id="3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0-#ppt_w/2"/>
                                          </p:val>
                                        </p:tav>
                                        <p:tav tm="100000">
                                          <p:val>
                                            <p:strVal val="#ppt_x"/>
                                          </p:val>
                                        </p:tav>
                                      </p:tavLst>
                                    </p:anim>
                                    <p:anim calcmode="lin" valueType="num">
                                      <p:cBhvr additive="base">
                                        <p:cTn id="44"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7"/>
                                        </p:tgtEl>
                                        <p:attrNameLst>
                                          <p:attrName>style.visibility</p:attrName>
                                        </p:attrNameLst>
                                      </p:cBhvr>
                                      <p:to>
                                        <p:strVal val="visible"/>
                                      </p:to>
                                    </p:set>
                                    <p:anim calcmode="lin" valueType="num">
                                      <p:cBhvr additive="base">
                                        <p:cTn id="49" dur="500" fill="hold"/>
                                        <p:tgtEl>
                                          <p:spTgt spid="27"/>
                                        </p:tgtEl>
                                        <p:attrNameLst>
                                          <p:attrName>ppt_x</p:attrName>
                                        </p:attrNameLst>
                                      </p:cBhvr>
                                      <p:tavLst>
                                        <p:tav tm="0">
                                          <p:val>
                                            <p:strVal val="0-#ppt_w/2"/>
                                          </p:val>
                                        </p:tav>
                                        <p:tav tm="100000">
                                          <p:val>
                                            <p:strVal val="#ppt_x"/>
                                          </p:val>
                                        </p:tav>
                                      </p:tavLst>
                                    </p:anim>
                                    <p:anim calcmode="lin" valueType="num">
                                      <p:cBhvr additive="base">
                                        <p:cTn id="50"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30"/>
                                        </p:tgtEl>
                                        <p:attrNameLst>
                                          <p:attrName>style.visibility</p:attrName>
                                        </p:attrNameLst>
                                      </p:cBhvr>
                                      <p:to>
                                        <p:strVal val="visible"/>
                                      </p:to>
                                    </p:set>
                                    <p:anim calcmode="lin" valueType="num">
                                      <p:cBhvr additive="base">
                                        <p:cTn id="55" dur="500" fill="hold"/>
                                        <p:tgtEl>
                                          <p:spTgt spid="30"/>
                                        </p:tgtEl>
                                        <p:attrNameLst>
                                          <p:attrName>ppt_x</p:attrName>
                                        </p:attrNameLst>
                                      </p:cBhvr>
                                      <p:tavLst>
                                        <p:tav tm="0">
                                          <p:val>
                                            <p:strVal val="0-#ppt_w/2"/>
                                          </p:val>
                                        </p:tav>
                                        <p:tav tm="100000">
                                          <p:val>
                                            <p:strVal val="#ppt_x"/>
                                          </p:val>
                                        </p:tav>
                                      </p:tavLst>
                                    </p:anim>
                                    <p:anim calcmode="lin" valueType="num">
                                      <p:cBhvr additive="base">
                                        <p:cTn id="56" dur="500" fill="hold"/>
                                        <p:tgtEl>
                                          <p:spTgt spid="30"/>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2"/>
                                        </p:tgtEl>
                                        <p:attrNameLst>
                                          <p:attrName>style.visibility</p:attrName>
                                        </p:attrNameLst>
                                      </p:cBhvr>
                                      <p:to>
                                        <p:strVal val="visible"/>
                                      </p:to>
                                    </p:set>
                                    <p:anim calcmode="lin" valueType="num">
                                      <p:cBhvr additive="base">
                                        <p:cTn id="61" dur="500" fill="hold"/>
                                        <p:tgtEl>
                                          <p:spTgt spid="32"/>
                                        </p:tgtEl>
                                        <p:attrNameLst>
                                          <p:attrName>ppt_x</p:attrName>
                                        </p:attrNameLst>
                                      </p:cBhvr>
                                      <p:tavLst>
                                        <p:tav tm="0">
                                          <p:val>
                                            <p:strVal val="0-#ppt_w/2"/>
                                          </p:val>
                                        </p:tav>
                                        <p:tav tm="100000">
                                          <p:val>
                                            <p:strVal val="#ppt_x"/>
                                          </p:val>
                                        </p:tav>
                                      </p:tavLst>
                                    </p:anim>
                                    <p:anim calcmode="lin" valueType="num">
                                      <p:cBhvr additive="base">
                                        <p:cTn id="62" dur="500" fill="hold"/>
                                        <p:tgtEl>
                                          <p:spTgt spid="32"/>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additive="base">
                                        <p:cTn id="66" dur="1" fill="hold">
                                          <p:stCondLst>
                                            <p:cond delay="0"/>
                                          </p:stCondLst>
                                        </p:cTn>
                                        <p:tgtEl>
                                          <p:spTgt spid="35"/>
                                        </p:tgtEl>
                                        <p:attrNameLst>
                                          <p:attrName>style.visibility</p:attrName>
                                        </p:attrNameLst>
                                      </p:cBhvr>
                                      <p:to>
                                        <p:strVal val="visible"/>
                                      </p:to>
                                    </p:set>
                                    <p:anim calcmode="lin" valueType="num">
                                      <p:cBhvr additive="base">
                                        <p:cTn id="67" dur="500" fill="hold"/>
                                        <p:tgtEl>
                                          <p:spTgt spid="35"/>
                                        </p:tgtEl>
                                        <p:attrNameLst>
                                          <p:attrName>ppt_x</p:attrName>
                                        </p:attrNameLst>
                                      </p:cBhvr>
                                      <p:tavLst>
                                        <p:tav tm="0">
                                          <p:val>
                                            <p:strVal val="0-#ppt_w/2"/>
                                          </p:val>
                                        </p:tav>
                                        <p:tav tm="100000">
                                          <p:val>
                                            <p:strVal val="#ppt_x"/>
                                          </p:val>
                                        </p:tav>
                                      </p:tavLst>
                                    </p:anim>
                                    <p:anim calcmode="lin" valueType="num">
                                      <p:cBhvr additive="base">
                                        <p:cTn id="68" dur="500" fill="hold"/>
                                        <p:tgtEl>
                                          <p:spTgt spid="35"/>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additive="base">
                                        <p:cTn id="72" dur="1" fill="hold">
                                          <p:stCondLst>
                                            <p:cond delay="0"/>
                                          </p:stCondLst>
                                        </p:cTn>
                                        <p:tgtEl>
                                          <p:spTgt spid="37"/>
                                        </p:tgtEl>
                                        <p:attrNameLst>
                                          <p:attrName>style.visibility</p:attrName>
                                        </p:attrNameLst>
                                      </p:cBhvr>
                                      <p:to>
                                        <p:strVal val="visible"/>
                                      </p:to>
                                    </p:set>
                                    <p:anim calcmode="lin" valueType="num">
                                      <p:cBhvr additive="base">
                                        <p:cTn id="73" dur="500" fill="hold"/>
                                        <p:tgtEl>
                                          <p:spTgt spid="37"/>
                                        </p:tgtEl>
                                        <p:attrNameLst>
                                          <p:attrName>ppt_x</p:attrName>
                                        </p:attrNameLst>
                                      </p:cBhvr>
                                      <p:tavLst>
                                        <p:tav tm="0">
                                          <p:val>
                                            <p:strVal val="0-#ppt_w/2"/>
                                          </p:val>
                                        </p:tav>
                                        <p:tav tm="100000">
                                          <p:val>
                                            <p:strVal val="#ppt_x"/>
                                          </p:val>
                                        </p:tav>
                                      </p:tavLst>
                                    </p:anim>
                                    <p:anim calcmode="lin" valueType="num">
                                      <p:cBhvr additive="base">
                                        <p:cTn id="74"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additive="base">
                                        <p:cTn id="78" dur="1" fill="hold">
                                          <p:stCondLst>
                                            <p:cond delay="0"/>
                                          </p:stCondLst>
                                        </p:cTn>
                                        <p:tgtEl>
                                          <p:spTgt spid="40"/>
                                        </p:tgtEl>
                                        <p:attrNameLst>
                                          <p:attrName>style.visibility</p:attrName>
                                        </p:attrNameLst>
                                      </p:cBhvr>
                                      <p:to>
                                        <p:strVal val="visible"/>
                                      </p:to>
                                    </p:set>
                                    <p:anim calcmode="lin" valueType="num">
                                      <p:cBhvr additive="base">
                                        <p:cTn id="79" dur="500" fill="hold"/>
                                        <p:tgtEl>
                                          <p:spTgt spid="40"/>
                                        </p:tgtEl>
                                        <p:attrNameLst>
                                          <p:attrName>ppt_x</p:attrName>
                                        </p:attrNameLst>
                                      </p:cBhvr>
                                      <p:tavLst>
                                        <p:tav tm="0">
                                          <p:val>
                                            <p:strVal val="0-#ppt_w/2"/>
                                          </p:val>
                                        </p:tav>
                                        <p:tav tm="100000">
                                          <p:val>
                                            <p:strVal val="#ppt_x"/>
                                          </p:val>
                                        </p:tav>
                                      </p:tavLst>
                                    </p:anim>
                                    <p:anim calcmode="lin" valueType="num">
                                      <p:cBhvr additive="base">
                                        <p:cTn id="80" dur="500" fill="hold"/>
                                        <p:tgtEl>
                                          <p:spTgt spid="40"/>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additive="base">
                                        <p:cTn id="84" dur="1" fill="hold">
                                          <p:stCondLst>
                                            <p:cond delay="0"/>
                                          </p:stCondLst>
                                        </p:cTn>
                                        <p:tgtEl>
                                          <p:spTgt spid="43"/>
                                        </p:tgtEl>
                                        <p:attrNameLst>
                                          <p:attrName>style.visibility</p:attrName>
                                        </p:attrNameLst>
                                      </p:cBhvr>
                                      <p:to>
                                        <p:strVal val="visible"/>
                                      </p:to>
                                    </p:set>
                                    <p:anim calcmode="lin" valueType="num">
                                      <p:cBhvr additive="base">
                                        <p:cTn id="85" dur="500" fill="hold"/>
                                        <p:tgtEl>
                                          <p:spTgt spid="43"/>
                                        </p:tgtEl>
                                        <p:attrNameLst>
                                          <p:attrName>ppt_x</p:attrName>
                                        </p:attrNameLst>
                                      </p:cBhvr>
                                      <p:tavLst>
                                        <p:tav tm="0">
                                          <p:val>
                                            <p:strVal val="0-#ppt_w/2"/>
                                          </p:val>
                                        </p:tav>
                                        <p:tav tm="100000">
                                          <p:val>
                                            <p:strVal val="#ppt_x"/>
                                          </p:val>
                                        </p:tav>
                                      </p:tavLst>
                                    </p:anim>
                                    <p:anim calcmode="lin" valueType="num">
                                      <p:cBhvr additive="base">
                                        <p:cTn id="86" dur="500" fill="hold"/>
                                        <p:tgtEl>
                                          <p:spTgt spid="43"/>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additive="base">
                                        <p:cTn id="90" dur="1" fill="hold">
                                          <p:stCondLst>
                                            <p:cond delay="0"/>
                                          </p:stCondLst>
                                        </p:cTn>
                                        <p:tgtEl>
                                          <p:spTgt spid="45"/>
                                        </p:tgtEl>
                                        <p:attrNameLst>
                                          <p:attrName>style.visibility</p:attrName>
                                        </p:attrNameLst>
                                      </p:cBhvr>
                                      <p:to>
                                        <p:strVal val="visible"/>
                                      </p:to>
                                    </p:set>
                                    <p:anim calcmode="lin" valueType="num">
                                      <p:cBhvr additive="base">
                                        <p:cTn id="91" dur="500" fill="hold"/>
                                        <p:tgtEl>
                                          <p:spTgt spid="45"/>
                                        </p:tgtEl>
                                        <p:attrNameLst>
                                          <p:attrName>ppt_x</p:attrName>
                                        </p:attrNameLst>
                                      </p:cBhvr>
                                      <p:tavLst>
                                        <p:tav tm="0">
                                          <p:val>
                                            <p:strVal val="0-#ppt_w/2"/>
                                          </p:val>
                                        </p:tav>
                                        <p:tav tm="100000">
                                          <p:val>
                                            <p:strVal val="#ppt_x"/>
                                          </p:val>
                                        </p:tav>
                                      </p:tavLst>
                                    </p:anim>
                                    <p:anim calcmode="lin" valueType="num">
                                      <p:cBhvr additive="base">
                                        <p:cTn id="92" dur="500" fill="hold"/>
                                        <p:tgtEl>
                                          <p:spTgt spid="45"/>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additive="base">
                                        <p:cTn id="96" dur="1" fill="hold">
                                          <p:stCondLst>
                                            <p:cond delay="0"/>
                                          </p:stCondLst>
                                        </p:cTn>
                                        <p:tgtEl>
                                          <p:spTgt spid="48"/>
                                        </p:tgtEl>
                                        <p:attrNameLst>
                                          <p:attrName>style.visibility</p:attrName>
                                        </p:attrNameLst>
                                      </p:cBhvr>
                                      <p:to>
                                        <p:strVal val="visible"/>
                                      </p:to>
                                    </p:set>
                                    <p:anim calcmode="lin" valueType="num">
                                      <p:cBhvr additive="base">
                                        <p:cTn id="97" dur="500" fill="hold"/>
                                        <p:tgtEl>
                                          <p:spTgt spid="48"/>
                                        </p:tgtEl>
                                        <p:attrNameLst>
                                          <p:attrName>ppt_x</p:attrName>
                                        </p:attrNameLst>
                                      </p:cBhvr>
                                      <p:tavLst>
                                        <p:tav tm="0">
                                          <p:val>
                                            <p:strVal val="0-#ppt_w/2"/>
                                          </p:val>
                                        </p:tav>
                                        <p:tav tm="100000">
                                          <p:val>
                                            <p:strVal val="#ppt_x"/>
                                          </p:val>
                                        </p:tav>
                                      </p:tavLst>
                                    </p:anim>
                                    <p:anim calcmode="lin" valueType="num">
                                      <p:cBhvr additive="base">
                                        <p:cTn id="98" dur="500" fill="hold"/>
                                        <p:tgtEl>
                                          <p:spTgt spid="48"/>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additive="base">
                                        <p:cTn id="102" dur="1" fill="hold">
                                          <p:stCondLst>
                                            <p:cond delay="0"/>
                                          </p:stCondLst>
                                        </p:cTn>
                                        <p:tgtEl>
                                          <p:spTgt spid="51"/>
                                        </p:tgtEl>
                                        <p:attrNameLst>
                                          <p:attrName>style.visibility</p:attrName>
                                        </p:attrNameLst>
                                      </p:cBhvr>
                                      <p:to>
                                        <p:strVal val="visible"/>
                                      </p:to>
                                    </p:set>
                                    <p:anim calcmode="lin" valueType="num">
                                      <p:cBhvr additive="base">
                                        <p:cTn id="103" dur="500" fill="hold"/>
                                        <p:tgtEl>
                                          <p:spTgt spid="51"/>
                                        </p:tgtEl>
                                        <p:attrNameLst>
                                          <p:attrName>ppt_x</p:attrName>
                                        </p:attrNameLst>
                                      </p:cBhvr>
                                      <p:tavLst>
                                        <p:tav tm="0">
                                          <p:val>
                                            <p:strVal val="0-#ppt_w/2"/>
                                          </p:val>
                                        </p:tav>
                                        <p:tav tm="100000">
                                          <p:val>
                                            <p:strVal val="#ppt_x"/>
                                          </p:val>
                                        </p:tav>
                                      </p:tavLst>
                                    </p:anim>
                                    <p:anim calcmode="lin" valueType="num">
                                      <p:cBhvr additive="base">
                                        <p:cTn id="104" dur="500" fill="hold"/>
                                        <p:tgtEl>
                                          <p:spTgt spid="5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6" grpId="0" animBg="1"/>
      <p:bldP spid="19" grpId="0" animBg="1"/>
      <p:bldP spid="21" grpId="0" animBg="1"/>
      <p:bldP spid="24" grpId="0" animBg="1"/>
      <p:bldP spid="27" grpId="0" animBg="1"/>
      <p:bldP spid="30" grpId="0" animBg="1"/>
      <p:bldP spid="32" grpId="0" animBg="1"/>
      <p:bldP spid="35" grpId="0" animBg="1"/>
      <p:bldP spid="37" grpId="0" animBg="1"/>
      <p:bldP spid="40" grpId="0" animBg="1"/>
      <p:bldP spid="43" grpId="0" animBg="1"/>
      <p:bldP spid="45" grpId="0" animBg="1"/>
      <p:bldP spid="48" grpId="0" animBg="1"/>
      <p:bldP spid="51" grpId="0" animBg="1"/>
    </p:bldLst>
  </p:timing>
</p:sld>
</file>

<file path=ppt/slides/slide31.xml><?xml version="1.0" encoding="utf-8"?>
<p:sld xmlns:a="http://schemas.openxmlformats.org/drawingml/2006/main" xmlns:p="http://schemas.openxmlformats.org/presentationml/2006/main" xmlns:r="http://schemas.openxmlformats.org/officeDocument/2006/relationships">
  <p:cSld name="02 문제">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02</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2025년 5월 35번 — 무관한 문장 찾기</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(2026학년도)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클릭하면 정답이 노란 박스로 나타납니다</a:t>
            </a:r>
            <a:endParaRPr lang="en-US" altLang="ko-KR" sz="1100" dirty="0"/>
          </a:p>
        </p:txBody>
      </p:sp>
      <p:sp>
        <p:nvSpPr>
          <p:cNvPr id="7" name="Prompt"/>
          <p:cNvSpPr/>
          <p:nvPr/>
        </p:nvSpPr>
        <p:spPr>
          <a:xfrm>
            <a:off x="548640" y="1325880"/>
            <a:ext cx="11091672" cy="324000"/>
          </a:xfrm>
          <a:prstGeom prst="rect">
            <a:avLst/>
          </a:prstGeom>
          <a:noFill/>
          <a:ln>
            <a:noFill/>
          </a:ln>
        </p:spPr>
        <p:txBody>
          <a:bodyPr wrap="square" lIns="0" tIns="0" rIns="0" bIns="0" rtlCol="0" anchor="ctr"/>
          <a:lstStyle/>
          <a:p>
            <a:pPr marL="0" indent="0">
              <a:buNone/>
            </a:pPr>
            <a:r>
              <a:rPr lang="en-US" altLang="ko-KR" sz="1300" b="1" dirty="0">
                <a:solidFill>
                  <a:srgbClr val="1E2761"/>
                </a:solidFill>
                <a:latin typeface="맑은 고딕" pitchFamily="34" charset="0"/>
                <a:ea typeface="맑은 고딕" pitchFamily="34" charset="-122"/>
                <a:cs typeface="맑은 고딕" pitchFamily="34" charset="-120"/>
              </a:rPr>
              <a:t>다음 글에서 전체 흐름과 관계 </a:t>
            </a:r>
            <a:r>
              <a:rPr lang="en-US" altLang="ko-KR" sz="1300" b="1" u="sng" dirty="0">
                <a:solidFill>
                  <a:srgbClr val="1E2761"/>
                </a:solidFill>
                <a:latin typeface="맑은 고딕" pitchFamily="34" charset="0"/>
                <a:ea typeface="맑은 고딕" pitchFamily="34" charset="-122"/>
                <a:cs typeface="맑은 고딕" pitchFamily="34" charset="-120"/>
              </a:rPr>
              <a:t>없는</a:t>
            </a:r>
            <a:r>
              <a:rPr lang="en-US" altLang="ko-KR" sz="1300" b="1" dirty="0">
                <a:solidFill>
                  <a:srgbClr val="1E2761"/>
                </a:solidFill>
                <a:latin typeface="맑은 고딕" pitchFamily="34" charset="0"/>
                <a:ea typeface="맑은 고딕" pitchFamily="34" charset="-122"/>
                <a:cs typeface="맑은 고딕" pitchFamily="34" charset="-120"/>
              </a:rPr>
              <a:t> 문장은?</a:t>
            </a:r>
            <a:endParaRPr lang="en-US" altLang="ko-KR" sz="1300" dirty="0"/>
          </a:p>
        </p:txBody>
      </p:sp>
      <p:sp>
        <p:nvSpPr>
          <p:cNvPr id="8" name="Passage"/>
          <p:cNvSpPr/>
          <p:nvPr/>
        </p:nvSpPr>
        <p:spPr>
          <a:xfrm>
            <a:off x="548640" y="1787040"/>
            <a:ext cx="11091672" cy="2380436"/>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solidFill>
                <a:latin typeface="Calibri" pitchFamily="34" charset="0"/>
                <a:ea typeface="Calibri" pitchFamily="34" charset="-122"/>
                <a:cs typeface="Calibri" pitchFamily="34" charset="-120"/>
              </a:rPr>
              <a:t>Almost all life shows a 24-hour pattern of activity and rest, even bacteria. It seems very likely that this rhythm evolved as a result of living on a planet that rotates once every 24 hours and that the resultant changes in light, temperature and food availability forced an adaptive evolutionary response. ① Diurnal and nocturnal species have evolved numerous specializations that have allowed them to perform best under the different conditions of light or dark, but, critically, not both. ② Life seems to have made an evolutionary ‘decision’ to be active at a specific part of the day/night cycle, and, as a result, those species that are specialized to be active during the day will not be particularly effective at night. </a:t>
            </a:r>
            <a:r>
              <a:rPr lang="en-US" altLang="ko-KR" sz="1400" dirty="0">
                <a:solidFill>
                  <a:srgbClr val="333333"/>
                </a:solidFill>
                <a:latin typeface="Calibri" pitchFamily="34" charset="0"/>
                <a:ea typeface="Calibri" pitchFamily="34" charset="-122"/>
                <a:cs typeface="Calibri" pitchFamily="34" charset="-120"/>
              </a:rPr>
              <a:t>③ Light is the primary factor controlling the body’s rhythms, and irregularly timed light is a common issue that disrupts the sleep-wake cycle.</a:t>
            </a:r>
            <a:r>
              <a:rPr lang="en-US" altLang="ko-KR" sz="1400" dirty="0">
                <a:solidFill>
                  <a:srgbClr val="333333"/>
                </a:solidFill>
                <a:latin typeface="Calibri" pitchFamily="34" charset="0"/>
                <a:ea typeface="Calibri" pitchFamily="34" charset="-122"/>
                <a:cs typeface="Calibri" pitchFamily="34" charset="-120"/>
              </a:rPr>
              <a:t> ④ In the same way, nocturnal animals that are perfectly adapted to move around and hunt under dim or no light fail miserably during the day. ⑤ The struggle for existence has forced species to become specialists and not generalists, and no species can operate with the same effectiveness across the 24-hour light/dark environment.</a:t>
            </a:r>
            <a:endParaRPr lang="en-US" altLang="ko-KR" sz="1400" dirty="0"/>
          </a:p>
        </p:txBody>
      </p:sp>
      <p:sp>
        <p:nvSpPr>
          <p:cNvPr id="9" name="AnsOverlay"/>
          <p:cNvSpPr/>
          <p:nvPr/>
        </p:nvSpPr>
        <p:spPr>
          <a:xfrm>
            <a:off x="548640" y="1787040"/>
            <a:ext cx="11091672" cy="2380436"/>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alpha val="0"/>
                  </a:srgbClr>
                </a:solidFill>
                <a:latin typeface="Calibri" pitchFamily="34" charset="0"/>
                <a:ea typeface="Calibri" pitchFamily="34" charset="-122"/>
                <a:cs typeface="Calibri" pitchFamily="34" charset="-120"/>
              </a:rPr>
              <a:t>Almost all life shows a 24-hour pattern of activity and rest, even bacteria. It seems very likely that this rhythm evolved as a result of living on a planet that rotates once every 24 hours and that the resultant changes in light, temperature and food availability forced an adaptive evolutionary response. ① Diurnal and nocturnal species have evolved numerous specializations that have allowed them to perform best under the different conditions of light or dark, but, critically, not both. ② Life seems to have made an evolutionary ‘decision’ to be active at a specific part of the day/night cycle, and, as a result, those species that are specialized to be active during the day will not be particularly effective at night. </a:t>
            </a:r>
            <a:r>
              <a:rPr lang="en-US" altLang="ko-KR" sz="1400" dirty="0">
                <a:solidFill>
                  <a:srgbClr val="C00000"/>
                </a:solidFill>
                <a:latin typeface="Calibri" pitchFamily="34" charset="0"/>
                <a:ea typeface="Calibri" pitchFamily="34" charset="-122"/>
                <a:cs typeface="Calibri" pitchFamily="34" charset="-120"/>
              </a:rPr>
              <a:t>③ Light is the primary factor controlling the body’s rhythms, and irregularly timed light is a common issue that disrupts the sleep-wake cycle.</a:t>
            </a:r>
            <a:r>
              <a:rPr lang="en-US" altLang="ko-KR" sz="1400" dirty="0">
                <a:solidFill>
                  <a:srgbClr val="333333">
                    <a:alpha val="0"/>
                  </a:srgbClr>
                </a:solidFill>
                <a:latin typeface="Calibri" pitchFamily="34" charset="0"/>
                <a:ea typeface="Calibri" pitchFamily="34" charset="-122"/>
                <a:cs typeface="Calibri" pitchFamily="34" charset="-120"/>
              </a:rPr>
              <a:t> ④ In the same way, nocturnal animals that are perfectly adapted to move around and hunt under dim or no light fail miserably during the day. ⑤ The struggle for existence has forced species to become specialists and not generalists, and no species can operate with the same effectiveness across the 24-hour light/dark environment.</a:t>
            </a:r>
            <a:endParaRPr lang="en-US" altLang="ko-KR" sz="1400" dirty="0"/>
          </a:p>
        </p:txBody>
      </p:sp>
      <p:sp>
        <p:nvSpPr>
          <p:cNvPr id="10" name="Notes"/>
          <p:cNvSpPr/>
          <p:nvPr/>
        </p:nvSpPr>
        <p:spPr>
          <a:xfrm>
            <a:off x="548640" y="4304636"/>
            <a:ext cx="11091672" cy="274320"/>
          </a:xfrm>
          <a:prstGeom prst="rect">
            <a:avLst/>
          </a:prstGeom>
          <a:noFill/>
          <a:ln>
            <a:noFill/>
          </a:ln>
        </p:spPr>
        <p:txBody>
          <a:bodyPr wrap="square" lIns="0" tIns="0" rIns="0" bIns="0" rtlCol="0" anchor="t"/>
          <a:lstStyle/>
          <a:p>
            <a:pPr marL="0" indent="0">
              <a:buNone/>
            </a:pPr>
            <a:r>
              <a:rPr lang="en-US" altLang="ko-KR" sz="1050" i="1" dirty="0">
                <a:solidFill>
                  <a:srgbClr val="8A8A8A"/>
                </a:solidFill>
                <a:latin typeface="맑은 고딕" pitchFamily="34" charset="0"/>
                <a:ea typeface="맑은 고딕" pitchFamily="34" charset="-122"/>
                <a:cs typeface="맑은 고딕" pitchFamily="34" charset="-120"/>
              </a:rPr>
              <a:t>♦ diurnal: 낮에 활동하는 ♦♦ nocturnal: 밤에 활동하는</a:t>
            </a:r>
            <a:endParaRPr lang="en-US" altLang="ko-KR" sz="1050" dirty="0"/>
          </a:p>
        </p:txBody>
      </p:sp>
      <p:sp>
        <p:nvSpPr>
          <p:cNvPr id="11" name="AnsBg"/>
          <p:cNvSpPr/>
          <p:nvPr/>
        </p:nvSpPr>
        <p:spPr>
          <a:xfrm>
            <a:off x="548640" y="4701356"/>
            <a:ext cx="11091672" cy="457200"/>
          </a:xfrm>
          <a:prstGeom prst="rect">
            <a:avLst/>
          </a:prstGeom>
          <a:solidFill>
            <a:srgbClr val="FFF4CC"/>
          </a:solidFill>
          <a:ln>
            <a:noFill/>
          </a:ln>
        </p:spPr>
        <p:txBody>
          <a:bodyPr/>
          <a:lstStyle/>
          <a:p>
            <a:endParaRPr lang="ko-KR" altLang="en-US"/>
          </a:p>
        </p:txBody>
      </p:sp>
      <p:sp>
        <p:nvSpPr>
          <p:cNvPr id="12" name="reveal_2_en"/>
          <p:cNvSpPr/>
          <p:nvPr/>
        </p:nvSpPr>
        <p:spPr>
          <a:xfrm>
            <a:off x="732240" y="4701356"/>
            <a:ext cx="10724472" cy="457200"/>
          </a:xfrm>
          <a:prstGeom prst="rect">
            <a:avLst/>
          </a:prstGeom>
          <a:noFill/>
          <a:ln>
            <a:noFill/>
          </a:ln>
        </p:spPr>
        <p:txBody>
          <a:bodyPr wrap="square" lIns="0" tIns="0" rIns="0" bIns="0" rtlCol="0" anchor="ctr"/>
          <a:lstStyle/>
          <a:p>
            <a:pPr marL="0" indent="0">
              <a:buNone/>
            </a:pPr>
            <a:r>
              <a:rPr lang="en-US" altLang="ko-KR" sz="1500" b="1" dirty="0">
                <a:solidFill>
                  <a:srgbClr val="5A4200"/>
                </a:solidFill>
                <a:latin typeface="맑은 고딕" pitchFamily="34" charset="0"/>
                <a:ea typeface="맑은 고딕" pitchFamily="34" charset="-122"/>
                <a:cs typeface="맑은 고딕" pitchFamily="34" charset="-120"/>
              </a:rPr>
              <a:t>정답   ③</a:t>
            </a:r>
            <a:endParaRPr lang="en-US" altLang="ko-KR"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additive="base">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additive="base">
                                        <p:cTn id="8" dur="1" fill="hold">
                                          <p:stCondLst>
                                            <p:cond delay="0"/>
                                          </p:stCondLst>
                                        </p:cTn>
                                        <p:tgtEl>
                                          <p:spTgt spid="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additive="base">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9" grpId="0" animBg="1"/>
    </p:bldLst>
  </p:timing>
</p:sld>
</file>

<file path=ppt/slides/slide32.xml><?xml version="1.0" encoding="utf-8"?>
<p:sld xmlns:a="http://schemas.openxmlformats.org/drawingml/2006/main" xmlns:p="http://schemas.openxmlformats.org/presentationml/2006/main" xmlns:r="http://schemas.openxmlformats.org/officeDocument/2006/relationships">
  <p:cSld name="06 구문 1">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06</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(1/3)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(2026학년도)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2156337"/>
            <a:ext cx="361863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We often use the word ignorance</a:t>
            </a:r>
            <a:endParaRPr lang="en-US" altLang="ko-KR" sz="1800" dirty="0"/>
          </a:p>
        </p:txBody>
      </p:sp>
      <p:sp>
        <p:nvSpPr>
          <p:cNvPr id="8" name="reveal_1_kr"/>
          <p:cNvSpPr/>
          <p:nvPr/>
        </p:nvSpPr>
        <p:spPr>
          <a:xfrm>
            <a:off x="548640" y="2490093"/>
            <a:ext cx="361863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우리는 흔히 무지라는 단어를 사용한다</a:t>
            </a:r>
            <a:endParaRPr lang="en-US" altLang="ko-KR" sz="1450" dirty="0"/>
          </a:p>
        </p:txBody>
      </p:sp>
      <p:sp>
        <p:nvSpPr>
          <p:cNvPr id="9" name="Sep"/>
          <p:cNvSpPr/>
          <p:nvPr/>
        </p:nvSpPr>
        <p:spPr>
          <a:xfrm>
            <a:off x="4121559" y="215633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4349352" y="2156337"/>
            <a:ext cx="490828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to denote a primitive or foolish set of beliefs.</a:t>
            </a:r>
            <a:endParaRPr lang="en-US" altLang="ko-KR" sz="1800" dirty="0"/>
          </a:p>
        </p:txBody>
      </p:sp>
      <p:sp>
        <p:nvSpPr>
          <p:cNvPr id="11" name="reveal_2_kr"/>
          <p:cNvSpPr/>
          <p:nvPr/>
        </p:nvSpPr>
        <p:spPr>
          <a:xfrm>
            <a:off x="4349352" y="2490093"/>
            <a:ext cx="490828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원시적이거나 어리석은 일련의 믿음을 가리키기 위해</a:t>
            </a:r>
            <a:endParaRPr lang="en-US" altLang="ko-KR" sz="1450" dirty="0"/>
          </a:p>
        </p:txBody>
      </p:sp>
      <p:sp>
        <p:nvSpPr>
          <p:cNvPr id="12" name="En"/>
          <p:cNvSpPr/>
          <p:nvPr/>
        </p:nvSpPr>
        <p:spPr>
          <a:xfrm>
            <a:off x="548640" y="2934212"/>
            <a:ext cx="203274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In fact, I would say</a:t>
            </a:r>
            <a:endParaRPr lang="en-US" altLang="ko-KR" sz="1800" dirty="0"/>
          </a:p>
        </p:txBody>
      </p:sp>
      <p:sp>
        <p:nvSpPr>
          <p:cNvPr id="13" name="reveal_3_kr"/>
          <p:cNvSpPr/>
          <p:nvPr/>
        </p:nvSpPr>
        <p:spPr>
          <a:xfrm>
            <a:off x="548640" y="3267968"/>
            <a:ext cx="203274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사실 나는 말하고 싶다</a:t>
            </a:r>
            <a:endParaRPr lang="en-US" altLang="ko-KR" sz="1450" dirty="0"/>
          </a:p>
        </p:txBody>
      </p:sp>
      <p:sp>
        <p:nvSpPr>
          <p:cNvPr id="14" name="Sep"/>
          <p:cNvSpPr/>
          <p:nvPr/>
        </p:nvSpPr>
        <p:spPr>
          <a:xfrm>
            <a:off x="2535662" y="2934212"/>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5" name="En"/>
          <p:cNvSpPr/>
          <p:nvPr/>
        </p:nvSpPr>
        <p:spPr>
          <a:xfrm>
            <a:off x="2763455" y="2934212"/>
            <a:ext cx="508813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“explanation” is often primitive or foolish,</a:t>
            </a:r>
            <a:endParaRPr lang="en-US" altLang="ko-KR" sz="1800" dirty="0"/>
          </a:p>
        </p:txBody>
      </p:sp>
      <p:sp>
        <p:nvSpPr>
          <p:cNvPr id="16" name="reveal_4_kr"/>
          <p:cNvSpPr/>
          <p:nvPr/>
        </p:nvSpPr>
        <p:spPr>
          <a:xfrm>
            <a:off x="2763455" y="3267968"/>
            <a:ext cx="508813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'설명'이 흔히 원시적이거나 어리석다고</a:t>
            </a:r>
            <a:endParaRPr lang="en-US" altLang="ko-KR" sz="1450" dirty="0"/>
          </a:p>
        </p:txBody>
      </p:sp>
      <p:sp>
        <p:nvSpPr>
          <p:cNvPr id="17" name="Sep"/>
          <p:cNvSpPr/>
          <p:nvPr/>
        </p:nvSpPr>
        <p:spPr>
          <a:xfrm>
            <a:off x="7805865" y="2934212"/>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8" name="En"/>
          <p:cNvSpPr/>
          <p:nvPr/>
        </p:nvSpPr>
        <p:spPr>
          <a:xfrm>
            <a:off x="8033658" y="2934212"/>
            <a:ext cx="355065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the recognition of ignorance</a:t>
            </a:r>
            <a:endParaRPr lang="en-US" altLang="ko-KR" sz="1800" dirty="0"/>
          </a:p>
        </p:txBody>
      </p:sp>
      <p:sp>
        <p:nvSpPr>
          <p:cNvPr id="19" name="reveal_5_kr"/>
          <p:cNvSpPr/>
          <p:nvPr/>
        </p:nvSpPr>
        <p:spPr>
          <a:xfrm>
            <a:off x="8033658" y="3267968"/>
            <a:ext cx="355065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그리고 무지의 인식이</a:t>
            </a:r>
            <a:endParaRPr lang="en-US" altLang="ko-KR" sz="1450" dirty="0"/>
          </a:p>
        </p:txBody>
      </p:sp>
      <p:sp>
        <p:nvSpPr>
          <p:cNvPr id="20" name="En"/>
          <p:cNvSpPr/>
          <p:nvPr/>
        </p:nvSpPr>
        <p:spPr>
          <a:xfrm>
            <a:off x="548640" y="3629791"/>
            <a:ext cx="419001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is the beginning of scientific discourse.</a:t>
            </a:r>
            <a:endParaRPr lang="en-US" altLang="ko-KR" sz="1800" dirty="0"/>
          </a:p>
        </p:txBody>
      </p:sp>
      <p:sp>
        <p:nvSpPr>
          <p:cNvPr id="21" name="reveal_6_kr"/>
          <p:cNvSpPr/>
          <p:nvPr/>
        </p:nvSpPr>
        <p:spPr>
          <a:xfrm>
            <a:off x="548640" y="3963547"/>
            <a:ext cx="419001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과학적 담론의 시작이라고</a:t>
            </a:r>
            <a:endParaRPr lang="en-US" altLang="ko-KR" sz="1450" dirty="0"/>
          </a:p>
        </p:txBody>
      </p:sp>
      <p:sp>
        <p:nvSpPr>
          <p:cNvPr id="22" name="En"/>
          <p:cNvSpPr/>
          <p:nvPr/>
        </p:nvSpPr>
        <p:spPr>
          <a:xfrm>
            <a:off x="548640" y="4407666"/>
            <a:ext cx="214672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① When we admit</a:t>
            </a:r>
            <a:endParaRPr lang="en-US" altLang="ko-KR" sz="1800" dirty="0"/>
          </a:p>
        </p:txBody>
      </p:sp>
      <p:sp>
        <p:nvSpPr>
          <p:cNvPr id="23" name="reveal_7_kr"/>
          <p:cNvSpPr/>
          <p:nvPr/>
        </p:nvSpPr>
        <p:spPr>
          <a:xfrm>
            <a:off x="548640" y="4741422"/>
            <a:ext cx="214672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우리가 인정할 때</a:t>
            </a:r>
            <a:endParaRPr lang="en-US" altLang="ko-KR" sz="1450" dirty="0"/>
          </a:p>
        </p:txBody>
      </p:sp>
      <p:sp>
        <p:nvSpPr>
          <p:cNvPr id="24" name="Sep"/>
          <p:cNvSpPr/>
          <p:nvPr/>
        </p:nvSpPr>
        <p:spPr>
          <a:xfrm>
            <a:off x="2649649" y="4407666"/>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5" name="En"/>
          <p:cNvSpPr/>
          <p:nvPr/>
        </p:nvSpPr>
        <p:spPr>
          <a:xfrm>
            <a:off x="2877442" y="4407666"/>
            <a:ext cx="487832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something is unknown and inexplicable,</a:t>
            </a:r>
            <a:endParaRPr lang="en-US" altLang="ko-KR" sz="1800" dirty="0"/>
          </a:p>
        </p:txBody>
      </p:sp>
      <p:sp>
        <p:nvSpPr>
          <p:cNvPr id="26" name="reveal_8_kr"/>
          <p:cNvSpPr/>
          <p:nvPr/>
        </p:nvSpPr>
        <p:spPr>
          <a:xfrm>
            <a:off x="2877442" y="4741422"/>
            <a:ext cx="487832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어떤 것이 알려지지 않았고 설명할 수 없다는 것을</a:t>
            </a:r>
            <a:endParaRPr lang="en-US" altLang="ko-KR" sz="1450" dirty="0"/>
          </a:p>
        </p:txBody>
      </p:sp>
      <p:sp>
        <p:nvSpPr>
          <p:cNvPr id="27" name="Sep"/>
          <p:cNvSpPr/>
          <p:nvPr/>
        </p:nvSpPr>
        <p:spPr>
          <a:xfrm>
            <a:off x="7710043" y="4407666"/>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8" name="En"/>
          <p:cNvSpPr/>
          <p:nvPr/>
        </p:nvSpPr>
        <p:spPr>
          <a:xfrm>
            <a:off x="7937836" y="4407666"/>
            <a:ext cx="303117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then we admit also</a:t>
            </a:r>
            <a:endParaRPr lang="en-US" altLang="ko-KR" sz="1800" dirty="0"/>
          </a:p>
        </p:txBody>
      </p:sp>
      <p:sp>
        <p:nvSpPr>
          <p:cNvPr id="29" name="reveal_9_kr"/>
          <p:cNvSpPr/>
          <p:nvPr/>
        </p:nvSpPr>
        <p:spPr>
          <a:xfrm>
            <a:off x="7937836" y="4741422"/>
            <a:ext cx="303117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그러면 우리는 또한 인정하는 것이다</a:t>
            </a:r>
            <a:endParaRPr lang="en-US" altLang="ko-KR" sz="1450" dirty="0"/>
          </a:p>
        </p:txBody>
      </p:sp>
      <p:sp>
        <p:nvSpPr>
          <p:cNvPr id="30" name="En"/>
          <p:cNvSpPr/>
          <p:nvPr/>
        </p:nvSpPr>
        <p:spPr>
          <a:xfrm>
            <a:off x="548640" y="5103245"/>
            <a:ext cx="354397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it is worthy of investigation.</a:t>
            </a:r>
            <a:endParaRPr lang="en-US" altLang="ko-KR" sz="1800" dirty="0"/>
          </a:p>
        </p:txBody>
      </p:sp>
      <p:sp>
        <p:nvSpPr>
          <p:cNvPr id="31" name="reveal_10_kr"/>
          <p:cNvSpPr/>
          <p:nvPr/>
        </p:nvSpPr>
        <p:spPr>
          <a:xfrm>
            <a:off x="548640" y="5437001"/>
            <a:ext cx="354397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그것이 조사할 가치가 있다는 것을</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0-#ppt_w/2"/>
                                          </p:val>
                                        </p:tav>
                                        <p:tav tm="100000">
                                          <p:val>
                                            <p:strVal val="#ppt_x"/>
                                          </p:val>
                                        </p:tav>
                                      </p:tavLst>
                                    </p:anim>
                                    <p:anim calcmode="lin" valueType="num">
                                      <p:cBhvr additive="base">
                                        <p:cTn id="3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9"/>
                                        </p:tgtEl>
                                        <p:attrNameLst>
                                          <p:attrName>style.visibility</p:attrName>
                                        </p:attrNameLst>
                                      </p:cBhvr>
                                      <p:to>
                                        <p:strVal val="visible"/>
                                      </p:to>
                                    </p:set>
                                    <p:anim calcmode="lin" valueType="num">
                                      <p:cBhvr additive="base">
                                        <p:cTn id="55" dur="500" fill="hold"/>
                                        <p:tgtEl>
                                          <p:spTgt spid="29"/>
                                        </p:tgtEl>
                                        <p:attrNameLst>
                                          <p:attrName>ppt_x</p:attrName>
                                        </p:attrNameLst>
                                      </p:cBhvr>
                                      <p:tavLst>
                                        <p:tav tm="0">
                                          <p:val>
                                            <p:strVal val="0-#ppt_w/2"/>
                                          </p:val>
                                        </p:tav>
                                        <p:tav tm="100000">
                                          <p:val>
                                            <p:strVal val="#ppt_x"/>
                                          </p:val>
                                        </p:tav>
                                      </p:tavLst>
                                    </p:anim>
                                    <p:anim calcmode="lin" valueType="num">
                                      <p:cBhvr additive="base">
                                        <p:cTn id="56"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1"/>
                                        </p:tgtEl>
                                        <p:attrNameLst>
                                          <p:attrName>style.visibility</p:attrName>
                                        </p:attrNameLst>
                                      </p:cBhvr>
                                      <p:to>
                                        <p:strVal val="visible"/>
                                      </p:to>
                                    </p:set>
                                    <p:anim calcmode="lin" valueType="num">
                                      <p:cBhvr additive="base">
                                        <p:cTn id="61" dur="500" fill="hold"/>
                                        <p:tgtEl>
                                          <p:spTgt spid="31"/>
                                        </p:tgtEl>
                                        <p:attrNameLst>
                                          <p:attrName>ppt_x</p:attrName>
                                        </p:attrNameLst>
                                      </p:cBhvr>
                                      <p:tavLst>
                                        <p:tav tm="0">
                                          <p:val>
                                            <p:strVal val="0-#ppt_w/2"/>
                                          </p:val>
                                        </p:tav>
                                        <p:tav tm="100000">
                                          <p:val>
                                            <p:strVal val="#ppt_x"/>
                                          </p:val>
                                        </p:tav>
                                      </p:tavLst>
                                    </p:anim>
                                    <p:anim calcmode="lin" valueType="num">
                                      <p:cBhvr additive="base">
                                        <p:cTn id="62" dur="500" fill="hold"/>
                                        <p:tgtEl>
                                          <p:spTgt spid="31"/>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6" grpId="0" animBg="1"/>
      <p:bldP spid="19" grpId="0" animBg="1"/>
      <p:bldP spid="21" grpId="0" animBg="1"/>
      <p:bldP spid="23" grpId="0" animBg="1"/>
      <p:bldP spid="26" grpId="0" animBg="1"/>
      <p:bldP spid="29" grpId="0" animBg="1"/>
      <p:bldP spid="31" grpId="0" animBg="1"/>
    </p:bldLst>
  </p:timing>
</p:sld>
</file>

<file path=ppt/slides/slide33.xml><?xml version="1.0" encoding="utf-8"?>
<p:sld xmlns:a="http://schemas.openxmlformats.org/drawingml/2006/main" xmlns:p="http://schemas.openxmlformats.org/presentationml/2006/main" xmlns:r="http://schemas.openxmlformats.org/officeDocument/2006/relationships">
  <p:cSld name="06 구문 2">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06</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(2/3)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(2026학년도)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2197485"/>
            <a:ext cx="381957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② David Helfand, the astronomer,</a:t>
            </a:r>
            <a:endParaRPr lang="en-US" altLang="ko-KR" sz="1800" dirty="0"/>
          </a:p>
        </p:txBody>
      </p:sp>
      <p:sp>
        <p:nvSpPr>
          <p:cNvPr id="8" name="reveal_11_kr"/>
          <p:cNvSpPr/>
          <p:nvPr/>
        </p:nvSpPr>
        <p:spPr>
          <a:xfrm>
            <a:off x="548640" y="2531241"/>
            <a:ext cx="381957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천문학자 데이비드 헬펀드는</a:t>
            </a:r>
            <a:endParaRPr lang="en-US" altLang="ko-KR" sz="1450" dirty="0"/>
          </a:p>
        </p:txBody>
      </p:sp>
      <p:sp>
        <p:nvSpPr>
          <p:cNvPr id="9" name="Sep"/>
          <p:cNvSpPr/>
          <p:nvPr/>
        </p:nvSpPr>
        <p:spPr>
          <a:xfrm>
            <a:off x="4322492" y="219748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4550285" y="2197485"/>
            <a:ext cx="464164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traces how our view of the wind evolved</a:t>
            </a:r>
            <a:endParaRPr lang="en-US" altLang="ko-KR" sz="1800" dirty="0"/>
          </a:p>
        </p:txBody>
      </p:sp>
      <p:sp>
        <p:nvSpPr>
          <p:cNvPr id="11" name="reveal_12_kr"/>
          <p:cNvSpPr/>
          <p:nvPr/>
        </p:nvSpPr>
        <p:spPr>
          <a:xfrm>
            <a:off x="4550285" y="2531241"/>
            <a:ext cx="464164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바람에 대한 우리의 관점이 어떻게 진화했는지 추적한다</a:t>
            </a:r>
            <a:endParaRPr lang="en-US" altLang="ko-KR" sz="1450" dirty="0"/>
          </a:p>
        </p:txBody>
      </p:sp>
      <p:sp>
        <p:nvSpPr>
          <p:cNvPr id="12" name="En"/>
          <p:cNvSpPr/>
          <p:nvPr/>
        </p:nvSpPr>
        <p:spPr>
          <a:xfrm>
            <a:off x="548640" y="2893064"/>
            <a:ext cx="380295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from the primitive to the scientific:</a:t>
            </a:r>
            <a:endParaRPr lang="en-US" altLang="ko-KR" sz="1800" dirty="0"/>
          </a:p>
        </p:txBody>
      </p:sp>
      <p:sp>
        <p:nvSpPr>
          <p:cNvPr id="13" name="reveal_13_kr"/>
          <p:cNvSpPr/>
          <p:nvPr/>
        </p:nvSpPr>
        <p:spPr>
          <a:xfrm>
            <a:off x="548640" y="3226820"/>
            <a:ext cx="380295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원시적인 것에서 과학적인 것으로</a:t>
            </a:r>
            <a:endParaRPr lang="en-US" altLang="ko-KR" sz="1450" dirty="0"/>
          </a:p>
        </p:txBody>
      </p:sp>
      <p:sp>
        <p:nvSpPr>
          <p:cNvPr id="14" name="Sep"/>
          <p:cNvSpPr/>
          <p:nvPr/>
        </p:nvSpPr>
        <p:spPr>
          <a:xfrm>
            <a:off x="4305879" y="289306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5" name="En"/>
          <p:cNvSpPr/>
          <p:nvPr/>
        </p:nvSpPr>
        <p:spPr>
          <a:xfrm>
            <a:off x="4533672" y="2893064"/>
            <a:ext cx="262312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first “the wind is angry,”</a:t>
            </a:r>
            <a:endParaRPr lang="en-US" altLang="ko-KR" sz="1800" dirty="0"/>
          </a:p>
        </p:txBody>
      </p:sp>
      <p:sp>
        <p:nvSpPr>
          <p:cNvPr id="16" name="reveal_14_kr"/>
          <p:cNvSpPr/>
          <p:nvPr/>
        </p:nvSpPr>
        <p:spPr>
          <a:xfrm>
            <a:off x="4533672" y="3226820"/>
            <a:ext cx="262312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처음에는 '바람이 화가 났다'</a:t>
            </a:r>
            <a:endParaRPr lang="en-US" altLang="ko-KR" sz="1450" dirty="0"/>
          </a:p>
        </p:txBody>
      </p:sp>
      <p:sp>
        <p:nvSpPr>
          <p:cNvPr id="17" name="Sep"/>
          <p:cNvSpPr/>
          <p:nvPr/>
        </p:nvSpPr>
        <p:spPr>
          <a:xfrm>
            <a:off x="7111078" y="289306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8" name="En"/>
          <p:cNvSpPr/>
          <p:nvPr/>
        </p:nvSpPr>
        <p:spPr>
          <a:xfrm>
            <a:off x="7338871" y="2893064"/>
            <a:ext cx="393935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followed by “the wind god is angry,”</a:t>
            </a:r>
            <a:endParaRPr lang="en-US" altLang="ko-KR" sz="1800" dirty="0"/>
          </a:p>
        </p:txBody>
      </p:sp>
      <p:sp>
        <p:nvSpPr>
          <p:cNvPr id="19" name="reveal_15_kr"/>
          <p:cNvSpPr/>
          <p:nvPr/>
        </p:nvSpPr>
        <p:spPr>
          <a:xfrm>
            <a:off x="7338871" y="3226820"/>
            <a:ext cx="393935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그다음 '바람의 신이 화가 났다'</a:t>
            </a:r>
            <a:endParaRPr lang="en-US" altLang="ko-KR" sz="1450" dirty="0"/>
          </a:p>
        </p:txBody>
      </p:sp>
      <p:sp>
        <p:nvSpPr>
          <p:cNvPr id="20" name="En"/>
          <p:cNvSpPr/>
          <p:nvPr/>
        </p:nvSpPr>
        <p:spPr>
          <a:xfrm>
            <a:off x="548640" y="3588643"/>
            <a:ext cx="586189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finally “the wind is a measurable form of energy.”</a:t>
            </a:r>
            <a:endParaRPr lang="en-US" altLang="ko-KR" sz="1800" dirty="0"/>
          </a:p>
        </p:txBody>
      </p:sp>
      <p:sp>
        <p:nvSpPr>
          <p:cNvPr id="21" name="reveal_16_kr"/>
          <p:cNvSpPr/>
          <p:nvPr/>
        </p:nvSpPr>
        <p:spPr>
          <a:xfrm>
            <a:off x="548640" y="3922399"/>
            <a:ext cx="586189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그리고 마침내 '바람은 측정 가능한 형태의 에너지이다'</a:t>
            </a:r>
            <a:endParaRPr lang="en-US" altLang="ko-KR" sz="1450" dirty="0"/>
          </a:p>
        </p:txBody>
      </p:sp>
      <p:sp>
        <p:nvSpPr>
          <p:cNvPr id="22" name="En"/>
          <p:cNvSpPr/>
          <p:nvPr/>
        </p:nvSpPr>
        <p:spPr>
          <a:xfrm>
            <a:off x="548640" y="4366518"/>
            <a:ext cx="306456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③ The first two statements</a:t>
            </a:r>
            <a:endParaRPr lang="en-US" altLang="ko-KR" sz="1800" dirty="0"/>
          </a:p>
        </p:txBody>
      </p:sp>
      <p:sp>
        <p:nvSpPr>
          <p:cNvPr id="23" name="reveal_17_kr"/>
          <p:cNvSpPr/>
          <p:nvPr/>
        </p:nvSpPr>
        <p:spPr>
          <a:xfrm>
            <a:off x="548640" y="4700274"/>
            <a:ext cx="306456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처음 두 진술은</a:t>
            </a:r>
            <a:endParaRPr lang="en-US" altLang="ko-KR" sz="1450" dirty="0"/>
          </a:p>
        </p:txBody>
      </p:sp>
      <p:sp>
        <p:nvSpPr>
          <p:cNvPr id="24" name="Sep"/>
          <p:cNvSpPr/>
          <p:nvPr/>
        </p:nvSpPr>
        <p:spPr>
          <a:xfrm>
            <a:off x="3567482" y="436651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5" name="En"/>
          <p:cNvSpPr/>
          <p:nvPr/>
        </p:nvSpPr>
        <p:spPr>
          <a:xfrm>
            <a:off x="3795275" y="4366518"/>
            <a:ext cx="345175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provide a complete explanation</a:t>
            </a:r>
            <a:endParaRPr lang="en-US" altLang="ko-KR" sz="1800" dirty="0"/>
          </a:p>
        </p:txBody>
      </p:sp>
      <p:sp>
        <p:nvSpPr>
          <p:cNvPr id="26" name="reveal_18_kr"/>
          <p:cNvSpPr/>
          <p:nvPr/>
        </p:nvSpPr>
        <p:spPr>
          <a:xfrm>
            <a:off x="3795275" y="4700274"/>
            <a:ext cx="345175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완전한 설명을 제공한다</a:t>
            </a:r>
            <a:endParaRPr lang="en-US" altLang="ko-KR" sz="1450" dirty="0"/>
          </a:p>
        </p:txBody>
      </p:sp>
      <p:sp>
        <p:nvSpPr>
          <p:cNvPr id="27" name="Sep"/>
          <p:cNvSpPr/>
          <p:nvPr/>
        </p:nvSpPr>
        <p:spPr>
          <a:xfrm>
            <a:off x="7201309" y="436651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8" name="En"/>
          <p:cNvSpPr/>
          <p:nvPr/>
        </p:nvSpPr>
        <p:spPr>
          <a:xfrm>
            <a:off x="7429102" y="4366518"/>
            <a:ext cx="261475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but are clearly ignorant;</a:t>
            </a:r>
            <a:endParaRPr lang="en-US" altLang="ko-KR" sz="1800" dirty="0"/>
          </a:p>
        </p:txBody>
      </p:sp>
      <p:sp>
        <p:nvSpPr>
          <p:cNvPr id="29" name="reveal_19_kr"/>
          <p:cNvSpPr/>
          <p:nvPr/>
        </p:nvSpPr>
        <p:spPr>
          <a:xfrm>
            <a:off x="7429102" y="4700274"/>
            <a:ext cx="261475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하지만 명백히 무지하다</a:t>
            </a:r>
            <a:endParaRPr lang="en-US" altLang="ko-KR" sz="1450" dirty="0"/>
          </a:p>
        </p:txBody>
      </p:sp>
      <p:sp>
        <p:nvSpPr>
          <p:cNvPr id="30" name="En"/>
          <p:cNvSpPr/>
          <p:nvPr/>
        </p:nvSpPr>
        <p:spPr>
          <a:xfrm>
            <a:off x="548640" y="5062097"/>
            <a:ext cx="326455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 third shows our ignorance</a:t>
            </a:r>
            <a:endParaRPr lang="en-US" altLang="ko-KR" sz="1800" dirty="0"/>
          </a:p>
        </p:txBody>
      </p:sp>
      <p:sp>
        <p:nvSpPr>
          <p:cNvPr id="31" name="reveal_20_kr"/>
          <p:cNvSpPr/>
          <p:nvPr/>
        </p:nvSpPr>
        <p:spPr>
          <a:xfrm>
            <a:off x="548640" y="5395853"/>
            <a:ext cx="326455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세 번째는 우리의 무지를 보여 준다</a:t>
            </a:r>
            <a:endParaRPr lang="en-US" altLang="ko-KR" sz="1450" dirty="0"/>
          </a:p>
        </p:txBody>
      </p:sp>
      <p:sp>
        <p:nvSpPr>
          <p:cNvPr id="32" name="Sep"/>
          <p:cNvSpPr/>
          <p:nvPr/>
        </p:nvSpPr>
        <p:spPr>
          <a:xfrm>
            <a:off x="3767479" y="506209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3" name="En"/>
          <p:cNvSpPr/>
          <p:nvPr/>
        </p:nvSpPr>
        <p:spPr>
          <a:xfrm>
            <a:off x="3995272" y="5062097"/>
            <a:ext cx="457704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(we can’t predict or alter the weather yet)</a:t>
            </a:r>
            <a:endParaRPr lang="en-US" altLang="ko-KR" sz="1800" dirty="0"/>
          </a:p>
        </p:txBody>
      </p:sp>
      <p:sp>
        <p:nvSpPr>
          <p:cNvPr id="34" name="reveal_21_kr"/>
          <p:cNvSpPr/>
          <p:nvPr/>
        </p:nvSpPr>
        <p:spPr>
          <a:xfrm>
            <a:off x="3995272" y="5395853"/>
            <a:ext cx="457704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(우리는 아직 날씨를 예측하거나 바꿀 수 없다)</a:t>
            </a:r>
            <a:endParaRPr lang="en-US" altLang="ko-KR" sz="1450" dirty="0"/>
          </a:p>
        </p:txBody>
      </p:sp>
      <p:sp>
        <p:nvSpPr>
          <p:cNvPr id="35" name="Sep"/>
          <p:cNvSpPr/>
          <p:nvPr/>
        </p:nvSpPr>
        <p:spPr>
          <a:xfrm>
            <a:off x="8526599" y="506209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6" name="En"/>
          <p:cNvSpPr/>
          <p:nvPr/>
        </p:nvSpPr>
        <p:spPr>
          <a:xfrm>
            <a:off x="8754392" y="5062097"/>
            <a:ext cx="283400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but is surely less ignorant.</a:t>
            </a:r>
            <a:endParaRPr lang="en-US" altLang="ko-KR" sz="1800" dirty="0"/>
          </a:p>
        </p:txBody>
      </p:sp>
      <p:sp>
        <p:nvSpPr>
          <p:cNvPr id="37" name="reveal_22_kr"/>
          <p:cNvSpPr/>
          <p:nvPr/>
        </p:nvSpPr>
        <p:spPr>
          <a:xfrm>
            <a:off x="8754392" y="5395853"/>
            <a:ext cx="283400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하지만 확실히 덜 무지하다</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3"/>
                                        </p:tgtEl>
                                        <p:attrNameLst>
                                          <p:attrName>style.visibility</p:attrName>
                                        </p:attrNameLst>
                                      </p:cBhvr>
                                      <p:to>
                                        <p:strVal val="visible"/>
                                      </p:to>
                                    </p:set>
                                    <p:anim calcmode="lin" valueType="num">
                                      <p:cBhvr additive="base">
                                        <p:cTn id="19" dur="500" fill="hold"/>
                                        <p:tgtEl>
                                          <p:spTgt spid="13"/>
                                        </p:tgtEl>
                                        <p:attrNameLst>
                                          <p:attrName>ppt_x</p:attrName>
                                        </p:attrNameLst>
                                      </p:cBhvr>
                                      <p:tavLst>
                                        <p:tav tm="0">
                                          <p:val>
                                            <p:strVal val="0-#ppt_w/2"/>
                                          </p:val>
                                        </p:tav>
                                        <p:tav tm="100000">
                                          <p:val>
                                            <p:strVal val="#ppt_x"/>
                                          </p:val>
                                        </p:tav>
                                      </p:tavLst>
                                    </p:anim>
                                    <p:anim calcmode="lin" valueType="num">
                                      <p:cBhvr additive="base">
                                        <p:cTn id="20" dur="500" fill="hold"/>
                                        <p:tgtEl>
                                          <p:spTgt spid="13"/>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0-#ppt_w/2"/>
                                          </p:val>
                                        </p:tav>
                                        <p:tav tm="100000">
                                          <p:val>
                                            <p:strVal val="#ppt_x"/>
                                          </p:val>
                                        </p:tav>
                                      </p:tavLst>
                                    </p:anim>
                                    <p:anim calcmode="lin" valueType="num">
                                      <p:cBhvr additive="base">
                                        <p:cTn id="3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3"/>
                                        </p:tgtEl>
                                        <p:attrNameLst>
                                          <p:attrName>style.visibility</p:attrName>
                                        </p:attrNameLst>
                                      </p:cBhvr>
                                      <p:to>
                                        <p:strVal val="visible"/>
                                      </p:to>
                                    </p:set>
                                    <p:anim calcmode="lin" valueType="num">
                                      <p:cBhvr additive="base">
                                        <p:cTn id="43" dur="500" fill="hold"/>
                                        <p:tgtEl>
                                          <p:spTgt spid="23"/>
                                        </p:tgtEl>
                                        <p:attrNameLst>
                                          <p:attrName>ppt_x</p:attrName>
                                        </p:attrNameLst>
                                      </p:cBhvr>
                                      <p:tavLst>
                                        <p:tav tm="0">
                                          <p:val>
                                            <p:strVal val="0-#ppt_w/2"/>
                                          </p:val>
                                        </p:tav>
                                        <p:tav tm="100000">
                                          <p:val>
                                            <p:strVal val="#ppt_x"/>
                                          </p:val>
                                        </p:tav>
                                      </p:tavLst>
                                    </p:anim>
                                    <p:anim calcmode="lin" valueType="num">
                                      <p:cBhvr additive="base">
                                        <p:cTn id="44" dur="500" fill="hold"/>
                                        <p:tgtEl>
                                          <p:spTgt spid="23"/>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9"/>
                                        </p:tgtEl>
                                        <p:attrNameLst>
                                          <p:attrName>style.visibility</p:attrName>
                                        </p:attrNameLst>
                                      </p:cBhvr>
                                      <p:to>
                                        <p:strVal val="visible"/>
                                      </p:to>
                                    </p:set>
                                    <p:anim calcmode="lin" valueType="num">
                                      <p:cBhvr additive="base">
                                        <p:cTn id="55" dur="500" fill="hold"/>
                                        <p:tgtEl>
                                          <p:spTgt spid="29"/>
                                        </p:tgtEl>
                                        <p:attrNameLst>
                                          <p:attrName>ppt_x</p:attrName>
                                        </p:attrNameLst>
                                      </p:cBhvr>
                                      <p:tavLst>
                                        <p:tav tm="0">
                                          <p:val>
                                            <p:strVal val="0-#ppt_w/2"/>
                                          </p:val>
                                        </p:tav>
                                        <p:tav tm="100000">
                                          <p:val>
                                            <p:strVal val="#ppt_x"/>
                                          </p:val>
                                        </p:tav>
                                      </p:tavLst>
                                    </p:anim>
                                    <p:anim calcmode="lin" valueType="num">
                                      <p:cBhvr additive="base">
                                        <p:cTn id="56"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1"/>
                                        </p:tgtEl>
                                        <p:attrNameLst>
                                          <p:attrName>style.visibility</p:attrName>
                                        </p:attrNameLst>
                                      </p:cBhvr>
                                      <p:to>
                                        <p:strVal val="visible"/>
                                      </p:to>
                                    </p:set>
                                    <p:anim calcmode="lin" valueType="num">
                                      <p:cBhvr additive="base">
                                        <p:cTn id="61" dur="500" fill="hold"/>
                                        <p:tgtEl>
                                          <p:spTgt spid="31"/>
                                        </p:tgtEl>
                                        <p:attrNameLst>
                                          <p:attrName>ppt_x</p:attrName>
                                        </p:attrNameLst>
                                      </p:cBhvr>
                                      <p:tavLst>
                                        <p:tav tm="0">
                                          <p:val>
                                            <p:strVal val="0-#ppt_w/2"/>
                                          </p:val>
                                        </p:tav>
                                        <p:tav tm="100000">
                                          <p:val>
                                            <p:strVal val="#ppt_x"/>
                                          </p:val>
                                        </p:tav>
                                      </p:tavLst>
                                    </p:anim>
                                    <p:anim calcmode="lin" valueType="num">
                                      <p:cBhvr additive="base">
                                        <p:cTn id="6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additive="base">
                                        <p:cTn id="66" dur="1" fill="hold">
                                          <p:stCondLst>
                                            <p:cond delay="0"/>
                                          </p:stCondLst>
                                        </p:cTn>
                                        <p:tgtEl>
                                          <p:spTgt spid="34"/>
                                        </p:tgtEl>
                                        <p:attrNameLst>
                                          <p:attrName>style.visibility</p:attrName>
                                        </p:attrNameLst>
                                      </p:cBhvr>
                                      <p:to>
                                        <p:strVal val="visible"/>
                                      </p:to>
                                    </p:set>
                                    <p:anim calcmode="lin" valueType="num">
                                      <p:cBhvr additive="base">
                                        <p:cTn id="67" dur="500" fill="hold"/>
                                        <p:tgtEl>
                                          <p:spTgt spid="34"/>
                                        </p:tgtEl>
                                        <p:attrNameLst>
                                          <p:attrName>ppt_x</p:attrName>
                                        </p:attrNameLst>
                                      </p:cBhvr>
                                      <p:tavLst>
                                        <p:tav tm="0">
                                          <p:val>
                                            <p:strVal val="0-#ppt_w/2"/>
                                          </p:val>
                                        </p:tav>
                                        <p:tav tm="100000">
                                          <p:val>
                                            <p:strVal val="#ppt_x"/>
                                          </p:val>
                                        </p:tav>
                                      </p:tavLst>
                                    </p:anim>
                                    <p:anim calcmode="lin" valueType="num">
                                      <p:cBhvr additive="base">
                                        <p:cTn id="68"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additive="base">
                                        <p:cTn id="72" dur="1" fill="hold">
                                          <p:stCondLst>
                                            <p:cond delay="0"/>
                                          </p:stCondLst>
                                        </p:cTn>
                                        <p:tgtEl>
                                          <p:spTgt spid="37"/>
                                        </p:tgtEl>
                                        <p:attrNameLst>
                                          <p:attrName>style.visibility</p:attrName>
                                        </p:attrNameLst>
                                      </p:cBhvr>
                                      <p:to>
                                        <p:strVal val="visible"/>
                                      </p:to>
                                    </p:set>
                                    <p:anim calcmode="lin" valueType="num">
                                      <p:cBhvr additive="base">
                                        <p:cTn id="73" dur="500" fill="hold"/>
                                        <p:tgtEl>
                                          <p:spTgt spid="37"/>
                                        </p:tgtEl>
                                        <p:attrNameLst>
                                          <p:attrName>ppt_x</p:attrName>
                                        </p:attrNameLst>
                                      </p:cBhvr>
                                      <p:tavLst>
                                        <p:tav tm="0">
                                          <p:val>
                                            <p:strVal val="0-#ppt_w/2"/>
                                          </p:val>
                                        </p:tav>
                                        <p:tav tm="100000">
                                          <p:val>
                                            <p:strVal val="#ppt_x"/>
                                          </p:val>
                                        </p:tav>
                                      </p:tavLst>
                                    </p:anim>
                                    <p:anim calcmode="lin" valueType="num">
                                      <p:cBhvr additive="base">
                                        <p:cTn id="74" dur="500" fill="hold"/>
                                        <p:tgtEl>
                                          <p:spTgt spid="37"/>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3" grpId="0" animBg="1"/>
      <p:bldP spid="16" grpId="0" animBg="1"/>
      <p:bldP spid="19" grpId="0" animBg="1"/>
      <p:bldP spid="21" grpId="0" animBg="1"/>
      <p:bldP spid="23" grpId="0" animBg="1"/>
      <p:bldP spid="26" grpId="0" animBg="1"/>
      <p:bldP spid="29" grpId="0" animBg="1"/>
      <p:bldP spid="31" grpId="0" animBg="1"/>
      <p:bldP spid="34" grpId="0" animBg="1"/>
      <p:bldP spid="37" grpId="0" animBg="1"/>
    </p:bldLst>
  </p:timing>
</p:sld>
</file>

<file path=ppt/slides/slide34.xml><?xml version="1.0" encoding="utf-8"?>
<p:sld xmlns:a="http://schemas.openxmlformats.org/drawingml/2006/main" xmlns:p="http://schemas.openxmlformats.org/presentationml/2006/main" xmlns:r="http://schemas.openxmlformats.org/officeDocument/2006/relationships">
  <p:cSld name="06 구문 3">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06</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(3/3)</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(2026학년도)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2893064"/>
            <a:ext cx="2087031"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④ It is undeniable</a:t>
            </a:r>
            <a:endParaRPr lang="en-US" altLang="ko-KR" sz="1800" dirty="0"/>
          </a:p>
        </p:txBody>
      </p:sp>
      <p:sp>
        <p:nvSpPr>
          <p:cNvPr id="8" name="reveal_23_kr"/>
          <p:cNvSpPr/>
          <p:nvPr/>
        </p:nvSpPr>
        <p:spPr>
          <a:xfrm>
            <a:off x="548640" y="3226820"/>
            <a:ext cx="2087031"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부인할 수 없다</a:t>
            </a:r>
            <a:endParaRPr lang="en-US" altLang="ko-KR" sz="1450" dirty="0"/>
          </a:p>
        </p:txBody>
      </p:sp>
      <p:sp>
        <p:nvSpPr>
          <p:cNvPr id="9" name="Sep"/>
          <p:cNvSpPr/>
          <p:nvPr/>
        </p:nvSpPr>
        <p:spPr>
          <a:xfrm>
            <a:off x="2589951" y="289306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2817744" y="2893064"/>
            <a:ext cx="4822548"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that ignorance stands as the greatest barrier</a:t>
            </a:r>
            <a:endParaRPr lang="en-US" altLang="ko-KR" sz="1800" dirty="0"/>
          </a:p>
        </p:txBody>
      </p:sp>
      <p:sp>
        <p:nvSpPr>
          <p:cNvPr id="11" name="reveal_24_kr"/>
          <p:cNvSpPr/>
          <p:nvPr/>
        </p:nvSpPr>
        <p:spPr>
          <a:xfrm>
            <a:off x="2817744" y="3226820"/>
            <a:ext cx="4822548"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무지가 가장 큰 장벽으로 존재한다는 것은</a:t>
            </a:r>
            <a:endParaRPr lang="en-US" altLang="ko-KR" sz="1450" dirty="0"/>
          </a:p>
        </p:txBody>
      </p:sp>
      <p:sp>
        <p:nvSpPr>
          <p:cNvPr id="12" name="Sep"/>
          <p:cNvSpPr/>
          <p:nvPr/>
        </p:nvSpPr>
        <p:spPr>
          <a:xfrm>
            <a:off x="7594572" y="289306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3" name="En"/>
          <p:cNvSpPr/>
          <p:nvPr/>
        </p:nvSpPr>
        <p:spPr>
          <a:xfrm>
            <a:off x="7822365" y="2893064"/>
            <a:ext cx="2342003"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to scientific discovery</a:t>
            </a:r>
            <a:endParaRPr lang="en-US" altLang="ko-KR" sz="1800" dirty="0"/>
          </a:p>
        </p:txBody>
      </p:sp>
      <p:sp>
        <p:nvSpPr>
          <p:cNvPr id="14" name="reveal_25_kr"/>
          <p:cNvSpPr/>
          <p:nvPr/>
        </p:nvSpPr>
        <p:spPr>
          <a:xfrm>
            <a:off x="7822365" y="3226820"/>
            <a:ext cx="2342003"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과학적 발견에 대한</a:t>
            </a:r>
            <a:endParaRPr lang="en-US" altLang="ko-KR" sz="1450" dirty="0"/>
          </a:p>
        </p:txBody>
      </p:sp>
      <p:sp>
        <p:nvSpPr>
          <p:cNvPr id="15" name="En"/>
          <p:cNvSpPr/>
          <p:nvPr/>
        </p:nvSpPr>
        <p:spPr>
          <a:xfrm>
            <a:off x="548640" y="3588643"/>
            <a:ext cx="3220935"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and thus it fails to function</a:t>
            </a:r>
            <a:endParaRPr lang="en-US" altLang="ko-KR" sz="1800" dirty="0"/>
          </a:p>
        </p:txBody>
      </p:sp>
      <p:sp>
        <p:nvSpPr>
          <p:cNvPr id="16" name="reveal_26_kr"/>
          <p:cNvSpPr/>
          <p:nvPr/>
        </p:nvSpPr>
        <p:spPr>
          <a:xfrm>
            <a:off x="548640" y="3922399"/>
            <a:ext cx="3220935"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그래서 그것은 기능하지 못한다는 것은</a:t>
            </a:r>
            <a:endParaRPr lang="en-US" altLang="ko-KR" sz="1450" dirty="0"/>
          </a:p>
        </p:txBody>
      </p:sp>
      <p:sp>
        <p:nvSpPr>
          <p:cNvPr id="17" name="Sep"/>
          <p:cNvSpPr/>
          <p:nvPr/>
        </p:nvSpPr>
        <p:spPr>
          <a:xfrm>
            <a:off x="3723855" y="3588643"/>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8" name="En"/>
          <p:cNvSpPr/>
          <p:nvPr/>
        </p:nvSpPr>
        <p:spPr>
          <a:xfrm>
            <a:off x="3951648" y="3588643"/>
            <a:ext cx="2758587"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as a support to scientists.</a:t>
            </a:r>
            <a:endParaRPr lang="en-US" altLang="ko-KR" sz="1800" dirty="0"/>
          </a:p>
        </p:txBody>
      </p:sp>
      <p:sp>
        <p:nvSpPr>
          <p:cNvPr id="19" name="reveal_27_kr"/>
          <p:cNvSpPr/>
          <p:nvPr/>
        </p:nvSpPr>
        <p:spPr>
          <a:xfrm>
            <a:off x="3951648" y="3922399"/>
            <a:ext cx="2758587"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과학자들에 대한 지원으로서</a:t>
            </a:r>
            <a:endParaRPr lang="en-US" altLang="ko-KR" sz="1450" dirty="0"/>
          </a:p>
        </p:txBody>
      </p:sp>
      <p:sp>
        <p:nvSpPr>
          <p:cNvPr id="20" name="En"/>
          <p:cNvSpPr/>
          <p:nvPr/>
        </p:nvSpPr>
        <p:spPr>
          <a:xfrm>
            <a:off x="548640" y="4366518"/>
            <a:ext cx="412456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⑤ Explanation rather than ignorance</a:t>
            </a:r>
            <a:endParaRPr lang="en-US" altLang="ko-KR" sz="1800" dirty="0"/>
          </a:p>
        </p:txBody>
      </p:sp>
      <p:sp>
        <p:nvSpPr>
          <p:cNvPr id="21" name="reveal_28_kr"/>
          <p:cNvSpPr/>
          <p:nvPr/>
        </p:nvSpPr>
        <p:spPr>
          <a:xfrm>
            <a:off x="548640" y="4700274"/>
            <a:ext cx="412456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무지가 아니라 설명이</a:t>
            </a:r>
            <a:endParaRPr lang="en-US" altLang="ko-KR" sz="1450" dirty="0"/>
          </a:p>
        </p:txBody>
      </p:sp>
      <p:sp>
        <p:nvSpPr>
          <p:cNvPr id="22" name="Sep"/>
          <p:cNvSpPr/>
          <p:nvPr/>
        </p:nvSpPr>
        <p:spPr>
          <a:xfrm>
            <a:off x="4627486" y="436651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3" name="En"/>
          <p:cNvSpPr/>
          <p:nvPr/>
        </p:nvSpPr>
        <p:spPr>
          <a:xfrm>
            <a:off x="4855279" y="4366518"/>
            <a:ext cx="458496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is the hallmark of intellectual narrowness.</a:t>
            </a:r>
            <a:endParaRPr lang="en-US" altLang="ko-KR" sz="1800" dirty="0"/>
          </a:p>
        </p:txBody>
      </p:sp>
      <p:sp>
        <p:nvSpPr>
          <p:cNvPr id="24" name="reveal_29_kr"/>
          <p:cNvSpPr/>
          <p:nvPr/>
        </p:nvSpPr>
        <p:spPr>
          <a:xfrm>
            <a:off x="4855279" y="4700274"/>
            <a:ext cx="458496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지적 편협함의 특징이다</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9"/>
                                        </p:tgtEl>
                                        <p:attrNameLst>
                                          <p:attrName>style.visibility</p:attrName>
                                        </p:attrNameLst>
                                      </p:cBhvr>
                                      <p:to>
                                        <p:strVal val="visible"/>
                                      </p:to>
                                    </p:set>
                                    <p:anim calcmode="lin" valueType="num">
                                      <p:cBhvr additive="base">
                                        <p:cTn id="31" dur="500" fill="hold"/>
                                        <p:tgtEl>
                                          <p:spTgt spid="19"/>
                                        </p:tgtEl>
                                        <p:attrNameLst>
                                          <p:attrName>ppt_x</p:attrName>
                                        </p:attrNameLst>
                                      </p:cBhvr>
                                      <p:tavLst>
                                        <p:tav tm="0">
                                          <p:val>
                                            <p:strVal val="0-#ppt_w/2"/>
                                          </p:val>
                                        </p:tav>
                                        <p:tav tm="100000">
                                          <p:val>
                                            <p:strVal val="#ppt_x"/>
                                          </p:val>
                                        </p:tav>
                                      </p:tavLst>
                                    </p:anim>
                                    <p:anim calcmode="lin" valueType="num">
                                      <p:cBhvr additive="base">
                                        <p:cTn id="32" dur="500" fill="hold"/>
                                        <p:tgtEl>
                                          <p:spTgt spid="19"/>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0-#ppt_w/2"/>
                                          </p:val>
                                        </p:tav>
                                        <p:tav tm="100000">
                                          <p:val>
                                            <p:strVal val="#ppt_x"/>
                                          </p:val>
                                        </p:tav>
                                      </p:tavLst>
                                    </p:anim>
                                    <p:anim calcmode="lin" valueType="num">
                                      <p:cBhvr additive="base">
                                        <p:cTn id="44" dur="500" fill="hold"/>
                                        <p:tgtEl>
                                          <p:spTgt spid="24"/>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6" grpId="0" animBg="1"/>
      <p:bldP spid="19" grpId="0" animBg="1"/>
      <p:bldP spid="21" grpId="0" animBg="1"/>
      <p:bldP spid="24" grpId="0" animBg="1"/>
    </p:bldLst>
  </p:timing>
</p:sld>
</file>

<file path=ppt/slides/slide35.xml><?xml version="1.0" encoding="utf-8"?>
<p:sld xmlns:a="http://schemas.openxmlformats.org/drawingml/2006/main" xmlns:p="http://schemas.openxmlformats.org/presentationml/2006/main" xmlns:r="http://schemas.openxmlformats.org/officeDocument/2006/relationships">
  <p:cSld name="06 문제">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06</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2025년 10월 35번 — 무관한 문장 찾기</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(2026학년도)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클릭하면 정답이 노란 박스로 나타납니다</a:t>
            </a:r>
            <a:endParaRPr lang="en-US" altLang="ko-KR" sz="1100" dirty="0"/>
          </a:p>
        </p:txBody>
      </p:sp>
      <p:sp>
        <p:nvSpPr>
          <p:cNvPr id="7" name="Prompt"/>
          <p:cNvSpPr/>
          <p:nvPr/>
        </p:nvSpPr>
        <p:spPr>
          <a:xfrm>
            <a:off x="548640" y="1325880"/>
            <a:ext cx="11091672" cy="324000"/>
          </a:xfrm>
          <a:prstGeom prst="rect">
            <a:avLst/>
          </a:prstGeom>
          <a:noFill/>
          <a:ln>
            <a:noFill/>
          </a:ln>
        </p:spPr>
        <p:txBody>
          <a:bodyPr wrap="square" lIns="0" tIns="0" rIns="0" bIns="0" rtlCol="0" anchor="ctr"/>
          <a:lstStyle/>
          <a:p>
            <a:pPr marL="0" indent="0">
              <a:buNone/>
            </a:pPr>
            <a:r>
              <a:rPr lang="en-US" altLang="ko-KR" sz="1300" b="1" dirty="0">
                <a:solidFill>
                  <a:srgbClr val="1E2761"/>
                </a:solidFill>
                <a:latin typeface="맑은 고딕" pitchFamily="34" charset="0"/>
                <a:ea typeface="맑은 고딕" pitchFamily="34" charset="-122"/>
                <a:cs typeface="맑은 고딕" pitchFamily="34" charset="-120"/>
              </a:rPr>
              <a:t>다음 글에서 전체 흐름과 관계 </a:t>
            </a:r>
            <a:r>
              <a:rPr lang="en-US" altLang="ko-KR" sz="1300" b="1" u="sng" dirty="0">
                <a:solidFill>
                  <a:srgbClr val="1E2761"/>
                </a:solidFill>
                <a:latin typeface="맑은 고딕" pitchFamily="34" charset="0"/>
                <a:ea typeface="맑은 고딕" pitchFamily="34" charset="-122"/>
                <a:cs typeface="맑은 고딕" pitchFamily="34" charset="-120"/>
              </a:rPr>
              <a:t>없는</a:t>
            </a:r>
            <a:r>
              <a:rPr lang="en-US" altLang="ko-KR" sz="1300" b="1" dirty="0">
                <a:solidFill>
                  <a:srgbClr val="1E2761"/>
                </a:solidFill>
                <a:latin typeface="맑은 고딕" pitchFamily="34" charset="0"/>
                <a:ea typeface="맑은 고딕" pitchFamily="34" charset="-122"/>
                <a:cs typeface="맑은 고딕" pitchFamily="34" charset="-120"/>
              </a:rPr>
              <a:t> 문장은?</a:t>
            </a:r>
            <a:endParaRPr lang="en-US" altLang="ko-KR" sz="1300" dirty="0"/>
          </a:p>
        </p:txBody>
      </p:sp>
      <p:sp>
        <p:nvSpPr>
          <p:cNvPr id="8" name="Passage"/>
          <p:cNvSpPr/>
          <p:nvPr/>
        </p:nvSpPr>
        <p:spPr>
          <a:xfrm>
            <a:off x="548640" y="1787040"/>
            <a:ext cx="11091672" cy="1868514"/>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solidFill>
                <a:latin typeface="Calibri" pitchFamily="34" charset="0"/>
                <a:ea typeface="Calibri" pitchFamily="34" charset="-122"/>
                <a:cs typeface="Calibri" pitchFamily="34" charset="-120"/>
              </a:rPr>
              <a:t>We often use the word ignorance to denote a primitive or foolish set of beliefs. In fact, I would say that “explanation” is often primitive or foolish, and the recognition of ignorance is the beginning of scientific discourse. ① When we admit that something is unknown and inexplicable, then we admit also that it is worthy of investigation. ② David Helfand, the astronomer, traces how our view of the wind evolved from the primitive to the scientific: first “the wind is angry,” followed by “the wind god is angry,” and finally “the wind is a measurable form of energy.” ③ The first two statements provide a complete explanation but are clearly ignorant; the third shows our ignorance (we can’t predict or alter the weather yet) but is surely less ignorant. </a:t>
            </a:r>
            <a:r>
              <a:rPr lang="en-US" altLang="ko-KR" sz="1400" dirty="0">
                <a:solidFill>
                  <a:srgbClr val="333333"/>
                </a:solidFill>
                <a:latin typeface="Calibri" pitchFamily="34" charset="0"/>
                <a:ea typeface="Calibri" pitchFamily="34" charset="-122"/>
                <a:cs typeface="Calibri" pitchFamily="34" charset="-120"/>
              </a:rPr>
              <a:t>④ It is undeniable that ignorance stands as the greatest barrier to scientific discovery and thus it fails to function as a support to scientists.</a:t>
            </a:r>
            <a:r>
              <a:rPr lang="en-US" altLang="ko-KR" sz="1400" dirty="0">
                <a:solidFill>
                  <a:srgbClr val="333333"/>
                </a:solidFill>
                <a:latin typeface="Calibri" pitchFamily="34" charset="0"/>
                <a:ea typeface="Calibri" pitchFamily="34" charset="-122"/>
                <a:cs typeface="Calibri" pitchFamily="34" charset="-120"/>
              </a:rPr>
              <a:t> ⑤ Explanation rather than ignorance is the hallmark of intellectual narrowness.</a:t>
            </a:r>
            <a:endParaRPr lang="en-US" altLang="ko-KR" sz="1400" dirty="0"/>
          </a:p>
        </p:txBody>
      </p:sp>
      <p:sp>
        <p:nvSpPr>
          <p:cNvPr id="9" name="AnsOverlay"/>
          <p:cNvSpPr/>
          <p:nvPr/>
        </p:nvSpPr>
        <p:spPr>
          <a:xfrm>
            <a:off x="548640" y="1787040"/>
            <a:ext cx="11091672" cy="1868514"/>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alpha val="0"/>
                  </a:srgbClr>
                </a:solidFill>
                <a:latin typeface="Calibri" pitchFamily="34" charset="0"/>
                <a:ea typeface="Calibri" pitchFamily="34" charset="-122"/>
                <a:cs typeface="Calibri" pitchFamily="34" charset="-120"/>
              </a:rPr>
              <a:t>We often use the word ignorance to denote a primitive or foolish set of beliefs. In fact, I would say that “explanation” is often primitive or foolish, and the recognition of ignorance is the beginning of scientific discourse. ① When we admit that something is unknown and inexplicable, then we admit also that it is worthy of investigation. ② David Helfand, the astronomer, traces how our view of the wind evolved from the primitive to the scientific: first “the wind is angry,” followed by “the wind god is angry,” and finally “the wind is a measurable form of energy.” ③ The first two statements provide a complete explanation but are clearly ignorant; the third shows our ignorance (we can’t predict or alter the weather yet) but is surely less ignorant. </a:t>
            </a:r>
            <a:r>
              <a:rPr lang="en-US" altLang="ko-KR" sz="1400" dirty="0">
                <a:solidFill>
                  <a:srgbClr val="C00000"/>
                </a:solidFill>
                <a:latin typeface="Calibri" pitchFamily="34" charset="0"/>
                <a:ea typeface="Calibri" pitchFamily="34" charset="-122"/>
                <a:cs typeface="Calibri" pitchFamily="34" charset="-120"/>
              </a:rPr>
              <a:t>④ It is undeniable that ignorance stands as the greatest barrier to scientific discovery and thus it fails to function as a support to scientists.</a:t>
            </a:r>
            <a:r>
              <a:rPr lang="en-US" altLang="ko-KR" sz="1400" dirty="0">
                <a:solidFill>
                  <a:srgbClr val="333333">
                    <a:alpha val="0"/>
                  </a:srgbClr>
                </a:solidFill>
                <a:latin typeface="Calibri" pitchFamily="34" charset="0"/>
                <a:ea typeface="Calibri" pitchFamily="34" charset="-122"/>
                <a:cs typeface="Calibri" pitchFamily="34" charset="-120"/>
              </a:rPr>
              <a:t> ⑤ Explanation rather than ignorance is the hallmark of intellectual narrowness.</a:t>
            </a:r>
            <a:endParaRPr lang="en-US" altLang="ko-KR" sz="1400" dirty="0"/>
          </a:p>
        </p:txBody>
      </p:sp>
      <p:sp>
        <p:nvSpPr>
          <p:cNvPr id="10" name="AnsBg"/>
          <p:cNvSpPr/>
          <p:nvPr/>
        </p:nvSpPr>
        <p:spPr>
          <a:xfrm>
            <a:off x="548640" y="3777954"/>
            <a:ext cx="11091672" cy="457200"/>
          </a:xfrm>
          <a:prstGeom prst="rect">
            <a:avLst/>
          </a:prstGeom>
          <a:solidFill>
            <a:srgbClr val="FFF4CC"/>
          </a:solidFill>
          <a:ln>
            <a:noFill/>
          </a:ln>
        </p:spPr>
        <p:txBody>
          <a:bodyPr/>
          <a:lstStyle/>
          <a:p>
            <a:endParaRPr lang="ko-KR" altLang="en-US"/>
          </a:p>
        </p:txBody>
      </p:sp>
      <p:sp>
        <p:nvSpPr>
          <p:cNvPr id="11" name="reveal_6_en"/>
          <p:cNvSpPr/>
          <p:nvPr/>
        </p:nvSpPr>
        <p:spPr>
          <a:xfrm>
            <a:off x="732240" y="3777954"/>
            <a:ext cx="10724472" cy="457200"/>
          </a:xfrm>
          <a:prstGeom prst="rect">
            <a:avLst/>
          </a:prstGeom>
          <a:noFill/>
          <a:ln>
            <a:noFill/>
          </a:ln>
        </p:spPr>
        <p:txBody>
          <a:bodyPr wrap="square" lIns="0" tIns="0" rIns="0" bIns="0" rtlCol="0" anchor="ctr"/>
          <a:lstStyle/>
          <a:p>
            <a:pPr marL="0" indent="0">
              <a:buNone/>
            </a:pPr>
            <a:r>
              <a:rPr lang="en-US" altLang="ko-KR" sz="1500" b="1" dirty="0">
                <a:solidFill>
                  <a:srgbClr val="5A4200"/>
                </a:solidFill>
                <a:latin typeface="맑은 고딕" pitchFamily="34" charset="0"/>
                <a:ea typeface="맑은 고딕" pitchFamily="34" charset="-122"/>
                <a:cs typeface="맑은 고딕" pitchFamily="34" charset="-120"/>
              </a:rPr>
              <a:t>정답   ④</a:t>
            </a:r>
            <a:endParaRPr lang="en-US" altLang="ko-KR"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additive="base">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additive="base">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additive="base">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9" grpId="0" animBg="1"/>
    </p:bldLst>
  </p:timing>
</p:sld>
</file>

<file path=ppt/slides/slide36.xml><?xml version="1.0" encoding="utf-8"?>
<p:sld xmlns:a="http://schemas.openxmlformats.org/drawingml/2006/main" xmlns:p="http://schemas.openxmlformats.org/presentationml/2006/main" xmlns:r="http://schemas.openxmlformats.org/officeDocument/2006/relationships">
  <p:cSld name="07 구문 1">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07</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(1/2)</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(2026학년도)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1419610"/>
            <a:ext cx="250811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There are few of us</a:t>
            </a:r>
            <a:endParaRPr lang="en-US" altLang="ko-KR" sz="1800" dirty="0"/>
          </a:p>
        </p:txBody>
      </p:sp>
      <p:sp>
        <p:nvSpPr>
          <p:cNvPr id="8" name="reveal_1_kr"/>
          <p:cNvSpPr/>
          <p:nvPr/>
        </p:nvSpPr>
        <p:spPr>
          <a:xfrm>
            <a:off x="548640" y="1753366"/>
            <a:ext cx="250811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우리 중 이런 사람은 거의 없다</a:t>
            </a:r>
            <a:endParaRPr lang="en-US" altLang="ko-KR" sz="1450" dirty="0"/>
          </a:p>
        </p:txBody>
      </p:sp>
      <p:sp>
        <p:nvSpPr>
          <p:cNvPr id="9" name="Sep"/>
          <p:cNvSpPr/>
          <p:nvPr/>
        </p:nvSpPr>
        <p:spPr>
          <a:xfrm>
            <a:off x="3011033" y="1419610"/>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3238826" y="1419610"/>
            <a:ext cx="258923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who don’t at least want</a:t>
            </a:r>
            <a:endParaRPr lang="en-US" altLang="ko-KR" sz="1800" dirty="0"/>
          </a:p>
        </p:txBody>
      </p:sp>
      <p:sp>
        <p:nvSpPr>
          <p:cNvPr id="11" name="reveal_2_kr"/>
          <p:cNvSpPr/>
          <p:nvPr/>
        </p:nvSpPr>
        <p:spPr>
          <a:xfrm>
            <a:off x="3238826" y="1753366"/>
            <a:ext cx="258923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최소한 원하지 않는</a:t>
            </a:r>
            <a:endParaRPr lang="en-US" altLang="ko-KR" sz="1450" dirty="0"/>
          </a:p>
        </p:txBody>
      </p:sp>
      <p:sp>
        <p:nvSpPr>
          <p:cNvPr id="12" name="Sep"/>
          <p:cNvSpPr/>
          <p:nvPr/>
        </p:nvSpPr>
        <p:spPr>
          <a:xfrm>
            <a:off x="5782344" y="1419610"/>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3" name="En"/>
          <p:cNvSpPr/>
          <p:nvPr/>
        </p:nvSpPr>
        <p:spPr>
          <a:xfrm>
            <a:off x="6010137" y="1419610"/>
            <a:ext cx="383059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to make time for self-care activities</a:t>
            </a:r>
            <a:endParaRPr lang="en-US" altLang="ko-KR" sz="1800" dirty="0"/>
          </a:p>
        </p:txBody>
      </p:sp>
      <p:sp>
        <p:nvSpPr>
          <p:cNvPr id="14" name="reveal_3_kr"/>
          <p:cNvSpPr/>
          <p:nvPr/>
        </p:nvSpPr>
        <p:spPr>
          <a:xfrm>
            <a:off x="6010137" y="1753366"/>
            <a:ext cx="383059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자기 관리 활동을 위한 시간을 내기를</a:t>
            </a:r>
            <a:endParaRPr lang="en-US" altLang="ko-KR" sz="1450" dirty="0"/>
          </a:p>
        </p:txBody>
      </p:sp>
      <p:sp>
        <p:nvSpPr>
          <p:cNvPr id="15" name="En"/>
          <p:cNvSpPr/>
          <p:nvPr/>
        </p:nvSpPr>
        <p:spPr>
          <a:xfrm>
            <a:off x="548640" y="2115189"/>
            <a:ext cx="430733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such as exercise, hobbies, or relaxation.</a:t>
            </a:r>
            <a:endParaRPr lang="en-US" altLang="ko-KR" sz="1800" dirty="0"/>
          </a:p>
        </p:txBody>
      </p:sp>
      <p:sp>
        <p:nvSpPr>
          <p:cNvPr id="16" name="reveal_4_kr"/>
          <p:cNvSpPr/>
          <p:nvPr/>
        </p:nvSpPr>
        <p:spPr>
          <a:xfrm>
            <a:off x="548640" y="2448945"/>
            <a:ext cx="430733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운동, 취미, 휴식 같은</a:t>
            </a:r>
            <a:endParaRPr lang="en-US" altLang="ko-KR" sz="1450" dirty="0"/>
          </a:p>
        </p:txBody>
      </p:sp>
      <p:sp>
        <p:nvSpPr>
          <p:cNvPr id="17" name="En"/>
          <p:cNvSpPr/>
          <p:nvPr/>
        </p:nvSpPr>
        <p:spPr>
          <a:xfrm>
            <a:off x="548640" y="2893064"/>
            <a:ext cx="198998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We start each day</a:t>
            </a:r>
            <a:endParaRPr lang="en-US" altLang="ko-KR" sz="1800" dirty="0"/>
          </a:p>
        </p:txBody>
      </p:sp>
      <p:sp>
        <p:nvSpPr>
          <p:cNvPr id="18" name="reveal_5_kr"/>
          <p:cNvSpPr/>
          <p:nvPr/>
        </p:nvSpPr>
        <p:spPr>
          <a:xfrm>
            <a:off x="548640" y="3226820"/>
            <a:ext cx="198998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우리는 매일을 시작한다</a:t>
            </a:r>
            <a:endParaRPr lang="en-US" altLang="ko-KR" sz="1450" dirty="0"/>
          </a:p>
        </p:txBody>
      </p:sp>
      <p:sp>
        <p:nvSpPr>
          <p:cNvPr id="19" name="Sep"/>
          <p:cNvSpPr/>
          <p:nvPr/>
        </p:nvSpPr>
        <p:spPr>
          <a:xfrm>
            <a:off x="2492902" y="289306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0" name="En"/>
          <p:cNvSpPr/>
          <p:nvPr/>
        </p:nvSpPr>
        <p:spPr>
          <a:xfrm>
            <a:off x="2720695" y="2893064"/>
            <a:ext cx="288918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with the best of intentions</a:t>
            </a:r>
            <a:endParaRPr lang="en-US" altLang="ko-KR" sz="1800" dirty="0"/>
          </a:p>
        </p:txBody>
      </p:sp>
      <p:sp>
        <p:nvSpPr>
          <p:cNvPr id="21" name="reveal_6_kr"/>
          <p:cNvSpPr/>
          <p:nvPr/>
        </p:nvSpPr>
        <p:spPr>
          <a:xfrm>
            <a:off x="2720695" y="3226820"/>
            <a:ext cx="288918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최선의 의도를 가지고</a:t>
            </a:r>
            <a:endParaRPr lang="en-US" altLang="ko-KR" sz="1450" dirty="0"/>
          </a:p>
        </p:txBody>
      </p:sp>
      <p:sp>
        <p:nvSpPr>
          <p:cNvPr id="22" name="Sep"/>
          <p:cNvSpPr/>
          <p:nvPr/>
        </p:nvSpPr>
        <p:spPr>
          <a:xfrm>
            <a:off x="5564163" y="289306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3" name="En"/>
          <p:cNvSpPr/>
          <p:nvPr/>
        </p:nvSpPr>
        <p:spPr>
          <a:xfrm>
            <a:off x="5791956" y="2893064"/>
            <a:ext cx="2082393"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but then get stuck</a:t>
            </a:r>
            <a:endParaRPr lang="en-US" altLang="ko-KR" sz="1800" dirty="0"/>
          </a:p>
        </p:txBody>
      </p:sp>
      <p:sp>
        <p:nvSpPr>
          <p:cNvPr id="24" name="reveal_7_kr"/>
          <p:cNvSpPr/>
          <p:nvPr/>
        </p:nvSpPr>
        <p:spPr>
          <a:xfrm>
            <a:off x="5791956" y="3226820"/>
            <a:ext cx="2082393"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하지만 그 후 발이 묶인다</a:t>
            </a:r>
            <a:endParaRPr lang="en-US" altLang="ko-KR" sz="1450" dirty="0"/>
          </a:p>
        </p:txBody>
      </p:sp>
      <p:sp>
        <p:nvSpPr>
          <p:cNvPr id="25" name="Sep"/>
          <p:cNvSpPr/>
          <p:nvPr/>
        </p:nvSpPr>
        <p:spPr>
          <a:xfrm>
            <a:off x="7828629" y="289306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6" name="En"/>
          <p:cNvSpPr/>
          <p:nvPr/>
        </p:nvSpPr>
        <p:spPr>
          <a:xfrm>
            <a:off x="8056422" y="2893064"/>
            <a:ext cx="336960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by the flood of email messages</a:t>
            </a:r>
            <a:endParaRPr lang="en-US" altLang="ko-KR" sz="1800" dirty="0"/>
          </a:p>
        </p:txBody>
      </p:sp>
      <p:sp>
        <p:nvSpPr>
          <p:cNvPr id="27" name="reveal_8_kr"/>
          <p:cNvSpPr/>
          <p:nvPr/>
        </p:nvSpPr>
        <p:spPr>
          <a:xfrm>
            <a:off x="8056422" y="3226820"/>
            <a:ext cx="336960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이메일 메시지의 홍수에</a:t>
            </a:r>
            <a:endParaRPr lang="en-US" altLang="ko-KR" sz="1450" dirty="0"/>
          </a:p>
        </p:txBody>
      </p:sp>
      <p:sp>
        <p:nvSpPr>
          <p:cNvPr id="28" name="En"/>
          <p:cNvSpPr/>
          <p:nvPr/>
        </p:nvSpPr>
        <p:spPr>
          <a:xfrm>
            <a:off x="548640" y="3588643"/>
            <a:ext cx="416301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or pulled into an unexpected meeting.</a:t>
            </a:r>
            <a:endParaRPr lang="en-US" altLang="ko-KR" sz="1800" dirty="0"/>
          </a:p>
        </p:txBody>
      </p:sp>
      <p:sp>
        <p:nvSpPr>
          <p:cNvPr id="29" name="reveal_9_kr"/>
          <p:cNvSpPr/>
          <p:nvPr/>
        </p:nvSpPr>
        <p:spPr>
          <a:xfrm>
            <a:off x="548640" y="3922399"/>
            <a:ext cx="416301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또는 예기치 못한 회의에 끌려 들어간다</a:t>
            </a:r>
            <a:endParaRPr lang="en-US" altLang="ko-KR" sz="1450" dirty="0"/>
          </a:p>
        </p:txBody>
      </p:sp>
      <p:sp>
        <p:nvSpPr>
          <p:cNvPr id="30" name="En"/>
          <p:cNvSpPr/>
          <p:nvPr/>
        </p:nvSpPr>
        <p:spPr>
          <a:xfrm>
            <a:off x="548640" y="4366518"/>
            <a:ext cx="354963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① As we struggle to reprioritize</a:t>
            </a:r>
            <a:endParaRPr lang="en-US" altLang="ko-KR" sz="1800" dirty="0"/>
          </a:p>
        </p:txBody>
      </p:sp>
      <p:sp>
        <p:nvSpPr>
          <p:cNvPr id="31" name="reveal_10_kr"/>
          <p:cNvSpPr/>
          <p:nvPr/>
        </p:nvSpPr>
        <p:spPr>
          <a:xfrm>
            <a:off x="548640" y="4700274"/>
            <a:ext cx="354963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우리가 우선순위를 재조정하려 애쓰면서</a:t>
            </a:r>
            <a:endParaRPr lang="en-US" altLang="ko-KR" sz="1450" dirty="0"/>
          </a:p>
        </p:txBody>
      </p:sp>
      <p:sp>
        <p:nvSpPr>
          <p:cNvPr id="32" name="Sep"/>
          <p:cNvSpPr/>
          <p:nvPr/>
        </p:nvSpPr>
        <p:spPr>
          <a:xfrm>
            <a:off x="4052551" y="436651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3" name="En"/>
          <p:cNvSpPr/>
          <p:nvPr/>
        </p:nvSpPr>
        <p:spPr>
          <a:xfrm>
            <a:off x="4280344" y="4366518"/>
            <a:ext cx="3316384"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so we can get everything done</a:t>
            </a:r>
            <a:endParaRPr lang="en-US" altLang="ko-KR" sz="1800" dirty="0"/>
          </a:p>
        </p:txBody>
      </p:sp>
      <p:sp>
        <p:nvSpPr>
          <p:cNvPr id="34" name="reveal_11_kr"/>
          <p:cNvSpPr/>
          <p:nvPr/>
        </p:nvSpPr>
        <p:spPr>
          <a:xfrm>
            <a:off x="4280344" y="4700274"/>
            <a:ext cx="3316384"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우리가 모든 것을 끝낼 수 있도록</a:t>
            </a:r>
            <a:endParaRPr lang="en-US" altLang="ko-KR" sz="1450" dirty="0"/>
          </a:p>
        </p:txBody>
      </p:sp>
      <p:sp>
        <p:nvSpPr>
          <p:cNvPr id="35" name="Sep"/>
          <p:cNvSpPr/>
          <p:nvPr/>
        </p:nvSpPr>
        <p:spPr>
          <a:xfrm>
            <a:off x="7551008" y="4366518"/>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6" name="En"/>
          <p:cNvSpPr/>
          <p:nvPr/>
        </p:nvSpPr>
        <p:spPr>
          <a:xfrm>
            <a:off x="7778801" y="4366518"/>
            <a:ext cx="232901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before our deadlines,</a:t>
            </a:r>
            <a:endParaRPr lang="en-US" altLang="ko-KR" sz="1800" dirty="0"/>
          </a:p>
        </p:txBody>
      </p:sp>
      <p:sp>
        <p:nvSpPr>
          <p:cNvPr id="37" name="reveal_12_kr"/>
          <p:cNvSpPr/>
          <p:nvPr/>
        </p:nvSpPr>
        <p:spPr>
          <a:xfrm>
            <a:off x="7778801" y="4700274"/>
            <a:ext cx="232901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마감 기한 전에</a:t>
            </a:r>
            <a:endParaRPr lang="en-US" altLang="ko-KR" sz="1450" dirty="0"/>
          </a:p>
        </p:txBody>
      </p:sp>
      <p:sp>
        <p:nvSpPr>
          <p:cNvPr id="38" name="En"/>
          <p:cNvSpPr/>
          <p:nvPr/>
        </p:nvSpPr>
        <p:spPr>
          <a:xfrm>
            <a:off x="548640" y="5062097"/>
            <a:ext cx="302731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often our self-care activities</a:t>
            </a:r>
            <a:endParaRPr lang="en-US" altLang="ko-KR" sz="1800" dirty="0"/>
          </a:p>
        </p:txBody>
      </p:sp>
      <p:sp>
        <p:nvSpPr>
          <p:cNvPr id="39" name="reveal_13_kr"/>
          <p:cNvSpPr/>
          <p:nvPr/>
        </p:nvSpPr>
        <p:spPr>
          <a:xfrm>
            <a:off x="548640" y="5395853"/>
            <a:ext cx="302731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흔히 우리의 자기 관리 활동은</a:t>
            </a:r>
            <a:endParaRPr lang="en-US" altLang="ko-KR" sz="1450" dirty="0"/>
          </a:p>
        </p:txBody>
      </p:sp>
      <p:sp>
        <p:nvSpPr>
          <p:cNvPr id="40" name="Sep"/>
          <p:cNvSpPr/>
          <p:nvPr/>
        </p:nvSpPr>
        <p:spPr>
          <a:xfrm>
            <a:off x="3530239" y="506209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41" name="En"/>
          <p:cNvSpPr/>
          <p:nvPr/>
        </p:nvSpPr>
        <p:spPr>
          <a:xfrm>
            <a:off x="3758032" y="5062097"/>
            <a:ext cx="356489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are the first thing to be given up.</a:t>
            </a:r>
            <a:endParaRPr lang="en-US" altLang="ko-KR" sz="1800" dirty="0"/>
          </a:p>
        </p:txBody>
      </p:sp>
      <p:sp>
        <p:nvSpPr>
          <p:cNvPr id="42" name="reveal_14_kr"/>
          <p:cNvSpPr/>
          <p:nvPr/>
        </p:nvSpPr>
        <p:spPr>
          <a:xfrm>
            <a:off x="3758032" y="5395853"/>
            <a:ext cx="356489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가장 먼저 포기되는 것이다</a:t>
            </a:r>
            <a:endParaRPr lang="en-US" altLang="ko-KR" sz="1450" dirty="0"/>
          </a:p>
        </p:txBody>
      </p:sp>
      <p:sp>
        <p:nvSpPr>
          <p:cNvPr id="43" name="En"/>
          <p:cNvSpPr/>
          <p:nvPr/>
        </p:nvSpPr>
        <p:spPr>
          <a:xfrm>
            <a:off x="548640" y="5839972"/>
            <a:ext cx="371069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② No matter how much we plan,</a:t>
            </a:r>
            <a:endParaRPr lang="en-US" altLang="ko-KR" sz="1800" dirty="0"/>
          </a:p>
        </p:txBody>
      </p:sp>
      <p:sp>
        <p:nvSpPr>
          <p:cNvPr id="44" name="reveal_15_kr"/>
          <p:cNvSpPr/>
          <p:nvPr/>
        </p:nvSpPr>
        <p:spPr>
          <a:xfrm>
            <a:off x="548640" y="6173728"/>
            <a:ext cx="371069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우리가 아무리 많이 계획해도</a:t>
            </a:r>
            <a:endParaRPr lang="en-US" altLang="ko-KR" sz="1450" dirty="0"/>
          </a:p>
        </p:txBody>
      </p:sp>
      <p:sp>
        <p:nvSpPr>
          <p:cNvPr id="45" name="Sep"/>
          <p:cNvSpPr/>
          <p:nvPr/>
        </p:nvSpPr>
        <p:spPr>
          <a:xfrm>
            <a:off x="4213616" y="5839972"/>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46" name="En"/>
          <p:cNvSpPr/>
          <p:nvPr/>
        </p:nvSpPr>
        <p:spPr>
          <a:xfrm>
            <a:off x="4441409" y="5839972"/>
            <a:ext cx="3162872"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we all occasionally have days</a:t>
            </a:r>
            <a:endParaRPr lang="en-US" altLang="ko-KR" sz="1800" dirty="0"/>
          </a:p>
        </p:txBody>
      </p:sp>
      <p:sp>
        <p:nvSpPr>
          <p:cNvPr id="47" name="reveal_16_kr"/>
          <p:cNvSpPr/>
          <p:nvPr/>
        </p:nvSpPr>
        <p:spPr>
          <a:xfrm>
            <a:off x="4441409" y="6173728"/>
            <a:ext cx="3162872"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우리 모두는 가끔 그런 날을 갖는다</a:t>
            </a:r>
            <a:endParaRPr lang="en-US" altLang="ko-KR" sz="1450" dirty="0"/>
          </a:p>
        </p:txBody>
      </p:sp>
      <p:sp>
        <p:nvSpPr>
          <p:cNvPr id="48" name="Sep"/>
          <p:cNvSpPr/>
          <p:nvPr/>
        </p:nvSpPr>
        <p:spPr>
          <a:xfrm>
            <a:off x="7558561" y="5839972"/>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49" name="En"/>
          <p:cNvSpPr/>
          <p:nvPr/>
        </p:nvSpPr>
        <p:spPr>
          <a:xfrm>
            <a:off x="7786354" y="5839972"/>
            <a:ext cx="218143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when that happens.</a:t>
            </a:r>
            <a:endParaRPr lang="en-US" altLang="ko-KR" sz="1800" dirty="0"/>
          </a:p>
        </p:txBody>
      </p:sp>
      <p:sp>
        <p:nvSpPr>
          <p:cNvPr id="50" name="reveal_17_kr"/>
          <p:cNvSpPr/>
          <p:nvPr/>
        </p:nvSpPr>
        <p:spPr>
          <a:xfrm>
            <a:off x="7786354" y="6173728"/>
            <a:ext cx="218143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그런 일이 일어나는</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0-#ppt_w/2"/>
                                          </p:val>
                                        </p:tav>
                                        <p:tav tm="100000">
                                          <p:val>
                                            <p:strVal val="#ppt_x"/>
                                          </p:val>
                                        </p:tav>
                                      </p:tavLst>
                                    </p:anim>
                                    <p:anim calcmode="lin" valueType="num">
                                      <p:cBhvr additive="base">
                                        <p:cTn id="44"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7"/>
                                        </p:tgtEl>
                                        <p:attrNameLst>
                                          <p:attrName>style.visibility</p:attrName>
                                        </p:attrNameLst>
                                      </p:cBhvr>
                                      <p:to>
                                        <p:strVal val="visible"/>
                                      </p:to>
                                    </p:set>
                                    <p:anim calcmode="lin" valueType="num">
                                      <p:cBhvr additive="base">
                                        <p:cTn id="49" dur="500" fill="hold"/>
                                        <p:tgtEl>
                                          <p:spTgt spid="27"/>
                                        </p:tgtEl>
                                        <p:attrNameLst>
                                          <p:attrName>ppt_x</p:attrName>
                                        </p:attrNameLst>
                                      </p:cBhvr>
                                      <p:tavLst>
                                        <p:tav tm="0">
                                          <p:val>
                                            <p:strVal val="0-#ppt_w/2"/>
                                          </p:val>
                                        </p:tav>
                                        <p:tav tm="100000">
                                          <p:val>
                                            <p:strVal val="#ppt_x"/>
                                          </p:val>
                                        </p:tav>
                                      </p:tavLst>
                                    </p:anim>
                                    <p:anim calcmode="lin" valueType="num">
                                      <p:cBhvr additive="base">
                                        <p:cTn id="50" dur="500" fill="hold"/>
                                        <p:tgtEl>
                                          <p:spTgt spid="27"/>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9"/>
                                        </p:tgtEl>
                                        <p:attrNameLst>
                                          <p:attrName>style.visibility</p:attrName>
                                        </p:attrNameLst>
                                      </p:cBhvr>
                                      <p:to>
                                        <p:strVal val="visible"/>
                                      </p:to>
                                    </p:set>
                                    <p:anim calcmode="lin" valueType="num">
                                      <p:cBhvr additive="base">
                                        <p:cTn id="55" dur="500" fill="hold"/>
                                        <p:tgtEl>
                                          <p:spTgt spid="29"/>
                                        </p:tgtEl>
                                        <p:attrNameLst>
                                          <p:attrName>ppt_x</p:attrName>
                                        </p:attrNameLst>
                                      </p:cBhvr>
                                      <p:tavLst>
                                        <p:tav tm="0">
                                          <p:val>
                                            <p:strVal val="0-#ppt_w/2"/>
                                          </p:val>
                                        </p:tav>
                                        <p:tav tm="100000">
                                          <p:val>
                                            <p:strVal val="#ppt_x"/>
                                          </p:val>
                                        </p:tav>
                                      </p:tavLst>
                                    </p:anim>
                                    <p:anim calcmode="lin" valueType="num">
                                      <p:cBhvr additive="base">
                                        <p:cTn id="56"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1"/>
                                        </p:tgtEl>
                                        <p:attrNameLst>
                                          <p:attrName>style.visibility</p:attrName>
                                        </p:attrNameLst>
                                      </p:cBhvr>
                                      <p:to>
                                        <p:strVal val="visible"/>
                                      </p:to>
                                    </p:set>
                                    <p:anim calcmode="lin" valueType="num">
                                      <p:cBhvr additive="base">
                                        <p:cTn id="61" dur="500" fill="hold"/>
                                        <p:tgtEl>
                                          <p:spTgt spid="31"/>
                                        </p:tgtEl>
                                        <p:attrNameLst>
                                          <p:attrName>ppt_x</p:attrName>
                                        </p:attrNameLst>
                                      </p:cBhvr>
                                      <p:tavLst>
                                        <p:tav tm="0">
                                          <p:val>
                                            <p:strVal val="0-#ppt_w/2"/>
                                          </p:val>
                                        </p:tav>
                                        <p:tav tm="100000">
                                          <p:val>
                                            <p:strVal val="#ppt_x"/>
                                          </p:val>
                                        </p:tav>
                                      </p:tavLst>
                                    </p:anim>
                                    <p:anim calcmode="lin" valueType="num">
                                      <p:cBhvr additive="base">
                                        <p:cTn id="6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additive="base">
                                        <p:cTn id="66" dur="1" fill="hold">
                                          <p:stCondLst>
                                            <p:cond delay="0"/>
                                          </p:stCondLst>
                                        </p:cTn>
                                        <p:tgtEl>
                                          <p:spTgt spid="34"/>
                                        </p:tgtEl>
                                        <p:attrNameLst>
                                          <p:attrName>style.visibility</p:attrName>
                                        </p:attrNameLst>
                                      </p:cBhvr>
                                      <p:to>
                                        <p:strVal val="visible"/>
                                      </p:to>
                                    </p:set>
                                    <p:anim calcmode="lin" valueType="num">
                                      <p:cBhvr additive="base">
                                        <p:cTn id="67" dur="500" fill="hold"/>
                                        <p:tgtEl>
                                          <p:spTgt spid="34"/>
                                        </p:tgtEl>
                                        <p:attrNameLst>
                                          <p:attrName>ppt_x</p:attrName>
                                        </p:attrNameLst>
                                      </p:cBhvr>
                                      <p:tavLst>
                                        <p:tav tm="0">
                                          <p:val>
                                            <p:strVal val="0-#ppt_w/2"/>
                                          </p:val>
                                        </p:tav>
                                        <p:tav tm="100000">
                                          <p:val>
                                            <p:strVal val="#ppt_x"/>
                                          </p:val>
                                        </p:tav>
                                      </p:tavLst>
                                    </p:anim>
                                    <p:anim calcmode="lin" valueType="num">
                                      <p:cBhvr additive="base">
                                        <p:cTn id="68"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additive="base">
                                        <p:cTn id="72" dur="1" fill="hold">
                                          <p:stCondLst>
                                            <p:cond delay="0"/>
                                          </p:stCondLst>
                                        </p:cTn>
                                        <p:tgtEl>
                                          <p:spTgt spid="37"/>
                                        </p:tgtEl>
                                        <p:attrNameLst>
                                          <p:attrName>style.visibility</p:attrName>
                                        </p:attrNameLst>
                                      </p:cBhvr>
                                      <p:to>
                                        <p:strVal val="visible"/>
                                      </p:to>
                                    </p:set>
                                    <p:anim calcmode="lin" valueType="num">
                                      <p:cBhvr additive="base">
                                        <p:cTn id="73" dur="500" fill="hold"/>
                                        <p:tgtEl>
                                          <p:spTgt spid="37"/>
                                        </p:tgtEl>
                                        <p:attrNameLst>
                                          <p:attrName>ppt_x</p:attrName>
                                        </p:attrNameLst>
                                      </p:cBhvr>
                                      <p:tavLst>
                                        <p:tav tm="0">
                                          <p:val>
                                            <p:strVal val="0-#ppt_w/2"/>
                                          </p:val>
                                        </p:tav>
                                        <p:tav tm="100000">
                                          <p:val>
                                            <p:strVal val="#ppt_x"/>
                                          </p:val>
                                        </p:tav>
                                      </p:tavLst>
                                    </p:anim>
                                    <p:anim calcmode="lin" valueType="num">
                                      <p:cBhvr additive="base">
                                        <p:cTn id="74"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additive="base">
                                        <p:cTn id="78" dur="1" fill="hold">
                                          <p:stCondLst>
                                            <p:cond delay="0"/>
                                          </p:stCondLst>
                                        </p:cTn>
                                        <p:tgtEl>
                                          <p:spTgt spid="39"/>
                                        </p:tgtEl>
                                        <p:attrNameLst>
                                          <p:attrName>style.visibility</p:attrName>
                                        </p:attrNameLst>
                                      </p:cBhvr>
                                      <p:to>
                                        <p:strVal val="visible"/>
                                      </p:to>
                                    </p:set>
                                    <p:anim calcmode="lin" valueType="num">
                                      <p:cBhvr additive="base">
                                        <p:cTn id="79" dur="500" fill="hold"/>
                                        <p:tgtEl>
                                          <p:spTgt spid="39"/>
                                        </p:tgtEl>
                                        <p:attrNameLst>
                                          <p:attrName>ppt_x</p:attrName>
                                        </p:attrNameLst>
                                      </p:cBhvr>
                                      <p:tavLst>
                                        <p:tav tm="0">
                                          <p:val>
                                            <p:strVal val="0-#ppt_w/2"/>
                                          </p:val>
                                        </p:tav>
                                        <p:tav tm="100000">
                                          <p:val>
                                            <p:strVal val="#ppt_x"/>
                                          </p:val>
                                        </p:tav>
                                      </p:tavLst>
                                    </p:anim>
                                    <p:anim calcmode="lin" valueType="num">
                                      <p:cBhvr additive="base">
                                        <p:cTn id="80"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additive="base">
                                        <p:cTn id="84" dur="1" fill="hold">
                                          <p:stCondLst>
                                            <p:cond delay="0"/>
                                          </p:stCondLst>
                                        </p:cTn>
                                        <p:tgtEl>
                                          <p:spTgt spid="42"/>
                                        </p:tgtEl>
                                        <p:attrNameLst>
                                          <p:attrName>style.visibility</p:attrName>
                                        </p:attrNameLst>
                                      </p:cBhvr>
                                      <p:to>
                                        <p:strVal val="visible"/>
                                      </p:to>
                                    </p:set>
                                    <p:anim calcmode="lin" valueType="num">
                                      <p:cBhvr additive="base">
                                        <p:cTn id="85" dur="500" fill="hold"/>
                                        <p:tgtEl>
                                          <p:spTgt spid="42"/>
                                        </p:tgtEl>
                                        <p:attrNameLst>
                                          <p:attrName>ppt_x</p:attrName>
                                        </p:attrNameLst>
                                      </p:cBhvr>
                                      <p:tavLst>
                                        <p:tav tm="0">
                                          <p:val>
                                            <p:strVal val="0-#ppt_w/2"/>
                                          </p:val>
                                        </p:tav>
                                        <p:tav tm="100000">
                                          <p:val>
                                            <p:strVal val="#ppt_x"/>
                                          </p:val>
                                        </p:tav>
                                      </p:tavLst>
                                    </p:anim>
                                    <p:anim calcmode="lin" valueType="num">
                                      <p:cBhvr additive="base">
                                        <p:cTn id="86"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additive="base">
                                        <p:cTn id="90" dur="1" fill="hold">
                                          <p:stCondLst>
                                            <p:cond delay="0"/>
                                          </p:stCondLst>
                                        </p:cTn>
                                        <p:tgtEl>
                                          <p:spTgt spid="44"/>
                                        </p:tgtEl>
                                        <p:attrNameLst>
                                          <p:attrName>style.visibility</p:attrName>
                                        </p:attrNameLst>
                                      </p:cBhvr>
                                      <p:to>
                                        <p:strVal val="visible"/>
                                      </p:to>
                                    </p:set>
                                    <p:anim calcmode="lin" valueType="num">
                                      <p:cBhvr additive="base">
                                        <p:cTn id="91" dur="500" fill="hold"/>
                                        <p:tgtEl>
                                          <p:spTgt spid="44"/>
                                        </p:tgtEl>
                                        <p:attrNameLst>
                                          <p:attrName>ppt_x</p:attrName>
                                        </p:attrNameLst>
                                      </p:cBhvr>
                                      <p:tavLst>
                                        <p:tav tm="0">
                                          <p:val>
                                            <p:strVal val="0-#ppt_w/2"/>
                                          </p:val>
                                        </p:tav>
                                        <p:tav tm="100000">
                                          <p:val>
                                            <p:strVal val="#ppt_x"/>
                                          </p:val>
                                        </p:tav>
                                      </p:tavLst>
                                    </p:anim>
                                    <p:anim calcmode="lin" valueType="num">
                                      <p:cBhvr additive="base">
                                        <p:cTn id="92" dur="500" fill="hold"/>
                                        <p:tgtEl>
                                          <p:spTgt spid="44"/>
                                        </p:tgtEl>
                                        <p:attrNameLst>
                                          <p:attrName>ppt_y</p:attrName>
                                        </p:attrNameLst>
                                      </p:cBhvr>
                                      <p:tavLst>
                                        <p:tav tm="0">
                                          <p:val>
                                            <p:strVal val="#ppt_y"/>
                                          </p:val>
                                        </p:tav>
                                        <p:tav tm="100000">
                                          <p:val>
                                            <p:strVal val="#ppt_y"/>
                                          </p:val>
                                        </p:tav>
                                      </p:tavLst>
                                    </p:anim>
                                  </p:childTnLst>
                                </p:cTn>
                              </p:par>
                            </p:childTnLst>
                          </p:cTn>
                        </p:par>
                      </p:childTnLst>
                    </p:cTn>
                  </p:par>
                  <p:par>
                    <p:cTn id="93" fill="hold">
                      <p:stCondLst>
                        <p:cond delay="indefinite"/>
                      </p:stCondLst>
                      <p:childTnLst>
                        <p:par>
                          <p:cTn id="94" fill="hold">
                            <p:stCondLst>
                              <p:cond delay="0"/>
                            </p:stCondLst>
                            <p:childTnLst>
                              <p:par>
                                <p:cTn id="95" presetID="2" presetClass="entr" presetSubtype="8" fill="hold" grpId="0" nodeType="clickEffect">
                                  <p:stCondLst>
                                    <p:cond delay="0"/>
                                  </p:stCondLst>
                                  <p:childTnLst>
                                    <p:set>
                                      <p:cBhvr additive="base">
                                        <p:cTn id="96" dur="1" fill="hold">
                                          <p:stCondLst>
                                            <p:cond delay="0"/>
                                          </p:stCondLst>
                                        </p:cTn>
                                        <p:tgtEl>
                                          <p:spTgt spid="47"/>
                                        </p:tgtEl>
                                        <p:attrNameLst>
                                          <p:attrName>style.visibility</p:attrName>
                                        </p:attrNameLst>
                                      </p:cBhvr>
                                      <p:to>
                                        <p:strVal val="visible"/>
                                      </p:to>
                                    </p:set>
                                    <p:anim calcmode="lin" valueType="num">
                                      <p:cBhvr additive="base">
                                        <p:cTn id="97" dur="500" fill="hold"/>
                                        <p:tgtEl>
                                          <p:spTgt spid="47"/>
                                        </p:tgtEl>
                                        <p:attrNameLst>
                                          <p:attrName>ppt_x</p:attrName>
                                        </p:attrNameLst>
                                      </p:cBhvr>
                                      <p:tavLst>
                                        <p:tav tm="0">
                                          <p:val>
                                            <p:strVal val="0-#ppt_w/2"/>
                                          </p:val>
                                        </p:tav>
                                        <p:tav tm="100000">
                                          <p:val>
                                            <p:strVal val="#ppt_x"/>
                                          </p:val>
                                        </p:tav>
                                      </p:tavLst>
                                    </p:anim>
                                    <p:anim calcmode="lin" valueType="num">
                                      <p:cBhvr additive="base">
                                        <p:cTn id="98" dur="500" fill="hold"/>
                                        <p:tgtEl>
                                          <p:spTgt spid="47"/>
                                        </p:tgtEl>
                                        <p:attrNameLst>
                                          <p:attrName>ppt_y</p:attrName>
                                        </p:attrNameLst>
                                      </p:cBhvr>
                                      <p:tavLst>
                                        <p:tav tm="0">
                                          <p:val>
                                            <p:strVal val="#ppt_y"/>
                                          </p:val>
                                        </p:tav>
                                        <p:tav tm="100000">
                                          <p:val>
                                            <p:strVal val="#ppt_y"/>
                                          </p:val>
                                        </p:tav>
                                      </p:tavLst>
                                    </p:anim>
                                  </p:childTnLst>
                                </p:cTn>
                              </p:par>
                            </p:childTnLst>
                          </p:cTn>
                        </p:par>
                      </p:childTnLst>
                    </p:cTn>
                  </p:par>
                  <p:par>
                    <p:cTn id="99" fill="hold">
                      <p:stCondLst>
                        <p:cond delay="indefinite"/>
                      </p:stCondLst>
                      <p:childTnLst>
                        <p:par>
                          <p:cTn id="100" fill="hold">
                            <p:stCondLst>
                              <p:cond delay="0"/>
                            </p:stCondLst>
                            <p:childTnLst>
                              <p:par>
                                <p:cTn id="101" presetID="2" presetClass="entr" presetSubtype="8" fill="hold" grpId="0" nodeType="clickEffect">
                                  <p:stCondLst>
                                    <p:cond delay="0"/>
                                  </p:stCondLst>
                                  <p:childTnLst>
                                    <p:set>
                                      <p:cBhvr additive="base">
                                        <p:cTn id="102" dur="1" fill="hold">
                                          <p:stCondLst>
                                            <p:cond delay="0"/>
                                          </p:stCondLst>
                                        </p:cTn>
                                        <p:tgtEl>
                                          <p:spTgt spid="50"/>
                                        </p:tgtEl>
                                        <p:attrNameLst>
                                          <p:attrName>style.visibility</p:attrName>
                                        </p:attrNameLst>
                                      </p:cBhvr>
                                      <p:to>
                                        <p:strVal val="visible"/>
                                      </p:to>
                                    </p:set>
                                    <p:anim calcmode="lin" valueType="num">
                                      <p:cBhvr additive="base">
                                        <p:cTn id="103" dur="500" fill="hold"/>
                                        <p:tgtEl>
                                          <p:spTgt spid="50"/>
                                        </p:tgtEl>
                                        <p:attrNameLst>
                                          <p:attrName>ppt_x</p:attrName>
                                        </p:attrNameLst>
                                      </p:cBhvr>
                                      <p:tavLst>
                                        <p:tav tm="0">
                                          <p:val>
                                            <p:strVal val="0-#ppt_w/2"/>
                                          </p:val>
                                        </p:tav>
                                        <p:tav tm="100000">
                                          <p:val>
                                            <p:strVal val="#ppt_x"/>
                                          </p:val>
                                        </p:tav>
                                      </p:tavLst>
                                    </p:anim>
                                    <p:anim calcmode="lin" valueType="num">
                                      <p:cBhvr additive="base">
                                        <p:cTn id="104" dur="500" fill="hold"/>
                                        <p:tgtEl>
                                          <p:spTgt spid="5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6" grpId="0" animBg="1"/>
      <p:bldP spid="18" grpId="0" animBg="1"/>
      <p:bldP spid="21" grpId="0" animBg="1"/>
      <p:bldP spid="24" grpId="0" animBg="1"/>
      <p:bldP spid="27" grpId="0" animBg="1"/>
      <p:bldP spid="29" grpId="0" animBg="1"/>
      <p:bldP spid="31" grpId="0" animBg="1"/>
      <p:bldP spid="34" grpId="0" animBg="1"/>
      <p:bldP spid="37" grpId="0" animBg="1"/>
      <p:bldP spid="39" grpId="0" animBg="1"/>
      <p:bldP spid="42" grpId="0" animBg="1"/>
      <p:bldP spid="44" grpId="0" animBg="1"/>
      <p:bldP spid="47" grpId="0" animBg="1"/>
      <p:bldP spid="50" grpId="0" animBg="1"/>
    </p:bldLst>
  </p:timing>
</p:sld>
</file>

<file path=ppt/slides/slide37.xml><?xml version="1.0" encoding="utf-8"?>
<p:sld xmlns:a="http://schemas.openxmlformats.org/drawingml/2006/main" xmlns:p="http://schemas.openxmlformats.org/presentationml/2006/main" xmlns:r="http://schemas.openxmlformats.org/officeDocument/2006/relationships">
  <p:cSld name="07 구문 2">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07</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본문 구문독해  (2/2)</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(2026학년도)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클릭할 때마다 구문 해석이 왼쪽부터 순서대로 하나씩 날아옵니다</a:t>
            </a:r>
            <a:endParaRPr lang="en-US" altLang="ko-KR" sz="1100" dirty="0"/>
          </a:p>
        </p:txBody>
      </p:sp>
      <p:sp>
        <p:nvSpPr>
          <p:cNvPr id="7" name="En"/>
          <p:cNvSpPr/>
          <p:nvPr/>
        </p:nvSpPr>
        <p:spPr>
          <a:xfrm>
            <a:off x="548640" y="1808547"/>
            <a:ext cx="2329771"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③ In the short term,</a:t>
            </a:r>
            <a:endParaRPr lang="en-US" altLang="ko-KR" sz="1800" dirty="0"/>
          </a:p>
        </p:txBody>
      </p:sp>
      <p:sp>
        <p:nvSpPr>
          <p:cNvPr id="8" name="reveal_18_kr"/>
          <p:cNvSpPr/>
          <p:nvPr/>
        </p:nvSpPr>
        <p:spPr>
          <a:xfrm>
            <a:off x="548640" y="2142303"/>
            <a:ext cx="2329771"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단기적으로</a:t>
            </a:r>
            <a:endParaRPr lang="en-US" altLang="ko-KR" sz="1450" dirty="0"/>
          </a:p>
        </p:txBody>
      </p:sp>
      <p:sp>
        <p:nvSpPr>
          <p:cNvPr id="9" name="Sep"/>
          <p:cNvSpPr/>
          <p:nvPr/>
        </p:nvSpPr>
        <p:spPr>
          <a:xfrm>
            <a:off x="2832691" y="180854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0" name="En"/>
          <p:cNvSpPr/>
          <p:nvPr/>
        </p:nvSpPr>
        <p:spPr>
          <a:xfrm>
            <a:off x="3060484" y="1808547"/>
            <a:ext cx="448384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the impact of missing that grant deadline</a:t>
            </a:r>
            <a:endParaRPr lang="en-US" altLang="ko-KR" sz="1800" dirty="0"/>
          </a:p>
        </p:txBody>
      </p:sp>
      <p:sp>
        <p:nvSpPr>
          <p:cNvPr id="11" name="reveal_19_kr"/>
          <p:cNvSpPr/>
          <p:nvPr/>
        </p:nvSpPr>
        <p:spPr>
          <a:xfrm>
            <a:off x="3060484" y="2142303"/>
            <a:ext cx="448384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 지원금 마감을 놓치는 영향은</a:t>
            </a:r>
            <a:endParaRPr lang="en-US" altLang="ko-KR" sz="1450" dirty="0"/>
          </a:p>
        </p:txBody>
      </p:sp>
      <p:sp>
        <p:nvSpPr>
          <p:cNvPr id="12" name="Sep"/>
          <p:cNvSpPr/>
          <p:nvPr/>
        </p:nvSpPr>
        <p:spPr>
          <a:xfrm>
            <a:off x="7498613" y="1808547"/>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13" name="En"/>
          <p:cNvSpPr/>
          <p:nvPr/>
        </p:nvSpPr>
        <p:spPr>
          <a:xfrm>
            <a:off x="7726406" y="1808547"/>
            <a:ext cx="164418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may be greater</a:t>
            </a:r>
            <a:endParaRPr lang="en-US" altLang="ko-KR" sz="1800" dirty="0"/>
          </a:p>
        </p:txBody>
      </p:sp>
      <p:sp>
        <p:nvSpPr>
          <p:cNvPr id="14" name="reveal_20_kr"/>
          <p:cNvSpPr/>
          <p:nvPr/>
        </p:nvSpPr>
        <p:spPr>
          <a:xfrm>
            <a:off x="7726406" y="2142303"/>
            <a:ext cx="164418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더 클지도 모른다</a:t>
            </a:r>
            <a:endParaRPr lang="en-US" altLang="ko-KR" sz="1450" dirty="0"/>
          </a:p>
        </p:txBody>
      </p:sp>
      <p:sp>
        <p:nvSpPr>
          <p:cNvPr id="15" name="En"/>
          <p:cNvSpPr/>
          <p:nvPr/>
        </p:nvSpPr>
        <p:spPr>
          <a:xfrm>
            <a:off x="548640" y="2504126"/>
            <a:ext cx="5293445"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than the impact of missing a woodworking class.</a:t>
            </a:r>
            <a:endParaRPr lang="en-US" altLang="ko-KR" sz="1800" dirty="0"/>
          </a:p>
        </p:txBody>
      </p:sp>
      <p:sp>
        <p:nvSpPr>
          <p:cNvPr id="16" name="reveal_21_kr"/>
          <p:cNvSpPr/>
          <p:nvPr/>
        </p:nvSpPr>
        <p:spPr>
          <a:xfrm>
            <a:off x="548640" y="2837882"/>
            <a:ext cx="5293445"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목공 수업을 놓치는 영향보다</a:t>
            </a:r>
            <a:endParaRPr lang="en-US" altLang="ko-KR" sz="1450" dirty="0"/>
          </a:p>
        </p:txBody>
      </p:sp>
      <p:sp>
        <p:nvSpPr>
          <p:cNvPr id="17" name="En"/>
          <p:cNvSpPr/>
          <p:nvPr/>
        </p:nvSpPr>
        <p:spPr>
          <a:xfrm>
            <a:off x="548640" y="3282001"/>
            <a:ext cx="2149194"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④ Needless to say,</a:t>
            </a:r>
            <a:endParaRPr lang="en-US" altLang="ko-KR" sz="1800" dirty="0"/>
          </a:p>
        </p:txBody>
      </p:sp>
      <p:sp>
        <p:nvSpPr>
          <p:cNvPr id="18" name="reveal_22_kr"/>
          <p:cNvSpPr/>
          <p:nvPr/>
        </p:nvSpPr>
        <p:spPr>
          <a:xfrm>
            <a:off x="548640" y="3615757"/>
            <a:ext cx="2149194"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말할 필요도 없이</a:t>
            </a:r>
            <a:endParaRPr lang="en-US" altLang="ko-KR" sz="1450" dirty="0"/>
          </a:p>
        </p:txBody>
      </p:sp>
      <p:sp>
        <p:nvSpPr>
          <p:cNvPr id="19" name="Sep"/>
          <p:cNvSpPr/>
          <p:nvPr/>
        </p:nvSpPr>
        <p:spPr>
          <a:xfrm>
            <a:off x="2652114" y="3282001"/>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0" name="En"/>
          <p:cNvSpPr/>
          <p:nvPr/>
        </p:nvSpPr>
        <p:spPr>
          <a:xfrm>
            <a:off x="2879907" y="3282001"/>
            <a:ext cx="5296480"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we should try to enroll in the woodworking class</a:t>
            </a:r>
            <a:endParaRPr lang="en-US" altLang="ko-KR" sz="1800" dirty="0"/>
          </a:p>
        </p:txBody>
      </p:sp>
      <p:sp>
        <p:nvSpPr>
          <p:cNvPr id="21" name="reveal_23_kr"/>
          <p:cNvSpPr/>
          <p:nvPr/>
        </p:nvSpPr>
        <p:spPr>
          <a:xfrm>
            <a:off x="2879907" y="3615757"/>
            <a:ext cx="5296480"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우리는 목공 수업에 등록하려고 노력해야 한다</a:t>
            </a:r>
            <a:endParaRPr lang="en-US" altLang="ko-KR" sz="1450" dirty="0"/>
          </a:p>
        </p:txBody>
      </p:sp>
      <p:sp>
        <p:nvSpPr>
          <p:cNvPr id="22" name="Sep"/>
          <p:cNvSpPr/>
          <p:nvPr/>
        </p:nvSpPr>
        <p:spPr>
          <a:xfrm>
            <a:off x="8130667" y="3282001"/>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3" name="En"/>
          <p:cNvSpPr/>
          <p:nvPr/>
        </p:nvSpPr>
        <p:spPr>
          <a:xfrm>
            <a:off x="8358460" y="3282001"/>
            <a:ext cx="2480385"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before the design class</a:t>
            </a:r>
            <a:endParaRPr lang="en-US" altLang="ko-KR" sz="1800" dirty="0"/>
          </a:p>
        </p:txBody>
      </p:sp>
      <p:sp>
        <p:nvSpPr>
          <p:cNvPr id="24" name="reveal_24_kr"/>
          <p:cNvSpPr/>
          <p:nvPr/>
        </p:nvSpPr>
        <p:spPr>
          <a:xfrm>
            <a:off x="8358460" y="3615757"/>
            <a:ext cx="2480385"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디자인 수업보다 먼저</a:t>
            </a:r>
            <a:endParaRPr lang="en-US" altLang="ko-KR" sz="1450" dirty="0"/>
          </a:p>
        </p:txBody>
      </p:sp>
      <p:sp>
        <p:nvSpPr>
          <p:cNvPr id="25" name="En"/>
          <p:cNvSpPr/>
          <p:nvPr/>
        </p:nvSpPr>
        <p:spPr>
          <a:xfrm>
            <a:off x="548640" y="3977580"/>
            <a:ext cx="4513218"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because it is more competitive to get into</a:t>
            </a:r>
            <a:endParaRPr lang="en-US" altLang="ko-KR" sz="1800" dirty="0"/>
          </a:p>
        </p:txBody>
      </p:sp>
      <p:sp>
        <p:nvSpPr>
          <p:cNvPr id="26" name="reveal_25_kr"/>
          <p:cNvSpPr/>
          <p:nvPr/>
        </p:nvSpPr>
        <p:spPr>
          <a:xfrm>
            <a:off x="548640" y="4311336"/>
            <a:ext cx="4513218"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그것이 들어가기에 더 경쟁이 치열하고</a:t>
            </a:r>
            <a:endParaRPr lang="en-US" altLang="ko-KR" sz="1450" dirty="0"/>
          </a:p>
        </p:txBody>
      </p:sp>
      <p:sp>
        <p:nvSpPr>
          <p:cNvPr id="27" name="Sep"/>
          <p:cNvSpPr/>
          <p:nvPr/>
        </p:nvSpPr>
        <p:spPr>
          <a:xfrm>
            <a:off x="5016138" y="3977580"/>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28" name="En"/>
          <p:cNvSpPr/>
          <p:nvPr/>
        </p:nvSpPr>
        <p:spPr>
          <a:xfrm>
            <a:off x="5243931" y="3977580"/>
            <a:ext cx="2833233" cy="278892"/>
          </a:xfrm>
          <a:prstGeom prst="rect">
            <a:avLst/>
          </a:prstGeom>
          <a:noFill/>
          <a:ln>
            <a:noFill/>
          </a:ln>
        </p:spPr>
        <p:txBody>
          <a:bodyPr wrap="none" lIns="0" tIns="0" rIns="0" bIns="0" rtlCol="0" anchor="t"/>
          <a:lstStyle/>
          <a:p>
            <a:pPr marL="0" indent="0">
              <a:buNone/>
            </a:pPr>
            <a:r>
              <a:rPr lang="en-US" altLang="ko-KR" sz="1800" b="1" dirty="0">
                <a:solidFill>
                  <a:srgbClr val="C00000"/>
                </a:solidFill>
                <a:latin typeface="Calibri" pitchFamily="34" charset="0"/>
                <a:ea typeface="Calibri" pitchFamily="34" charset="-122"/>
                <a:cs typeface="Calibri" pitchFamily="34" charset="-120"/>
              </a:rPr>
              <a:t>and more beneficial to us.</a:t>
            </a:r>
            <a:endParaRPr lang="en-US" altLang="ko-KR" sz="1800" dirty="0"/>
          </a:p>
        </p:txBody>
      </p:sp>
      <p:sp>
        <p:nvSpPr>
          <p:cNvPr id="29" name="reveal_26_kr"/>
          <p:cNvSpPr/>
          <p:nvPr/>
        </p:nvSpPr>
        <p:spPr>
          <a:xfrm>
            <a:off x="5243931" y="4311336"/>
            <a:ext cx="2833233" cy="224663"/>
          </a:xfrm>
          <a:prstGeom prst="rect">
            <a:avLst/>
          </a:prstGeom>
          <a:noFill/>
          <a:ln>
            <a:noFill/>
          </a:ln>
        </p:spPr>
        <p:txBody>
          <a:bodyPr wrap="none" lIns="0" tIns="0" rIns="0" bIns="0" rtlCol="0" anchor="t"/>
          <a:lstStyle/>
          <a:p>
            <a:pPr marL="0" indent="0">
              <a:buNone/>
            </a:pPr>
            <a:r>
              <a:rPr lang="en-US" altLang="ko-KR" sz="1450" dirty="0">
                <a:solidFill>
                  <a:srgbClr val="C00000"/>
                </a:solidFill>
                <a:latin typeface="맑은 고딕" pitchFamily="34" charset="0"/>
                <a:ea typeface="맑은 고딕" pitchFamily="34" charset="-122"/>
                <a:cs typeface="맑은 고딕" pitchFamily="34" charset="-120"/>
              </a:rPr>
              <a:t>우리에게 더 유익하기 때문에</a:t>
            </a:r>
            <a:endParaRPr lang="en-US" altLang="ko-KR" sz="1450" dirty="0"/>
          </a:p>
        </p:txBody>
      </p:sp>
      <p:sp>
        <p:nvSpPr>
          <p:cNvPr id="30" name="En"/>
          <p:cNvSpPr/>
          <p:nvPr/>
        </p:nvSpPr>
        <p:spPr>
          <a:xfrm>
            <a:off x="548640" y="4755455"/>
            <a:ext cx="2330068"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⑤ But it’s important</a:t>
            </a:r>
            <a:endParaRPr lang="en-US" altLang="ko-KR" sz="1800" dirty="0"/>
          </a:p>
        </p:txBody>
      </p:sp>
      <p:sp>
        <p:nvSpPr>
          <p:cNvPr id="31" name="reveal_27_kr"/>
          <p:cNvSpPr/>
          <p:nvPr/>
        </p:nvSpPr>
        <p:spPr>
          <a:xfrm>
            <a:off x="548640" y="5089211"/>
            <a:ext cx="2330068"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하지만 중요하다</a:t>
            </a:r>
            <a:endParaRPr lang="en-US" altLang="ko-KR" sz="1450" dirty="0"/>
          </a:p>
        </p:txBody>
      </p:sp>
      <p:sp>
        <p:nvSpPr>
          <p:cNvPr id="32" name="Sep"/>
          <p:cNvSpPr/>
          <p:nvPr/>
        </p:nvSpPr>
        <p:spPr>
          <a:xfrm>
            <a:off x="2832988" y="475545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3" name="En"/>
          <p:cNvSpPr/>
          <p:nvPr/>
        </p:nvSpPr>
        <p:spPr>
          <a:xfrm>
            <a:off x="3060781" y="4755455"/>
            <a:ext cx="382381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to recognize the cumulative impact</a:t>
            </a:r>
            <a:endParaRPr lang="en-US" altLang="ko-KR" sz="1800" dirty="0"/>
          </a:p>
        </p:txBody>
      </p:sp>
      <p:sp>
        <p:nvSpPr>
          <p:cNvPr id="34" name="reveal_28_kr"/>
          <p:cNvSpPr/>
          <p:nvPr/>
        </p:nvSpPr>
        <p:spPr>
          <a:xfrm>
            <a:off x="3060781" y="5089211"/>
            <a:ext cx="382381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누적된 영향을 인식하는 것이</a:t>
            </a:r>
            <a:endParaRPr lang="en-US" altLang="ko-KR" sz="1450" dirty="0"/>
          </a:p>
        </p:txBody>
      </p:sp>
      <p:sp>
        <p:nvSpPr>
          <p:cNvPr id="35" name="Sep"/>
          <p:cNvSpPr/>
          <p:nvPr/>
        </p:nvSpPr>
        <p:spPr>
          <a:xfrm>
            <a:off x="6838878" y="4755455"/>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36" name="En"/>
          <p:cNvSpPr/>
          <p:nvPr/>
        </p:nvSpPr>
        <p:spPr>
          <a:xfrm>
            <a:off x="7066671" y="4755455"/>
            <a:ext cx="2884190"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of not prioritizing self-care</a:t>
            </a:r>
            <a:endParaRPr lang="en-US" altLang="ko-KR" sz="1800" dirty="0"/>
          </a:p>
        </p:txBody>
      </p:sp>
      <p:sp>
        <p:nvSpPr>
          <p:cNvPr id="37" name="reveal_29_kr"/>
          <p:cNvSpPr/>
          <p:nvPr/>
        </p:nvSpPr>
        <p:spPr>
          <a:xfrm>
            <a:off x="7066671" y="5089211"/>
            <a:ext cx="2884190"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자기 관리를 우선시하지 않는 것의</a:t>
            </a:r>
            <a:endParaRPr lang="en-US" altLang="ko-KR" sz="1450" dirty="0"/>
          </a:p>
        </p:txBody>
      </p:sp>
      <p:sp>
        <p:nvSpPr>
          <p:cNvPr id="38" name="En"/>
          <p:cNvSpPr/>
          <p:nvPr/>
        </p:nvSpPr>
        <p:spPr>
          <a:xfrm>
            <a:off x="548640" y="5451034"/>
            <a:ext cx="2036187"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and to make sure</a:t>
            </a:r>
            <a:endParaRPr lang="en-US" altLang="ko-KR" sz="1800" dirty="0"/>
          </a:p>
        </p:txBody>
      </p:sp>
      <p:sp>
        <p:nvSpPr>
          <p:cNvPr id="39" name="reveal_30_kr"/>
          <p:cNvSpPr/>
          <p:nvPr/>
        </p:nvSpPr>
        <p:spPr>
          <a:xfrm>
            <a:off x="548640" y="5784790"/>
            <a:ext cx="2036187"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그리고 반드시 하는 것이</a:t>
            </a:r>
            <a:endParaRPr lang="en-US" altLang="ko-KR" sz="1450" dirty="0"/>
          </a:p>
        </p:txBody>
      </p:sp>
      <p:sp>
        <p:nvSpPr>
          <p:cNvPr id="40" name="Sep"/>
          <p:cNvSpPr/>
          <p:nvPr/>
        </p:nvSpPr>
        <p:spPr>
          <a:xfrm>
            <a:off x="2539107" y="545103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41" name="En"/>
          <p:cNvSpPr/>
          <p:nvPr/>
        </p:nvSpPr>
        <p:spPr>
          <a:xfrm>
            <a:off x="2766900" y="5451034"/>
            <a:ext cx="2325526"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that in the long term,</a:t>
            </a:r>
            <a:endParaRPr lang="en-US" altLang="ko-KR" sz="1800" dirty="0"/>
          </a:p>
        </p:txBody>
      </p:sp>
      <p:sp>
        <p:nvSpPr>
          <p:cNvPr id="42" name="reveal_31_kr"/>
          <p:cNvSpPr/>
          <p:nvPr/>
        </p:nvSpPr>
        <p:spPr>
          <a:xfrm>
            <a:off x="2766900" y="5784790"/>
            <a:ext cx="2325526"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장기적으로</a:t>
            </a:r>
            <a:endParaRPr lang="en-US" altLang="ko-KR" sz="1450" dirty="0"/>
          </a:p>
        </p:txBody>
      </p:sp>
      <p:sp>
        <p:nvSpPr>
          <p:cNvPr id="43" name="Sep"/>
          <p:cNvSpPr/>
          <p:nvPr/>
        </p:nvSpPr>
        <p:spPr>
          <a:xfrm>
            <a:off x="5046706" y="5451034"/>
            <a:ext cx="227793" cy="278892"/>
          </a:xfrm>
          <a:prstGeom prst="rect">
            <a:avLst/>
          </a:prstGeom>
          <a:noFill/>
          <a:ln>
            <a:noFill/>
          </a:ln>
        </p:spPr>
        <p:txBody>
          <a:bodyPr wrap="square" lIns="0" tIns="0" rIns="0" bIns="0" rtlCol="0" anchor="t"/>
          <a:lstStyle/>
          <a:p>
            <a:pPr marL="0" indent="0" algn="ctr">
              <a:buNone/>
            </a:pPr>
            <a:r>
              <a:rPr lang="en-US" altLang="ko-KR" sz="1800" b="1" dirty="0">
                <a:solidFill>
                  <a:srgbClr val="A9B4D6"/>
                </a:solidFill>
                <a:latin typeface="Calibri" pitchFamily="34" charset="0"/>
                <a:ea typeface="Calibri" pitchFamily="34" charset="-122"/>
                <a:cs typeface="Calibri" pitchFamily="34" charset="-120"/>
              </a:rPr>
              <a:t>/</a:t>
            </a:r>
            <a:endParaRPr lang="en-US" altLang="ko-KR" sz="1800" dirty="0"/>
          </a:p>
        </p:txBody>
      </p:sp>
      <p:sp>
        <p:nvSpPr>
          <p:cNvPr id="44" name="En"/>
          <p:cNvSpPr/>
          <p:nvPr/>
        </p:nvSpPr>
        <p:spPr>
          <a:xfrm>
            <a:off x="5274499" y="5451034"/>
            <a:ext cx="4613879" cy="278892"/>
          </a:xfrm>
          <a:prstGeom prst="rect">
            <a:avLst/>
          </a:prstGeom>
          <a:noFill/>
          <a:ln>
            <a:noFill/>
          </a:ln>
        </p:spPr>
        <p:txBody>
          <a:bodyPr wrap="none" lIns="0" tIns="0" rIns="0" bIns="0" rtlCol="0" anchor="t"/>
          <a:lstStyle/>
          <a:p>
            <a:pPr marL="0" indent="0">
              <a:buNone/>
            </a:pPr>
            <a:r>
              <a:rPr lang="en-US" altLang="ko-KR" sz="1800" b="1" dirty="0">
                <a:solidFill>
                  <a:srgbClr val="1E2761"/>
                </a:solidFill>
                <a:latin typeface="Calibri" pitchFamily="34" charset="0"/>
                <a:ea typeface="Calibri" pitchFamily="34" charset="-122"/>
                <a:cs typeface="Calibri" pitchFamily="34" charset="-120"/>
              </a:rPr>
              <a:t>this is the exception rather than the norm.</a:t>
            </a:r>
            <a:endParaRPr lang="en-US" altLang="ko-KR" sz="1800" dirty="0"/>
          </a:p>
        </p:txBody>
      </p:sp>
      <p:sp>
        <p:nvSpPr>
          <p:cNvPr id="45" name="reveal_32_kr"/>
          <p:cNvSpPr/>
          <p:nvPr/>
        </p:nvSpPr>
        <p:spPr>
          <a:xfrm>
            <a:off x="5274499" y="5784790"/>
            <a:ext cx="4613879" cy="224663"/>
          </a:xfrm>
          <a:prstGeom prst="rect">
            <a:avLst/>
          </a:prstGeom>
          <a:noFill/>
          <a:ln>
            <a:noFill/>
          </a:ln>
        </p:spPr>
        <p:txBody>
          <a:bodyPr wrap="none" lIns="0" tIns="0" rIns="0" bIns="0" rtlCol="0" anchor="t"/>
          <a:lstStyle/>
          <a:p>
            <a:pPr marL="0" indent="0">
              <a:buNone/>
            </a:pPr>
            <a:r>
              <a:rPr lang="en-US" altLang="ko-KR" sz="1450" dirty="0">
                <a:solidFill>
                  <a:srgbClr val="333333"/>
                </a:solidFill>
                <a:latin typeface="맑은 고딕" pitchFamily="34" charset="0"/>
                <a:ea typeface="맑은 고딕" pitchFamily="34" charset="-122"/>
                <a:cs typeface="맑은 고딕" pitchFamily="34" charset="-120"/>
              </a:rPr>
              <a:t>이것이 규범이 아니라 예외가 되도록</a:t>
            </a:r>
            <a:endParaRPr lang="en-US" altLang="ko-KR" sz="145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additive="base">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0-#ppt_w/2"/>
                                          </p:val>
                                        </p:tav>
                                        <p:tav tm="100000">
                                          <p:val>
                                            <p:strVal val="#ppt_x"/>
                                          </p:val>
                                        </p:tav>
                                      </p:tavLst>
                                    </p:anim>
                                    <p:anim calcmode="lin" valueType="num">
                                      <p:cBhvr additive="base">
                                        <p:cTn id="8" dur="500" fill="hold"/>
                                        <p:tgtEl>
                                          <p:spTgt spid="8"/>
                                        </p:tgtEl>
                                        <p:attrNameLst>
                                          <p:attrName>ppt_y</p:attrName>
                                        </p:attrNameLst>
                                      </p:cBhvr>
                                      <p:tavLst>
                                        <p:tav tm="0">
                                          <p:val>
                                            <p:strVal val="#ppt_y"/>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8" fill="hold" grpId="0" nodeType="clickEffect">
                                  <p:stCondLst>
                                    <p:cond delay="0"/>
                                  </p:stCondLst>
                                  <p:childTnLst>
                                    <p:set>
                                      <p:cBhvr additive="base">
                                        <p:cTn id="12" dur="1" fill="hold">
                                          <p:stCondLst>
                                            <p:cond delay="0"/>
                                          </p:stCondLst>
                                        </p:cTn>
                                        <p:tgtEl>
                                          <p:spTgt spid="11"/>
                                        </p:tgtEl>
                                        <p:attrNameLst>
                                          <p:attrName>style.visibility</p:attrName>
                                        </p:attrNameLst>
                                      </p:cBhvr>
                                      <p:to>
                                        <p:strVal val="visible"/>
                                      </p:to>
                                    </p:set>
                                    <p:anim calcmode="lin" valueType="num">
                                      <p:cBhvr additive="base">
                                        <p:cTn id="13" dur="500" fill="hold"/>
                                        <p:tgtEl>
                                          <p:spTgt spid="11"/>
                                        </p:tgtEl>
                                        <p:attrNameLst>
                                          <p:attrName>ppt_x</p:attrName>
                                        </p:attrNameLst>
                                      </p:cBhvr>
                                      <p:tavLst>
                                        <p:tav tm="0">
                                          <p:val>
                                            <p:strVal val="0-#ppt_w/2"/>
                                          </p:val>
                                        </p:tav>
                                        <p:tav tm="100000">
                                          <p:val>
                                            <p:strVal val="#ppt_x"/>
                                          </p:val>
                                        </p:tav>
                                      </p:tavLst>
                                    </p:anim>
                                    <p:anim calcmode="lin" valueType="num">
                                      <p:cBhvr additive="base">
                                        <p:cTn id="14" dur="500" fill="hold"/>
                                        <p:tgtEl>
                                          <p:spTgt spid="11"/>
                                        </p:tgtEl>
                                        <p:attrNameLst>
                                          <p:attrName>ppt_y</p:attrName>
                                        </p:attrNameLst>
                                      </p:cBhvr>
                                      <p:tavLst>
                                        <p:tav tm="0">
                                          <p:val>
                                            <p:strVal val="#ppt_y"/>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8" fill="hold" grpId="0" nodeType="clickEffect">
                                  <p:stCondLst>
                                    <p:cond delay="0"/>
                                  </p:stCondLst>
                                  <p:childTnLst>
                                    <p:set>
                                      <p:cBhvr additive="base">
                                        <p:cTn id="18" dur="1" fill="hold">
                                          <p:stCondLst>
                                            <p:cond delay="0"/>
                                          </p:stCondLst>
                                        </p:cTn>
                                        <p:tgtEl>
                                          <p:spTgt spid="14"/>
                                        </p:tgtEl>
                                        <p:attrNameLst>
                                          <p:attrName>style.visibility</p:attrName>
                                        </p:attrNameLst>
                                      </p:cBhvr>
                                      <p:to>
                                        <p:strVal val="visible"/>
                                      </p:to>
                                    </p:set>
                                    <p:anim calcmode="lin" valueType="num">
                                      <p:cBhvr additive="base">
                                        <p:cTn id="19" dur="500" fill="hold"/>
                                        <p:tgtEl>
                                          <p:spTgt spid="14"/>
                                        </p:tgtEl>
                                        <p:attrNameLst>
                                          <p:attrName>ppt_x</p:attrName>
                                        </p:attrNameLst>
                                      </p:cBhvr>
                                      <p:tavLst>
                                        <p:tav tm="0">
                                          <p:val>
                                            <p:strVal val="0-#ppt_w/2"/>
                                          </p:val>
                                        </p:tav>
                                        <p:tav tm="100000">
                                          <p:val>
                                            <p:strVal val="#ppt_x"/>
                                          </p:val>
                                        </p:tav>
                                      </p:tavLst>
                                    </p:anim>
                                    <p:anim calcmode="lin" valueType="num">
                                      <p:cBhvr additive="base">
                                        <p:cTn id="20" dur="500" fill="hold"/>
                                        <p:tgtEl>
                                          <p:spTgt spid="14"/>
                                        </p:tgtEl>
                                        <p:attrNameLst>
                                          <p:attrName>ppt_y</p:attrName>
                                        </p:attrNameLst>
                                      </p:cBhvr>
                                      <p:tavLst>
                                        <p:tav tm="0">
                                          <p:val>
                                            <p:strVal val="#ppt_y"/>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8" fill="hold" grpId="0" nodeType="clickEffect">
                                  <p:stCondLst>
                                    <p:cond delay="0"/>
                                  </p:stCondLst>
                                  <p:childTnLst>
                                    <p:set>
                                      <p:cBhvr additive="base">
                                        <p:cTn id="24" dur="1" fill="hold">
                                          <p:stCondLst>
                                            <p:cond delay="0"/>
                                          </p:stCondLst>
                                        </p:cTn>
                                        <p:tgtEl>
                                          <p:spTgt spid="16"/>
                                        </p:tgtEl>
                                        <p:attrNameLst>
                                          <p:attrName>style.visibility</p:attrName>
                                        </p:attrNameLst>
                                      </p:cBhvr>
                                      <p:to>
                                        <p:strVal val="visible"/>
                                      </p:to>
                                    </p:set>
                                    <p:anim calcmode="lin" valueType="num">
                                      <p:cBhvr additive="base">
                                        <p:cTn id="25" dur="500" fill="hold"/>
                                        <p:tgtEl>
                                          <p:spTgt spid="16"/>
                                        </p:tgtEl>
                                        <p:attrNameLst>
                                          <p:attrName>ppt_x</p:attrName>
                                        </p:attrNameLst>
                                      </p:cBhvr>
                                      <p:tavLst>
                                        <p:tav tm="0">
                                          <p:val>
                                            <p:strVal val="0-#ppt_w/2"/>
                                          </p:val>
                                        </p:tav>
                                        <p:tav tm="100000">
                                          <p:val>
                                            <p:strVal val="#ppt_x"/>
                                          </p:val>
                                        </p:tav>
                                      </p:tavLst>
                                    </p:anim>
                                    <p:anim calcmode="lin" valueType="num">
                                      <p:cBhvr additive="base">
                                        <p:cTn id="26" dur="500" fill="hold"/>
                                        <p:tgtEl>
                                          <p:spTgt spid="16"/>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8" fill="hold" grpId="0" nodeType="clickEffect">
                                  <p:stCondLst>
                                    <p:cond delay="0"/>
                                  </p:stCondLst>
                                  <p:childTnLst>
                                    <p:set>
                                      <p:cBhvr additive="base">
                                        <p:cTn id="30" dur="1" fill="hold">
                                          <p:stCondLst>
                                            <p:cond delay="0"/>
                                          </p:stCondLst>
                                        </p:cTn>
                                        <p:tgtEl>
                                          <p:spTgt spid="18"/>
                                        </p:tgtEl>
                                        <p:attrNameLst>
                                          <p:attrName>style.visibility</p:attrName>
                                        </p:attrNameLst>
                                      </p:cBhvr>
                                      <p:to>
                                        <p:strVal val="visible"/>
                                      </p:to>
                                    </p:set>
                                    <p:anim calcmode="lin" valueType="num">
                                      <p:cBhvr additive="base">
                                        <p:cTn id="31" dur="500" fill="hold"/>
                                        <p:tgtEl>
                                          <p:spTgt spid="18"/>
                                        </p:tgtEl>
                                        <p:attrNameLst>
                                          <p:attrName>ppt_x</p:attrName>
                                        </p:attrNameLst>
                                      </p:cBhvr>
                                      <p:tavLst>
                                        <p:tav tm="0">
                                          <p:val>
                                            <p:strVal val="0-#ppt_w/2"/>
                                          </p:val>
                                        </p:tav>
                                        <p:tav tm="100000">
                                          <p:val>
                                            <p:strVal val="#ppt_x"/>
                                          </p:val>
                                        </p:tav>
                                      </p:tavLst>
                                    </p:anim>
                                    <p:anim calcmode="lin" valueType="num">
                                      <p:cBhvr additive="base">
                                        <p:cTn id="32" dur="500" fill="hold"/>
                                        <p:tgtEl>
                                          <p:spTgt spid="18"/>
                                        </p:tgtEl>
                                        <p:attrNameLst>
                                          <p:attrName>ppt_y</p:attrName>
                                        </p:attrNameLst>
                                      </p:cBhvr>
                                      <p:tavLst>
                                        <p:tav tm="0">
                                          <p:val>
                                            <p:strVal val="#ppt_y"/>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8" fill="hold" grpId="0" nodeType="clickEffect">
                                  <p:stCondLst>
                                    <p:cond delay="0"/>
                                  </p:stCondLst>
                                  <p:childTnLst>
                                    <p:set>
                                      <p:cBhvr additive="base">
                                        <p:cTn id="36" dur="1" fill="hold">
                                          <p:stCondLst>
                                            <p:cond delay="0"/>
                                          </p:stCondLst>
                                        </p:cTn>
                                        <p:tgtEl>
                                          <p:spTgt spid="21"/>
                                        </p:tgtEl>
                                        <p:attrNameLst>
                                          <p:attrName>style.visibility</p:attrName>
                                        </p:attrNameLst>
                                      </p:cBhvr>
                                      <p:to>
                                        <p:strVal val="visible"/>
                                      </p:to>
                                    </p:set>
                                    <p:anim calcmode="lin" valueType="num">
                                      <p:cBhvr additive="base">
                                        <p:cTn id="37" dur="500" fill="hold"/>
                                        <p:tgtEl>
                                          <p:spTgt spid="21"/>
                                        </p:tgtEl>
                                        <p:attrNameLst>
                                          <p:attrName>ppt_x</p:attrName>
                                        </p:attrNameLst>
                                      </p:cBhvr>
                                      <p:tavLst>
                                        <p:tav tm="0">
                                          <p:val>
                                            <p:strVal val="0-#ppt_w/2"/>
                                          </p:val>
                                        </p:tav>
                                        <p:tav tm="100000">
                                          <p:val>
                                            <p:strVal val="#ppt_x"/>
                                          </p:val>
                                        </p:tav>
                                      </p:tavLst>
                                    </p:anim>
                                    <p:anim calcmode="lin" valueType="num">
                                      <p:cBhvr additive="base">
                                        <p:cTn id="38" dur="500" fill="hold"/>
                                        <p:tgtEl>
                                          <p:spTgt spid="21"/>
                                        </p:tgtEl>
                                        <p:attrNameLst>
                                          <p:attrName>ppt_y</p:attrName>
                                        </p:attrNameLst>
                                      </p:cBhvr>
                                      <p:tavLst>
                                        <p:tav tm="0">
                                          <p:val>
                                            <p:strVal val="#ppt_y"/>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8" fill="hold" grpId="0" nodeType="clickEffect">
                                  <p:stCondLst>
                                    <p:cond delay="0"/>
                                  </p:stCondLst>
                                  <p:childTnLst>
                                    <p:set>
                                      <p:cBhvr additive="base">
                                        <p:cTn id="42" dur="1" fill="hold">
                                          <p:stCondLst>
                                            <p:cond delay="0"/>
                                          </p:stCondLst>
                                        </p:cTn>
                                        <p:tgtEl>
                                          <p:spTgt spid="24"/>
                                        </p:tgtEl>
                                        <p:attrNameLst>
                                          <p:attrName>style.visibility</p:attrName>
                                        </p:attrNameLst>
                                      </p:cBhvr>
                                      <p:to>
                                        <p:strVal val="visible"/>
                                      </p:to>
                                    </p:set>
                                    <p:anim calcmode="lin" valueType="num">
                                      <p:cBhvr additive="base">
                                        <p:cTn id="43" dur="500" fill="hold"/>
                                        <p:tgtEl>
                                          <p:spTgt spid="24"/>
                                        </p:tgtEl>
                                        <p:attrNameLst>
                                          <p:attrName>ppt_x</p:attrName>
                                        </p:attrNameLst>
                                      </p:cBhvr>
                                      <p:tavLst>
                                        <p:tav tm="0">
                                          <p:val>
                                            <p:strVal val="0-#ppt_w/2"/>
                                          </p:val>
                                        </p:tav>
                                        <p:tav tm="100000">
                                          <p:val>
                                            <p:strVal val="#ppt_x"/>
                                          </p:val>
                                        </p:tav>
                                      </p:tavLst>
                                    </p:anim>
                                    <p:anim calcmode="lin" valueType="num">
                                      <p:cBhvr additive="base">
                                        <p:cTn id="44" dur="500" fill="hold"/>
                                        <p:tgtEl>
                                          <p:spTgt spid="24"/>
                                        </p:tgtEl>
                                        <p:attrNameLst>
                                          <p:attrName>ppt_y</p:attrName>
                                        </p:attrNameLst>
                                      </p:cBhvr>
                                      <p:tavLst>
                                        <p:tav tm="0">
                                          <p:val>
                                            <p:strVal val="#ppt_y"/>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8" fill="hold" grpId="0" nodeType="clickEffect">
                                  <p:stCondLst>
                                    <p:cond delay="0"/>
                                  </p:stCondLst>
                                  <p:childTnLst>
                                    <p:set>
                                      <p:cBhvr additive="base">
                                        <p:cTn id="48" dur="1" fill="hold">
                                          <p:stCondLst>
                                            <p:cond delay="0"/>
                                          </p:stCondLst>
                                        </p:cTn>
                                        <p:tgtEl>
                                          <p:spTgt spid="26"/>
                                        </p:tgtEl>
                                        <p:attrNameLst>
                                          <p:attrName>style.visibility</p:attrName>
                                        </p:attrNameLst>
                                      </p:cBhvr>
                                      <p:to>
                                        <p:strVal val="visible"/>
                                      </p:to>
                                    </p:set>
                                    <p:anim calcmode="lin" valueType="num">
                                      <p:cBhvr additive="base">
                                        <p:cTn id="49" dur="500" fill="hold"/>
                                        <p:tgtEl>
                                          <p:spTgt spid="26"/>
                                        </p:tgtEl>
                                        <p:attrNameLst>
                                          <p:attrName>ppt_x</p:attrName>
                                        </p:attrNameLst>
                                      </p:cBhvr>
                                      <p:tavLst>
                                        <p:tav tm="0">
                                          <p:val>
                                            <p:strVal val="0-#ppt_w/2"/>
                                          </p:val>
                                        </p:tav>
                                        <p:tav tm="100000">
                                          <p:val>
                                            <p:strVal val="#ppt_x"/>
                                          </p:val>
                                        </p:tav>
                                      </p:tavLst>
                                    </p:anim>
                                    <p:anim calcmode="lin" valueType="num">
                                      <p:cBhvr additive="base">
                                        <p:cTn id="50" dur="500" fill="hold"/>
                                        <p:tgtEl>
                                          <p:spTgt spid="26"/>
                                        </p:tgtEl>
                                        <p:attrNameLst>
                                          <p:attrName>ppt_y</p:attrName>
                                        </p:attrNameLst>
                                      </p:cBhvr>
                                      <p:tavLst>
                                        <p:tav tm="0">
                                          <p:val>
                                            <p:strVal val="#ppt_y"/>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8" fill="hold" grpId="0" nodeType="clickEffect">
                                  <p:stCondLst>
                                    <p:cond delay="0"/>
                                  </p:stCondLst>
                                  <p:childTnLst>
                                    <p:set>
                                      <p:cBhvr additive="base">
                                        <p:cTn id="54" dur="1" fill="hold">
                                          <p:stCondLst>
                                            <p:cond delay="0"/>
                                          </p:stCondLst>
                                        </p:cTn>
                                        <p:tgtEl>
                                          <p:spTgt spid="29"/>
                                        </p:tgtEl>
                                        <p:attrNameLst>
                                          <p:attrName>style.visibility</p:attrName>
                                        </p:attrNameLst>
                                      </p:cBhvr>
                                      <p:to>
                                        <p:strVal val="visible"/>
                                      </p:to>
                                    </p:set>
                                    <p:anim calcmode="lin" valueType="num">
                                      <p:cBhvr additive="base">
                                        <p:cTn id="55" dur="500" fill="hold"/>
                                        <p:tgtEl>
                                          <p:spTgt spid="29"/>
                                        </p:tgtEl>
                                        <p:attrNameLst>
                                          <p:attrName>ppt_x</p:attrName>
                                        </p:attrNameLst>
                                      </p:cBhvr>
                                      <p:tavLst>
                                        <p:tav tm="0">
                                          <p:val>
                                            <p:strVal val="0-#ppt_w/2"/>
                                          </p:val>
                                        </p:tav>
                                        <p:tav tm="100000">
                                          <p:val>
                                            <p:strVal val="#ppt_x"/>
                                          </p:val>
                                        </p:tav>
                                      </p:tavLst>
                                    </p:anim>
                                    <p:anim calcmode="lin" valueType="num">
                                      <p:cBhvr additive="base">
                                        <p:cTn id="56" dur="500" fill="hold"/>
                                        <p:tgtEl>
                                          <p:spTgt spid="29"/>
                                        </p:tgtEl>
                                        <p:attrNameLst>
                                          <p:attrName>ppt_y</p:attrName>
                                        </p:attrNameLst>
                                      </p:cBhvr>
                                      <p:tavLst>
                                        <p:tav tm="0">
                                          <p:val>
                                            <p:strVal val="#ppt_y"/>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8" fill="hold" grpId="0" nodeType="clickEffect">
                                  <p:stCondLst>
                                    <p:cond delay="0"/>
                                  </p:stCondLst>
                                  <p:childTnLst>
                                    <p:set>
                                      <p:cBhvr additive="base">
                                        <p:cTn id="60" dur="1" fill="hold">
                                          <p:stCondLst>
                                            <p:cond delay="0"/>
                                          </p:stCondLst>
                                        </p:cTn>
                                        <p:tgtEl>
                                          <p:spTgt spid="31"/>
                                        </p:tgtEl>
                                        <p:attrNameLst>
                                          <p:attrName>style.visibility</p:attrName>
                                        </p:attrNameLst>
                                      </p:cBhvr>
                                      <p:to>
                                        <p:strVal val="visible"/>
                                      </p:to>
                                    </p:set>
                                    <p:anim calcmode="lin" valueType="num">
                                      <p:cBhvr additive="base">
                                        <p:cTn id="61" dur="500" fill="hold"/>
                                        <p:tgtEl>
                                          <p:spTgt spid="31"/>
                                        </p:tgtEl>
                                        <p:attrNameLst>
                                          <p:attrName>ppt_x</p:attrName>
                                        </p:attrNameLst>
                                      </p:cBhvr>
                                      <p:tavLst>
                                        <p:tav tm="0">
                                          <p:val>
                                            <p:strVal val="0-#ppt_w/2"/>
                                          </p:val>
                                        </p:tav>
                                        <p:tav tm="100000">
                                          <p:val>
                                            <p:strVal val="#ppt_x"/>
                                          </p:val>
                                        </p:tav>
                                      </p:tavLst>
                                    </p:anim>
                                    <p:anim calcmode="lin" valueType="num">
                                      <p:cBhvr additive="base">
                                        <p:cTn id="62" dur="500" fill="hold"/>
                                        <p:tgtEl>
                                          <p:spTgt spid="31"/>
                                        </p:tgtEl>
                                        <p:attrNameLst>
                                          <p:attrName>ppt_y</p:attrName>
                                        </p:attrNameLst>
                                      </p:cBhvr>
                                      <p:tavLst>
                                        <p:tav tm="0">
                                          <p:val>
                                            <p:strVal val="#ppt_y"/>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2" presetClass="entr" presetSubtype="8" fill="hold" grpId="0" nodeType="clickEffect">
                                  <p:stCondLst>
                                    <p:cond delay="0"/>
                                  </p:stCondLst>
                                  <p:childTnLst>
                                    <p:set>
                                      <p:cBhvr additive="base">
                                        <p:cTn id="66" dur="1" fill="hold">
                                          <p:stCondLst>
                                            <p:cond delay="0"/>
                                          </p:stCondLst>
                                        </p:cTn>
                                        <p:tgtEl>
                                          <p:spTgt spid="34"/>
                                        </p:tgtEl>
                                        <p:attrNameLst>
                                          <p:attrName>style.visibility</p:attrName>
                                        </p:attrNameLst>
                                      </p:cBhvr>
                                      <p:to>
                                        <p:strVal val="visible"/>
                                      </p:to>
                                    </p:set>
                                    <p:anim calcmode="lin" valueType="num">
                                      <p:cBhvr additive="base">
                                        <p:cTn id="67" dur="500" fill="hold"/>
                                        <p:tgtEl>
                                          <p:spTgt spid="34"/>
                                        </p:tgtEl>
                                        <p:attrNameLst>
                                          <p:attrName>ppt_x</p:attrName>
                                        </p:attrNameLst>
                                      </p:cBhvr>
                                      <p:tavLst>
                                        <p:tav tm="0">
                                          <p:val>
                                            <p:strVal val="0-#ppt_w/2"/>
                                          </p:val>
                                        </p:tav>
                                        <p:tav tm="100000">
                                          <p:val>
                                            <p:strVal val="#ppt_x"/>
                                          </p:val>
                                        </p:tav>
                                      </p:tavLst>
                                    </p:anim>
                                    <p:anim calcmode="lin" valueType="num">
                                      <p:cBhvr additive="base">
                                        <p:cTn id="68" dur="500" fill="hold"/>
                                        <p:tgtEl>
                                          <p:spTgt spid="34"/>
                                        </p:tgtEl>
                                        <p:attrNameLst>
                                          <p:attrName>ppt_y</p:attrName>
                                        </p:attrNameLst>
                                      </p:cBhvr>
                                      <p:tavLst>
                                        <p:tav tm="0">
                                          <p:val>
                                            <p:strVal val="#ppt_y"/>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2" presetClass="entr" presetSubtype="8" fill="hold" grpId="0" nodeType="clickEffect">
                                  <p:stCondLst>
                                    <p:cond delay="0"/>
                                  </p:stCondLst>
                                  <p:childTnLst>
                                    <p:set>
                                      <p:cBhvr additive="base">
                                        <p:cTn id="72" dur="1" fill="hold">
                                          <p:stCondLst>
                                            <p:cond delay="0"/>
                                          </p:stCondLst>
                                        </p:cTn>
                                        <p:tgtEl>
                                          <p:spTgt spid="37"/>
                                        </p:tgtEl>
                                        <p:attrNameLst>
                                          <p:attrName>style.visibility</p:attrName>
                                        </p:attrNameLst>
                                      </p:cBhvr>
                                      <p:to>
                                        <p:strVal val="visible"/>
                                      </p:to>
                                    </p:set>
                                    <p:anim calcmode="lin" valueType="num">
                                      <p:cBhvr additive="base">
                                        <p:cTn id="73" dur="500" fill="hold"/>
                                        <p:tgtEl>
                                          <p:spTgt spid="37"/>
                                        </p:tgtEl>
                                        <p:attrNameLst>
                                          <p:attrName>ppt_x</p:attrName>
                                        </p:attrNameLst>
                                      </p:cBhvr>
                                      <p:tavLst>
                                        <p:tav tm="0">
                                          <p:val>
                                            <p:strVal val="0-#ppt_w/2"/>
                                          </p:val>
                                        </p:tav>
                                        <p:tav tm="100000">
                                          <p:val>
                                            <p:strVal val="#ppt_x"/>
                                          </p:val>
                                        </p:tav>
                                      </p:tavLst>
                                    </p:anim>
                                    <p:anim calcmode="lin" valueType="num">
                                      <p:cBhvr additive="base">
                                        <p:cTn id="74" dur="500" fill="hold"/>
                                        <p:tgtEl>
                                          <p:spTgt spid="37"/>
                                        </p:tgtEl>
                                        <p:attrNameLst>
                                          <p:attrName>ppt_y</p:attrName>
                                        </p:attrNameLst>
                                      </p:cBhvr>
                                      <p:tavLst>
                                        <p:tav tm="0">
                                          <p:val>
                                            <p:strVal val="#ppt_y"/>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2" presetClass="entr" presetSubtype="8" fill="hold" grpId="0" nodeType="clickEffect">
                                  <p:stCondLst>
                                    <p:cond delay="0"/>
                                  </p:stCondLst>
                                  <p:childTnLst>
                                    <p:set>
                                      <p:cBhvr additive="base">
                                        <p:cTn id="78" dur="1" fill="hold">
                                          <p:stCondLst>
                                            <p:cond delay="0"/>
                                          </p:stCondLst>
                                        </p:cTn>
                                        <p:tgtEl>
                                          <p:spTgt spid="39"/>
                                        </p:tgtEl>
                                        <p:attrNameLst>
                                          <p:attrName>style.visibility</p:attrName>
                                        </p:attrNameLst>
                                      </p:cBhvr>
                                      <p:to>
                                        <p:strVal val="visible"/>
                                      </p:to>
                                    </p:set>
                                    <p:anim calcmode="lin" valueType="num">
                                      <p:cBhvr additive="base">
                                        <p:cTn id="79" dur="500" fill="hold"/>
                                        <p:tgtEl>
                                          <p:spTgt spid="39"/>
                                        </p:tgtEl>
                                        <p:attrNameLst>
                                          <p:attrName>ppt_x</p:attrName>
                                        </p:attrNameLst>
                                      </p:cBhvr>
                                      <p:tavLst>
                                        <p:tav tm="0">
                                          <p:val>
                                            <p:strVal val="0-#ppt_w/2"/>
                                          </p:val>
                                        </p:tav>
                                        <p:tav tm="100000">
                                          <p:val>
                                            <p:strVal val="#ppt_x"/>
                                          </p:val>
                                        </p:tav>
                                      </p:tavLst>
                                    </p:anim>
                                    <p:anim calcmode="lin" valueType="num">
                                      <p:cBhvr additive="base">
                                        <p:cTn id="80" dur="500" fill="hold"/>
                                        <p:tgtEl>
                                          <p:spTgt spid="39"/>
                                        </p:tgtEl>
                                        <p:attrNameLst>
                                          <p:attrName>ppt_y</p:attrName>
                                        </p:attrNameLst>
                                      </p:cBhvr>
                                      <p:tavLst>
                                        <p:tav tm="0">
                                          <p:val>
                                            <p:strVal val="#ppt_y"/>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2" presetClass="entr" presetSubtype="8" fill="hold" grpId="0" nodeType="clickEffect">
                                  <p:stCondLst>
                                    <p:cond delay="0"/>
                                  </p:stCondLst>
                                  <p:childTnLst>
                                    <p:set>
                                      <p:cBhvr additive="base">
                                        <p:cTn id="84" dur="1" fill="hold">
                                          <p:stCondLst>
                                            <p:cond delay="0"/>
                                          </p:stCondLst>
                                        </p:cTn>
                                        <p:tgtEl>
                                          <p:spTgt spid="42"/>
                                        </p:tgtEl>
                                        <p:attrNameLst>
                                          <p:attrName>style.visibility</p:attrName>
                                        </p:attrNameLst>
                                      </p:cBhvr>
                                      <p:to>
                                        <p:strVal val="visible"/>
                                      </p:to>
                                    </p:set>
                                    <p:anim calcmode="lin" valueType="num">
                                      <p:cBhvr additive="base">
                                        <p:cTn id="85" dur="500" fill="hold"/>
                                        <p:tgtEl>
                                          <p:spTgt spid="42"/>
                                        </p:tgtEl>
                                        <p:attrNameLst>
                                          <p:attrName>ppt_x</p:attrName>
                                        </p:attrNameLst>
                                      </p:cBhvr>
                                      <p:tavLst>
                                        <p:tav tm="0">
                                          <p:val>
                                            <p:strVal val="0-#ppt_w/2"/>
                                          </p:val>
                                        </p:tav>
                                        <p:tav tm="100000">
                                          <p:val>
                                            <p:strVal val="#ppt_x"/>
                                          </p:val>
                                        </p:tav>
                                      </p:tavLst>
                                    </p:anim>
                                    <p:anim calcmode="lin" valueType="num">
                                      <p:cBhvr additive="base">
                                        <p:cTn id="86" dur="500" fill="hold"/>
                                        <p:tgtEl>
                                          <p:spTgt spid="42"/>
                                        </p:tgtEl>
                                        <p:attrNameLst>
                                          <p:attrName>ppt_y</p:attrName>
                                        </p:attrNameLst>
                                      </p:cBhvr>
                                      <p:tavLst>
                                        <p:tav tm="0">
                                          <p:val>
                                            <p:strVal val="#ppt_y"/>
                                          </p:val>
                                        </p:tav>
                                        <p:tav tm="100000">
                                          <p:val>
                                            <p:strVal val="#ppt_y"/>
                                          </p:val>
                                        </p:tav>
                                      </p:tavLst>
                                    </p:anim>
                                  </p:childTnLst>
                                </p:cTn>
                              </p:par>
                            </p:childTnLst>
                          </p:cTn>
                        </p:par>
                      </p:childTnLst>
                    </p:cTn>
                  </p:par>
                  <p:par>
                    <p:cTn id="87" fill="hold">
                      <p:stCondLst>
                        <p:cond delay="indefinite"/>
                      </p:stCondLst>
                      <p:childTnLst>
                        <p:par>
                          <p:cTn id="88" fill="hold">
                            <p:stCondLst>
                              <p:cond delay="0"/>
                            </p:stCondLst>
                            <p:childTnLst>
                              <p:par>
                                <p:cTn id="89" presetID="2" presetClass="entr" presetSubtype="8" fill="hold" grpId="0" nodeType="clickEffect">
                                  <p:stCondLst>
                                    <p:cond delay="0"/>
                                  </p:stCondLst>
                                  <p:childTnLst>
                                    <p:set>
                                      <p:cBhvr additive="base">
                                        <p:cTn id="90" dur="1" fill="hold">
                                          <p:stCondLst>
                                            <p:cond delay="0"/>
                                          </p:stCondLst>
                                        </p:cTn>
                                        <p:tgtEl>
                                          <p:spTgt spid="45"/>
                                        </p:tgtEl>
                                        <p:attrNameLst>
                                          <p:attrName>style.visibility</p:attrName>
                                        </p:attrNameLst>
                                      </p:cBhvr>
                                      <p:to>
                                        <p:strVal val="visible"/>
                                      </p:to>
                                    </p:set>
                                    <p:anim calcmode="lin" valueType="num">
                                      <p:cBhvr additive="base">
                                        <p:cTn id="91" dur="500" fill="hold"/>
                                        <p:tgtEl>
                                          <p:spTgt spid="45"/>
                                        </p:tgtEl>
                                        <p:attrNameLst>
                                          <p:attrName>ppt_x</p:attrName>
                                        </p:attrNameLst>
                                      </p:cBhvr>
                                      <p:tavLst>
                                        <p:tav tm="0">
                                          <p:val>
                                            <p:strVal val="0-#ppt_w/2"/>
                                          </p:val>
                                        </p:tav>
                                        <p:tav tm="100000">
                                          <p:val>
                                            <p:strVal val="#ppt_x"/>
                                          </p:val>
                                        </p:tav>
                                      </p:tavLst>
                                    </p:anim>
                                    <p:anim calcmode="lin" valueType="num">
                                      <p:cBhvr additive="base">
                                        <p:cTn id="92" dur="500" fill="hold"/>
                                        <p:tgtEl>
                                          <p:spTgt spid="4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1" grpId="0" animBg="1"/>
      <p:bldP spid="14" grpId="0" animBg="1"/>
      <p:bldP spid="16" grpId="0" animBg="1"/>
      <p:bldP spid="18" grpId="0" animBg="1"/>
      <p:bldP spid="21" grpId="0" animBg="1"/>
      <p:bldP spid="24" grpId="0" animBg="1"/>
      <p:bldP spid="26" grpId="0" animBg="1"/>
      <p:bldP spid="29" grpId="0" animBg="1"/>
      <p:bldP spid="31" grpId="0" animBg="1"/>
      <p:bldP spid="34" grpId="0" animBg="1"/>
      <p:bldP spid="37" grpId="0" animBg="1"/>
      <p:bldP spid="39" grpId="0" animBg="1"/>
      <p:bldP spid="42" grpId="0" animBg="1"/>
      <p:bldP spid="45" grpId="0" animBg="1"/>
    </p:bldLst>
  </p:timing>
</p:sld>
</file>

<file path=ppt/slides/slide38.xml><?xml version="1.0" encoding="utf-8"?>
<p:sld xmlns:a="http://schemas.openxmlformats.org/drawingml/2006/main" xmlns:p="http://schemas.openxmlformats.org/presentationml/2006/main" xmlns:r="http://schemas.openxmlformats.org/officeDocument/2006/relationships">
  <p:cSld name="07 문제">
    <p:bg>
      <p:bgPr>
        <a:solidFill>
          <a:srgbClr val="FFFFFF"/>
        </a:solidFill>
        <a:effectLst/>
      </p:bgPr>
    </p:bg>
    <p:spTree>
      <p:nvGrpSpPr>
        <p:cNvPr id="1" name=""/>
        <p:cNvGrpSpPr/>
        <p:nvPr/>
      </p:nvGrpSpPr>
      <p:grpSpPr>
        <a:xfrm>
          <a:off x="0" y="0"/>
          <a:ext cx="0" cy="0"/>
          <a:chOff x="0" y="0"/>
          <a:chExt cx="0" cy="0"/>
        </a:xfrm>
      </p:grpSpPr>
      <p:sp>
        <p:nvSpPr>
          <p:cNvPr id="2" name="Badge"/>
          <p:cNvSpPr/>
          <p:nvPr/>
        </p:nvSpPr>
        <p:spPr>
          <a:xfrm>
            <a:off x="548640" y="411480"/>
            <a:ext cx="1188720" cy="502920"/>
          </a:xfrm>
          <a:prstGeom prst="rect">
            <a:avLst/>
          </a:prstGeom>
          <a:solidFill>
            <a:srgbClr val="1E2761"/>
          </a:solidFill>
          <a:ln w="12700">
            <a:solidFill>
              <a:srgbClr val="333333"/>
            </a:solidFill>
            <a:prstDash val="solid"/>
          </a:ln>
        </p:spPr>
        <p:txBody>
          <a:bodyPr/>
          <a:lstStyle/>
          <a:p>
            <a:endParaRPr lang="ko-KR" altLang="en-US"/>
          </a:p>
        </p:txBody>
      </p:sp>
      <p:sp>
        <p:nvSpPr>
          <p:cNvPr id="3" name="BadgeText"/>
          <p:cNvSpPr/>
          <p:nvPr/>
        </p:nvSpPr>
        <p:spPr>
          <a:xfrm>
            <a:off x="548640" y="411480"/>
            <a:ext cx="1188720" cy="502920"/>
          </a:xfrm>
          <a:prstGeom prst="rect">
            <a:avLst/>
          </a:prstGeom>
          <a:noFill/>
          <a:ln>
            <a:noFill/>
          </a:ln>
        </p:spPr>
        <p:txBody>
          <a:bodyPr wrap="square" lIns="0" tIns="0" rIns="0" bIns="0" rtlCol="0" anchor="ctr"/>
          <a:lstStyle/>
          <a:p>
            <a:pPr marL="0" indent="0" algn="ctr">
              <a:buNone/>
            </a:pPr>
            <a:r>
              <a:rPr lang="en-US" altLang="ko-KR" sz="1800" b="1" dirty="0">
                <a:solidFill>
                  <a:srgbClr val="FFFFFF"/>
                </a:solidFill>
                <a:latin typeface="Calibri" pitchFamily="34" charset="0"/>
                <a:ea typeface="Calibri" pitchFamily="34" charset="-122"/>
                <a:cs typeface="Calibri" pitchFamily="34" charset="-120"/>
              </a:rPr>
              <a:t>07</a:t>
            </a:r>
            <a:endParaRPr lang="en-US" altLang="ko-KR" sz="1800" dirty="0"/>
          </a:p>
        </p:txBody>
      </p:sp>
      <p:sp>
        <p:nvSpPr>
          <p:cNvPr id="4" name="Title"/>
          <p:cNvSpPr/>
          <p:nvPr/>
        </p:nvSpPr>
        <p:spPr>
          <a:xfrm>
            <a:off x="1920240" y="411480"/>
            <a:ext cx="9720072" cy="502920"/>
          </a:xfrm>
          <a:prstGeom prst="rect">
            <a:avLst/>
          </a:prstGeom>
          <a:noFill/>
          <a:ln>
            <a:noFill/>
          </a:ln>
        </p:spPr>
        <p:txBody>
          <a:bodyPr wrap="square" lIns="0" tIns="0" rIns="0" bIns="0" rtlCol="0" anchor="ctr"/>
          <a:lstStyle/>
          <a:p>
            <a:pPr marL="0" indent="0">
              <a:buNone/>
            </a:pPr>
            <a:r>
              <a:rPr lang="en-US" altLang="ko-KR" sz="1900" b="1" dirty="0">
                <a:solidFill>
                  <a:srgbClr val="1E2761"/>
                </a:solidFill>
                <a:latin typeface="맑은 고딕" pitchFamily="34" charset="0"/>
                <a:ea typeface="맑은 고딕" pitchFamily="34" charset="-122"/>
                <a:cs typeface="맑은 고딕" pitchFamily="34" charset="-120"/>
              </a:rPr>
              <a:t>2026학년도 수능 35번 — 무관한 문장 찾기</a:t>
            </a:r>
            <a:endParaRPr lang="en-US" altLang="ko-KR" sz="1900" dirty="0"/>
          </a:p>
        </p:txBody>
      </p:sp>
      <p:sp>
        <p:nvSpPr>
          <p:cNvPr id="5" name="Sub"/>
          <p:cNvSpPr/>
          <p:nvPr/>
        </p:nvSpPr>
        <p:spPr>
          <a:xfrm>
            <a:off x="548640" y="960120"/>
            <a:ext cx="11091672" cy="274320"/>
          </a:xfrm>
          <a:prstGeom prst="rect">
            <a:avLst/>
          </a:prstGeom>
          <a:noFill/>
          <a:ln>
            <a:noFill/>
          </a:ln>
        </p:spPr>
        <p:txBody>
          <a:bodyPr wrap="square" lIns="0" tIns="0" rIns="0" bIns="0" rtlCol="0" anchor="ctr"/>
          <a:lstStyle/>
          <a:p>
            <a:pPr marL="0" indent="0">
              <a:buNone/>
            </a:pPr>
            <a:r>
              <a:rPr lang="en-US" altLang="ko-KR" sz="1050" dirty="0">
                <a:solidFill>
                  <a:srgbClr val="8A8A8A"/>
                </a:solidFill>
                <a:latin typeface="맑은 고딕" pitchFamily="34" charset="0"/>
                <a:ea typeface="맑은 고딕" pitchFamily="34" charset="-122"/>
                <a:cs typeface="맑은 고딕" pitchFamily="34" charset="-120"/>
              </a:rPr>
              <a:t>27 까만책 고3 · 12. 무관한 문장 찾기 (2026학년도)</a:t>
            </a:r>
            <a:endParaRPr lang="en-US" altLang="ko-KR" sz="1050" dirty="0"/>
          </a:p>
        </p:txBody>
      </p:sp>
      <p:sp>
        <p:nvSpPr>
          <p:cNvPr id="6" name="Hint"/>
          <p:cNvSpPr/>
          <p:nvPr/>
        </p:nvSpPr>
        <p:spPr>
          <a:xfrm>
            <a:off x="548640" y="6492240"/>
            <a:ext cx="11091672" cy="274320"/>
          </a:xfrm>
          <a:prstGeom prst="rect">
            <a:avLst/>
          </a:prstGeom>
          <a:noFill/>
          <a:ln>
            <a:noFill/>
          </a:ln>
        </p:spPr>
        <p:txBody>
          <a:bodyPr wrap="square" lIns="0" tIns="0" rIns="0" bIns="0" rtlCol="0" anchor="ctr"/>
          <a:lstStyle/>
          <a:p>
            <a:pPr marL="0" indent="0" algn="ctr">
              <a:buNone/>
            </a:pPr>
            <a:r>
              <a:rPr lang="en-US" altLang="ko-KR" sz="1100" i="1" dirty="0">
                <a:solidFill>
                  <a:srgbClr val="8A8A8A"/>
                </a:solidFill>
                <a:latin typeface="맑은 고딕" pitchFamily="34" charset="0"/>
                <a:ea typeface="맑은 고딕" pitchFamily="34" charset="-122"/>
                <a:cs typeface="맑은 고딕" pitchFamily="34" charset="-120"/>
              </a:rPr>
              <a:t>클릭하면 정답이 노란 박스로 나타납니다</a:t>
            </a:r>
            <a:endParaRPr lang="en-US" altLang="ko-KR" sz="1100" dirty="0"/>
          </a:p>
        </p:txBody>
      </p:sp>
      <p:sp>
        <p:nvSpPr>
          <p:cNvPr id="7" name="Prompt"/>
          <p:cNvSpPr/>
          <p:nvPr/>
        </p:nvSpPr>
        <p:spPr>
          <a:xfrm>
            <a:off x="548640" y="1325880"/>
            <a:ext cx="11091672" cy="324000"/>
          </a:xfrm>
          <a:prstGeom prst="rect">
            <a:avLst/>
          </a:prstGeom>
          <a:noFill/>
          <a:ln>
            <a:noFill/>
          </a:ln>
        </p:spPr>
        <p:txBody>
          <a:bodyPr wrap="square" lIns="0" tIns="0" rIns="0" bIns="0" rtlCol="0" anchor="ctr"/>
          <a:lstStyle/>
          <a:p>
            <a:pPr marL="0" indent="0">
              <a:buNone/>
            </a:pPr>
            <a:r>
              <a:rPr lang="en-US" altLang="ko-KR" sz="1300" b="1" dirty="0">
                <a:solidFill>
                  <a:srgbClr val="1E2761"/>
                </a:solidFill>
                <a:latin typeface="맑은 고딕" pitchFamily="34" charset="0"/>
                <a:ea typeface="맑은 고딕" pitchFamily="34" charset="-122"/>
                <a:cs typeface="맑은 고딕" pitchFamily="34" charset="-120"/>
              </a:rPr>
              <a:t>다음 글에서 전체 흐름과 관계 </a:t>
            </a:r>
            <a:r>
              <a:rPr lang="en-US" altLang="ko-KR" sz="1300" b="1" u="sng" dirty="0">
                <a:solidFill>
                  <a:srgbClr val="1E2761"/>
                </a:solidFill>
                <a:latin typeface="맑은 고딕" pitchFamily="34" charset="0"/>
                <a:ea typeface="맑은 고딕" pitchFamily="34" charset="-122"/>
                <a:cs typeface="맑은 고딕" pitchFamily="34" charset="-120"/>
              </a:rPr>
              <a:t>없는</a:t>
            </a:r>
            <a:r>
              <a:rPr lang="en-US" altLang="ko-KR" sz="1300" b="1" dirty="0">
                <a:solidFill>
                  <a:srgbClr val="1E2761"/>
                </a:solidFill>
                <a:latin typeface="맑은 고딕" pitchFamily="34" charset="0"/>
                <a:ea typeface="맑은 고딕" pitchFamily="34" charset="-122"/>
                <a:cs typeface="맑은 고딕" pitchFamily="34" charset="-120"/>
              </a:rPr>
              <a:t> 문장은?</a:t>
            </a:r>
            <a:endParaRPr lang="en-US" altLang="ko-KR" sz="1300" dirty="0"/>
          </a:p>
        </p:txBody>
      </p:sp>
      <p:sp>
        <p:nvSpPr>
          <p:cNvPr id="8" name="Passage"/>
          <p:cNvSpPr/>
          <p:nvPr/>
        </p:nvSpPr>
        <p:spPr>
          <a:xfrm>
            <a:off x="548640" y="1787040"/>
            <a:ext cx="11091672" cy="1868514"/>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solidFill>
                <a:latin typeface="Calibri" pitchFamily="34" charset="0"/>
                <a:ea typeface="Calibri" pitchFamily="34" charset="-122"/>
                <a:cs typeface="Calibri" pitchFamily="34" charset="-120"/>
              </a:rPr>
              <a:t>There are few of us who don’t at least want to make time for self-care activities such as exercise, hobbies, or relaxation. We start each day with the best of intentions but then get stuck by the flood of email messages or pulled into an unexpected meeting. ① As we struggle to reprioritize so we can get everything done before our deadlines, often our self-care activities are the first thing to be given up. ② No matter how much we plan, we all occasionally have days when that happens. ③ In the short term, the impact of missing that grant deadline may be greater than the impact of missing a woodworking class. </a:t>
            </a:r>
            <a:r>
              <a:rPr lang="en-US" altLang="ko-KR" sz="1400" dirty="0">
                <a:solidFill>
                  <a:srgbClr val="333333"/>
                </a:solidFill>
                <a:latin typeface="Calibri" pitchFamily="34" charset="0"/>
                <a:ea typeface="Calibri" pitchFamily="34" charset="-122"/>
                <a:cs typeface="Calibri" pitchFamily="34" charset="-120"/>
              </a:rPr>
              <a:t>④ Needless to say, we should try to enroll in the woodworking class before the design class because it is more competitive to get into and more beneficial to us.</a:t>
            </a:r>
            <a:r>
              <a:rPr lang="en-US" altLang="ko-KR" sz="1400" dirty="0">
                <a:solidFill>
                  <a:srgbClr val="333333"/>
                </a:solidFill>
                <a:latin typeface="Calibri" pitchFamily="34" charset="0"/>
                <a:ea typeface="Calibri" pitchFamily="34" charset="-122"/>
                <a:cs typeface="Calibri" pitchFamily="34" charset="-120"/>
              </a:rPr>
              <a:t> ⑤ But it’s important to recognize the cumulative impact of not prioritizing self-care and to make sure that in the long term, this is the exception rather than the norm.</a:t>
            </a:r>
            <a:endParaRPr lang="en-US" altLang="ko-KR" sz="1400" dirty="0"/>
          </a:p>
        </p:txBody>
      </p:sp>
      <p:sp>
        <p:nvSpPr>
          <p:cNvPr id="9" name="AnsOverlay"/>
          <p:cNvSpPr/>
          <p:nvPr/>
        </p:nvSpPr>
        <p:spPr>
          <a:xfrm>
            <a:off x="548640" y="1787040"/>
            <a:ext cx="11091672" cy="1868514"/>
          </a:xfrm>
          <a:prstGeom prst="rect">
            <a:avLst/>
          </a:prstGeom>
          <a:noFill/>
          <a:ln>
            <a:noFill/>
          </a:ln>
        </p:spPr>
        <p:txBody>
          <a:bodyPr wrap="square" lIns="0" tIns="0" rIns="0" bIns="0" rtlCol="0" anchor="t"/>
          <a:lstStyle/>
          <a:p>
            <a:pPr marL="0" indent="0" algn="just">
              <a:lnSpc>
                <a:spcPct val="118000"/>
              </a:lnSpc>
              <a:buNone/>
            </a:pPr>
            <a:r>
              <a:rPr lang="en-US" altLang="ko-KR" sz="1400" dirty="0">
                <a:solidFill>
                  <a:srgbClr val="333333">
                    <a:alpha val="0"/>
                  </a:srgbClr>
                </a:solidFill>
                <a:latin typeface="Calibri" pitchFamily="34" charset="0"/>
                <a:ea typeface="Calibri" pitchFamily="34" charset="-122"/>
                <a:cs typeface="Calibri" pitchFamily="34" charset="-120"/>
              </a:rPr>
              <a:t>There are few of us who don’t at least want to make time for self-care activities such as exercise, hobbies, or relaxation. We start each day with the best of intentions but then get stuck by the flood of email messages or pulled into an unexpected meeting. ① As we struggle to reprioritize so we can get everything done before our deadlines, often our self-care activities are the first thing to be given up. ② No matter how much we plan, we all occasionally have days when that happens. ③ In the short term, the impact of missing that grant deadline may be greater than the impact of missing a woodworking class. </a:t>
            </a:r>
            <a:r>
              <a:rPr lang="en-US" altLang="ko-KR" sz="1400" dirty="0">
                <a:solidFill>
                  <a:srgbClr val="C00000"/>
                </a:solidFill>
                <a:latin typeface="Calibri" pitchFamily="34" charset="0"/>
                <a:ea typeface="Calibri" pitchFamily="34" charset="-122"/>
                <a:cs typeface="Calibri" pitchFamily="34" charset="-120"/>
              </a:rPr>
              <a:t>④ Needless to say, we should try to enroll in the woodworking class before the design class because it is more competitive to get into and more beneficial to us.</a:t>
            </a:r>
            <a:r>
              <a:rPr lang="en-US" altLang="ko-KR" sz="1400" dirty="0">
                <a:solidFill>
                  <a:srgbClr val="333333">
                    <a:alpha val="0"/>
                  </a:srgbClr>
                </a:solidFill>
                <a:latin typeface="Calibri" pitchFamily="34" charset="0"/>
                <a:ea typeface="Calibri" pitchFamily="34" charset="-122"/>
                <a:cs typeface="Calibri" pitchFamily="34" charset="-120"/>
              </a:rPr>
              <a:t> ⑤ But it’s important to recognize the cumulative impact of not prioritizing self-care and to make sure that in the long term, this is the exception rather than the norm.</a:t>
            </a:r>
            <a:endParaRPr lang="en-US" altLang="ko-KR" sz="1400" dirty="0"/>
          </a:p>
        </p:txBody>
      </p:sp>
      <p:sp>
        <p:nvSpPr>
          <p:cNvPr id="10" name="AnsBg"/>
          <p:cNvSpPr/>
          <p:nvPr/>
        </p:nvSpPr>
        <p:spPr>
          <a:xfrm>
            <a:off x="548640" y="3777954"/>
            <a:ext cx="11091672" cy="457200"/>
          </a:xfrm>
          <a:prstGeom prst="rect">
            <a:avLst/>
          </a:prstGeom>
          <a:solidFill>
            <a:srgbClr val="FFF4CC"/>
          </a:solidFill>
          <a:ln>
            <a:noFill/>
          </a:ln>
        </p:spPr>
        <p:txBody>
          <a:bodyPr/>
          <a:lstStyle/>
          <a:p>
            <a:endParaRPr lang="ko-KR" altLang="en-US"/>
          </a:p>
        </p:txBody>
      </p:sp>
      <p:sp>
        <p:nvSpPr>
          <p:cNvPr id="11" name="reveal_7_en"/>
          <p:cNvSpPr/>
          <p:nvPr/>
        </p:nvSpPr>
        <p:spPr>
          <a:xfrm>
            <a:off x="732240" y="3777954"/>
            <a:ext cx="10724472" cy="457200"/>
          </a:xfrm>
          <a:prstGeom prst="rect">
            <a:avLst/>
          </a:prstGeom>
          <a:noFill/>
          <a:ln>
            <a:noFill/>
          </a:ln>
        </p:spPr>
        <p:txBody>
          <a:bodyPr wrap="square" lIns="0" tIns="0" rIns="0" bIns="0" rtlCol="0" anchor="ctr"/>
          <a:lstStyle/>
          <a:p>
            <a:pPr marL="0" indent="0">
              <a:buNone/>
            </a:pPr>
            <a:r>
              <a:rPr lang="en-US" altLang="ko-KR" sz="1500" b="1" dirty="0">
                <a:solidFill>
                  <a:srgbClr val="5A4200"/>
                </a:solidFill>
                <a:latin typeface="맑은 고딕" pitchFamily="34" charset="0"/>
                <a:ea typeface="맑은 고딕" pitchFamily="34" charset="-122"/>
                <a:cs typeface="맑은 고딕" pitchFamily="34" charset="-120"/>
              </a:rPr>
              <a:t>정답   ④</a:t>
            </a:r>
            <a:endParaRPr lang="en-US" altLang="ko-KR" sz="15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additive="base">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additive="base">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additive="base">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91</TotalTime>
  <Words>13907</Words>
  <Application>Microsoft Office PowerPoint</Application>
  <PresentationFormat>와이드스크린</PresentationFormat>
  <Paragraphs>2230</Paragraphs>
  <Slides>72</Slides>
  <Notes>0</Notes>
  <HiddenSlides>0</HiddenSlides>
  <MMClips>0</MMClips>
  <ScaleCrop>false</ScaleCrop>
  <HeadingPairs>
    <vt:vector size="6" baseType="variant">
      <vt:variant>
        <vt:lpstr>사용한 글꼴</vt:lpstr>
      </vt:variant>
      <vt:variant>
        <vt:i4>3</vt:i4>
      </vt:variant>
      <vt:variant>
        <vt:lpstr>테마</vt:lpstr>
      </vt:variant>
      <vt:variant>
        <vt:i4>1</vt:i4>
      </vt:variant>
      <vt:variant>
        <vt:lpstr>슬라이드 제목</vt:lpstr>
      </vt:variant>
      <vt:variant>
        <vt:i4>72</vt:i4>
      </vt:variant>
    </vt:vector>
  </HeadingPairs>
  <TitlesOfParts>
    <vt:vector size="76" baseType="lpstr">
      <vt:lpstr>맑은 고딕</vt:lpstr>
      <vt:lpstr>Arial</vt:lpstr>
      <vt:lpstr>Calibri</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삼문 윤</cp:lastModifiedBy>
  <cp:revision>2</cp:revision>
  <dcterms:created xsi:type="dcterms:W3CDTF">2013-01-27T09:14:16Z</dcterms:created>
  <dcterms:modified xsi:type="dcterms:W3CDTF">2026-09-23T12:12:49Z</dcterms:modified>
  <cp:category/>
</cp:coreProperties>
</file>