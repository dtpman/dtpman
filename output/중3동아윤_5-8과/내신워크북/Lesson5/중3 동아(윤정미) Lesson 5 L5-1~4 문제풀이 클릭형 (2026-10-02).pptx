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L5-1  ·  L5-2  ·  L5-3  ·  L5-4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medals given to marathon runners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training methods of experienced marathon runners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hidden helpers who support players in sports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the hidden helpers who support players in sports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why players win trophies on their 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rules for choosing several pacers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the hidden helpers who support players in sports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선수를 돕는 사람들이 있고 그들이 선수만큼 중요하다고 했다. 숨은 조력자를 다룬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F2328"/>
                </a:solidFill>
                <a:latin typeface="Calibri"/>
                <a:ea typeface="맑은 고딕"/>
                <a:cs typeface="Calibri"/>
              </a:rPr>
              <a:t>These people are often hidden and don’t get attention.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11111"/>
                </a:solidFill>
                <a:highlight>
                  <a:srgbClr val="FFE45C"/>
                </a:highlight>
                <a:latin typeface="Calibri"/>
                <a:ea typeface="맑은 고딕"/>
                <a:cs typeface="Calibri"/>
              </a:rPr>
              <a:t>These people are often hidden and don’t get attention.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Only Players Deserve the Trophy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Run a Marathon Without Help</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Fastest Runners in a Marathon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Hidden People Behind Every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Hidden People Behind Every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Medals for Every Runner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Hidden People Behind Every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숨겨져 주목받지 못하는 사람들이 선수만큼 중요하다고 했다. 승리 뒤의 숨은 사람들을 가리킨 ④가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경기에서 우승한 선수들만 트로피를 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마라톤 선수들은 혼자 힘으로 경주를 운영해야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경주에서 반드시 한 명만 있어야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경험 많은 선수만 마라톤에 참가해야 마땅하다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선수를 돕는 숨은 사람들도 선수만큼 중요하다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선수를 돕는 숨은 사람들도 선수만큼 중요하다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선수를 돕는 숨은 사람들도 선수만큼 중요하다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'as important as the players'라고 했으니 숨은 조력자도 선수만큼 중요하다는 ⑤가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a:t>
            </a:r>
            <a:r>
              <a:rPr lang="en-US" altLang="ko-KR" sz="1500" b="0" dirty="0">
                <a:solidFill>
                  <a:srgbClr val="1F2328"/>
                </a:solidFill>
                <a:latin typeface="Calibri"/>
                <a:ea typeface="맑은 고딕"/>
                <a:cs typeface="Calibri"/>
              </a:rPr>
              <a:t>they don’t win on their own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a:t>
            </a:r>
            <a:r>
              <a:rPr lang="en-US" altLang="ko-KR" sz="1500" b="0" dirty="0">
                <a:solidFill>
                  <a:srgbClr val="111111"/>
                </a:solidFill>
                <a:highlight>
                  <a:srgbClr val="FFE45C"/>
                </a:highlight>
                <a:latin typeface="Calibri"/>
                <a:ea typeface="맑은 고딕"/>
                <a:cs typeface="Calibri"/>
              </a:rPr>
              <a:t>they don’t win on their own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보이지 않는 조력자들이 선수의 승리를 돕는다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보이지 않는 조력자들이 선수의 승리를 돕는다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선수의 승리는 오직 개인의 노력에서 나온다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주목받는 선수가 경기에서 가장 중요한 존재다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마라톤에서 페이서는 우승을 위해 달리는 선수다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트로피와 메달은 팀 전체가 나누어 받아야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보이지 않는 조력자들이 선수의 승리를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혼자 이기지 않고 돕는 사람들이 있다고 했다. 보이지 않는 조력자가 승리를 돕는다는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F2328"/>
                </a:solidFill>
                <a:latin typeface="Calibri"/>
                <a:ea typeface="맑은 고딕"/>
                <a:cs typeface="Calibri"/>
              </a:rPr>
              <a:t>Pacers are experienced runners</a:t>
            </a:r>
            <a:r>
              <a:rPr lang="en-US" altLang="ko-KR" sz="1500" b="0" dirty="0">
                <a:solidFill>
                  <a:srgbClr val="1F2328"/>
                </a:solidFill>
                <a:latin typeface="Calibri"/>
                <a:ea typeface="맑은 고딕"/>
                <a:cs typeface="Calibri"/>
              </a:rPr>
              <a:t>,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11111"/>
                </a:solidFill>
                <a:highlight>
                  <a:srgbClr val="FFE45C"/>
                </a:highlight>
                <a:latin typeface="Calibri"/>
                <a:ea typeface="맑은 고딕"/>
                <a:cs typeface="Calibri"/>
              </a:rPr>
              <a:t>Pacers are experienced runners</a:t>
            </a:r>
            <a:r>
              <a:rPr lang="en-US" altLang="ko-KR" sz="1500" b="0" dirty="0">
                <a:solidFill>
                  <a:srgbClr val="B3BAC6"/>
                </a:solidFill>
                <a:latin typeface="Calibri"/>
                <a:ea typeface="맑은 고딕"/>
                <a:cs typeface="Calibri"/>
              </a:rPr>
              <a:t>,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스포츠에서 트로피나 메달은 선수들만 받는다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선수들을 돕는 사람들은 종종 주목받지 못한다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페이서들은 마라톤에서 다른 선수들을 이끈다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경주에는 여러 명의 페이서가 있을 수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페이서들은 대개 경험이 부족한 초보 선수들이다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페이서들은 대개 경험이 부족한 초보 선수들이다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페이서들은 대개 경험이 부족한 초보 선수들이다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'experienced runners', 곧 경험 많은 선수라고 했다. 경험이 부족한 초보라는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F2328"/>
                </a:solidFill>
                <a:latin typeface="Calibri"/>
                <a:ea typeface="맑은 고딕"/>
                <a:cs typeface="Calibri"/>
              </a:rPr>
              <a:t>help other runners manage their race better</a:t>
            </a:r>
            <a:r>
              <a:rPr lang="en-US" altLang="ko-KR" sz="1500" b="0" dirty="0">
                <a:solidFill>
                  <a:srgbClr val="1F2328"/>
                </a:solidFill>
                <a:latin typeface="Calibri"/>
                <a:ea typeface="맑은 고딕"/>
                <a:cs typeface="Calibri"/>
              </a:rPr>
              <a:t>.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11111"/>
                </a:solidFill>
                <a:highlight>
                  <a:srgbClr val="FFE45C"/>
                </a:highlight>
                <a:latin typeface="Calibri"/>
                <a:ea typeface="맑은 고딕"/>
                <a:cs typeface="Calibri"/>
              </a:rPr>
              <a:t>help other runners manage their race better</a:t>
            </a:r>
            <a:r>
              <a:rPr lang="en-US" altLang="ko-KR" sz="1500" b="0" dirty="0">
                <a:solidFill>
                  <a:srgbClr val="B3BAC6"/>
                </a:solidFill>
                <a:latin typeface="Calibri"/>
                <a:ea typeface="맑은 고딕"/>
                <a:cs typeface="Calibri"/>
              </a:rPr>
              <a:t>.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선수들은 혼자 힘만으로 경기에서 우승한다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다른 선수들이 경주를 잘 운영하게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다른 선수들이 경주를 잘 운영하게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선수를 돕는 사람들은 늘 큰 주목을 받는다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마라톤 경주에는 페이서가 한 명만 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경주에서 혼자 앞서 달려 우승한다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다른 선수들이 경주를 잘 운영하게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일은 다른 선수들이 경주를 더 잘 운영하도록 돕는 것이라고 했다. 이와 같은 ②가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선수만 메달을 받지만 혼자 이기지 않는다 → (A) 그들을 돕는 사람들이 있다 → (C) 'Here are some examples'로 페이서를 소개한다 → (B) Pacers가 어떤 선수인지 덧붙인다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혼자 이기지 않는다 → (B) 돕는 사람들(These people)이 선수만큼 중요하다 → (C) 그 예로 페이서를 든다 → (A) 경험 많은 페이서의 역할과 수를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There are people who help the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These people are often hidden and don’t get attention.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These people are often hidden and don’t get attention.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'These people'이 가리킬 사람들이 앞에 없다. 선수를 돕는 people을 처음 소개하는 주어진 문장이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These people are often hidden and don’t get attention.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There are people who help the players.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There are people who help the players.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'However, they are as important'는 앞에서 그들이 주목받지 못한다는 말이 있어야 이어진다. 주어진 문장은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don’t win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on them 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on their 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who help</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who helps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hidden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hiding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don’t get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as importantly as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as important 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Here are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lead them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experienced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experiencing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runners, and their job is to help other runners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managing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manage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win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their own.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who help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hidden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get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get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as important as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Here are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Here is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lead them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leads them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experienced runners, and their job is to help other runners manage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There can be several pacers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There can be several pacer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F2328"/>
                </a:solidFill>
                <a:latin typeface="Calibri"/>
                <a:ea typeface="맑은 고딕"/>
                <a:cs typeface="Calibri"/>
              </a:rPr>
              <a:t>Runners can choose a pacer depending on their target finish time.</a:t>
            </a:r>
            <a:r>
              <a:rPr lang="en-US" altLang="ko-KR" sz="1500" b="0" dirty="0">
                <a:solidFill>
                  <a:srgbClr val="1F2328"/>
                </a:solidFill>
                <a:latin typeface="Calibri"/>
                <a:ea typeface="맑은 고딕"/>
                <a:cs typeface="Calibri"/>
              </a:rPr>
              <a:t>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11111"/>
                </a:solidFill>
                <a:highlight>
                  <a:srgbClr val="FFE45C"/>
                </a:highlight>
                <a:latin typeface="Calibri"/>
                <a:ea typeface="맑은 고딕"/>
                <a:cs typeface="Calibri"/>
              </a:rPr>
              <a:t>Runners can choose a pacer depending on their target finish time.</a:t>
            </a:r>
            <a:r>
              <a:rPr lang="en-US" altLang="ko-KR" sz="1500" b="0" dirty="0">
                <a:solidFill>
                  <a:srgbClr val="B3BAC6"/>
                </a:solidFill>
                <a:latin typeface="Calibri"/>
                <a:ea typeface="맑은 고딕"/>
                <a:cs typeface="Calibri"/>
              </a:rPr>
              <a:t>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pacers always win the marathon race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runners make flags for their pacers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history of four-hour marathon races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pacers help runners reach target times</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how pacers help runners reach target times</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runners must run without any pacer</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how pacers help runners reach target times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목표 시간에 맞는 페이서를 고르고 페이서 덕분에 목표를 쉽게 이룬다. 목표 시간 달성을 돕는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F2328"/>
                </a:solidFill>
                <a:latin typeface="Calibri"/>
                <a:ea typeface="맑은 고딕"/>
                <a:cs typeface="Calibri"/>
              </a:rPr>
              <a:t>In short, pacers run but they don’t run to win.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11111"/>
                </a:solidFill>
                <a:highlight>
                  <a:srgbClr val="FFE45C"/>
                </a:highlight>
                <a:latin typeface="Calibri"/>
                <a:ea typeface="맑은 고딕"/>
                <a:cs typeface="Calibri"/>
              </a:rPr>
              <a:t>In short, pacers run but they don’t run to win.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Pacers: The Fastest Winners of All</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Balloons Make Marathons More Fun</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Runners Who Never Need a Pacer</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Finish a Race in Two Hours</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Pacers Run Not to Win but for Others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Pacers Run Not to Win but for Others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Pacers Run Not to Win but for Others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이기려고 달리지 않고 남을 위해 달린다고 했다. 이를 그대로 옮긴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남을 위해 달리는 고마운 조력자다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남을 위해 달리는 고마운 조력자다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선수들은 페이서 없이 혼자 시간을 재야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우승을 목표로 전력 질주해야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 선수는 모두 같은 속도로 달려야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풍선과 깃발은 경주에서 사용하면 안 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남을 위해 달리는 고마운 조력자다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'They run for others'라고 했다. 페이서가 남을 위해 달리는 조력자라는 ①이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자신이 우승하기 위해 빠르게 달린다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남들이 목표 시간을 이루도록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남들이 목표 시간을 이루도록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선수들은 모두 4시간 안에 완주해야만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깃발이 있는 선수가 마라톤에서 우승을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목표 시간은 경주 도중에 자주 바꿔야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남들이 목표 시간을 이루도록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페이서가 시간을 챙겨 주어 선수가 목표를 더 쉽게 이룬다고 했다. 남의 목표 달성을 돕는다는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F2328"/>
                </a:solidFill>
                <a:latin typeface="Calibri"/>
                <a:ea typeface="맑은 고딕"/>
                <a:cs typeface="Calibri"/>
              </a:rPr>
              <a:t>they don’t run to win</a:t>
            </a:r>
            <a:r>
              <a:rPr lang="en-US" altLang="ko-KR" sz="1500" b="0" dirty="0">
                <a:solidFill>
                  <a:srgbClr val="1F2328"/>
                </a:solidFill>
                <a:latin typeface="Calibri"/>
                <a:ea typeface="맑은 고딕"/>
                <a:cs typeface="Calibri"/>
              </a:rPr>
              <a:t>.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11111"/>
                </a:solidFill>
                <a:highlight>
                  <a:srgbClr val="FFE45C"/>
                </a:highlight>
                <a:latin typeface="Calibri"/>
                <a:ea typeface="맑은 고딕"/>
                <a:cs typeface="Calibri"/>
              </a:rPr>
              <a:t>they don’t run to win</a:t>
            </a:r>
            <a:r>
              <a:rPr lang="en-US" altLang="ko-KR" sz="1500" b="0" dirty="0">
                <a:solidFill>
                  <a:srgbClr val="B3BAC6"/>
                </a:solidFill>
                <a:latin typeface="Calibri"/>
                <a:ea typeface="맑은 고딕"/>
                <a:cs typeface="Calibri"/>
              </a:rPr>
              <a:t>.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우승하기 위해 가장 빨리 달린다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우승하기 위해 가장 빨리 달린다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각 페이서는 서로 다른 속도로 달린다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대개 깃발이나 풍선을 지닌다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선수는 목표 시간에 따라 페이서를 고른다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 중에 시간을 계속 파악한다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우승하기 위해 가장 빨리 달린다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이기기 위해 달리지 않는다고 했다. 우승하려고 가장 빨리 달린다는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a:t>
            </a:r>
            <a:r>
              <a:rPr lang="en-US" altLang="ko-KR" sz="1500" b="0" dirty="0">
                <a:solidFill>
                  <a:srgbClr val="1F2328"/>
                </a:solidFill>
                <a:latin typeface="Calibri"/>
                <a:ea typeface="맑은 고딕"/>
                <a:cs typeface="Calibri"/>
              </a:rPr>
              <a:t>flags or balloons showing their finish time</a:t>
            </a:r>
            <a:r>
              <a:rPr lang="en-US" altLang="ko-KR" sz="1500" b="0" dirty="0">
                <a:solidFill>
                  <a:srgbClr val="1F2328"/>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a:t>
            </a:r>
            <a:r>
              <a:rPr lang="en-US" altLang="ko-KR" sz="1500" b="0" dirty="0">
                <a:solidFill>
                  <a:srgbClr val="111111"/>
                </a:solidFill>
                <a:highlight>
                  <a:srgbClr val="FFE45C"/>
                </a:highlight>
                <a:latin typeface="Calibri"/>
                <a:ea typeface="맑은 고딕"/>
                <a:cs typeface="Calibri"/>
              </a:rPr>
              <a:t>flags or balloons showing their finish time</a:t>
            </a:r>
            <a:r>
              <a:rPr lang="en-US" altLang="ko-KR" sz="1500" b="0" dirty="0">
                <a:solidFill>
                  <a:srgbClr val="B3BAC6"/>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모든 페이서는 같은 시간에 경주를 마친다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선수는 정해진 페이서만 따라가야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페이서의 풍선에는 완주 시간이 표시된다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페이서의 풍선에는 완주 시간이 표시된다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4시간 목표 선수는 2시간 페이서를 따른다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선수는 페이서 없이 목표를 더 쉽게 이룬다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페이서의 풍선에는 완주 시간이 표시된다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깃발이나 풍선이 완주 시간을 보여 준다고 했다. 이와 같은 ③이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(B) 깃발로 시간을 보여 주고 선수가 고른다 → (A) 'For example' 4시간 페이서를 따르는 예 → (C) 'In short'로 남을 위해 달린다고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(C) 깃발과 풍선으로 시간을 보여 주고 선수가 고른다 → (A) 'For example' 4시간 페이서 예 → (B) 'In short'로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Runners can choose a pacer depending on their target finish time.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if a runner wants to finish the race in four hours, the runner will follow the four‑hour pacer.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if a runner wants to finish the race in four hours, the runner will follow the four‑hour pacer.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'For example' 문장은 선수가 목표 시간에 따라 페이서를 고른다는 말의 예다. 고르는 내용을 담은 주어진 문장이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if a runner wants to finish the race in four hours, the runner will follow the four‑hour pacer.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Runners can choose a pacer depending on their target finish time.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Runners can choose a pacer depending on their target finish time.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'the pacer'와 'the runner'는 앞에서 4시간 페이서를 따르는 선수 예가 나와야 가리킬 대상이 생긴다. 주어진 문장은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run 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runs 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different speeds and finishes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showing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shown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depending on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wants finishing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wants to 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four hours, the runner will follow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Since the pacer keeps track of the time, the runner can achieve his or her goal of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finishing the marathon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 the marathon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particular time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easily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easy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winning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runs at different speeds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showing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depending 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depended 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wants to finish the race in four hours, the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will follow</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will be followed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Since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Despite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keeps track of</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keep track of</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time, the runner can achieve his or her goal of finishing the marathon in a particular time more easily.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to win.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for others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for the other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F2328"/>
                </a:solidFill>
                <a:latin typeface="Calibri"/>
                <a:ea typeface="맑은 고딕"/>
                <a:cs typeface="Calibri"/>
              </a:rPr>
              <a:t>The main job of the pit crew is to check the car and change the tires.</a:t>
            </a:r>
            <a:r>
              <a:rPr lang="en-US" altLang="ko-KR" sz="150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11111"/>
                </a:solidFill>
                <a:highlight>
                  <a:srgbClr val="FFE45C"/>
                </a:highlight>
                <a:latin typeface="Calibri"/>
                <a:ea typeface="맑은 고딕"/>
                <a:cs typeface="Calibri"/>
              </a:rPr>
              <a:t>The main job of the pit crew is to check the car and change the tires.</a:t>
            </a:r>
            <a:r>
              <a:rPr lang="en-US" altLang="ko-KR" sz="1500" b="0" dirty="0">
                <a:solidFill>
                  <a:srgbClr val="B3BAC6"/>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dangers of high speed car racing</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drivers change their own tires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racing cars need more drivers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build a pit beside the track</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role of the pit crew in car races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role of the pit crew in car races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role of the pit crew in car races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크루가 차를 점검하고 타이어를 바꾸며 조화롭게 일한다고 했다. 피트 크루의 역할을 다룬 ⑤가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Races Are Won in the Pits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Races Are Won in the Pits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Drivers Win Races All Alone</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Tires That Never Wear Out Fast</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History of the Race Track</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Pit Stops Take Too Long</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Races Are Won in the Pits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글은 'Races are won in the pits'라는 말로 끝난다. 이 말을 그대로 옮긴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자동차 경주에서는 레이서만 주목받아야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피트 크루의 조화로운 협력이 승리를 만든다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피트 크루의 조화로운 협력이 승리를 만든다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정지 횟수는 최대한 줄이는 것이 좋다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타이어는 경주 전에 한 번만 교체해야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인원은 적을수록 효율적이다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피트 크루의 조화로운 협력이 승리를 만든다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크루는 완벽한 조화 속에 일해야 하고 승리는 피트에서 나온다고 했다. 이를 담은 ②가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a:t>
            </a:r>
            <a:r>
              <a:rPr lang="en-US" altLang="ko-KR" sz="1500" b="0" dirty="0">
                <a:solidFill>
                  <a:srgbClr val="1F2328"/>
                </a:solidFill>
                <a:latin typeface="Calibri"/>
                <a:ea typeface="맑은 고딕"/>
                <a:cs typeface="Calibri"/>
              </a:rPr>
              <a:t>there is a team behind the driver</a:t>
            </a:r>
            <a:r>
              <a:rPr lang="en-US" altLang="ko-KR" sz="150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a:t>
            </a:r>
            <a:r>
              <a:rPr lang="en-US" altLang="ko-KR" sz="1500" b="0" dirty="0">
                <a:solidFill>
                  <a:srgbClr val="111111"/>
                </a:solidFill>
                <a:highlight>
                  <a:srgbClr val="FFE45C"/>
                </a:highlight>
                <a:latin typeface="Calibri"/>
                <a:ea typeface="맑은 고딕"/>
                <a:cs typeface="Calibri"/>
              </a:rPr>
              <a:t>there is a team behind the driver</a:t>
            </a:r>
            <a:r>
              <a:rPr lang="en-US" altLang="ko-KR" sz="1500" b="0" dirty="0">
                <a:solidFill>
                  <a:srgbClr val="B3BAC6"/>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레이서의 운전 실력만이 경주의 승패를 가른다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빠른 경주일수록 타이어 교체는 덜 중요하다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레이서 뒤의 피트 크루가 승리에 결정적이다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레이서 뒤의 피트 크루가 승리에 결정적이다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피트는 레이서가 쉬기 위해 머무는 공간이다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자동차 경주에서는 차량 성능이 가장 중요하다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레이서 뒤의 피트 크루가 승리에 결정적이다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있고 경주는 피트에서 이긴다고 했다. 피트 크루가 승리에 결정적이라는 ③이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F2328"/>
                </a:solidFill>
                <a:latin typeface="Calibri"/>
                <a:ea typeface="맑은 고딕"/>
                <a:cs typeface="Calibri"/>
              </a:rPr>
              <a:t>the tires wear out easily in a high speed race</a:t>
            </a:r>
            <a:r>
              <a:rPr lang="en-US" altLang="ko-KR" sz="15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11111"/>
                </a:solidFill>
                <a:highlight>
                  <a:srgbClr val="FFE45C"/>
                </a:highlight>
                <a:latin typeface="Calibri"/>
                <a:ea typeface="맑은 고딕"/>
                <a:cs typeface="Calibri"/>
              </a:rPr>
              <a:t>the tires wear out easily in a high speed race</a:t>
            </a:r>
            <a:r>
              <a:rPr lang="en-US" altLang="ko-KR" sz="1500" b="0" dirty="0">
                <a:solidFill>
                  <a:srgbClr val="B3BAC6"/>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 뒤에는 피트 크루라는 팀이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타이어는 고속 경주에서 거의 닳지 않는다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타이어는 고속 경주에서 거의 닳지 않는다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피트는 경주 트랙 옆에 있는 공간이다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레이서는 경주 중 피트에 여러 번 정지한다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한 크루에는 많게는 20명의 구성원이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타이어는 고속 경주에서 거의 닳지 않는다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고속 경주에서는 타이어가 쉽게 닳는다고 했다. 거의 닳지 않는다는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F2328"/>
                </a:solidFill>
                <a:latin typeface="Calibri"/>
                <a:ea typeface="맑은 고딕"/>
                <a:cs typeface="Calibri"/>
              </a:rPr>
              <a:t>A pit stop can be as short as 2 seconds</a:t>
            </a:r>
            <a:r>
              <a:rPr lang="en-US" altLang="ko-KR" sz="1500" b="0" dirty="0">
                <a:solidFill>
                  <a:srgbClr val="1F2328"/>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11111"/>
                </a:solidFill>
                <a:highlight>
                  <a:srgbClr val="FFE45C"/>
                </a:highlight>
                <a:latin typeface="Calibri"/>
                <a:ea typeface="맑은 고딕"/>
                <a:cs typeface="Calibri"/>
              </a:rPr>
              <a:t>A pit stop can be as short as 2 seconds</a:t>
            </a:r>
            <a:r>
              <a:rPr lang="en-US" altLang="ko-KR" sz="1500" b="0" dirty="0">
                <a:solidFill>
                  <a:srgbClr val="B3BAC6"/>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피트 크루는 경주 내내 차를 직접 운전한다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레이서는 경주 중에 피트에 서지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크루는 보통 두세 명으로 구성된다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 정지는 짧게는 2초 정도일 수 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피트 정지는 짧게는 2초 정도일 수 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주 업무는 관중 안내이다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피트 정지는 짧게는 2초 정도일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정지는 짧게는 2초일 수 있다고 했다. 이와 같은 ④가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(B) 'This team'을 피트 크루라 부르고 주된 일을 설명한다 → (C) 타이어 교체가 중요하고 정지는 짧다 → (A) 'Therefore' 조화롭게 일해야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(C) 'This team'을 피트 크루라 하고 타이어 교체를 말한다 → (B) 'Changing the tires'가 특히 중요하다 → (A) 'Therefore'로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main job of the pit crew is to check the car and change the tires.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Changing the tires is especially important because the tires wear out easily in a high speed race.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Changing the tires is especially important because the tires wear out easily in a high speed race.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'Changing the tires'는 앞에서 타이어 교체라는 일이 먼저 나와야 이어진다. 피트 크루의 주된 일을 밝히는 주어진 문장이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Changing the tires is especially important because the tires wear out easily in a high speed race.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main job of the pit crew is to check the car and change the tires.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main job of the pit crew is to check the car and change the tires.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4535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44288"/>
            <a:ext cx="11277295" cy="157479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④에서 타이어 교체가 주된 일이라 했고 주어진 문장이 그 이유를 든다. 그 뒤 ⑤에서 짧은 정지 시간으로 넘어가므로 ⑤가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 team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 team</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called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calls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drivers stop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to check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to check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Changing the tires are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Changing the tires is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especially important because the tires wear out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easily</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easy</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as short as 2 seconds, and there are as many as 20 members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has to work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may get all the attention, but as people say, “Races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won</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win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there is a team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is called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drivers stop</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drivers stops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is to check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Changing the tires is especially important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because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because of</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tires wear out easily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as short as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as shortly as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2 seconds,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as many as 20 members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as many as 20 members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has to work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have to work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may get</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may be gotten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F2328"/>
                </a:solidFill>
                <a:latin typeface="Calibri"/>
                <a:ea typeface="맑은 고딕"/>
                <a:cs typeface="Calibri"/>
              </a:rPr>
              <a:t>Therefore, mountain climbers started to hire Sherpas to help them climb Mount Everest.</a:t>
            </a:r>
            <a:r>
              <a:rPr lang="en-US" altLang="ko-KR" sz="1500" b="0" dirty="0">
                <a:solidFill>
                  <a:srgbClr val="1F2328"/>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F2328"/>
                </a:solidFill>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11111"/>
                </a:solidFill>
                <a:highlight>
                  <a:srgbClr val="FFE45C"/>
                </a:highlight>
                <a:latin typeface="Calibri"/>
                <a:ea typeface="맑은 고딕"/>
                <a:cs typeface="Calibri"/>
              </a:rPr>
              <a:t>Therefore, mountain climbers started to hire Sherpas to help them climb Mount Everest.</a:t>
            </a:r>
            <a:r>
              <a:rPr lang="en-US" altLang="ko-KR" sz="1500" b="0" dirty="0">
                <a:solidFill>
                  <a:srgbClr val="B3BAC6"/>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11111"/>
                </a:solidFill>
                <a:highlight>
                  <a:srgbClr val="FFE45C"/>
                </a:highlight>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Sherpas' hidden role in mountain climbing</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the Sherpas' hidden role in mountain climbing</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dangers of climbing Mount Everest</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eastern part of Nepal and its weather</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climbers take pictures on the top</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climbers carry their own heavy bags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the Sherpas' hidden role in mountain climbing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등산가들이 셰르파를 고용하고 셰르파는 보이지 않는 사람들로 불린다. 셰르파의 숨은 역할을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Climbers Who Reach the Top Alone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Sherpas: Invisible People of Everest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Sherpas: Invisible People of Everest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Breathe High Up in Mountains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Best Tents for Mountain Climbers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Short History of Nepal's Mountains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Sherpas: Invisible People of Everest</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셰르파를 'the invisible people of Mount Everest'라 부른다고 했다. 이를 옮긴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F2328"/>
                </a:solidFill>
                <a:latin typeface="Calibri"/>
                <a:ea typeface="맑은 고딕"/>
                <a:cs typeface="Calibri"/>
              </a:rPr>
              <a:t>They support climbers in many ways.</a:t>
            </a:r>
            <a:r>
              <a:rPr lang="en-US" altLang="ko-KR" sz="1500" b="0" dirty="0">
                <a:solidFill>
                  <a:srgbClr val="1F2328"/>
                </a:solidFill>
                <a:latin typeface="Calibri"/>
                <a:ea typeface="맑은 고딕"/>
                <a:cs typeface="Calibri"/>
              </a:rPr>
              <a:t>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11111"/>
                </a:solidFill>
                <a:highlight>
                  <a:srgbClr val="FFE45C"/>
                </a:highlight>
                <a:latin typeface="Calibri"/>
                <a:ea typeface="맑은 고딕"/>
                <a:cs typeface="Calibri"/>
              </a:rPr>
              <a:t>They support climbers in many ways.</a:t>
            </a:r>
            <a:r>
              <a:rPr lang="en-US" altLang="ko-KR" sz="1500" b="0" dirty="0">
                <a:solidFill>
                  <a:srgbClr val="B3BAC6"/>
                </a:solidFill>
                <a:latin typeface="Calibri"/>
                <a:ea typeface="맑은 고딕"/>
                <a:cs typeface="Calibri"/>
              </a:rPr>
              <a:t>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등산가는 셰르파 없이 혼자 등반해야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산 정상 사진에는 등산가만 나와야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보이지 않는 셰르파의 공헌을 알아야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보이지 않는 셰르파의 공헌을 알아야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등산가는 자기 가방을 직접 운반해야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셰르파족은 네팔 동쪽 지역을 떠나야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보이지 않는 셰르파의 공헌을 알아야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셰르파는 여러 방식으로 등산가를 돕지만 보이지 않는다. 그 공헌을 알아야 한다는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F2328"/>
                </a:solidFill>
                <a:latin typeface="Calibri"/>
                <a:ea typeface="맑은 고딕"/>
                <a:cs typeface="Calibri"/>
              </a:rPr>
              <a:t>Sherpas lead mountain climbers to the top of the mountain.</a:t>
            </a:r>
            <a:r>
              <a:rPr lang="en-US" altLang="ko-KR" sz="15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F2328"/>
                </a:solidFill>
                <a:latin typeface="Calibri"/>
                <a:ea typeface="맑은 고딕"/>
                <a:cs typeface="Calibri"/>
              </a:rPr>
              <a:t>a picture of only the climbers</a:t>
            </a:r>
            <a:r>
              <a:rPr lang="en-US" altLang="ko-KR" sz="1500" b="0" dirty="0">
                <a:solidFill>
                  <a:srgbClr val="1F2328"/>
                </a:solidFill>
                <a:latin typeface="Calibri"/>
                <a:ea typeface="맑은 고딕"/>
                <a:cs typeface="Calibri"/>
              </a:rPr>
              <a:t>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11111"/>
                </a:solidFill>
                <a:highlight>
                  <a:srgbClr val="FFE45C"/>
                </a:highlight>
                <a:latin typeface="Calibri"/>
                <a:ea typeface="맑은 고딕"/>
                <a:cs typeface="Calibri"/>
              </a:rPr>
              <a:t>Sherpas lead mountain climbers to the top of the mountain.</a:t>
            </a:r>
            <a:r>
              <a:rPr lang="en-US" altLang="ko-KR" sz="1500" b="0" dirty="0">
                <a:solidFill>
                  <a:srgbClr val="B3BAC6"/>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11111"/>
                </a:solidFill>
                <a:highlight>
                  <a:srgbClr val="FFE45C"/>
                </a:highlight>
                <a:latin typeface="Calibri"/>
                <a:ea typeface="맑은 고딕"/>
                <a:cs typeface="Calibri"/>
              </a:rPr>
              <a:t>a picture of only the climbers</a:t>
            </a:r>
            <a:r>
              <a:rPr lang="en-US" altLang="ko-KR" sz="1500" b="0" dirty="0">
                <a:solidFill>
                  <a:srgbClr val="B3BAC6"/>
                </a:solidFill>
                <a:latin typeface="Calibri"/>
                <a:ea typeface="맑은 고딕"/>
                <a:cs typeface="Calibri"/>
              </a:rPr>
              <a:t>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에베레스트 등반은 장비만 좋으면 가능하다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사진을 찍기 위해 정상에 오른다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등산가들은 셰르파를 고용하지 않게 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숨은 곳에서 등산가의 등반을 돕는다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셰르파는 숨은 곳에서 등산가의 등반을 돕는다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높은 산에서는 누구나 쉽게 호흡할 수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셰르파는 숨은 곳에서 등산가의 등반을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셰르파가 정상까지 이끌지만 사진엔 등산가만 나온다고 했다. 숨은 곳에서 돕는다는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a:t>
            </a:r>
            <a:r>
              <a:rPr lang="en-US" altLang="ko-KR" sz="1500" b="0" dirty="0">
                <a:solidFill>
                  <a:srgbClr val="1F2328"/>
                </a:solidFill>
                <a:latin typeface="Calibri"/>
                <a:ea typeface="맑은 고딕"/>
                <a:cs typeface="Calibri"/>
              </a:rPr>
              <a:t>the eastern part of Nepal</a:t>
            </a:r>
            <a:r>
              <a:rPr lang="en-US" altLang="ko-KR" sz="15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a:t>
            </a:r>
            <a:r>
              <a:rPr lang="en-US" altLang="ko-KR" sz="1500" b="0" dirty="0">
                <a:solidFill>
                  <a:srgbClr val="111111"/>
                </a:solidFill>
                <a:highlight>
                  <a:srgbClr val="FFE45C"/>
                </a:highlight>
                <a:latin typeface="Calibri"/>
                <a:ea typeface="맑은 고딕"/>
                <a:cs typeface="Calibri"/>
              </a:rPr>
              <a:t>the eastern part of Nepal</a:t>
            </a:r>
            <a:r>
              <a:rPr lang="en-US" altLang="ko-KR" sz="1500" b="0" dirty="0">
                <a:solidFill>
                  <a:srgbClr val="B3BAC6"/>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훌륭한 등반 기술을 가지고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높은 곳에서 호흡에 어려움이 적다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셰르파족은 네팔의 서쪽 지역에 살고 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셰르파족은 네팔의 서쪽 지역에 살고 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등산가들을 산 정상까지 이끈다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셰르파는 텐트를 치고 가방을 운반해 준다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셰르파족은 네팔의 서쪽 지역에 살고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셰르파족은 네팔의 동쪽 지역에 산다고 했다. 서쪽 지역에 산다는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a:t>
            </a:r>
            <a:r>
              <a:rPr lang="en-US" altLang="ko-KR" sz="1500" b="0" dirty="0">
                <a:solidFill>
                  <a:srgbClr val="1F2328"/>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The word Sherpa comes from the Sherpa tribe</a:t>
            </a:r>
            <a:r>
              <a:rPr lang="en-US" altLang="ko-KR" sz="1500" b="0" dirty="0">
                <a:solidFill>
                  <a:srgbClr val="B3BAC6"/>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산의 지리를 잘 알지 못한다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등산가들은 셰르파를 고용하지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셰르파는 등산가의 텐트를 치지 않는다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정상 사진에는 주로 셰르파가 찍혀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Sherpa라는 말은 셰르파족에서 유래했다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Sherpa라는 말은 셰르파족에서 유래했다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Sherpa라는 말은 셰르파족에서 유래했다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Sherpa라는 말은 셰르파족에서 왔다고 했다. 이와 같은 ⑤가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(C) 등반 기술이 좋아 'Therefore' 고용되었다 → (A) 정상까지 이끌고 여러 방식으로 돕는다 → (B) 'For example' 텐트와 가방을 맡는다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(A) 등반 기술이 좋아 등산가들이 고용했다 → (C) 정상까지 이끌고 'in many ways' 돕는다 → (B) 'For example' 텐트와 가방 예로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lead mountain climbers to the top of the mountain.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5501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Sherpas have good climbing skills and know their way around the mountains well.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Sherpas have good climbing skills and know their way around the mountains well.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644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63338"/>
            <a:ext cx="11277295" cy="15557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⑤ 뒤 'They support climbers'는 앞에서 셰르파가 등산가를 이끄는 일을 말한 뒤 자연스럽다. 정상까지 이끈다는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have good climbing skills and know their way around the mountains well.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Sherpas lead mountain climbers to the top of the mountain.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Sherpas lead mountain climbers to the top of the mountain.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뒤 'They also have'의 also는 앞에 셰르파의 다른 장점이 있어야 쓴다. 등반 기술을 말하는 주어진 문장이 ②에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comes from the Sherpa tribe,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where lives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which lives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know their way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little difficulty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breathing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breathe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hire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hired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Sherpas to help them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climb Mount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climbing Mount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carry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often call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 often called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comes from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come from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Sherpa tribe, which lives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 their way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knows their way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little difficulty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few difficulty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breathing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to hire Sherpas to help them climb Mount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carry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carries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are often called the invisible people of Mount Everest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because people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because of people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