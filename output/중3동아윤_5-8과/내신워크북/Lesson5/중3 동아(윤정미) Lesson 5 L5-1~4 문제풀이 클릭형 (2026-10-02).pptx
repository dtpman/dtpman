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A5A"/>
        </a:solidFill>
        <a:effectLst/>
      </p:bgPr>
    </p:bg>
    <p:spTree>
      <p:nvGrpSpPr>
        <p:cNvPr id="1" name=""/>
        <p:cNvGrpSpPr/>
        <p:nvPr/>
      </p:nvGrpSpPr>
      <p:grpSpPr/>
      <p:sp>
        <p:nvSpPr>
          <p:cNvPr id="2" name="cv_title"/>
          <p:cNvSpPr txBox="1"/>
          <p:nvPr/>
        </p:nvSpPr>
        <p:spPr>
          <a:xfrm>
            <a:off x="822960" y="1371600"/>
            <a:ext cx="10515600" cy="868680"/>
          </a:xfrm>
          <a:prstGeom prst="rect">
            <a:avLst/>
          </a:prstGeom>
          <a:noFill/>
        </p:spPr>
        <p:txBody>
          <a:bodyPr wrap="square" lIns="91440" tIns="45720" rIns="91440" bIns="45720" anchor="t" rtlCol="0">
            <a:noAutofit/>
          </a:bodyPr>
          <a:lstStyle/>
          <a:p>
            <a:pPr algn="l">
              <a:lnSpc>
                <a:spcPts val="5680"/>
              </a:lnSpc>
              <a:spcBef>
                <a:spcPts val="0"/>
              </a:spcBef>
              <a:spcAft>
                <a:spcPts val="0"/>
              </a:spcAft>
              <a:buNone/>
            </a:pPr>
            <a:r>
              <a:rPr lang="ko-KR" altLang="en-US" sz="4000" b="1" dirty="0">
                <a:solidFill>
                  <a:srgbClr val="FFFFFF"/>
                </a:solidFill>
                <a:latin typeface="맑은 고딕"/>
                <a:ea typeface="맑은 고딕"/>
                <a:cs typeface="맑은 고딕"/>
              </a:rPr>
              <a:t>문제 풀이 · 정답 확인</a:t>
            </a:r>
            <a:endParaRPr lang="ko-KR" altLang="en-US" sz="4000" b="1" dirty="0">
              <a:solidFill>
                <a:srgbClr val="FFFFFF"/>
              </a:solidFill>
              <a:latin typeface="맑은 고딕"/>
              <a:ea typeface="맑은 고딕"/>
              <a:cs typeface="맑은 고딕"/>
            </a:endParaRPr>
          </a:p>
        </p:txBody>
      </p:sp>
      <p:sp>
        <p:nvSpPr>
          <p:cNvPr id="3" name="cv_exam"/>
          <p:cNvSpPr txBox="1"/>
          <p:nvPr/>
        </p:nvSpPr>
        <p:spPr>
          <a:xfrm>
            <a:off x="822960" y="2240280"/>
            <a:ext cx="10515600" cy="502920"/>
          </a:xfrm>
          <a:prstGeom prst="rect">
            <a:avLst/>
          </a:prstGeom>
          <a:noFill/>
        </p:spPr>
        <p:txBody>
          <a:bodyPr wrap="square" lIns="91440" tIns="45720" rIns="91440" bIns="45720" anchor="t" rtlCol="0">
            <a:noAutofit/>
          </a:bodyPr>
          <a:lstStyle/>
          <a:p>
            <a:pPr algn="l">
              <a:lnSpc>
                <a:spcPts val="2840"/>
              </a:lnSpc>
              <a:spcBef>
                <a:spcPts val="0"/>
              </a:spcBef>
              <a:spcAft>
                <a:spcPts val="0"/>
              </a:spcAft>
              <a:buNone/>
            </a:pPr>
            <a:r>
              <a:rPr lang="ko-KR" altLang="en-US" sz="2000" b="0" dirty="0">
                <a:solidFill>
                  <a:srgbClr val="CFD8E8"/>
                </a:solidFill>
                <a:latin typeface="맑은 고딕"/>
                <a:ea typeface="맑은 고딕"/>
                <a:cs typeface="맑은 고딕"/>
              </a:rPr>
              <a:t>중3 동아(윤정미) Lesson 5</a:t>
            </a:r>
            <a:endParaRPr lang="ko-KR" altLang="en-US" sz="2000" b="0" dirty="0">
              <a:solidFill>
                <a:srgbClr val="CFD8E8"/>
              </a:solidFill>
              <a:latin typeface="맑은 고딕"/>
              <a:ea typeface="맑은 고딕"/>
              <a:cs typeface="맑은 고딕"/>
            </a:endParaRPr>
          </a:p>
        </p:txBody>
      </p:sp>
      <p:sp>
        <p:nvSpPr>
          <p:cNvPr id="4" name="cv_ids"/>
          <p:cNvSpPr txBox="1"/>
          <p:nvPr/>
        </p:nvSpPr>
        <p:spPr>
          <a:xfrm>
            <a:off x="822960" y="2788920"/>
            <a:ext cx="10515600" cy="457200"/>
          </a:xfrm>
          <a:prstGeom prst="rect">
            <a:avLst/>
          </a:prstGeom>
          <a:noFill/>
        </p:spPr>
        <p:txBody>
          <a:bodyPr wrap="square" lIns="91440" tIns="45720" rIns="91440" bIns="45720" anchor="t" rtlCol="0">
            <a:noAutofit/>
          </a:bodyPr>
          <a:lstStyle/>
          <a:p>
            <a:pPr algn="l">
              <a:lnSpc>
                <a:spcPts val="2340"/>
              </a:lnSpc>
              <a:spcBef>
                <a:spcPts val="0"/>
              </a:spcBef>
              <a:spcAft>
                <a:spcPts val="0"/>
              </a:spcAft>
              <a:buNone/>
            </a:pPr>
            <a:r>
              <a:rPr lang="en-US" altLang="ko-KR" sz="1800" b="1" dirty="0">
                <a:solidFill>
                  <a:srgbClr val="AEBBD0"/>
                </a:solidFill>
                <a:latin typeface="Calibri"/>
                <a:ea typeface="맑은 고딕"/>
                <a:cs typeface="Calibri"/>
              </a:rPr>
              <a:t>L5-1  ·  L5-2  ·  L5-3  ·  L5-4</a:t>
            </a:r>
            <a:endParaRPr lang="en-US" altLang="ko-KR" sz="1800" b="1" dirty="0">
              <a:solidFill>
                <a:srgbClr val="AEBBD0"/>
              </a:solidFill>
              <a:latin typeface="Calibri"/>
              <a:ea typeface="맑은 고딕"/>
              <a:cs typeface="Calibri"/>
            </a:endParaRPr>
          </a:p>
        </p:txBody>
      </p:sp>
      <p:sp>
        <p:nvSpPr>
          <p:cNvPr id="5" name="cv_legend"/>
          <p:cNvSpPr/>
          <p:nvPr/>
        </p:nvSpPr>
        <p:spPr>
          <a:xfrm>
            <a:off x="822960" y="3977639"/>
            <a:ext cx="10515600" cy="1645920"/>
          </a:xfrm>
          <a:prstGeom prst="roundRect">
            <a:avLst>
              <a:gd name="adj" fmla="val 6000"/>
            </a:avLst>
          </a:prstGeom>
          <a:solidFill>
            <a:srgbClr val="27356E"/>
          </a:solidFill>
          <a:ln>
            <a:noFill/>
          </a:ln>
        </p:spPr>
        <p:txBody>
          <a:bodyPr wrap="square" lIns="320040" tIns="201168" rIns="320040" bIns="182880" anchor="t" rtlCol="0">
            <a:noAutofit/>
          </a:bodyPr>
          <a:lstStyle/>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1  5지선다     </a:t>
            </a:r>
            <a:r>
              <a:rPr lang="ko-KR" altLang="en-US" sz="1600" b="0" dirty="0">
                <a:solidFill>
                  <a:srgbClr val="FFFFFF"/>
                </a:solidFill>
                <a:latin typeface="맑은 고딕"/>
                <a:ea typeface="맑은 고딕"/>
                <a:cs typeface="맑은 고딕"/>
              </a:rPr>
              <a:t>클릭 ① 정답  →  클릭 ② 본문 근거 형광 +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2  순서·위치     </a:t>
            </a:r>
            <a:r>
              <a:rPr lang="ko-KR" altLang="en-US" sz="1600" b="0" dirty="0">
                <a:solidFill>
                  <a:srgbClr val="FFFFFF"/>
                </a:solidFill>
                <a:latin typeface="맑은 고딕"/>
                <a:ea typeface="맑은 고딕"/>
                <a:cs typeface="맑은 고딕"/>
              </a:rPr>
              <a:t>클릭 ① 정답  →  클릭 ②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3  어법·어휘     </a:t>
            </a:r>
            <a:r>
              <a:rPr lang="ko-KR" altLang="en-US" sz="1600" b="0" dirty="0">
                <a:solidFill>
                  <a:srgbClr val="FFFFFF"/>
                </a:solidFill>
                <a:latin typeface="맑은 고딕"/>
                <a:ea typeface="맑은 고딕"/>
                <a:cs typeface="맑은 고딕"/>
              </a:rPr>
              <a:t>본문 속 괄호마다, 클릭할 때마다 정답이 빨간색으로</a:t>
            </a:r>
            <a:endParaRPr lang="ko-KR" altLang="en-US" sz="1600" b="0" dirty="0">
              <a:solidFill>
                <a:srgbClr val="FFFFFF"/>
              </a:solidFill>
              <a:latin typeface="맑은 고딕"/>
              <a:ea typeface="맑은 고딕"/>
              <a:cs typeface="맑은 고딕"/>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In sports, only the players get a trophy or medal, but they don’t win on their own. </a:t>
            </a:r>
            <a:r>
              <a:rPr lang="en-US" altLang="ko-KR" sz="1500" b="0" dirty="0">
                <a:solidFill>
                  <a:srgbClr val="1F2328"/>
                </a:solidFill>
                <a:latin typeface="Calibri"/>
                <a:ea typeface="맑은 고딕"/>
                <a:cs typeface="Calibri"/>
              </a:rPr>
              <a:t>There are people who help the players.</a:t>
            </a:r>
            <a:r>
              <a:rPr lang="en-US" altLang="ko-KR" sz="1500" b="0" dirty="0">
                <a:solidFill>
                  <a:srgbClr val="1F2328"/>
                </a:solidFill>
                <a:latin typeface="Calibri"/>
                <a:ea typeface="맑은 고딕"/>
                <a:cs typeface="Calibri"/>
              </a:rPr>
              <a:t> These people are often hidden and don’t get attention. </a:t>
            </a:r>
            <a:r>
              <a:rPr lang="en-US" altLang="ko-KR" sz="1500" b="0" dirty="0">
                <a:solidFill>
                  <a:srgbClr val="1F2328"/>
                </a:solidFill>
                <a:latin typeface="Calibri"/>
                <a:ea typeface="맑은 고딕"/>
                <a:cs typeface="Calibri"/>
              </a:rPr>
              <a:t>However, they are as important as the players.</a:t>
            </a:r>
            <a:r>
              <a:rPr lang="en-US" altLang="ko-KR" sz="1500" b="0" dirty="0">
                <a:solidFill>
                  <a:srgbClr val="1F2328"/>
                </a:solidFill>
                <a:latin typeface="Calibri"/>
                <a:ea typeface="맑은 고딕"/>
                <a:cs typeface="Calibri"/>
              </a:rPr>
              <a:t> Here are some examples. Pacers run with other runners and lead them in a marathon. Pacers are experienced runners, and their job is to help other runners manage their race better. There can be several pacers in a race.</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In sports, only the players get a trophy or medal, but they don’t win on their own. </a:t>
            </a:r>
            <a:r>
              <a:rPr lang="en-US" altLang="ko-KR" sz="1500" b="0" dirty="0">
                <a:solidFill>
                  <a:srgbClr val="111111"/>
                </a:solidFill>
                <a:highlight>
                  <a:srgbClr val="FFE45C"/>
                </a:highlight>
                <a:latin typeface="Calibri"/>
                <a:ea typeface="맑은 고딕"/>
                <a:cs typeface="Calibri"/>
              </a:rPr>
              <a:t>There are people who help the players.</a:t>
            </a:r>
            <a:r>
              <a:rPr lang="en-US" altLang="ko-KR" sz="1500" b="0" dirty="0">
                <a:solidFill>
                  <a:srgbClr val="B3BAC6"/>
                </a:solidFill>
                <a:latin typeface="Calibri"/>
                <a:ea typeface="맑은 고딕"/>
                <a:cs typeface="Calibri"/>
              </a:rPr>
              <a:t> These people are often hidden and don’t get attention. </a:t>
            </a:r>
            <a:r>
              <a:rPr lang="en-US" altLang="ko-KR" sz="1500" b="0" dirty="0">
                <a:solidFill>
                  <a:srgbClr val="111111"/>
                </a:solidFill>
                <a:highlight>
                  <a:srgbClr val="FFE45C"/>
                </a:highlight>
                <a:latin typeface="Calibri"/>
                <a:ea typeface="맑은 고딕"/>
                <a:cs typeface="Calibri"/>
              </a:rPr>
              <a:t>However, they are as important as the players.</a:t>
            </a:r>
            <a:r>
              <a:rPr lang="en-US" altLang="ko-KR" sz="1500" b="0" dirty="0">
                <a:solidFill>
                  <a:srgbClr val="B3BAC6"/>
                </a:solidFill>
                <a:latin typeface="Calibri"/>
                <a:ea typeface="맑은 고딕"/>
                <a:cs typeface="Calibri"/>
              </a:rPr>
              <a:t> Here are some examples. Pacers run with other runners and lead them in a marathon. Pacers are experienced runners, and their job is to help other runners manage their race better. There can be several pacers in a race.</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the history of medals given to marathon runners</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training methods of experienced marathon runners</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the hidden helpers who support players in sports</a:t>
            </a:r>
            <a:endParaRPr lang="en-US" altLang="ko-KR" sz="1800" b="0" dirty="0">
              <a:solidFill>
                <a:srgbClr val="1F2328"/>
              </a:solidFill>
              <a:latin typeface="Calibri"/>
              <a:ea typeface="맑은 고딕"/>
              <a:cs typeface="Calibri"/>
            </a:endParaRPr>
          </a:p>
        </p:txBody>
      </p:sp>
      <p:sp>
        <p:nvSpPr>
          <p:cNvPr id="14" name="rv_pick"/>
          <p:cNvSpPr txBox="1"/>
          <p:nvPr/>
        </p:nvSpPr>
        <p:spPr>
          <a:xfrm>
            <a:off x="457200" y="34246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en-US" altLang="ko-KR" sz="1800" b="0" dirty="0">
                <a:solidFill>
                  <a:srgbClr val="C00000"/>
                </a:solidFill>
                <a:latin typeface="Calibri"/>
                <a:ea typeface="맑은 고딕"/>
                <a:cs typeface="Calibri"/>
              </a:rPr>
              <a:t>	the hidden helpers who support players in sports</a:t>
            </a:r>
            <a:endParaRPr lang="en-US" altLang="ko-KR" sz="1800" b="0" dirty="0">
              <a:solidFill>
                <a:srgbClr val="C00000"/>
              </a:solidFill>
              <a:latin typeface="Calibri"/>
              <a:ea typeface="맑은 고딕"/>
              <a:cs typeface="Calibri"/>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the reasons why players win trophies on their own</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the rules for choosing several pacers in a race</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the hidden helpers who support players in sports</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선수를 돕는 사람들이 있고 그들이 선수만큼 중요하다고 했다. 숨은 조력자를 다룬 ③이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In sports, only the players get a trophy or medal, but they don’t win on their own. There are people who help the players. </a:t>
            </a:r>
            <a:r>
              <a:rPr lang="en-US" altLang="ko-KR" sz="1500" b="0" dirty="0">
                <a:solidFill>
                  <a:srgbClr val="1F2328"/>
                </a:solidFill>
                <a:latin typeface="Calibri"/>
                <a:ea typeface="맑은 고딕"/>
                <a:cs typeface="Calibri"/>
              </a:rPr>
              <a:t>These people are often hidden and don’t get attention.</a:t>
            </a:r>
            <a:r>
              <a:rPr lang="en-US" altLang="ko-KR" sz="1500" b="0" dirty="0">
                <a:solidFill>
                  <a:srgbClr val="1F2328"/>
                </a:solidFill>
                <a:latin typeface="Calibri"/>
                <a:ea typeface="맑은 고딕"/>
                <a:cs typeface="Calibri"/>
              </a:rPr>
              <a:t> </a:t>
            </a:r>
            <a:r>
              <a:rPr lang="en-US" altLang="ko-KR" sz="1500" b="0" dirty="0">
                <a:solidFill>
                  <a:srgbClr val="1F2328"/>
                </a:solidFill>
                <a:latin typeface="Calibri"/>
                <a:ea typeface="맑은 고딕"/>
                <a:cs typeface="Calibri"/>
              </a:rPr>
              <a:t>However, they are as important as the players.</a:t>
            </a:r>
            <a:r>
              <a:rPr lang="en-US" altLang="ko-KR" sz="1500" b="0" dirty="0">
                <a:solidFill>
                  <a:srgbClr val="1F2328"/>
                </a:solidFill>
                <a:latin typeface="Calibri"/>
                <a:ea typeface="맑은 고딕"/>
                <a:cs typeface="Calibri"/>
              </a:rPr>
              <a:t> Here are some examples. Pacers run with other runners and lead them in a marathon. Pacers are experienced runners, and their job is to help other runners manage their race better. There can be several pacers in a race.</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In sports, only the players get a trophy or medal, but they don’t win on their own. There are people who help the players. </a:t>
            </a:r>
            <a:r>
              <a:rPr lang="en-US" altLang="ko-KR" sz="1500" b="0" dirty="0">
                <a:solidFill>
                  <a:srgbClr val="111111"/>
                </a:solidFill>
                <a:highlight>
                  <a:srgbClr val="FFE45C"/>
                </a:highlight>
                <a:latin typeface="Calibri"/>
                <a:ea typeface="맑은 고딕"/>
                <a:cs typeface="Calibri"/>
              </a:rPr>
              <a:t>These people are often hidden and don’t get attention.</a:t>
            </a:r>
            <a:r>
              <a:rPr lang="en-US" altLang="ko-KR" sz="1500" b="0" dirty="0">
                <a:solidFill>
                  <a:srgbClr val="B3BAC6"/>
                </a:solidFill>
                <a:latin typeface="Calibri"/>
                <a:ea typeface="맑은 고딕"/>
                <a:cs typeface="Calibri"/>
              </a:rPr>
              <a:t> </a:t>
            </a:r>
            <a:r>
              <a:rPr lang="en-US" altLang="ko-KR" sz="1500" b="0" dirty="0">
                <a:solidFill>
                  <a:srgbClr val="111111"/>
                </a:solidFill>
                <a:highlight>
                  <a:srgbClr val="FFE45C"/>
                </a:highlight>
                <a:latin typeface="Calibri"/>
                <a:ea typeface="맑은 고딕"/>
                <a:cs typeface="Calibri"/>
              </a:rPr>
              <a:t>However, they are as important as the players.</a:t>
            </a:r>
            <a:r>
              <a:rPr lang="en-US" altLang="ko-KR" sz="1500" b="0" dirty="0">
                <a:solidFill>
                  <a:srgbClr val="B3BAC6"/>
                </a:solidFill>
                <a:latin typeface="Calibri"/>
                <a:ea typeface="맑은 고딕"/>
                <a:cs typeface="Calibri"/>
              </a:rPr>
              <a:t> Here are some examples. Pacers run with other runners and lead them in a marathon. Pacers are experienced runners, and their job is to help other runners manage their race better. There can be several pacers in a race.</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Why Only Players Deserve the Trophy</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How to Run a Marathon Without Help</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The Fastest Runners in a Marathon</a:t>
            </a:r>
            <a:endParaRPr lang="en-US" altLang="ko-KR" sz="1800" b="0" dirty="0">
              <a:solidFill>
                <a:srgbClr val="1F2328"/>
              </a:solidFill>
              <a:latin typeface="Calibri"/>
              <a:ea typeface="맑은 고딕"/>
              <a:cs typeface="Calibri"/>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Hidden People Behind Every Victory</a:t>
            </a:r>
            <a:endParaRPr lang="en-US" altLang="ko-KR" sz="1800" b="0" dirty="0">
              <a:solidFill>
                <a:srgbClr val="1F2328"/>
              </a:solidFill>
              <a:latin typeface="Calibri"/>
              <a:ea typeface="맑은 고딕"/>
              <a:cs typeface="Calibri"/>
            </a:endParaRPr>
          </a:p>
        </p:txBody>
      </p:sp>
      <p:sp>
        <p:nvSpPr>
          <p:cNvPr id="15" name="rv_pick"/>
          <p:cNvSpPr txBox="1"/>
          <p:nvPr/>
        </p:nvSpPr>
        <p:spPr>
          <a:xfrm>
            <a:off x="457200" y="38320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en-US" altLang="ko-KR" sz="1800" b="0" dirty="0">
                <a:solidFill>
                  <a:srgbClr val="C00000"/>
                </a:solidFill>
                <a:latin typeface="Calibri"/>
                <a:ea typeface="맑은 고딕"/>
                <a:cs typeface="Calibri"/>
              </a:rPr>
              <a:t>	Hidden People Behind Every Victory</a:t>
            </a:r>
            <a:endParaRPr lang="en-US" altLang="ko-KR" sz="1800" b="0" dirty="0">
              <a:solidFill>
                <a:srgbClr val="C00000"/>
              </a:solidFill>
              <a:latin typeface="Calibri"/>
              <a:ea typeface="맑은 고딕"/>
              <a:cs typeface="Calibri"/>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Medals for Every Runner in a Race</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Hidden People Behind Every Victory</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숨겨져 주목받지 못하는 사람들이 선수만큼 중요하다고 했다. 승리 뒤의 숨은 사람들을 가리킨 ④가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In sports, only the players get a trophy or medal, but they don’t win on their own. There are people who help the players. These people are often hidden and don’t get attention. </a:t>
            </a:r>
            <a:r>
              <a:rPr lang="en-US" altLang="ko-KR" sz="1500" b="0" dirty="0">
                <a:solidFill>
                  <a:srgbClr val="1F2328"/>
                </a:solidFill>
                <a:latin typeface="Calibri"/>
                <a:ea typeface="맑은 고딕"/>
                <a:cs typeface="Calibri"/>
              </a:rPr>
              <a:t>However, they are as important as the players.</a:t>
            </a:r>
            <a:r>
              <a:rPr lang="en-US" altLang="ko-KR" sz="1500" b="0" dirty="0">
                <a:solidFill>
                  <a:srgbClr val="1F2328"/>
                </a:solidFill>
                <a:latin typeface="Calibri"/>
                <a:ea typeface="맑은 고딕"/>
                <a:cs typeface="Calibri"/>
              </a:rPr>
              <a:t> Here are some examples. Pacers run with other runners and lead them in a marathon. Pacers are experienced runners, and their job is to help other runners manage their race better. There can be several pacers in a race.</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In sports, only the players get a trophy or medal, but they don’t win on their own. There are people who help the players. These people are often hidden and don’t get attention. </a:t>
            </a:r>
            <a:r>
              <a:rPr lang="en-US" altLang="ko-KR" sz="1500" b="0" dirty="0">
                <a:solidFill>
                  <a:srgbClr val="111111"/>
                </a:solidFill>
                <a:highlight>
                  <a:srgbClr val="FFE45C"/>
                </a:highlight>
                <a:latin typeface="Calibri"/>
                <a:ea typeface="맑은 고딕"/>
                <a:cs typeface="Calibri"/>
              </a:rPr>
              <a:t>However, they are as important as the players.</a:t>
            </a:r>
            <a:r>
              <a:rPr lang="en-US" altLang="ko-KR" sz="1500" b="0" dirty="0">
                <a:solidFill>
                  <a:srgbClr val="B3BAC6"/>
                </a:solidFill>
                <a:latin typeface="Calibri"/>
                <a:ea typeface="맑은 고딕"/>
                <a:cs typeface="Calibri"/>
              </a:rPr>
              <a:t> Here are some examples. Pacers run with other runners and lead them in a marathon. Pacers are experienced runners, and their job is to help other runners manage their race better. There can be several pacers in a race.</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경기에서 우승한 선수들만 트로피를 받아야 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마라톤 선수들은 혼자 힘으로 경주를 운영해야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페이서는 경주에서 반드시 한 명만 있어야 한다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경험 많은 선수만 마라톤에 참가해야 마땅하다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선수를 돕는 숨은 사람들도 선수만큼 중요하다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2395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선수를 돕는 숨은 사람들도 선수만큼 중요하다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선수를 돕는 숨은 사람들도 선수만큼 중요하다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'as important as the players'라고 했으니 숨은 조력자도 선수만큼 중요하다는 ⑤가 필자의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In sports, only the players get a trophy or medal, but </a:t>
            </a:r>
            <a:r>
              <a:rPr lang="en-US" altLang="ko-KR" sz="1500" b="0" dirty="0">
                <a:solidFill>
                  <a:srgbClr val="1F2328"/>
                </a:solidFill>
                <a:latin typeface="Calibri"/>
                <a:ea typeface="맑은 고딕"/>
                <a:cs typeface="Calibri"/>
              </a:rPr>
              <a:t>they don’t win on their own</a:t>
            </a:r>
            <a:r>
              <a:rPr lang="en-US" altLang="ko-KR" sz="1500" b="0" dirty="0">
                <a:solidFill>
                  <a:srgbClr val="1F2328"/>
                </a:solidFill>
                <a:latin typeface="Calibri"/>
                <a:ea typeface="맑은 고딕"/>
                <a:cs typeface="Calibri"/>
              </a:rPr>
              <a:t>. </a:t>
            </a:r>
            <a:r>
              <a:rPr lang="en-US" altLang="ko-KR" sz="1500" b="0" dirty="0">
                <a:solidFill>
                  <a:srgbClr val="1F2328"/>
                </a:solidFill>
                <a:latin typeface="Calibri"/>
                <a:ea typeface="맑은 고딕"/>
                <a:cs typeface="Calibri"/>
              </a:rPr>
              <a:t>There are people who help the players.</a:t>
            </a:r>
            <a:r>
              <a:rPr lang="en-US" altLang="ko-KR" sz="1500" b="0" dirty="0">
                <a:solidFill>
                  <a:srgbClr val="1F2328"/>
                </a:solidFill>
                <a:latin typeface="Calibri"/>
                <a:ea typeface="맑은 고딕"/>
                <a:cs typeface="Calibri"/>
              </a:rPr>
              <a:t> These people are often hidden and don’t get attention. However, they are as important as the players. Here are some examples. Pacers run with other runners and lead them in a marathon. Pacers are experienced runners, and their job is to help other runners manage their race better. There can be several pacers in a race.</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In sports, only the players get a trophy or medal, but </a:t>
            </a:r>
            <a:r>
              <a:rPr lang="en-US" altLang="ko-KR" sz="1500" b="0" dirty="0">
                <a:solidFill>
                  <a:srgbClr val="111111"/>
                </a:solidFill>
                <a:highlight>
                  <a:srgbClr val="FFE45C"/>
                </a:highlight>
                <a:latin typeface="Calibri"/>
                <a:ea typeface="맑은 고딕"/>
                <a:cs typeface="Calibri"/>
              </a:rPr>
              <a:t>they don’t win on their own</a:t>
            </a:r>
            <a:r>
              <a:rPr lang="en-US" altLang="ko-KR" sz="1500" b="0" dirty="0">
                <a:solidFill>
                  <a:srgbClr val="B3BAC6"/>
                </a:solidFill>
                <a:latin typeface="Calibri"/>
                <a:ea typeface="맑은 고딕"/>
                <a:cs typeface="Calibri"/>
              </a:rPr>
              <a:t>. </a:t>
            </a:r>
            <a:r>
              <a:rPr lang="en-US" altLang="ko-KR" sz="1500" b="0" dirty="0">
                <a:solidFill>
                  <a:srgbClr val="111111"/>
                </a:solidFill>
                <a:highlight>
                  <a:srgbClr val="FFE45C"/>
                </a:highlight>
                <a:latin typeface="Calibri"/>
                <a:ea typeface="맑은 고딕"/>
                <a:cs typeface="Calibri"/>
              </a:rPr>
              <a:t>There are people who help the players.</a:t>
            </a:r>
            <a:r>
              <a:rPr lang="en-US" altLang="ko-KR" sz="1500" b="0" dirty="0">
                <a:solidFill>
                  <a:srgbClr val="B3BAC6"/>
                </a:solidFill>
                <a:latin typeface="Calibri"/>
                <a:ea typeface="맑은 고딕"/>
                <a:cs typeface="Calibri"/>
              </a:rPr>
              <a:t> These people are often hidden and don’t get attention. However, they are as important as the players. Here are some examples. Pacers run with other runners and lead them in a marathon. Pacers are experienced runners, and their job is to help other runners manage their race better. There can be several pacers in a race.</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보이지 않는 조력자들이 선수의 승리를 돕는다</a:t>
            </a:r>
            <a:endParaRPr lang="ko-KR" altLang="en-US" sz="1800" b="0" dirty="0">
              <a:solidFill>
                <a:srgbClr val="1F2328"/>
              </a:solidFill>
              <a:latin typeface="맑은 고딕"/>
              <a:ea typeface="맑은 고딕"/>
              <a:cs typeface="맑은 고딕"/>
            </a:endParaRPr>
          </a:p>
        </p:txBody>
      </p:sp>
      <p:sp>
        <p:nvSpPr>
          <p:cNvPr id="12" name="rv_pick"/>
          <p:cNvSpPr txBox="1"/>
          <p:nvPr/>
        </p:nvSpPr>
        <p:spPr>
          <a:xfrm>
            <a:off x="457200" y="260985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ko-KR" altLang="en-US" sz="1800" b="0" dirty="0">
                <a:solidFill>
                  <a:srgbClr val="C00000"/>
                </a:solidFill>
                <a:latin typeface="맑은 고딕"/>
                <a:ea typeface="맑은 고딕"/>
                <a:cs typeface="맑은 고딕"/>
              </a:rPr>
              <a:t>	보이지 않는 조력자들이 선수의 승리를 돕는다</a:t>
            </a:r>
            <a:endParaRPr lang="ko-KR" altLang="en-US" sz="1800" b="0" dirty="0">
              <a:solidFill>
                <a:srgbClr val="C00000"/>
              </a:solidFill>
              <a:latin typeface="맑은 고딕"/>
              <a:ea typeface="맑은 고딕"/>
              <a:cs typeface="맑은 고딕"/>
            </a:endParaRPr>
          </a:p>
        </p:txBody>
      </p:sp>
      <p:sp>
        <p:nvSpPr>
          <p:cNvPr id="13"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선수의 승리는 오직 개인의 노력에서 나온다</a:t>
            </a:r>
            <a:endParaRPr lang="ko-KR" altLang="en-US" sz="1800" b="0" dirty="0">
              <a:solidFill>
                <a:srgbClr val="1F2328"/>
              </a:solidFill>
              <a:latin typeface="맑은 고딕"/>
              <a:ea typeface="맑은 고딕"/>
              <a:cs typeface="맑은 고딕"/>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주목받는 선수가 경기에서 가장 중요한 존재다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마라톤에서 페이서는 우승을 위해 달리는 선수다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트로피와 메달은 팀 전체가 나누어 받아야 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보이지 않는 조력자들이 선수의 승리를 돕는다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선수는 혼자 이기지 않고 돕는 사람들이 있다고 했다. 보이지 않는 조력자가 승리를 돕는다는 ①이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In sports, only the players get a trophy or medal, but they don’t win on their own. There are people who help the players. These people are often hidden and don’t get attention. However, they are as important as the players. Here are some examples. Pacers run with other runners and lead them in a marathon. </a:t>
            </a:r>
            <a:r>
              <a:rPr lang="en-US" altLang="ko-KR" sz="1500" b="0" dirty="0">
                <a:solidFill>
                  <a:srgbClr val="1F2328"/>
                </a:solidFill>
                <a:latin typeface="Calibri"/>
                <a:ea typeface="맑은 고딕"/>
                <a:cs typeface="Calibri"/>
              </a:rPr>
              <a:t>Pacers are experienced runners</a:t>
            </a:r>
            <a:r>
              <a:rPr lang="en-US" altLang="ko-KR" sz="1500" b="0" dirty="0">
                <a:solidFill>
                  <a:srgbClr val="1F2328"/>
                </a:solidFill>
                <a:latin typeface="Calibri"/>
                <a:ea typeface="맑은 고딕"/>
                <a:cs typeface="Calibri"/>
              </a:rPr>
              <a:t>, and their job is to help other runners manage their race better. There can be several pacers in a race.</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In sports, only the players get a trophy or medal, but they don’t win on their own. There are people who help the players. These people are often hidden and don’t get attention. However, they are as important as the players. Here are some examples. Pacers run with other runners and lead them in a marathon. </a:t>
            </a:r>
            <a:r>
              <a:rPr lang="en-US" altLang="ko-KR" sz="1500" b="0" dirty="0">
                <a:solidFill>
                  <a:srgbClr val="111111"/>
                </a:solidFill>
                <a:highlight>
                  <a:srgbClr val="FFE45C"/>
                </a:highlight>
                <a:latin typeface="Calibri"/>
                <a:ea typeface="맑은 고딕"/>
                <a:cs typeface="Calibri"/>
              </a:rPr>
              <a:t>Pacers are experienced runners</a:t>
            </a:r>
            <a:r>
              <a:rPr lang="en-US" altLang="ko-KR" sz="1500" b="0" dirty="0">
                <a:solidFill>
                  <a:srgbClr val="B3BAC6"/>
                </a:solidFill>
                <a:latin typeface="Calibri"/>
                <a:ea typeface="맑은 고딕"/>
                <a:cs typeface="Calibri"/>
              </a:rPr>
              <a:t>, and their job is to help other runners manage their race better. There can be several pacers in a race.</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스포츠에서 트로피나 메달은 선수들만 받는다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선수들을 돕는 사람들은 종종 주목받지 못한다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페이서들은 마라톤에서 다른 선수들을 이끈다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한 경주에는 여러 명의 페이서가 있을 수 있다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페이서들은 대개 경험이 부족한 초보 선수들이다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2395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페이서들은 대개 경험이 부족한 초보 선수들이다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페이서들은 대개 경험이 부족한 초보 선수들이다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페이서는 'experienced runners', 곧 경험 많은 선수라고 했다. 경험이 부족한 초보라는 ⑤는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In sports, only the players get a trophy or medal, but they don’t win on their own. There are people who help the players. These people are often hidden and don’t get attention. However, they are as important as the players. Here are some examples. Pacers run with other runners and lead them in a marathon. Pacers are experienced runners, and their job is to </a:t>
            </a:r>
            <a:r>
              <a:rPr lang="en-US" altLang="ko-KR" sz="1500" b="0" dirty="0">
                <a:solidFill>
                  <a:srgbClr val="1F2328"/>
                </a:solidFill>
                <a:latin typeface="Calibri"/>
                <a:ea typeface="맑은 고딕"/>
                <a:cs typeface="Calibri"/>
              </a:rPr>
              <a:t>help other runners manage their race better</a:t>
            </a:r>
            <a:r>
              <a:rPr lang="en-US" altLang="ko-KR" sz="1500" b="0" dirty="0">
                <a:solidFill>
                  <a:srgbClr val="1F2328"/>
                </a:solidFill>
                <a:latin typeface="Calibri"/>
                <a:ea typeface="맑은 고딕"/>
                <a:cs typeface="Calibri"/>
              </a:rPr>
              <a:t>. There can be several pacers in a race.</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In sports, only the players get a trophy or medal, but they don’t win on their own. There are people who help the players. These people are often hidden and don’t get attention. However, they are as important as the players. Here are some examples. Pacers run with other runners and lead them in a marathon. Pacers are experienced runners, and their job is to </a:t>
            </a:r>
            <a:r>
              <a:rPr lang="en-US" altLang="ko-KR" sz="1500" b="0" dirty="0">
                <a:solidFill>
                  <a:srgbClr val="111111"/>
                </a:solidFill>
                <a:highlight>
                  <a:srgbClr val="FFE45C"/>
                </a:highlight>
                <a:latin typeface="Calibri"/>
                <a:ea typeface="맑은 고딕"/>
                <a:cs typeface="Calibri"/>
              </a:rPr>
              <a:t>help other runners manage their race better</a:t>
            </a:r>
            <a:r>
              <a:rPr lang="en-US" altLang="ko-KR" sz="1500" b="0" dirty="0">
                <a:solidFill>
                  <a:srgbClr val="B3BAC6"/>
                </a:solidFill>
                <a:latin typeface="Calibri"/>
                <a:ea typeface="맑은 고딕"/>
                <a:cs typeface="Calibri"/>
              </a:rPr>
              <a:t>. There can be several pacers in a race.</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선수들은 혼자 힘만으로 경기에서 우승한다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페이서는 다른 선수들이 경주를 잘 운영하게 돕는다</a:t>
            </a:r>
            <a:endParaRPr lang="ko-KR" altLang="en-US" sz="1800" b="0" dirty="0">
              <a:solidFill>
                <a:srgbClr val="1F2328"/>
              </a:solidFill>
              <a:latin typeface="맑은 고딕"/>
              <a:ea typeface="맑은 고딕"/>
              <a:cs typeface="맑은 고딕"/>
            </a:endParaRPr>
          </a:p>
        </p:txBody>
      </p:sp>
      <p:sp>
        <p:nvSpPr>
          <p:cNvPr id="13" name="rv_pick"/>
          <p:cNvSpPr txBox="1"/>
          <p:nvPr/>
        </p:nvSpPr>
        <p:spPr>
          <a:xfrm>
            <a:off x="457200" y="301726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ko-KR" altLang="en-US" sz="1800" b="0" dirty="0">
                <a:solidFill>
                  <a:srgbClr val="C00000"/>
                </a:solidFill>
                <a:latin typeface="맑은 고딕"/>
                <a:ea typeface="맑은 고딕"/>
                <a:cs typeface="맑은 고딕"/>
              </a:rPr>
              <a:t>	페이서는 다른 선수들이 경주를 잘 운영하게 돕는다</a:t>
            </a:r>
            <a:endParaRPr lang="ko-KR" altLang="en-US" sz="1800" b="0" dirty="0">
              <a:solidFill>
                <a:srgbClr val="C00000"/>
              </a:solidFill>
              <a:latin typeface="맑은 고딕"/>
              <a:ea typeface="맑은 고딕"/>
              <a:cs typeface="맑은 고딕"/>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선수를 돕는 사람들은 늘 큰 주목을 받는다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한 마라톤 경주에는 페이서가 한 명만 있다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페이서는 경주에서 혼자 앞서 달려 우승한다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페이서는 다른 선수들이 경주를 잘 운영하게 돕는다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페이서의 일은 다른 선수들이 경주를 더 잘 운영하도록 돕는 것이라고 했다. 이와 같은 ②가 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In sports, only the players get a trophy or medal, but they don’t win on their own.</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195275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195275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There are people who help the players. These people are often hidden and don’t get attention. However, they are as important as the players.</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Pacers are experienced runners, and their job is to help other runners manage their race better. There can be several pacers in a race.</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Here are some examples. Pacers run with other runners and lead them in a marathon.</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62331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62331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C00000"/>
                </a:solidFill>
                <a:highlight>
                  <a:srgbClr val="FFFFFF"/>
                </a:highlight>
                <a:latin typeface="맑은 고딕"/>
                <a:ea typeface="맑은 고딕"/>
                <a:cs typeface="맑은 고딕"/>
              </a:rPr>
              <a:t>① </a:t>
            </a:r>
            <a:r>
              <a:rPr lang="en-US" altLang="ko-KR" sz="1800" b="0" dirty="0">
                <a:solidFill>
                  <a:srgbClr val="C00000"/>
                </a:solidFill>
                <a:highlight>
                  <a:srgbClr val="FFFFFF"/>
                </a:highlight>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13537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(A) - (C)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4734306"/>
            <a:ext cx="11277295" cy="168478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선수만 메달을 받지만 혼자 이기지 않는다 → (A) 그들을 돕는 사람들이 있다 → (C) 'Here are some examples'로 페이서를 소개한다 → (B) Pacers가 어떤 선수인지 덧붙인다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In sports, only the players get a trophy or medal, but they don’t win on their own.</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195275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195275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Pacers are experienced runners, and their job is to help other runners manage their race better. There can be several pacers in a race.</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There are people who help the players. These people are often hidden and don’t get attention. However, they are as important as the players.</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Here are some examples. Pacers run with other runners and lead them in a marathon.</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62331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62331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13537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4734306"/>
            <a:ext cx="11277295" cy="168478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혼자 이기지 않는다 → (B) 돕는 사람들(These people)이 선수만큼 중요하다 → (C) 그 예로 페이서를 든다 → (A) 경험 많은 페이서의 역할과 수를 설명한다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There are people who help the players.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In sports, only the players get a trophy or medal, but they don’t win on their own.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These people are often hidden and don’t get attention.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However, they are as important as the players.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Here are some examples.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Pacers run with other runners and lead them in a marathon. Pacers are experienced runners, and their job is to help other runners manage their race better. There can be several pacers in a race.</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In sports, only the players get a trophy or medal, but they don’t win on their own. </a:t>
            </a:r>
            <a:r>
              <a:rPr lang="ko-KR" altLang="en-US" sz="1800" b="1" dirty="0">
                <a:solidFill>
                  <a:srgbClr val="C00000"/>
                </a:solidFill>
                <a:highlight>
                  <a:srgbClr val="F3F5F9"/>
                </a:highlight>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These people are often hidden and don’t get attention.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However, they are as important as the players.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Here are some examples.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Pacers run with other runners and lead them in a marathon. Pacers are experienced runners, and their job is to help other runners manage their race better. There can be several pacers in a race.</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61416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213098"/>
            <a:ext cx="11277295" cy="220598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'These people'이 가리킬 사람들이 앞에 없다. 선수를 돕는 people을 처음 소개하는 주어진 문장이 ②에 들어가야 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These people are often hidden and don’t get attention.</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In sports, only the players get a trophy or medal, but they don’t win on their own.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There are people who help the players.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However, they are as important as the players.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Here are some examples.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Pacers run with other runners and lead them in a marathon. Pacers are experienced runners, and their job is to help other runners manage their race better. There can be several pacers in a race.</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In sports, only the players get a trophy or medal, but they don’t win on their own.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There are people who help the players.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However, they are as important as the players.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Here are some examples.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Pacers run with other runners and lead them in a marathon. Pacers are experienced runners, and their job is to help other runners manage their race better. There can be several pacers in a race.</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61416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213098"/>
            <a:ext cx="11277295" cy="220598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③ 뒤 'However, they are as important'는 앞에서 그들이 주목받지 못한다는 말이 있어야 이어진다. 주어진 문장은 ③에 들어간다.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6개)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37997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In sports, only the players get a trophy or medal, but they don’t win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on them own</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on their own</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There are people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who help</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who helps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players.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These people are often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hidden</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hiding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and don’t get attention.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However, they are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as importantly as</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as important as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players.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Here are some examples.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Pacers run with other runners and lead them in a marathon.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Pacers are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experienced</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experiencing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runners, and their job is to help other runners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managing</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manage</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their race better.</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⑧</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There can be several pacers in a race.</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don’t win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on them own</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on their 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who help</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who helps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hidden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hiding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don’t get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as importantly as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as important 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Here are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lead them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experienced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experiencing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runners, and their job is to help other runners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managing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manage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can be several pacers in a race.</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don’t win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on them 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on their 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who help</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who helps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hidden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hiding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don’t get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as importantly as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as important 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Here are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lead them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experienced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experiencing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runners, and their job is to help other runners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managing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manage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can be several pacers in a race.</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don’t win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on them 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on their 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who help</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who helps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hidden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hiding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don’t get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as importantly as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as important 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Here are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lead them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experienced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experiencing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runners, and their job is to help other runners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managing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manage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can be several pacers in a race.</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don’t win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on them 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on their 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who help</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who helps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hidden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hiding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don’t get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as importantly as</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as important 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Here are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lead them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experienced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experiencing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runners, and their job is to help other runners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managing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manage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can be several pacers in a race.</a:t>
            </a:r>
            <a:endParaRPr lang="en-US" altLang="ko-KR" sz="2200" b="0" dirty="0">
              <a:solidFill>
                <a:srgbClr val="1F2328"/>
              </a:solidFill>
              <a:latin typeface="Calibri"/>
              <a:ea typeface="맑은 고딕"/>
              <a:cs typeface="Calibri"/>
            </a:endParaRPr>
          </a:p>
        </p:txBody>
      </p:sp>
      <p:sp>
        <p:nvSpPr>
          <p:cNvPr id="13" name="rv_g05"/>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don’t win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on them 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on their 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who help</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who helps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hidden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hiding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don’t get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as importantly as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as important 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Here are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lead them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experienced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experiencing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runners, and their job is to help other runners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managing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manage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can be several pacers in a race.</a:t>
            </a:r>
            <a:endParaRPr lang="en-US" altLang="ko-KR" sz="2200" b="0" dirty="0">
              <a:solidFill>
                <a:srgbClr val="1F2328"/>
              </a:solidFill>
              <a:latin typeface="Calibri"/>
              <a:ea typeface="맑은 고딕"/>
              <a:cs typeface="Calibri"/>
            </a:endParaRPr>
          </a:p>
        </p:txBody>
      </p:sp>
      <p:sp>
        <p:nvSpPr>
          <p:cNvPr id="14" name="rv_g06"/>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don’t win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on them 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on their 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who help</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who helps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hidden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hiding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and don’t get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as importantly as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as important as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Here are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lead them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experienced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experiencing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runners, and their job is to help other runners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managing</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manage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can be several pacers in a race.</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5개)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8320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In sports, only the players get a trophy or medal, but they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don’t win</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doesn’t win</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on their own.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There are people who help the players.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These people are often hidden and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don’t get</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doesn’t get</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attention.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However, they are as important as the players.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Here are</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Here is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some examples.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Pacers run with other runners and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lead them</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leads them</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in a marathon.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Pacers are experienced runners, and their job is to help other runners manage their race better.</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⑧</a:t>
            </a:r>
            <a:r>
              <a:rPr lang="en-US" altLang="ko-KR" sz="2200" b="0"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There can be several pacers</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There can be several pacer</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in a race.</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don’t win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their own.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who help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hidden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don’t get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get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as important as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Here are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Here is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lead them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leads them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experienced runners, and their job is to help other runners manage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There can be several pacers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There can be several pacer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race.</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don’t win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their own.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who help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hidden and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don’t get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get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as important as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Here are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Here is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lead them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leads them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experienced runners, and their job is to help other runners manage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There can be several pacers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There can be several pacer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race.</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don’t win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their own.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who help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hidden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don’t get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get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as important as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Here are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Here is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lead them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leads them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experienced runners, and their job is to help other runners manage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There can be several pacers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There can be several pacer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race.</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don’t win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their own.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who help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hidden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don’t get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get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as important as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Here are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Here is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lead them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leads them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experienced runners, and their job is to help other runners manage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There can be several pacers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There can be several pacer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race.</a:t>
            </a:r>
            <a:endParaRPr lang="en-US" altLang="ko-KR" sz="2200" b="0" dirty="0">
              <a:solidFill>
                <a:srgbClr val="1F2328"/>
              </a:solidFill>
              <a:latin typeface="Calibri"/>
              <a:ea typeface="맑은 고딕"/>
              <a:cs typeface="Calibri"/>
            </a:endParaRPr>
          </a:p>
        </p:txBody>
      </p:sp>
      <p:sp>
        <p:nvSpPr>
          <p:cNvPr id="13" name="rv_g05"/>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sports, only the players get a trophy or medal, but they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don’t win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their own.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 are people who help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These people are often hidden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don’t get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doesn’t get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attention.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However, they are as important as the players.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Here are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Here is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some examples.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run with other runners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lead them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leads them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marathon.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are experienced runners, and their job is to help other runners manage their race better.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There can be several pacers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There can be several pacer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race.</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Each pacer runs at different speeds and finishes the race in different times. Pacers usually have flags or balloons showing their finish time. </a:t>
            </a:r>
            <a:r>
              <a:rPr lang="en-US" altLang="ko-KR" sz="1500" b="0" dirty="0">
                <a:solidFill>
                  <a:srgbClr val="1F2328"/>
                </a:solidFill>
                <a:latin typeface="Calibri"/>
                <a:ea typeface="맑은 고딕"/>
                <a:cs typeface="Calibri"/>
              </a:rPr>
              <a:t>Runners can choose a pacer depending on their target finish time.</a:t>
            </a:r>
            <a:r>
              <a:rPr lang="en-US" altLang="ko-KR" sz="1500" b="0" dirty="0">
                <a:solidFill>
                  <a:srgbClr val="1F2328"/>
                </a:solidFill>
                <a:latin typeface="Calibri"/>
                <a:ea typeface="맑은 고딕"/>
                <a:cs typeface="Calibri"/>
              </a:rPr>
              <a:t> For example, if a runner wants to finish the race in four hours, the runner will follow the four‑hour pacer. </a:t>
            </a:r>
            <a:r>
              <a:rPr lang="en-US" altLang="ko-KR" sz="1500" b="0" dirty="0">
                <a:solidFill>
                  <a:srgbClr val="1F2328"/>
                </a:solidFill>
                <a:latin typeface="Calibri"/>
                <a:ea typeface="맑은 고딕"/>
                <a:cs typeface="Calibri"/>
              </a:rPr>
              <a:t>Since the pacer keeps track of the time, the runner can achieve his or her goal of finishing the marathon in a particular time more easily.</a:t>
            </a:r>
            <a:r>
              <a:rPr lang="en-US" altLang="ko-KR" sz="1500" b="0" dirty="0">
                <a:solidFill>
                  <a:srgbClr val="1F2328"/>
                </a:solidFill>
                <a:latin typeface="Calibri"/>
                <a:ea typeface="맑은 고딕"/>
                <a:cs typeface="Calibri"/>
              </a:rPr>
              <a:t> In short, pacers run but they don’t run to win. They run for others.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Each pacer runs at different speeds and finishes the race in different times. Pacers usually have flags or balloons showing their finish time. </a:t>
            </a:r>
            <a:r>
              <a:rPr lang="en-US" altLang="ko-KR" sz="1500" b="0" dirty="0">
                <a:solidFill>
                  <a:srgbClr val="111111"/>
                </a:solidFill>
                <a:highlight>
                  <a:srgbClr val="FFE45C"/>
                </a:highlight>
                <a:latin typeface="Calibri"/>
                <a:ea typeface="맑은 고딕"/>
                <a:cs typeface="Calibri"/>
              </a:rPr>
              <a:t>Runners can choose a pacer depending on their target finish time.</a:t>
            </a:r>
            <a:r>
              <a:rPr lang="en-US" altLang="ko-KR" sz="1500" b="0" dirty="0">
                <a:solidFill>
                  <a:srgbClr val="B3BAC6"/>
                </a:solidFill>
                <a:latin typeface="Calibri"/>
                <a:ea typeface="맑은 고딕"/>
                <a:cs typeface="Calibri"/>
              </a:rPr>
              <a:t> For example, if a runner wants to finish the race in four hours, the runner will follow the four‑hour pacer. </a:t>
            </a:r>
            <a:r>
              <a:rPr lang="en-US" altLang="ko-KR" sz="1500" b="0" dirty="0">
                <a:solidFill>
                  <a:srgbClr val="111111"/>
                </a:solidFill>
                <a:highlight>
                  <a:srgbClr val="FFE45C"/>
                </a:highlight>
                <a:latin typeface="Calibri"/>
                <a:ea typeface="맑은 고딕"/>
                <a:cs typeface="Calibri"/>
              </a:rPr>
              <a:t>Since the pacer keeps track of the time, the runner can achieve his or her goal of finishing the marathon in a particular time more easily.</a:t>
            </a:r>
            <a:r>
              <a:rPr lang="en-US" altLang="ko-KR" sz="1500" b="0" dirty="0">
                <a:solidFill>
                  <a:srgbClr val="B3BAC6"/>
                </a:solidFill>
                <a:latin typeface="Calibri"/>
                <a:ea typeface="맑은 고딕"/>
                <a:cs typeface="Calibri"/>
              </a:rPr>
              <a:t> In short, pacers run but they don’t run to win. They run for others.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why pacers always win the marathon race</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how runners make flags for their pacers</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the history of four-hour marathon races</a:t>
            </a:r>
            <a:endParaRPr lang="en-US" altLang="ko-KR" sz="1800" b="0" dirty="0">
              <a:solidFill>
                <a:srgbClr val="1F2328"/>
              </a:solidFill>
              <a:latin typeface="Calibri"/>
              <a:ea typeface="맑은 고딕"/>
              <a:cs typeface="Calibri"/>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how pacers help runners reach target times</a:t>
            </a:r>
            <a:endParaRPr lang="en-US" altLang="ko-KR" sz="1800" b="0" dirty="0">
              <a:solidFill>
                <a:srgbClr val="1F2328"/>
              </a:solidFill>
              <a:latin typeface="Calibri"/>
              <a:ea typeface="맑은 고딕"/>
              <a:cs typeface="Calibri"/>
            </a:endParaRPr>
          </a:p>
        </p:txBody>
      </p:sp>
      <p:sp>
        <p:nvSpPr>
          <p:cNvPr id="15" name="rv_pick"/>
          <p:cNvSpPr txBox="1"/>
          <p:nvPr/>
        </p:nvSpPr>
        <p:spPr>
          <a:xfrm>
            <a:off x="457200" y="38320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en-US" altLang="ko-KR" sz="1800" b="0" dirty="0">
                <a:solidFill>
                  <a:srgbClr val="C00000"/>
                </a:solidFill>
                <a:latin typeface="Calibri"/>
                <a:ea typeface="맑은 고딕"/>
                <a:cs typeface="Calibri"/>
              </a:rPr>
              <a:t>	how pacers help runners reach target times</a:t>
            </a:r>
            <a:endParaRPr lang="en-US" altLang="ko-KR" sz="1800" b="0" dirty="0">
              <a:solidFill>
                <a:srgbClr val="C00000"/>
              </a:solidFill>
              <a:latin typeface="Calibri"/>
              <a:ea typeface="맑은 고딕"/>
              <a:cs typeface="Calibri"/>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why runners must run without any pacer</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how pacers help runners reach target times</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선수는 목표 시간에 맞는 페이서를 고르고 페이서 덕분에 목표를 쉽게 이룬다. 목표 시간 달성을 돕는 ④가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Each pacer runs at different speeds and finishes the race in different times. Pacers usually have flags or balloons showing their finish time. Runners can choose a pacer depending on their target finish time. For example, if a runner wants to finish the race in four hours, the runner will follow the four‑hour pacer. Since the pacer keeps track of the time, the runner can achieve his or her goal of finishing the marathon in a particular time more easily. </a:t>
            </a:r>
            <a:r>
              <a:rPr lang="en-US" altLang="ko-KR" sz="1500" b="0" dirty="0">
                <a:solidFill>
                  <a:srgbClr val="1F2328"/>
                </a:solidFill>
                <a:latin typeface="Calibri"/>
                <a:ea typeface="맑은 고딕"/>
                <a:cs typeface="Calibri"/>
              </a:rPr>
              <a:t>In short, pacers run but they don’t run to win.</a:t>
            </a:r>
            <a:r>
              <a:rPr lang="en-US" altLang="ko-KR" sz="1500" b="0" dirty="0">
                <a:solidFill>
                  <a:srgbClr val="1F2328"/>
                </a:solidFill>
                <a:latin typeface="Calibri"/>
                <a:ea typeface="맑은 고딕"/>
                <a:cs typeface="Calibri"/>
              </a:rPr>
              <a:t> </a:t>
            </a:r>
            <a:r>
              <a:rPr lang="en-US" altLang="ko-KR" sz="1500" b="0" dirty="0">
                <a:solidFill>
                  <a:srgbClr val="1F2328"/>
                </a:solidFill>
                <a:latin typeface="Calibri"/>
                <a:ea typeface="맑은 고딕"/>
                <a:cs typeface="Calibri"/>
              </a:rPr>
              <a:t>They run for others.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Each pacer runs at different speeds and finishes the race in different times. Pacers usually have flags or balloons showing their finish time. Runners can choose a pacer depending on their target finish time. For example, if a runner wants to finish the race in four hours, the runner will follow the four‑hour pacer. Since the pacer keeps track of the time, the runner can achieve his or her goal of finishing the marathon in a particular time more easily. </a:t>
            </a:r>
            <a:r>
              <a:rPr lang="en-US" altLang="ko-KR" sz="1500" b="0" dirty="0">
                <a:solidFill>
                  <a:srgbClr val="111111"/>
                </a:solidFill>
                <a:highlight>
                  <a:srgbClr val="FFE45C"/>
                </a:highlight>
                <a:latin typeface="Calibri"/>
                <a:ea typeface="맑은 고딕"/>
                <a:cs typeface="Calibri"/>
              </a:rPr>
              <a:t>In short, pacers run but they don’t run to win.</a:t>
            </a:r>
            <a:r>
              <a:rPr lang="en-US" altLang="ko-KR" sz="1500" b="0" dirty="0">
                <a:solidFill>
                  <a:srgbClr val="B3BAC6"/>
                </a:solidFill>
                <a:latin typeface="Calibri"/>
                <a:ea typeface="맑은 고딕"/>
                <a:cs typeface="Calibri"/>
              </a:rPr>
              <a:t> </a:t>
            </a:r>
            <a:r>
              <a:rPr lang="en-US" altLang="ko-KR" sz="1500" b="0" dirty="0">
                <a:solidFill>
                  <a:srgbClr val="111111"/>
                </a:solidFill>
                <a:highlight>
                  <a:srgbClr val="FFE45C"/>
                </a:highlight>
                <a:latin typeface="Calibri"/>
                <a:ea typeface="맑은 고딕"/>
                <a:cs typeface="Calibri"/>
              </a:rPr>
              <a:t>They run for others.</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Pacers: The Fastest Winners of All</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Balloons Make Marathons More Fun</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Runners Who Never Need a Pacer</a:t>
            </a:r>
            <a:endParaRPr lang="en-US" altLang="ko-KR" sz="1800" b="0" dirty="0">
              <a:solidFill>
                <a:srgbClr val="1F2328"/>
              </a:solidFill>
              <a:latin typeface="Calibri"/>
              <a:ea typeface="맑은 고딕"/>
              <a:cs typeface="Calibri"/>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How to Finish a Race in Two Hours</a:t>
            </a:r>
            <a:endParaRPr lang="en-US" altLang="ko-KR" sz="1800" b="0" dirty="0">
              <a:solidFill>
                <a:srgbClr val="1F2328"/>
              </a:solidFill>
              <a:latin typeface="Calibri"/>
              <a:ea typeface="맑은 고딕"/>
              <a:cs typeface="Calibri"/>
            </a:endParaRPr>
          </a:p>
        </p:txBody>
      </p:sp>
      <p:sp>
        <p:nvSpPr>
          <p:cNvPr id="15"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Pacers Run Not to Win but for Others</a:t>
            </a:r>
            <a:endParaRPr lang="en-US" altLang="ko-KR" sz="1800" b="0" dirty="0">
              <a:solidFill>
                <a:srgbClr val="1F2328"/>
              </a:solidFill>
              <a:latin typeface="Calibri"/>
              <a:ea typeface="맑은 고딕"/>
              <a:cs typeface="Calibri"/>
            </a:endParaRPr>
          </a:p>
        </p:txBody>
      </p:sp>
      <p:sp>
        <p:nvSpPr>
          <p:cNvPr id="16" name="rv_pick"/>
          <p:cNvSpPr txBox="1"/>
          <p:nvPr/>
        </p:nvSpPr>
        <p:spPr>
          <a:xfrm>
            <a:off x="457200" y="42395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en-US" altLang="ko-KR" sz="1800" b="0" dirty="0">
                <a:solidFill>
                  <a:srgbClr val="C00000"/>
                </a:solidFill>
                <a:latin typeface="Calibri"/>
                <a:ea typeface="맑은 고딕"/>
                <a:cs typeface="Calibri"/>
              </a:rPr>
              <a:t>	Pacers Run Not to Win but for Others</a:t>
            </a:r>
            <a:endParaRPr lang="en-US" altLang="ko-KR" sz="1800" b="0" dirty="0">
              <a:solidFill>
                <a:srgbClr val="C00000"/>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en-US" altLang="ko-KR" sz="1900" b="1" dirty="0">
                <a:solidFill>
                  <a:srgbClr val="5A4200"/>
                </a:solidFill>
                <a:latin typeface="Calibri"/>
                <a:ea typeface="맑은 고딕"/>
                <a:cs typeface="Calibri"/>
              </a:rPr>
              <a:t>Pacers Run Not to Win but for Others</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페이서는 이기려고 달리지 않고 남을 위해 달린다고 했다. 이를 그대로 옮긴 ⑤가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Each pacer runs at different speeds and finishes the race in different times. Pacers usually have flags or balloons showing their finish time. Runners can choose a pacer depending on their target finish time. For example, if a runner wants to finish the race in four hours, the runner will follow the four‑hour pacer. Since the pacer keeps track of the time, the runner can achieve his or her goal of finishing the marathon in a particular time more easily. In short, pacers run but they don’t run to win. </a:t>
            </a:r>
            <a:r>
              <a:rPr lang="en-US" altLang="ko-KR" sz="1500" b="0" dirty="0">
                <a:solidFill>
                  <a:srgbClr val="1F2328"/>
                </a:solidFill>
                <a:latin typeface="Calibri"/>
                <a:ea typeface="맑은 고딕"/>
                <a:cs typeface="Calibri"/>
              </a:rPr>
              <a:t>They run for others.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Each pacer runs at different speeds and finishes the race in different times. Pacers usually have flags or balloons showing their finish time. Runners can choose a pacer depending on their target finish time. For example, if a runner wants to finish the race in four hours, the runner will follow the four‑hour pacer. Since the pacer keeps track of the time, the runner can achieve his or her goal of finishing the marathon in a particular time more easily. In short, pacers run but they don’t run to win. </a:t>
            </a:r>
            <a:r>
              <a:rPr lang="en-US" altLang="ko-KR" sz="1500" b="0" dirty="0">
                <a:solidFill>
                  <a:srgbClr val="111111"/>
                </a:solidFill>
                <a:highlight>
                  <a:srgbClr val="FFE45C"/>
                </a:highlight>
                <a:latin typeface="Calibri"/>
                <a:ea typeface="맑은 고딕"/>
                <a:cs typeface="Calibri"/>
              </a:rPr>
              <a:t>They run for others.</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페이서는 남을 위해 달리는 고마운 조력자다</a:t>
            </a:r>
            <a:endParaRPr lang="ko-KR" altLang="en-US" sz="1800" b="0" dirty="0">
              <a:solidFill>
                <a:srgbClr val="1F2328"/>
              </a:solidFill>
              <a:latin typeface="맑은 고딕"/>
              <a:ea typeface="맑은 고딕"/>
              <a:cs typeface="맑은 고딕"/>
            </a:endParaRPr>
          </a:p>
        </p:txBody>
      </p:sp>
      <p:sp>
        <p:nvSpPr>
          <p:cNvPr id="12" name="rv_pick"/>
          <p:cNvSpPr txBox="1"/>
          <p:nvPr/>
        </p:nvSpPr>
        <p:spPr>
          <a:xfrm>
            <a:off x="457200" y="260985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ko-KR" altLang="en-US" sz="1800" b="0" dirty="0">
                <a:solidFill>
                  <a:srgbClr val="C00000"/>
                </a:solidFill>
                <a:latin typeface="맑은 고딕"/>
                <a:ea typeface="맑은 고딕"/>
                <a:cs typeface="맑은 고딕"/>
              </a:rPr>
              <a:t>	페이서는 남을 위해 달리는 고마운 조력자다</a:t>
            </a:r>
            <a:endParaRPr lang="ko-KR" altLang="en-US" sz="1800" b="0" dirty="0">
              <a:solidFill>
                <a:srgbClr val="C00000"/>
              </a:solidFill>
              <a:latin typeface="맑은 고딕"/>
              <a:ea typeface="맑은 고딕"/>
              <a:cs typeface="맑은 고딕"/>
            </a:endParaRPr>
          </a:p>
        </p:txBody>
      </p:sp>
      <p:sp>
        <p:nvSpPr>
          <p:cNvPr id="13"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선수들은 페이서 없이 혼자 시간을 재야 한다</a:t>
            </a:r>
            <a:endParaRPr lang="ko-KR" altLang="en-US" sz="1800" b="0" dirty="0">
              <a:solidFill>
                <a:srgbClr val="1F2328"/>
              </a:solidFill>
              <a:latin typeface="맑은 고딕"/>
              <a:ea typeface="맑은 고딕"/>
              <a:cs typeface="맑은 고딕"/>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페이서는 우승을 목표로 전력 질주해야 한다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마라톤 선수는 모두 같은 속도로 달려야 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풍선과 깃발은 경주에서 사용하면 안 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페이서는 남을 위해 달리는 고마운 조력자다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'They run for others'라고 했다. 페이서가 남을 위해 달리는 조력자라는 ①이 필자의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Each pacer runs at different speeds and finishes the race in different times. Pacers usually have flags or balloons showing their finish time. Runners can choose a pacer depending on their target finish time. For example, if a runner wants to finish the race in four hours, the runner will follow the four‑hour pacer. </a:t>
            </a:r>
            <a:r>
              <a:rPr lang="en-US" altLang="ko-KR" sz="1500" b="0" dirty="0">
                <a:solidFill>
                  <a:srgbClr val="1F2328"/>
                </a:solidFill>
                <a:latin typeface="Calibri"/>
                <a:ea typeface="맑은 고딕"/>
                <a:cs typeface="Calibri"/>
              </a:rPr>
              <a:t>Since the pacer keeps track of the time, the runner can achieve his or her goal of finishing the marathon in a particular time more easily.</a:t>
            </a:r>
            <a:r>
              <a:rPr lang="en-US" altLang="ko-KR" sz="1500" b="0" dirty="0">
                <a:solidFill>
                  <a:srgbClr val="1F2328"/>
                </a:solidFill>
                <a:latin typeface="Calibri"/>
                <a:ea typeface="맑은 고딕"/>
                <a:cs typeface="Calibri"/>
              </a:rPr>
              <a:t> In short, pacers run but they don’t run to win. They run for others.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Each pacer runs at different speeds and finishes the race in different times. Pacers usually have flags or balloons showing their finish time. Runners can choose a pacer depending on their target finish time. For example, if a runner wants to finish the race in four hours, the runner will follow the four‑hour pacer. </a:t>
            </a:r>
            <a:r>
              <a:rPr lang="en-US" altLang="ko-KR" sz="1500" b="0" dirty="0">
                <a:solidFill>
                  <a:srgbClr val="111111"/>
                </a:solidFill>
                <a:highlight>
                  <a:srgbClr val="FFE45C"/>
                </a:highlight>
                <a:latin typeface="Calibri"/>
                <a:ea typeface="맑은 고딕"/>
                <a:cs typeface="Calibri"/>
              </a:rPr>
              <a:t>Since the pacer keeps track of the time, the runner can achieve his or her goal of finishing the marathon in a particular time more easily.</a:t>
            </a:r>
            <a:r>
              <a:rPr lang="en-US" altLang="ko-KR" sz="1500" b="0" dirty="0">
                <a:solidFill>
                  <a:srgbClr val="B3BAC6"/>
                </a:solidFill>
                <a:latin typeface="Calibri"/>
                <a:ea typeface="맑은 고딕"/>
                <a:cs typeface="Calibri"/>
              </a:rPr>
              <a:t> In short, pacers run but they don’t run to win. They run for others.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페이서는 자신이 우승하기 위해 빠르게 달린다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페이서는 남들이 목표 시간을 이루도록 돕는다</a:t>
            </a:r>
            <a:endParaRPr lang="ko-KR" altLang="en-US" sz="1800" b="0" dirty="0">
              <a:solidFill>
                <a:srgbClr val="1F2328"/>
              </a:solidFill>
              <a:latin typeface="맑은 고딕"/>
              <a:ea typeface="맑은 고딕"/>
              <a:cs typeface="맑은 고딕"/>
            </a:endParaRPr>
          </a:p>
        </p:txBody>
      </p:sp>
      <p:sp>
        <p:nvSpPr>
          <p:cNvPr id="13" name="rv_pick"/>
          <p:cNvSpPr txBox="1"/>
          <p:nvPr/>
        </p:nvSpPr>
        <p:spPr>
          <a:xfrm>
            <a:off x="457200" y="301726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ko-KR" altLang="en-US" sz="1800" b="0" dirty="0">
                <a:solidFill>
                  <a:srgbClr val="C00000"/>
                </a:solidFill>
                <a:latin typeface="맑은 고딕"/>
                <a:ea typeface="맑은 고딕"/>
                <a:cs typeface="맑은 고딕"/>
              </a:rPr>
              <a:t>	페이서는 남들이 목표 시간을 이루도록 돕는다</a:t>
            </a:r>
            <a:endParaRPr lang="ko-KR" altLang="en-US" sz="1800" b="0" dirty="0">
              <a:solidFill>
                <a:srgbClr val="C00000"/>
              </a:solidFill>
              <a:latin typeface="맑은 고딕"/>
              <a:ea typeface="맑은 고딕"/>
              <a:cs typeface="맑은 고딕"/>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선수들은 모두 4시간 안에 완주해야만 한다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깃발이 있는 선수가 마라톤에서 우승을 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목표 시간은 경주 도중에 자주 바꿔야 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페이서는 남들이 목표 시간을 이루도록 돕는다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페이서가 시간을 챙겨 주어 선수가 목표를 더 쉽게 이룬다고 했다. 남의 목표 달성을 돕는다는 ②가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Each pacer runs at different speeds and finishes the race in different times. Pacers usually have flags or balloons showing their finish time. Runners can choose a pacer depending on their target finish time. For example, if a runner wants to finish the race in four hours, the runner will follow the four‑hour pacer. Since the pacer keeps track of the time, the runner can achieve his or her goal of finishing the marathon in a particular time more easily. In short, pacers run but </a:t>
            </a:r>
            <a:r>
              <a:rPr lang="en-US" altLang="ko-KR" sz="1500" b="0" dirty="0">
                <a:solidFill>
                  <a:srgbClr val="1F2328"/>
                </a:solidFill>
                <a:latin typeface="Calibri"/>
                <a:ea typeface="맑은 고딕"/>
                <a:cs typeface="Calibri"/>
              </a:rPr>
              <a:t>they don’t run to win</a:t>
            </a:r>
            <a:r>
              <a:rPr lang="en-US" altLang="ko-KR" sz="1500" b="0" dirty="0">
                <a:solidFill>
                  <a:srgbClr val="1F2328"/>
                </a:solidFill>
                <a:latin typeface="Calibri"/>
                <a:ea typeface="맑은 고딕"/>
                <a:cs typeface="Calibri"/>
              </a:rPr>
              <a:t>. They run for others.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Each pacer runs at different speeds and finishes the race in different times. Pacers usually have flags or balloons showing their finish time. Runners can choose a pacer depending on their target finish time. For example, if a runner wants to finish the race in four hours, the runner will follow the four‑hour pacer. Since the pacer keeps track of the time, the runner can achieve his or her goal of finishing the marathon in a particular time more easily. In short, pacers run but </a:t>
            </a:r>
            <a:r>
              <a:rPr lang="en-US" altLang="ko-KR" sz="1500" b="0" dirty="0">
                <a:solidFill>
                  <a:srgbClr val="111111"/>
                </a:solidFill>
                <a:highlight>
                  <a:srgbClr val="FFE45C"/>
                </a:highlight>
                <a:latin typeface="Calibri"/>
                <a:ea typeface="맑은 고딕"/>
                <a:cs typeface="Calibri"/>
              </a:rPr>
              <a:t>they don’t run to win</a:t>
            </a:r>
            <a:r>
              <a:rPr lang="en-US" altLang="ko-KR" sz="1500" b="0" dirty="0">
                <a:solidFill>
                  <a:srgbClr val="B3BAC6"/>
                </a:solidFill>
                <a:latin typeface="Calibri"/>
                <a:ea typeface="맑은 고딕"/>
                <a:cs typeface="Calibri"/>
              </a:rPr>
              <a:t>. They run for others.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페이서는 우승하기 위해 가장 빨리 달린다</a:t>
            </a:r>
            <a:endParaRPr lang="ko-KR" altLang="en-US" sz="1800" b="0" dirty="0">
              <a:solidFill>
                <a:srgbClr val="1F2328"/>
              </a:solidFill>
              <a:latin typeface="맑은 고딕"/>
              <a:ea typeface="맑은 고딕"/>
              <a:cs typeface="맑은 고딕"/>
            </a:endParaRPr>
          </a:p>
        </p:txBody>
      </p:sp>
      <p:sp>
        <p:nvSpPr>
          <p:cNvPr id="12" name="rv_pick"/>
          <p:cNvSpPr txBox="1"/>
          <p:nvPr/>
        </p:nvSpPr>
        <p:spPr>
          <a:xfrm>
            <a:off x="457200" y="260985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ko-KR" altLang="en-US" sz="1800" b="0" dirty="0">
                <a:solidFill>
                  <a:srgbClr val="C00000"/>
                </a:solidFill>
                <a:latin typeface="맑은 고딕"/>
                <a:ea typeface="맑은 고딕"/>
                <a:cs typeface="맑은 고딕"/>
              </a:rPr>
              <a:t>	페이서는 우승하기 위해 가장 빨리 달린다</a:t>
            </a:r>
            <a:endParaRPr lang="ko-KR" altLang="en-US" sz="1800" b="0" dirty="0">
              <a:solidFill>
                <a:srgbClr val="C00000"/>
              </a:solidFill>
              <a:latin typeface="맑은 고딕"/>
              <a:ea typeface="맑은 고딕"/>
              <a:cs typeface="맑은 고딕"/>
            </a:endParaRPr>
          </a:p>
        </p:txBody>
      </p:sp>
      <p:sp>
        <p:nvSpPr>
          <p:cNvPr id="13"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각 페이서는 서로 다른 속도로 달린다</a:t>
            </a:r>
            <a:endParaRPr lang="ko-KR" altLang="en-US" sz="1800" b="0" dirty="0">
              <a:solidFill>
                <a:srgbClr val="1F2328"/>
              </a:solidFill>
              <a:latin typeface="맑은 고딕"/>
              <a:ea typeface="맑은 고딕"/>
              <a:cs typeface="맑은 고딕"/>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페이서는 대개 깃발이나 풍선을 지닌다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선수는 목표 시간에 따라 페이서를 고른다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페이서는 경주 중에 시간을 계속 파악한다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페이서는 우승하기 위해 가장 빨리 달린다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페이서는 이기기 위해 달리지 않는다고 했다. 우승하려고 가장 빨리 달린다는 ①은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Each pacer runs at different speeds and finishes the race in different times. Pacers usually have </a:t>
            </a:r>
            <a:r>
              <a:rPr lang="en-US" altLang="ko-KR" sz="1500" b="0" dirty="0">
                <a:solidFill>
                  <a:srgbClr val="1F2328"/>
                </a:solidFill>
                <a:latin typeface="Calibri"/>
                <a:ea typeface="맑은 고딕"/>
                <a:cs typeface="Calibri"/>
              </a:rPr>
              <a:t>flags or balloons showing their finish time</a:t>
            </a:r>
            <a:r>
              <a:rPr lang="en-US" altLang="ko-KR" sz="1500" b="0" dirty="0">
                <a:solidFill>
                  <a:srgbClr val="1F2328"/>
                </a:solidFill>
                <a:latin typeface="Calibri"/>
                <a:ea typeface="맑은 고딕"/>
                <a:cs typeface="Calibri"/>
              </a:rPr>
              <a:t>. Runners can choose a pacer depending on their target finish time. For example, if a runner wants to finish the race in four hours, the runner will follow the four‑hour pacer. Since the pacer keeps track of the time, the runner can achieve his or her goal of finishing the marathon in a particular time more easily. In short, pacers run but they don’t run to win. They run for others.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Each pacer runs at different speeds and finishes the race in different times. Pacers usually have </a:t>
            </a:r>
            <a:r>
              <a:rPr lang="en-US" altLang="ko-KR" sz="1500" b="0" dirty="0">
                <a:solidFill>
                  <a:srgbClr val="111111"/>
                </a:solidFill>
                <a:highlight>
                  <a:srgbClr val="FFE45C"/>
                </a:highlight>
                <a:latin typeface="Calibri"/>
                <a:ea typeface="맑은 고딕"/>
                <a:cs typeface="Calibri"/>
              </a:rPr>
              <a:t>flags or balloons showing their finish time</a:t>
            </a:r>
            <a:r>
              <a:rPr lang="en-US" altLang="ko-KR" sz="1500" b="0" dirty="0">
                <a:solidFill>
                  <a:srgbClr val="B3BAC6"/>
                </a:solidFill>
                <a:latin typeface="Calibri"/>
                <a:ea typeface="맑은 고딕"/>
                <a:cs typeface="Calibri"/>
              </a:rPr>
              <a:t>. Runners can choose a pacer depending on their target finish time. For example, if a runner wants to finish the race in four hours, the runner will follow the four‑hour pacer. Since the pacer keeps track of the time, the runner can achieve his or her goal of finishing the marathon in a particular time more easily. In short, pacers run but they don’t run to win. They run for others.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모든 페이서는 같은 시간에 경주를 마친다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선수는 정해진 페이서만 따라가야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페이서의 풍선에는 완주 시간이 표시된다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4246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페이서의 풍선에는 완주 시간이 표시된다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4시간 목표 선수는 2시간 페이서를 따른다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선수는 페이서 없이 목표를 더 쉽게 이룬다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페이서의 풍선에는 완주 시간이 표시된다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페이서의 깃발이나 풍선이 완주 시간을 보여 준다고 했다. 이와 같은 ③이 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Each pacer runs at different speeds and finishes the race in different times.</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23342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23342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For example, if a runner wants to finish the race in four hours, the runner will follow the four‑hour pacer. Since the pacer keeps track of the time, the runner can achieve his or her goal of finishing the marathon in a particular time more easily.</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Pacers usually have flags or balloons showing their finish time. Runners can choose a pacer depending on their target finish time.</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In short, pacers run but they don’t run to win. They run for others.</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903979"/>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903979"/>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② </a:t>
            </a:r>
            <a:r>
              <a:rPr lang="en-US" altLang="ko-KR" sz="1800" b="0" dirty="0">
                <a:solidFill>
                  <a:srgbClr val="C00000"/>
                </a:solidFill>
                <a:highlight>
                  <a:srgbClr val="FFFFFF"/>
                </a:highlight>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4160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(B) - (A) - (C)</a:t>
            </a:r>
            <a:endParaRPr lang="en-US" altLang="ko-KR" sz="1900" b="1" dirty="0">
              <a:solidFill>
                <a:srgbClr val="5A4200"/>
              </a:solidFill>
              <a:latin typeface="Calibri"/>
              <a:ea typeface="맑은 고딕"/>
              <a:cs typeface="Calibri"/>
            </a:endParaRPr>
          </a:p>
        </p:txBody>
      </p:sp>
      <p:sp>
        <p:nvSpPr>
          <p:cNvPr id="14" name="rv_why"/>
          <p:cNvSpPr/>
          <p:nvPr/>
        </p:nvSpPr>
        <p:spPr>
          <a:xfrm>
            <a:off x="457200" y="5014976"/>
            <a:ext cx="11277295" cy="14041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페이서마다 완주 시간이 다르다 → (B) 깃발로 시간을 보여 주고 선수가 고른다 → (A) 'For example' 4시간 페이서를 따르는 예 → (C) 'In short'로 남을 위해 달린다고 정리한다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Each pacer runs at different speeds and finishes the race in different times.</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23342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23342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For example, if a runner wants to finish the race in four hours, the runner will follow the four‑hour pacer. Since the pacer keeps track of the time, the runner can achieve his or her goal of finishing the marathon in a particular time more easily.</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In short, pacers run but they don’t run to win. They run for others.</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Pacers usually have flags or balloons showing their finish time. Runners can choose a pacer depending on their target finish time.</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④ </a:t>
            </a:r>
            <a:r>
              <a:rPr lang="en-US" altLang="ko-KR" sz="1800" b="0" dirty="0">
                <a:solidFill>
                  <a:srgbClr val="C00000"/>
                </a:solidFill>
                <a:highlight>
                  <a:srgbClr val="FFFFFF"/>
                </a:highlight>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4160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(C) - (A)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014976"/>
            <a:ext cx="11277295" cy="14041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페이서마다 완주 시간이 다르다 → (C) 깃발과 풍선으로 시간을 보여 주고 선수가 고른다 → (A) 'For example' 4시간 페이서 예 → (B) 'In short'로 정리한다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Runners can choose a pacer depending on their target finish time.</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Each pacer runs at different speeds and finishes the race in different times.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Pacers usually have flags or balloons showing their finish time.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For example, if a runner wants to finish the race in four hours, the runner will follow the four‑hour pacer.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Since the pacer keeps track of the time, the runner can achieve his or her goal of finishing the marathon in a particular time more easily.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In short, pacers run but they don’t run to win. They run for others.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Each pacer runs at different speeds and finishes the race in different times.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Pacers usually have flags or balloons showing their finish time.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For example, if a runner wants to finish the race in four hours, the runner will follow the four‑hour pacer.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Since the pacer keeps track of the time, the runner can achieve his or her goal of finishing the marathon in a particular time more easily.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In short, pacers run but they don’t run to win. They run for others.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61416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213098"/>
            <a:ext cx="11277295" cy="220598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③ 뒤 'For example' 문장은 선수가 목표 시간에 따라 페이서를 고른다는 말의 예다. 고르는 내용을 담은 주어진 문장이 ③에 들어간다.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8133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81330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For example, if a runner wants to finish the race in four hours, the runner will follow the four‑hour pacer.</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910587"/>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Each pacer runs at different speeds and finishes the race in different times.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Pacers usually have flags or balloons showing their finish time.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Runners can choose a pacer depending on their target finish time.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Since the pacer keeps track of the time, the runner can achieve his or her goal of finishing the marathon in a particular time more easily.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In short, pacers run but they don’t run to win. They run for others.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Each pacer runs at different speeds and finishes the race in different times.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Pacers usually have flags or balloons showing their finish time.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Runners can choose a pacer depending on their target finish time. </a:t>
            </a:r>
            <a:r>
              <a:rPr lang="ko-KR" altLang="en-US" sz="1800" b="1" dirty="0">
                <a:solidFill>
                  <a:srgbClr val="C00000"/>
                </a:solidFill>
                <a:highlight>
                  <a:srgbClr val="F3F5F9"/>
                </a:highlight>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Since the pacer keeps track of the time, the runner can achieve his or her goal of finishing the marathon in a particular time more easily.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In short, pacers run but they don’t run to win. They run for others.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2023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19168"/>
            <a:ext cx="11277295" cy="189991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④ 뒤 'the pacer'와 'the runner'는 앞에서 4시간 페이서를 따르는 선수 예가 나와야 가리킬 대상이 생긴다. 주어진 문장은 ④에 들어간다.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6개)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8320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Each pacer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run at</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runs at</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different speeds and finishes the race in different times.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Pacers usually have flags or balloons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showing</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shown</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their finish time.</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Runners can choose a pacer depending on their target finish time.</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For example, if a runner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wants finishing</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wants to finish</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race in four hours, the runner will follow the four‑hour pacer.</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Since the pacer keeps track of the time, the runner can achieve his or her goal of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finishing the marathon</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finish the marathon</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in a particular time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more easily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more easy</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In short, pacers run but they don’t run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winning</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to win</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They run for others.</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run at</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runs 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different speeds and finishes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showing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shown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depending on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wants finishing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wants to 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four hours, the runner will follow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Since the pacer keeps track of the time, the runner can achieve his or her goal of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finishing the marathon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 the marathon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particular time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more easily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easy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winning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for others.</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run 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runs 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different speeds and finishes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showing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shown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depending on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wants finishing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wants to 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four hours, the runner will follow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Since the pacer keeps track of the time, the runner can achieve his or her goal of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finishing the marathon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 the marathon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particular time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more easily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easy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winning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for others.</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run 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runs 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different speeds and finishes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showing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shown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depending on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wants finishing</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wants to 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four hours, the runner will follow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Since the pacer keeps track of the time, the runner can achieve his or her goal of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finishing the marathon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 the marathon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particular time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more easily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easy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winning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for others.</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run 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runs 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different speeds and finishes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showing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shown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depending on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wants finishing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wants to 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four hours, the runner will follow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Since the pacer keeps track of the time, the runner can achieve his or her goal of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finishing the marathon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 the marathon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particular time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more easily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easy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winning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for others.</a:t>
            </a:r>
            <a:endParaRPr lang="en-US" altLang="ko-KR" sz="2200" b="0" dirty="0">
              <a:solidFill>
                <a:srgbClr val="1F2328"/>
              </a:solidFill>
              <a:latin typeface="Calibri"/>
              <a:ea typeface="맑은 고딕"/>
              <a:cs typeface="Calibri"/>
            </a:endParaRPr>
          </a:p>
        </p:txBody>
      </p:sp>
      <p:sp>
        <p:nvSpPr>
          <p:cNvPr id="13" name="rv_g05"/>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run 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runs 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different speeds and finishes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showing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shown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depending on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wants finishing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wants to 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four hours, the runner will follow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Since the pacer keeps track of the time, the runner can achieve his or her goal of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finishing the marathon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 the marathon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particular time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more easily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easy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winning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for others.</a:t>
            </a:r>
            <a:endParaRPr lang="en-US" altLang="ko-KR" sz="2200" b="0" dirty="0">
              <a:solidFill>
                <a:srgbClr val="1F2328"/>
              </a:solidFill>
              <a:latin typeface="Calibri"/>
              <a:ea typeface="맑은 고딕"/>
              <a:cs typeface="Calibri"/>
            </a:endParaRPr>
          </a:p>
        </p:txBody>
      </p:sp>
      <p:sp>
        <p:nvSpPr>
          <p:cNvPr id="14" name="rv_g06"/>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run 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runs 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different speeds and finishes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showing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shown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depending on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wants finishing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wants to 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four hours, the runner will follow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Since the pacer keeps track of the time, the runner can achieve his or her goal of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finishing the marathon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 the marathon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a particular time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more easily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more easy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winning</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to win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for others.</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6개)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8320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Each pacer runs at different speeds and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finishes</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finish</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race in different times.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Pacers usually have flags or balloons showing their finish time.</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Runners can choose a pacer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depending on</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depended on</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their target finish time.</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For example, if a runner wants to finish the race in four hours, the runner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will follow</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will be followed</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four‑hour pacer.</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Since</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Despite</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pacer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keeps track of</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keep track of</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time, the runner can achieve his or her goal of finishing the marathon in a particular time more easily.</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In short, pacers run but they don’t run to win.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They run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for others</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for the other</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runs at different speeds and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finishes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showing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depending 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depended 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wants to finish the race in four hours, the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will follow</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will be followed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Since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Despite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keeps track of</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keep track of</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time, the runner can achieve his or her goal of finishing the marathon in a particular time more easily.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to win.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for others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for the other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runs at different speeds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showing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depending 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depended 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wants to finish the race in four hours, the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will follow</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will be followed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Since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Despite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keeps track of</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keep track of</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time, the runner can achieve his or her goal of finishing the marathon in a particular time more easily.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to win.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for others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for the other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runs at different speeds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showing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depending 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depended 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wants to finish the race in four hours, the runner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will follow</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will be followed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Since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Despite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keeps track of</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keep track of</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time, the runner can achieve his or her goal of finishing the marathon in a particular time more easily.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to win.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for others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for the other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runs at different speeds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showing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depending 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depended 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wants to finish the race in four hours, the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will follow</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will be followed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Since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Despite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keeps track of</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keep track of</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time, the runner can achieve his or her goal of finishing the marathon in a particular time more easily.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to win.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for others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for the other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3" name="rv_g05"/>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runs at different speeds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showing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depending 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depended 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wants to finish the race in four hours, the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will follow</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will be followed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Since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Despite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pacer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keeps track of</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keep track of</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time, the runner can achieve his or her goal of finishing the marathon in a particular time more easily.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to win.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for others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for the other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4" name="rv_g06"/>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Each pacer runs at different speeds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finishes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finish</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race in different times.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Pacers usually have flags or balloons showing their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Runners can choose a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depending on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depended on</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target finish time.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if a runner wants to finish the race in four hours, the runner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will follow</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will be followed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four‑hour pacer.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Since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Despite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pacer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keeps track of</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keep track of</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time, the runner can achieve his or her goal of finishing the marathon in a particular time more easily.</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In short, pacers run but they don’t run to win.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run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for others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for the other</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a:t>
            </a:r>
            <a:r>
              <a:rPr lang="en-US" altLang="ko-KR" sz="1500" b="0" dirty="0">
                <a:solidFill>
                  <a:srgbClr val="1F2328"/>
                </a:solidFill>
                <a:latin typeface="Calibri"/>
                <a:ea typeface="맑은 고딕"/>
                <a:cs typeface="Calibri"/>
              </a:rPr>
              <a:t>The main job of the pit crew is to check the car and change the tires.</a:t>
            </a:r>
            <a:r>
              <a:rPr lang="en-US" altLang="ko-KR" sz="1500" b="0" dirty="0">
                <a:solidFill>
                  <a:srgbClr val="1F2328"/>
                </a:solidFill>
                <a:latin typeface="Calibri"/>
                <a:ea typeface="맑은 고딕"/>
                <a:cs typeface="Calibri"/>
              </a:rPr>
              <a:t> Changing the tires is especially important because the tires wear out easily in a high speed race. A pit stop can be as short as 2 seconds, and there are as many as 20 members on a crew. </a:t>
            </a:r>
            <a:r>
              <a:rPr lang="en-US" altLang="ko-KR" sz="1500" b="0" dirty="0">
                <a:solidFill>
                  <a:srgbClr val="1F2328"/>
                </a:solidFill>
                <a:latin typeface="Calibri"/>
                <a:ea typeface="맑은 고딕"/>
                <a:cs typeface="Calibri"/>
              </a:rPr>
              <a:t>Therefore, the pit crew has to work in perfect harmony.</a:t>
            </a:r>
            <a:r>
              <a:rPr lang="en-US" altLang="ko-KR" sz="1500" b="0" dirty="0">
                <a:solidFill>
                  <a:srgbClr val="1F2328"/>
                </a:solidFill>
                <a:latin typeface="Calibri"/>
                <a:ea typeface="맑은 고딕"/>
                <a:cs typeface="Calibri"/>
              </a:rPr>
              <a:t> The driver may get all the attention, but as people say, “Races are won in the pits.”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a:t>
            </a:r>
            <a:r>
              <a:rPr lang="en-US" altLang="ko-KR" sz="1500" b="0" dirty="0">
                <a:solidFill>
                  <a:srgbClr val="111111"/>
                </a:solidFill>
                <a:highlight>
                  <a:srgbClr val="FFE45C"/>
                </a:highlight>
                <a:latin typeface="Calibri"/>
                <a:ea typeface="맑은 고딕"/>
                <a:cs typeface="Calibri"/>
              </a:rPr>
              <a:t>The main job of the pit crew is to check the car and change the tires.</a:t>
            </a:r>
            <a:r>
              <a:rPr lang="en-US" altLang="ko-KR" sz="1500" b="0" dirty="0">
                <a:solidFill>
                  <a:srgbClr val="B3BAC6"/>
                </a:solidFill>
                <a:latin typeface="Calibri"/>
                <a:ea typeface="맑은 고딕"/>
                <a:cs typeface="Calibri"/>
              </a:rPr>
              <a:t> Changing the tires is especially important because the tires wear out easily in a high speed race. A pit stop can be as short as 2 seconds, and there are as many as 20 members on a crew. </a:t>
            </a:r>
            <a:r>
              <a:rPr lang="en-US" altLang="ko-KR" sz="1500" b="0" dirty="0">
                <a:solidFill>
                  <a:srgbClr val="111111"/>
                </a:solidFill>
                <a:highlight>
                  <a:srgbClr val="FFE45C"/>
                </a:highlight>
                <a:latin typeface="Calibri"/>
                <a:ea typeface="맑은 고딕"/>
                <a:cs typeface="Calibri"/>
              </a:rPr>
              <a:t>Therefore, the pit crew has to work in perfect harmony.</a:t>
            </a:r>
            <a:r>
              <a:rPr lang="en-US" altLang="ko-KR" sz="1500" b="0" dirty="0">
                <a:solidFill>
                  <a:srgbClr val="B3BAC6"/>
                </a:solidFill>
                <a:latin typeface="Calibri"/>
                <a:ea typeface="맑은 고딕"/>
                <a:cs typeface="Calibri"/>
              </a:rPr>
              <a:t> The driver may get all the attention, but as people say, “Races are won in the pits.”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the dangers of high speed car racing</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how drivers change their own tires</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why racing cars need more drivers</a:t>
            </a:r>
            <a:endParaRPr lang="en-US" altLang="ko-KR" sz="1800" b="0" dirty="0">
              <a:solidFill>
                <a:srgbClr val="1F2328"/>
              </a:solidFill>
              <a:latin typeface="Calibri"/>
              <a:ea typeface="맑은 고딕"/>
              <a:cs typeface="Calibri"/>
            </a:endParaRPr>
          </a:p>
        </p:txBody>
      </p:sp>
      <p:sp>
        <p:nvSpPr>
          <p:cNvPr id="14"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how to build a pit beside the track</a:t>
            </a:r>
            <a:endParaRPr lang="en-US" altLang="ko-KR" sz="1800" b="0" dirty="0">
              <a:solidFill>
                <a:srgbClr val="1F2328"/>
              </a:solidFill>
              <a:latin typeface="Calibri"/>
              <a:ea typeface="맑은 고딕"/>
              <a:cs typeface="Calibri"/>
            </a:endParaRPr>
          </a:p>
        </p:txBody>
      </p:sp>
      <p:sp>
        <p:nvSpPr>
          <p:cNvPr id="15"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the role of the pit crew in car races</a:t>
            </a:r>
            <a:endParaRPr lang="en-US" altLang="ko-KR" sz="1800" b="0" dirty="0">
              <a:solidFill>
                <a:srgbClr val="1F2328"/>
              </a:solidFill>
              <a:latin typeface="Calibri"/>
              <a:ea typeface="맑은 고딕"/>
              <a:cs typeface="Calibri"/>
            </a:endParaRPr>
          </a:p>
        </p:txBody>
      </p:sp>
      <p:sp>
        <p:nvSpPr>
          <p:cNvPr id="16" name="rv_pick"/>
          <p:cNvSpPr txBox="1"/>
          <p:nvPr/>
        </p:nvSpPr>
        <p:spPr>
          <a:xfrm>
            <a:off x="457200" y="448716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en-US" altLang="ko-KR" sz="1800" b="0" dirty="0">
                <a:solidFill>
                  <a:srgbClr val="C00000"/>
                </a:solidFill>
                <a:latin typeface="Calibri"/>
                <a:ea typeface="맑은 고딕"/>
                <a:cs typeface="Calibri"/>
              </a:rPr>
              <a:t>	the role of the pit crew in car races</a:t>
            </a:r>
            <a:endParaRPr lang="en-US" altLang="ko-KR" sz="1800" b="0" dirty="0">
              <a:solidFill>
                <a:srgbClr val="C00000"/>
              </a:solidFill>
              <a:latin typeface="Calibri"/>
              <a:ea typeface="맑은 고딕"/>
              <a:cs typeface="Calibri"/>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en-US" altLang="ko-KR" sz="1900" b="1" dirty="0">
                <a:solidFill>
                  <a:srgbClr val="5A4200"/>
                </a:solidFill>
                <a:latin typeface="Calibri"/>
                <a:ea typeface="맑은 고딕"/>
                <a:cs typeface="Calibri"/>
              </a:rPr>
              <a:t>the role of the pit crew in car races</a:t>
            </a:r>
            <a:endParaRPr lang="en-US" altLang="ko-KR" sz="1900" b="1" dirty="0">
              <a:solidFill>
                <a:srgbClr val="5A4200"/>
              </a:solidFill>
              <a:latin typeface="Calibri"/>
              <a:ea typeface="맑은 고딕"/>
              <a:cs typeface="Calibri"/>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피트 크루가 차를 점검하고 타이어를 바꾸며 조화롭게 일한다고 했다. 피트 크루의 역할을 다룬 ⑤가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The main job of the pit crew is to check the car and change the tires. Changing the tires is especially important because the tires wear out easily in a high speed race. A pit stop can be as short as 2 seconds, and there are as many as 20 members on a crew. Therefore, the pit crew has to work in perfect harmony. The driver may get all the attention, but as people say, “</a:t>
            </a:r>
            <a:r>
              <a:rPr lang="en-US" altLang="ko-KR" sz="1500" b="0" dirty="0">
                <a:solidFill>
                  <a:srgbClr val="1F2328"/>
                </a:solidFill>
                <a:latin typeface="Calibri"/>
                <a:ea typeface="맑은 고딕"/>
                <a:cs typeface="Calibri"/>
              </a:rPr>
              <a:t>Races are won in the pits</a:t>
            </a:r>
            <a:r>
              <a:rPr lang="en-US" altLang="ko-KR" sz="1500" b="0" dirty="0">
                <a:solidFill>
                  <a:srgbClr val="1F2328"/>
                </a:solidFill>
                <a:latin typeface="Calibri"/>
                <a:ea typeface="맑은 고딕"/>
                <a:cs typeface="Calibri"/>
              </a:rPr>
              <a:t>.”</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The main job of the pit crew is to check the car and change the tires. Changing the tires is especially important because the tires wear out easily in a high speed race. A pit stop can be as short as 2 seconds, and there are as many as 20 members on a crew. Therefore, the pit crew has to work in perfect harmony. The driver may get all the attention, but as people say, “</a:t>
            </a:r>
            <a:r>
              <a:rPr lang="en-US" altLang="ko-KR" sz="1500" b="0" dirty="0">
                <a:solidFill>
                  <a:srgbClr val="111111"/>
                </a:solidFill>
                <a:highlight>
                  <a:srgbClr val="FFE45C"/>
                </a:highlight>
                <a:latin typeface="Calibri"/>
                <a:ea typeface="맑은 고딕"/>
                <a:cs typeface="Calibri"/>
              </a:rPr>
              <a:t>Races are won in the pits</a:t>
            </a:r>
            <a:r>
              <a:rPr lang="en-US" altLang="ko-KR" sz="1500" b="0" dirty="0">
                <a:solidFill>
                  <a:srgbClr val="B3BAC6"/>
                </a:solidFill>
                <a:latin typeface="Calibri"/>
                <a:ea typeface="맑은 고딕"/>
                <a:cs typeface="Calibri"/>
              </a:rPr>
              <a:t>.”</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Races Are Won in the Pits</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285750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en-US" altLang="ko-KR" sz="1800" b="0" dirty="0">
                <a:solidFill>
                  <a:srgbClr val="C00000"/>
                </a:solidFill>
                <a:latin typeface="Calibri"/>
                <a:ea typeface="맑은 고딕"/>
                <a:cs typeface="Calibri"/>
              </a:rPr>
              <a:t>	Races Are Won in the Pits</a:t>
            </a:r>
            <a:endParaRPr lang="en-US" altLang="ko-KR" sz="1800" b="0" dirty="0">
              <a:solidFill>
                <a:srgbClr val="C00000"/>
              </a:solidFill>
              <a:latin typeface="Calibri"/>
              <a:ea typeface="맑은 고딕"/>
              <a:cs typeface="Calibri"/>
            </a:endParaRPr>
          </a:p>
        </p:txBody>
      </p:sp>
      <p:sp>
        <p:nvSpPr>
          <p:cNvPr id="13"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Drivers Win Races All Alone</a:t>
            </a:r>
            <a:endParaRPr lang="en-US" altLang="ko-KR" sz="1800" b="0" dirty="0">
              <a:solidFill>
                <a:srgbClr val="1F2328"/>
              </a:solidFill>
              <a:latin typeface="Calibri"/>
              <a:ea typeface="맑은 고딕"/>
              <a:cs typeface="Calibri"/>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Tires That Never Wear Out Fast</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The History of the Race Track</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Why Pit Stops Take Too Long</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Races Are Won in the Pits</a:t>
            </a:r>
            <a:endParaRPr lang="en-US" altLang="ko-KR" sz="1900" b="1" dirty="0">
              <a:solidFill>
                <a:srgbClr val="5A4200"/>
              </a:solidFill>
              <a:latin typeface="Calibri"/>
              <a:ea typeface="맑은 고딕"/>
              <a:cs typeface="Calibri"/>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글은 'Races are won in the pits'라는 말로 끝난다. 이 말을 그대로 옮긴 ①이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The main job of the pit crew is to check the car and change the tires. Changing the tires is especially important because the tires wear out easily in a high speed race. A pit stop can be as short as 2 seconds, and there are as many as 20 members on a crew. </a:t>
            </a:r>
            <a:r>
              <a:rPr lang="en-US" altLang="ko-KR" sz="1500" b="0" dirty="0">
                <a:solidFill>
                  <a:srgbClr val="1F2328"/>
                </a:solidFill>
                <a:latin typeface="Calibri"/>
                <a:ea typeface="맑은 고딕"/>
                <a:cs typeface="Calibri"/>
              </a:rPr>
              <a:t>Therefore, the pit crew has to work in perfect harmony.</a:t>
            </a:r>
            <a:r>
              <a:rPr lang="en-US" altLang="ko-KR" sz="1500" b="0" dirty="0">
                <a:solidFill>
                  <a:srgbClr val="1F2328"/>
                </a:solidFill>
                <a:latin typeface="Calibri"/>
                <a:ea typeface="맑은 고딕"/>
                <a:cs typeface="Calibri"/>
              </a:rPr>
              <a:t> The driver may get all the attention, but as people say, “</a:t>
            </a:r>
            <a:r>
              <a:rPr lang="en-US" altLang="ko-KR" sz="1500" b="0" dirty="0">
                <a:solidFill>
                  <a:srgbClr val="1F2328"/>
                </a:solidFill>
                <a:latin typeface="Calibri"/>
                <a:ea typeface="맑은 고딕"/>
                <a:cs typeface="Calibri"/>
              </a:rPr>
              <a:t>Races are won in the pits</a:t>
            </a:r>
            <a:r>
              <a:rPr lang="en-US" altLang="ko-KR" sz="1500" b="0" dirty="0">
                <a:solidFill>
                  <a:srgbClr val="1F2328"/>
                </a:solidFill>
                <a:latin typeface="Calibri"/>
                <a:ea typeface="맑은 고딕"/>
                <a:cs typeface="Calibri"/>
              </a:rPr>
              <a:t>.”</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The main job of the pit crew is to check the car and change the tires. Changing the tires is especially important because the tires wear out easily in a high speed race. A pit stop can be as short as 2 seconds, and there are as many as 20 members on a crew. </a:t>
            </a:r>
            <a:r>
              <a:rPr lang="en-US" altLang="ko-KR" sz="1500" b="0" dirty="0">
                <a:solidFill>
                  <a:srgbClr val="111111"/>
                </a:solidFill>
                <a:highlight>
                  <a:srgbClr val="FFE45C"/>
                </a:highlight>
                <a:latin typeface="Calibri"/>
                <a:ea typeface="맑은 고딕"/>
                <a:cs typeface="Calibri"/>
              </a:rPr>
              <a:t>Therefore, the pit crew has to work in perfect harmony.</a:t>
            </a:r>
            <a:r>
              <a:rPr lang="en-US" altLang="ko-KR" sz="1500" b="0" dirty="0">
                <a:solidFill>
                  <a:srgbClr val="B3BAC6"/>
                </a:solidFill>
                <a:latin typeface="Calibri"/>
                <a:ea typeface="맑은 고딕"/>
                <a:cs typeface="Calibri"/>
              </a:rPr>
              <a:t> The driver may get all the attention, but as people say, “</a:t>
            </a:r>
            <a:r>
              <a:rPr lang="en-US" altLang="ko-KR" sz="1500" b="0" dirty="0">
                <a:solidFill>
                  <a:srgbClr val="111111"/>
                </a:solidFill>
                <a:highlight>
                  <a:srgbClr val="FFE45C"/>
                </a:highlight>
                <a:latin typeface="Calibri"/>
                <a:ea typeface="맑은 고딕"/>
                <a:cs typeface="Calibri"/>
              </a:rPr>
              <a:t>Races are won in the pits</a:t>
            </a:r>
            <a:r>
              <a:rPr lang="en-US" altLang="ko-KR" sz="1500" b="0" dirty="0">
                <a:solidFill>
                  <a:srgbClr val="B3BAC6"/>
                </a:solidFill>
                <a:latin typeface="Calibri"/>
                <a:ea typeface="맑은 고딕"/>
                <a:cs typeface="Calibri"/>
              </a:rPr>
              <a:t>.”</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자동차 경주에서는 레이서만 주목받아야 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피트 크루의 조화로운 협력이 승리를 만든다</a:t>
            </a:r>
            <a:endParaRPr lang="ko-KR" altLang="en-US" sz="1800" b="0" dirty="0">
              <a:solidFill>
                <a:srgbClr val="1F2328"/>
              </a:solidFill>
              <a:latin typeface="맑은 고딕"/>
              <a:ea typeface="맑은 고딕"/>
              <a:cs typeface="맑은 고딕"/>
            </a:endParaRPr>
          </a:p>
        </p:txBody>
      </p:sp>
      <p:sp>
        <p:nvSpPr>
          <p:cNvPr id="13" name="rv_pick"/>
          <p:cNvSpPr txBox="1"/>
          <p:nvPr/>
        </p:nvSpPr>
        <p:spPr>
          <a:xfrm>
            <a:off x="457200" y="326491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ko-KR" altLang="en-US" sz="1800" b="0" dirty="0">
                <a:solidFill>
                  <a:srgbClr val="C00000"/>
                </a:solidFill>
                <a:latin typeface="맑은 고딕"/>
                <a:ea typeface="맑은 고딕"/>
                <a:cs typeface="맑은 고딕"/>
              </a:rPr>
              <a:t>	피트 크루의 조화로운 협력이 승리를 만든다</a:t>
            </a:r>
            <a:endParaRPr lang="ko-KR" altLang="en-US" sz="1800" b="0" dirty="0">
              <a:solidFill>
                <a:srgbClr val="C00000"/>
              </a:solidFill>
              <a:latin typeface="맑은 고딕"/>
              <a:ea typeface="맑은 고딕"/>
              <a:cs typeface="맑은 고딕"/>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피트 정지 횟수는 최대한 줄이는 것이 좋다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타이어는 경주 전에 한 번만 교체해야 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피트 크루의 인원은 적을수록 효율적이다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피트 크루의 조화로운 협력이 승리를 만든다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피트 크루는 완벽한 조화 속에 일해야 하고 승리는 피트에서 나온다고 했다. 이를 담은 ②가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You may only see the car and the driver during most car races, but </a:t>
            </a:r>
            <a:r>
              <a:rPr lang="en-US" altLang="ko-KR" sz="1500" b="0" dirty="0">
                <a:solidFill>
                  <a:srgbClr val="1F2328"/>
                </a:solidFill>
                <a:latin typeface="Calibri"/>
                <a:ea typeface="맑은 고딕"/>
                <a:cs typeface="Calibri"/>
              </a:rPr>
              <a:t>there is a team behind the driver</a:t>
            </a:r>
            <a:r>
              <a:rPr lang="en-US" altLang="ko-KR" sz="1500" b="0" dirty="0">
                <a:solidFill>
                  <a:srgbClr val="1F2328"/>
                </a:solidFill>
                <a:latin typeface="Calibri"/>
                <a:ea typeface="맑은 고딕"/>
                <a:cs typeface="Calibri"/>
              </a:rPr>
              <a:t>. This team is called a pit crew. A pit is a place on the side of the race track, and drivers stop there several times during a race. The main job of the pit crew is to check the car and change the tires. Changing the tires is especially important because the tires wear out easily in a high speed race. A pit stop can be as short as 2 seconds, and there are as many as 20 members on a crew. Therefore, the pit crew has to work in perfect harmony. The driver may get all the attention, but as people say, “</a:t>
            </a:r>
            <a:r>
              <a:rPr lang="en-US" altLang="ko-KR" sz="1500" b="0" dirty="0">
                <a:solidFill>
                  <a:srgbClr val="1F2328"/>
                </a:solidFill>
                <a:latin typeface="Calibri"/>
                <a:ea typeface="맑은 고딕"/>
                <a:cs typeface="Calibri"/>
              </a:rPr>
              <a:t>Races are won in the pits</a:t>
            </a:r>
            <a:r>
              <a:rPr lang="en-US" altLang="ko-KR" sz="1500" b="0" dirty="0">
                <a:solidFill>
                  <a:srgbClr val="1F2328"/>
                </a:solidFill>
                <a:latin typeface="Calibri"/>
                <a:ea typeface="맑은 고딕"/>
                <a:cs typeface="Calibri"/>
              </a:rPr>
              <a:t>.”</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You may only see the car and the driver during most car races, but </a:t>
            </a:r>
            <a:r>
              <a:rPr lang="en-US" altLang="ko-KR" sz="1500" b="0" dirty="0">
                <a:solidFill>
                  <a:srgbClr val="111111"/>
                </a:solidFill>
                <a:highlight>
                  <a:srgbClr val="FFE45C"/>
                </a:highlight>
                <a:latin typeface="Calibri"/>
                <a:ea typeface="맑은 고딕"/>
                <a:cs typeface="Calibri"/>
              </a:rPr>
              <a:t>there is a team behind the driver</a:t>
            </a:r>
            <a:r>
              <a:rPr lang="en-US" altLang="ko-KR" sz="1500" b="0" dirty="0">
                <a:solidFill>
                  <a:srgbClr val="B3BAC6"/>
                </a:solidFill>
                <a:latin typeface="Calibri"/>
                <a:ea typeface="맑은 고딕"/>
                <a:cs typeface="Calibri"/>
              </a:rPr>
              <a:t>. This team is called a pit crew. A pit is a place on the side of the race track, and drivers stop there several times during a race. The main job of the pit crew is to check the car and change the tires. Changing the tires is especially important because the tires wear out easily in a high speed race. A pit stop can be as short as 2 seconds, and there are as many as 20 members on a crew. Therefore, the pit crew has to work in perfect harmony. The driver may get all the attention, but as people say, “</a:t>
            </a:r>
            <a:r>
              <a:rPr lang="en-US" altLang="ko-KR" sz="1500" b="0" dirty="0">
                <a:solidFill>
                  <a:srgbClr val="111111"/>
                </a:solidFill>
                <a:highlight>
                  <a:srgbClr val="FFE45C"/>
                </a:highlight>
                <a:latin typeface="Calibri"/>
                <a:ea typeface="맑은 고딕"/>
                <a:cs typeface="Calibri"/>
              </a:rPr>
              <a:t>Races are won in the pits</a:t>
            </a:r>
            <a:r>
              <a:rPr lang="en-US" altLang="ko-KR" sz="1500" b="0" dirty="0">
                <a:solidFill>
                  <a:srgbClr val="B3BAC6"/>
                </a:solidFill>
                <a:latin typeface="Calibri"/>
                <a:ea typeface="맑은 고딕"/>
                <a:cs typeface="Calibri"/>
              </a:rPr>
              <a:t>.”</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레이서의 운전 실력만이 경주의 승패를 가른다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빠른 경주일수록 타이어 교체는 덜 중요하다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레이서 뒤의 피트 크루가 승리에 결정적이다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67233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레이서 뒤의 피트 크루가 승리에 결정적이다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피트는 레이서가 쉬기 위해 머무는 공간이다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자동차 경주에서는 차량 성능이 가장 중요하다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레이서 뒤의 피트 크루가 승리에 결정적이다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레이서 뒤에 팀이 있고 경주는 피트에서 이긴다고 했다. 피트 크루가 승리에 결정적이라는 ③이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The main job of the pit crew is to check the car and change the tires. Changing the tires is especially important because </a:t>
            </a:r>
            <a:r>
              <a:rPr lang="en-US" altLang="ko-KR" sz="1500" b="0" dirty="0">
                <a:solidFill>
                  <a:srgbClr val="1F2328"/>
                </a:solidFill>
                <a:latin typeface="Calibri"/>
                <a:ea typeface="맑은 고딕"/>
                <a:cs typeface="Calibri"/>
              </a:rPr>
              <a:t>the tires wear out easily in a high speed race</a:t>
            </a:r>
            <a:r>
              <a:rPr lang="en-US" altLang="ko-KR" sz="1500" b="0" dirty="0">
                <a:solidFill>
                  <a:srgbClr val="1F2328"/>
                </a:solidFill>
                <a:latin typeface="Calibri"/>
                <a:ea typeface="맑은 고딕"/>
                <a:cs typeface="Calibri"/>
              </a:rPr>
              <a:t>. A pit stop can be as short as 2 seconds, and there are as many as 20 members on a crew. Therefore, the pit crew has to work in perfect harmony. The driver may get all the attention, but as people say, “Races are won in the pits.”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The main job of the pit crew is to check the car and change the tires. Changing the tires is especially important because </a:t>
            </a:r>
            <a:r>
              <a:rPr lang="en-US" altLang="ko-KR" sz="1500" b="0" dirty="0">
                <a:solidFill>
                  <a:srgbClr val="111111"/>
                </a:solidFill>
                <a:highlight>
                  <a:srgbClr val="FFE45C"/>
                </a:highlight>
                <a:latin typeface="Calibri"/>
                <a:ea typeface="맑은 고딕"/>
                <a:cs typeface="Calibri"/>
              </a:rPr>
              <a:t>the tires wear out easily in a high speed race</a:t>
            </a:r>
            <a:r>
              <a:rPr lang="en-US" altLang="ko-KR" sz="1500" b="0" dirty="0">
                <a:solidFill>
                  <a:srgbClr val="B3BAC6"/>
                </a:solidFill>
                <a:latin typeface="Calibri"/>
                <a:ea typeface="맑은 고딕"/>
                <a:cs typeface="Calibri"/>
              </a:rPr>
              <a:t>. A pit stop can be as short as 2 seconds, and there are as many as 20 members on a crew. Therefore, the pit crew has to work in perfect harmony. The driver may get all the attention, but as people say, “Races are won in the pits.”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레이서 뒤에는 피트 크루라는 팀이 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타이어는 고속 경주에서 거의 닳지 않는다</a:t>
            </a:r>
            <a:endParaRPr lang="ko-KR" altLang="en-US" sz="1800" b="0" dirty="0">
              <a:solidFill>
                <a:srgbClr val="1F2328"/>
              </a:solidFill>
              <a:latin typeface="맑은 고딕"/>
              <a:ea typeface="맑은 고딕"/>
              <a:cs typeface="맑은 고딕"/>
            </a:endParaRPr>
          </a:p>
        </p:txBody>
      </p:sp>
      <p:sp>
        <p:nvSpPr>
          <p:cNvPr id="13" name="rv_pick"/>
          <p:cNvSpPr txBox="1"/>
          <p:nvPr/>
        </p:nvSpPr>
        <p:spPr>
          <a:xfrm>
            <a:off x="457200" y="326491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ko-KR" altLang="en-US" sz="1800" b="0" dirty="0">
                <a:solidFill>
                  <a:srgbClr val="C00000"/>
                </a:solidFill>
                <a:latin typeface="맑은 고딕"/>
                <a:ea typeface="맑은 고딕"/>
                <a:cs typeface="맑은 고딕"/>
              </a:rPr>
              <a:t>	타이어는 고속 경주에서 거의 닳지 않는다</a:t>
            </a:r>
            <a:endParaRPr lang="ko-KR" altLang="en-US" sz="1800" b="0" dirty="0">
              <a:solidFill>
                <a:srgbClr val="C00000"/>
              </a:solidFill>
              <a:latin typeface="맑은 고딕"/>
              <a:ea typeface="맑은 고딕"/>
              <a:cs typeface="맑은 고딕"/>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피트는 경주 트랙 옆에 있는 공간이다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레이서는 경주 중 피트에 여러 번 정지한다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한 크루에는 많게는 20명의 구성원이 있다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타이어는 고속 경주에서 거의 닳지 않는다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고속 경주에서는 타이어가 쉽게 닳는다고 했다. 거의 닳지 않는다는 ②는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The main job of the pit crew is to check the car and change the tires. Changing the tires is especially important because the tires wear out easily in a high speed race. </a:t>
            </a:r>
            <a:r>
              <a:rPr lang="en-US" altLang="ko-KR" sz="1500" b="0" dirty="0">
                <a:solidFill>
                  <a:srgbClr val="1F2328"/>
                </a:solidFill>
                <a:latin typeface="Calibri"/>
                <a:ea typeface="맑은 고딕"/>
                <a:cs typeface="Calibri"/>
              </a:rPr>
              <a:t>A pit stop can be as short as 2 seconds</a:t>
            </a:r>
            <a:r>
              <a:rPr lang="en-US" altLang="ko-KR" sz="1500" b="0" dirty="0">
                <a:solidFill>
                  <a:srgbClr val="1F2328"/>
                </a:solidFill>
                <a:latin typeface="Calibri"/>
                <a:ea typeface="맑은 고딕"/>
                <a:cs typeface="Calibri"/>
              </a:rPr>
              <a:t>, and there are as many as 20 members on a crew. Therefore, the pit crew has to work in perfect harmony. The driver may get all the attention, but as people say, “Races are won in the pits.”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You may only see the car and the driver during most car races, but there is a team behind the driver. This team is called a pit crew. A pit is a place on the side of the race track, and drivers stop there several times during a race. The main job of the pit crew is to check the car and change the tires. Changing the tires is especially important because the tires wear out easily in a high speed race. </a:t>
            </a:r>
            <a:r>
              <a:rPr lang="en-US" altLang="ko-KR" sz="1500" b="0" dirty="0">
                <a:solidFill>
                  <a:srgbClr val="111111"/>
                </a:solidFill>
                <a:highlight>
                  <a:srgbClr val="FFE45C"/>
                </a:highlight>
                <a:latin typeface="Calibri"/>
                <a:ea typeface="맑은 고딕"/>
                <a:cs typeface="Calibri"/>
              </a:rPr>
              <a:t>A pit stop can be as short as 2 seconds</a:t>
            </a:r>
            <a:r>
              <a:rPr lang="en-US" altLang="ko-KR" sz="1500" b="0" dirty="0">
                <a:solidFill>
                  <a:srgbClr val="B3BAC6"/>
                </a:solidFill>
                <a:latin typeface="Calibri"/>
                <a:ea typeface="맑은 고딕"/>
                <a:cs typeface="Calibri"/>
              </a:rPr>
              <a:t>, and there are as many as 20 members on a crew. Therefore, the pit crew has to work in perfect harmony. The driver may get all the attention, but as people say, “Races are won in the pits.”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피트 크루는 경주 내내 차를 직접 운전한다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레이서는 경주 중에 피트에 서지 않는다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피트 크루는 보통 두세 명으로 구성된다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피트 정지는 짧게는 2초 정도일 수 있다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407974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피트 정지는 짧게는 2초 정도일 수 있다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피트 크루의 주 업무는 관중 안내이다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피트 정지는 짧게는 2초 정도일 수 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피트 정지는 짧게는 2초일 수 있다고 했다. 이와 같은 ④가 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74472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744728"/>
          </a:xfrm>
          <a:prstGeom prst="rect">
            <a:avLst/>
          </a:prstGeom>
          <a:noFill/>
        </p:spPr>
        <p:txBody>
          <a:bodyPr wrap="square" lIns="201168" tIns="100584" rIns="201168" bIns="100584" anchor="t" rtlCol="0">
            <a:noAutofit/>
          </a:bodyPr>
          <a:lstStyle/>
          <a:p>
            <a:pPr algn="l">
              <a:lnSpc>
                <a:spcPts val="2140"/>
              </a:lnSpc>
              <a:spcBef>
                <a:spcPts val="0"/>
              </a:spcBef>
              <a:spcAft>
                <a:spcPts val="0"/>
              </a:spcAft>
              <a:buNone/>
            </a:pPr>
            <a:r>
              <a:rPr lang="en-US" altLang="ko-KR" sz="1650" b="0" dirty="0">
                <a:solidFill>
                  <a:srgbClr val="1F2328"/>
                </a:solidFill>
                <a:latin typeface="Calibri"/>
                <a:ea typeface="맑은 고딕"/>
                <a:cs typeface="Calibri"/>
              </a:rPr>
              <a:t>You may only see the car and the driver during most car races, but there is a team behind the driver.</a:t>
            </a:r>
            <a:endParaRPr lang="en-US" altLang="ko-KR" sz="1650" b="0" dirty="0">
              <a:solidFill>
                <a:srgbClr val="1F2328"/>
              </a:solidFill>
              <a:latin typeface="Calibri"/>
              <a:ea typeface="맑은 고딕"/>
              <a:cs typeface="Calibri"/>
            </a:endParaRPr>
          </a:p>
        </p:txBody>
      </p:sp>
      <p:sp>
        <p:nvSpPr>
          <p:cNvPr id="9" name="parts_card"/>
          <p:cNvSpPr/>
          <p:nvPr/>
        </p:nvSpPr>
        <p:spPr>
          <a:xfrm>
            <a:off x="457200" y="1823720"/>
            <a:ext cx="11277295" cy="244043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823720"/>
            <a:ext cx="11277295" cy="2440431"/>
          </a:xfrm>
          <a:prstGeom prst="rect">
            <a:avLst/>
          </a:prstGeom>
          <a:noFill/>
        </p:spPr>
        <p:txBody>
          <a:bodyPr wrap="square" lIns="201168" tIns="118872" rIns="201168" bIns="118872" anchor="t" rtlCol="0">
            <a:noAutofit/>
          </a:bodyPr>
          <a:lstStyle/>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(A)</a:t>
            </a:r>
            <a:r>
              <a:rPr lang="en-US" altLang="ko-KR" sz="1650" b="0" dirty="0">
                <a:solidFill>
                  <a:srgbClr val="1F2328"/>
                </a:solidFill>
                <a:latin typeface="Calibri"/>
                <a:ea typeface="맑은 고딕"/>
                <a:cs typeface="Calibri"/>
              </a:rPr>
              <a:t>	Therefore, the pit crew has to work in perfect harmony. The driver may get all the attention, but as people say, “Races are won in the pits.”</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(B)</a:t>
            </a:r>
            <a:r>
              <a:rPr lang="en-US" altLang="ko-KR" sz="1650" b="0" dirty="0">
                <a:solidFill>
                  <a:srgbClr val="1F2328"/>
                </a:solidFill>
                <a:latin typeface="Calibri"/>
                <a:ea typeface="맑은 고딕"/>
                <a:cs typeface="Calibri"/>
              </a:rPr>
              <a:t>	This team is called a pit crew. A pit is a place on the side of the race track, and drivers stop there several times during a race. The main job of the pit crew is to check the car and change the tires.</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(C)</a:t>
            </a:r>
            <a:r>
              <a:rPr lang="en-US" altLang="ko-KR" sz="1650" b="0" dirty="0">
                <a:solidFill>
                  <a:srgbClr val="1F2328"/>
                </a:solidFill>
                <a:latin typeface="Calibri"/>
                <a:ea typeface="맑은 고딕"/>
                <a:cs typeface="Calibri"/>
              </a:rPr>
              <a:t>	Changing the tires is especially important because the tires wear out easily in a high speed race. A pit stop can be as short as 2 seconds, and there are as many as 20 members on a crew.</a:t>
            </a:r>
            <a:endParaRPr lang="en-US" altLang="ko-KR" sz="1650" b="0" dirty="0">
              <a:solidFill>
                <a:srgbClr val="1F2328"/>
              </a:solidFill>
              <a:latin typeface="Calibri"/>
              <a:ea typeface="맑은 고딕"/>
              <a:cs typeface="Calibri"/>
            </a:endParaRPr>
          </a:p>
        </p:txBody>
      </p:sp>
      <p:sp>
        <p:nvSpPr>
          <p:cNvPr id="11" name="options"/>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8859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484876"/>
            <a:ext cx="11277295" cy="9342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레이서 뒤에 팀이 있다 → (B) 'This team'을 피트 크루라 부르고 주된 일을 설명한다 → (C) 타이어 교체가 중요하고 정지는 짧다 → (A) 'Therefore' 조화롭게 일해야 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74472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744728"/>
          </a:xfrm>
          <a:prstGeom prst="rect">
            <a:avLst/>
          </a:prstGeom>
          <a:noFill/>
        </p:spPr>
        <p:txBody>
          <a:bodyPr wrap="square" lIns="201168" tIns="100584" rIns="201168" bIns="100584" anchor="t" rtlCol="0">
            <a:noAutofit/>
          </a:bodyPr>
          <a:lstStyle/>
          <a:p>
            <a:pPr algn="l">
              <a:lnSpc>
                <a:spcPts val="2140"/>
              </a:lnSpc>
              <a:spcBef>
                <a:spcPts val="0"/>
              </a:spcBef>
              <a:spcAft>
                <a:spcPts val="0"/>
              </a:spcAft>
              <a:buNone/>
            </a:pPr>
            <a:r>
              <a:rPr lang="en-US" altLang="ko-KR" sz="1650" b="0" dirty="0">
                <a:solidFill>
                  <a:srgbClr val="1F2328"/>
                </a:solidFill>
                <a:latin typeface="Calibri"/>
                <a:ea typeface="맑은 고딕"/>
                <a:cs typeface="Calibri"/>
              </a:rPr>
              <a:t>You may only see the car and the driver during most car races, but there is a team behind the driver.</a:t>
            </a:r>
            <a:endParaRPr lang="en-US" altLang="ko-KR" sz="1650" b="0" dirty="0">
              <a:solidFill>
                <a:srgbClr val="1F2328"/>
              </a:solidFill>
              <a:latin typeface="Calibri"/>
              <a:ea typeface="맑은 고딕"/>
              <a:cs typeface="Calibri"/>
            </a:endParaRPr>
          </a:p>
        </p:txBody>
      </p:sp>
      <p:sp>
        <p:nvSpPr>
          <p:cNvPr id="9" name="parts_card"/>
          <p:cNvSpPr/>
          <p:nvPr/>
        </p:nvSpPr>
        <p:spPr>
          <a:xfrm>
            <a:off x="457200" y="1823720"/>
            <a:ext cx="11277295" cy="244043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823720"/>
            <a:ext cx="11277295" cy="2440431"/>
          </a:xfrm>
          <a:prstGeom prst="rect">
            <a:avLst/>
          </a:prstGeom>
          <a:noFill/>
        </p:spPr>
        <p:txBody>
          <a:bodyPr wrap="square" lIns="201168" tIns="118872" rIns="201168" bIns="118872" anchor="t" rtlCol="0">
            <a:noAutofit/>
          </a:bodyPr>
          <a:lstStyle/>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(A)</a:t>
            </a:r>
            <a:r>
              <a:rPr lang="en-US" altLang="ko-KR" sz="1650" b="0" dirty="0">
                <a:solidFill>
                  <a:srgbClr val="1F2328"/>
                </a:solidFill>
                <a:latin typeface="Calibri"/>
                <a:ea typeface="맑은 고딕"/>
                <a:cs typeface="Calibri"/>
              </a:rPr>
              <a:t>	Therefore, the pit crew has to work in perfect harmony. The driver may get all the attention, but as people say, “Races are won in the pits.”</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(B)</a:t>
            </a:r>
            <a:r>
              <a:rPr lang="en-US" altLang="ko-KR" sz="1650" b="0" dirty="0">
                <a:solidFill>
                  <a:srgbClr val="1F2328"/>
                </a:solidFill>
                <a:latin typeface="Calibri"/>
                <a:ea typeface="맑은 고딕"/>
                <a:cs typeface="Calibri"/>
              </a:rPr>
              <a:t>	Changing the tires is especially important because the tires wear out easily in a high speed race. A pit stop can be as short as 2 seconds, and there are as many as 20 members on a crew.</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(C)</a:t>
            </a:r>
            <a:r>
              <a:rPr lang="en-US" altLang="ko-KR" sz="1650" b="0" dirty="0">
                <a:solidFill>
                  <a:srgbClr val="1F2328"/>
                </a:solidFill>
                <a:latin typeface="Calibri"/>
                <a:ea typeface="맑은 고딕"/>
                <a:cs typeface="Calibri"/>
              </a:rPr>
              <a:t>	This team is called a pit crew. A pit is a place on the side of the race track, and drivers stop there several times during a race. The main job of the pit crew is to check the car and change the tires.</a:t>
            </a:r>
            <a:endParaRPr lang="en-US" altLang="ko-KR" sz="1650" b="0" dirty="0">
              <a:solidFill>
                <a:srgbClr val="1F2328"/>
              </a:solidFill>
              <a:latin typeface="Calibri"/>
              <a:ea typeface="맑은 고딕"/>
              <a:cs typeface="Calibri"/>
            </a:endParaRPr>
          </a:p>
        </p:txBody>
      </p:sp>
      <p:sp>
        <p:nvSpPr>
          <p:cNvPr id="11" name="options"/>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⑤ </a:t>
            </a:r>
            <a:r>
              <a:rPr lang="en-US" altLang="ko-KR" sz="1800" b="0" dirty="0">
                <a:solidFill>
                  <a:srgbClr val="C00000"/>
                </a:solidFill>
                <a:highlight>
                  <a:srgbClr val="FFFFFF"/>
                </a:highlight>
                <a:latin typeface="Calibri"/>
                <a:ea typeface="맑은 고딕"/>
                <a:cs typeface="Calibri"/>
              </a:rPr>
              <a:t>(C) - (B) - (A)</a:t>
            </a:r>
            <a:endParaRPr lang="en-US" altLang="ko-KR" sz="1800" b="0" dirty="0">
              <a:solidFill>
                <a:srgbClr val="C00000"/>
              </a:solidFill>
              <a:latin typeface="Calibri"/>
              <a:ea typeface="맑은 고딕"/>
              <a:cs typeface="Calibri"/>
            </a:endParaRPr>
          </a:p>
        </p:txBody>
      </p:sp>
      <p:sp>
        <p:nvSpPr>
          <p:cNvPr id="13" name="rv_answer"/>
          <p:cNvSpPr/>
          <p:nvPr/>
        </p:nvSpPr>
        <p:spPr>
          <a:xfrm>
            <a:off x="457200" y="48859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en-US" altLang="ko-KR" sz="1900" b="1" dirty="0">
                <a:solidFill>
                  <a:srgbClr val="5A4200"/>
                </a:solidFill>
                <a:latin typeface="Calibri"/>
                <a:ea typeface="맑은 고딕"/>
                <a:cs typeface="Calibri"/>
              </a:rPr>
              <a:t>(C) - (B)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484876"/>
            <a:ext cx="11277295" cy="9342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레이서 뒤에 팀이 있다 → (C) 'This team'을 피트 크루라 하고 타이어 교체를 말한다 → (B) 'Changing the tires'가 특히 중요하다 → (A) 'Therefore'로 마무리한다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The main job of the pit crew is to check the car and change the tires.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22504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You may only see the car and the driver during most car races, but there is a team behind the driver.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This team is called a pit crew.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A pit is a place on the side of the race track, and drivers stop there several times during a race.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Changing the tires is especially important because the tires wear out easily in a high speed race.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A pit stop can be as short as 2 seconds, and there are as many as 20 members on a crew. Therefore, the pit crew has to work in perfect harmony. The driver may get all the attention, but as people say, “Races are won in the pits.”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You may only see the car and the driver during most car races, but there is a team behind the driver.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This team is called a pit crew.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 pit is a place on the side of the race track, and drivers stop there several times during a race. </a:t>
            </a:r>
            <a:r>
              <a:rPr lang="ko-KR" altLang="en-US" sz="1800" b="1" dirty="0">
                <a:solidFill>
                  <a:srgbClr val="C00000"/>
                </a:solidFill>
                <a:highlight>
                  <a:srgbClr val="F3F5F9"/>
                </a:highlight>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Changing the tires is especially important because the tires wear out easily in a high speed race.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 pit stop can be as short as 2 seconds, and there are as many as 20 members on a crew. Therefore, the pit crew has to work in perfect harmony. The driver may get all the attention, but as people say, “Races are won in the pits.”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392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38218"/>
            <a:ext cx="11277295" cy="18808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④ 뒤 'Changing the tires'는 앞에서 타이어 교체라는 일이 먼저 나와야 이어진다. 피트 크루의 주된 일을 밝히는 주어진 문장이 ④에 들어간다.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8133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81330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Changing the tires is especially important because the tires wear out easily in a high speed race.</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910587"/>
            <a:ext cx="11277295" cy="222504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910587"/>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You may only see the car and the driver during most car races, but there is a team behind the driver.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This team is called a pit crew.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A pit is a place on the side of the race track, and drivers stop there several times during a race.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The main job of the pit crew is to check the car and change the tires.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A pit stop can be as short as 2 seconds, and there are as many as 20 members on a crew. Therefore, the pit crew has to work in perfect harmony. The driver may get all the attention, but as people say, “Races are won in the pits.”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910587"/>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You may only see the car and the driver during most car races, but there is a team behind the driver.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This team is called a pit crew.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 pit is a place on the side of the race track, and drivers stop there several times during a race.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The main job of the pit crew is to check the car and change the tires. </a:t>
            </a:r>
            <a:r>
              <a:rPr lang="ko-KR" altLang="en-US" sz="1800" b="1" dirty="0">
                <a:solidFill>
                  <a:srgbClr val="C00000"/>
                </a:solidFill>
                <a:highlight>
                  <a:srgbClr val="F3F5F9"/>
                </a:highlight>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 pit stop can be as short as 2 seconds, and there are as many as 20 members on a crew. Therefore, the pit crew has to work in perfect harmony. The driver may get all the attention, but as people say, “Races are won in the pits.”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24535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844288"/>
            <a:ext cx="11277295" cy="157479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④에서 타이어 교체가 주된 일이라 했고 주어진 문장이 그 이유를 든다. 그 뒤 ⑤에서 짧은 정지 시간으로 넘어가므로 ⑤가 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6개)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0606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solidFill>
                <a:latin typeface="맑은 고딕"/>
                <a:ea typeface="맑은 고딕"/>
                <a:cs typeface="맑은 고딕"/>
              </a:rPr>
              <a:t>①</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You may only see the car and the driver during most car races, but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there are a team</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there is a team</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behind the driver.</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②</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This team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is called</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calls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a pit crew.</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③</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A pit is a place on the side of the race track, and drivers stop there several times during a race.</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④</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The main job of the pit crew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are to check</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is to check</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the car and change the tires.</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⑤</a:t>
            </a:r>
            <a:r>
              <a:rPr lang="en-US" altLang="ko-KR" sz="2100" b="0"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Changing the tires are</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Changing the tires is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especially important because the tires wear out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easily</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easy</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in a high speed race.</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⑥</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A pit stop can be as short as 2 seconds, and there are as many as 20 members on a crew.</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⑦</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Therefore, the pit crew has to work in perfect harmony.</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⑧</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The driver may get all the attention, but as people say, “Races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are won</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win</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in the pits.”</a:t>
            </a:r>
            <a:endParaRPr lang="en-US" altLang="ko-KR" sz="2100" b="0" dirty="0">
              <a:solidFill>
                <a:srgbClr val="1F2328"/>
              </a:solidFill>
              <a:latin typeface="Calibri"/>
              <a:ea typeface="맑은 고딕"/>
              <a:cs typeface="Calibri"/>
            </a:endParaRPr>
          </a:p>
        </p:txBody>
      </p:sp>
      <p:sp>
        <p:nvSpPr>
          <p:cNvPr id="9" name="rv_g01"/>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 team</a:t>
            </a:r>
            <a:r>
              <a:rPr lang="en-US" altLang="ko-KR" sz="2100" b="1" dirty="0">
                <a:solidFill>
                  <a:srgbClr val="1F2328">
                    <a:alpha val="0"/>
                  </a:srgbClr>
                </a:solidFill>
                <a:latin typeface="Calibri"/>
                <a:ea typeface="맑은 고딕"/>
                <a:cs typeface="Calibri"/>
              </a:rPr>
              <a:t> / </a:t>
            </a:r>
            <a:r>
              <a:rPr lang="en-US" altLang="ko-KR" sz="2100" b="1" dirty="0">
                <a:solidFill>
                  <a:srgbClr val="C00000"/>
                </a:solidFill>
                <a:highlight>
                  <a:srgbClr val="F3F5F9"/>
                </a:highlight>
                <a:latin typeface="Calibri"/>
                <a:ea typeface="맑은 고딕"/>
                <a:cs typeface="Calibri"/>
              </a:rPr>
              <a:t>there is a team</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called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calls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drivers stop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to check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to check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Changing the tires are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Changing the tires is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especially important because the tires wear out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easily</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easy</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as short as 2 seconds, and there are as many as 20 members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has to work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may get all the attention, but as people say, “Races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won</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win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the pits.”</a:t>
            </a:r>
            <a:endParaRPr lang="en-US" altLang="ko-KR" sz="2100" b="0" dirty="0">
              <a:solidFill>
                <a:srgbClr val="1F2328"/>
              </a:solidFill>
              <a:latin typeface="Calibri"/>
              <a:ea typeface="맑은 고딕"/>
              <a:cs typeface="Calibri"/>
            </a:endParaRPr>
          </a:p>
        </p:txBody>
      </p:sp>
      <p:sp>
        <p:nvSpPr>
          <p:cNvPr id="10" name="rv_g02"/>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 team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 team</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is called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calls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drivers stop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to check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to check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Changing the tires are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Changing the tires is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especially important because the tires wear out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easily</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easy</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as short as 2 seconds, and there are as many as 20 members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has to work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may get all the attention, but as people say, “Races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won</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win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the pits.”</a:t>
            </a:r>
            <a:endParaRPr lang="en-US" altLang="ko-KR" sz="2100" b="0" dirty="0">
              <a:solidFill>
                <a:srgbClr val="1F2328"/>
              </a:solidFill>
              <a:latin typeface="Calibri"/>
              <a:ea typeface="맑은 고딕"/>
              <a:cs typeface="Calibri"/>
            </a:endParaRPr>
          </a:p>
        </p:txBody>
      </p:sp>
      <p:sp>
        <p:nvSpPr>
          <p:cNvPr id="11" name="rv_g03"/>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 team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 team</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called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calls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drivers stop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to check</a:t>
            </a:r>
            <a:r>
              <a:rPr lang="en-US" altLang="ko-KR" sz="2100" b="1" dirty="0">
                <a:solidFill>
                  <a:srgbClr val="1F2328">
                    <a:alpha val="0"/>
                  </a:srgbClr>
                </a:solidFill>
                <a:latin typeface="Calibri"/>
                <a:ea typeface="맑은 고딕"/>
                <a:cs typeface="Calibri"/>
              </a:rPr>
              <a:t> / </a:t>
            </a:r>
            <a:r>
              <a:rPr lang="en-US" altLang="ko-KR" sz="2100" b="1" dirty="0">
                <a:solidFill>
                  <a:srgbClr val="C00000"/>
                </a:solidFill>
                <a:highlight>
                  <a:srgbClr val="F3F5F9"/>
                </a:highlight>
                <a:latin typeface="Calibri"/>
                <a:ea typeface="맑은 고딕"/>
                <a:cs typeface="Calibri"/>
              </a:rPr>
              <a:t>is to check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Changing the tires are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Changing the tires is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especially important because the tires wear out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easily</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easy</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as short as 2 seconds, and there are as many as 20 members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has to work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may get all the attention, but as people say, “Races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won</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win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the pits.”</a:t>
            </a:r>
            <a:endParaRPr lang="en-US" altLang="ko-KR" sz="2100" b="0" dirty="0">
              <a:solidFill>
                <a:srgbClr val="1F2328"/>
              </a:solidFill>
              <a:latin typeface="Calibri"/>
              <a:ea typeface="맑은 고딕"/>
              <a:cs typeface="Calibri"/>
            </a:endParaRPr>
          </a:p>
        </p:txBody>
      </p:sp>
      <p:sp>
        <p:nvSpPr>
          <p:cNvPr id="12" name="rv_g04"/>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 team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 team</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called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calls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drivers stop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to check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to check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Changing the tires are</a:t>
            </a:r>
            <a:r>
              <a:rPr lang="en-US" altLang="ko-KR" sz="2100" b="1" dirty="0">
                <a:solidFill>
                  <a:srgbClr val="1F2328">
                    <a:alpha val="0"/>
                  </a:srgbClr>
                </a:solidFill>
                <a:latin typeface="Calibri"/>
                <a:ea typeface="맑은 고딕"/>
                <a:cs typeface="Calibri"/>
              </a:rPr>
              <a:t> / </a:t>
            </a:r>
            <a:r>
              <a:rPr lang="en-US" altLang="ko-KR" sz="2100" b="1" dirty="0">
                <a:solidFill>
                  <a:srgbClr val="C00000"/>
                </a:solidFill>
                <a:highlight>
                  <a:srgbClr val="F3F5F9"/>
                </a:highlight>
                <a:latin typeface="Calibri"/>
                <a:ea typeface="맑은 고딕"/>
                <a:cs typeface="Calibri"/>
              </a:rPr>
              <a:t>Changing the tires is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especially important because the tires wear out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easily</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easy</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as short as 2 seconds, and there are as many as 20 members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has to work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may get all the attention, but as people say, “Races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won</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win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the pits.”</a:t>
            </a:r>
            <a:endParaRPr lang="en-US" altLang="ko-KR" sz="2100" b="0" dirty="0">
              <a:solidFill>
                <a:srgbClr val="1F2328"/>
              </a:solidFill>
              <a:latin typeface="Calibri"/>
              <a:ea typeface="맑은 고딕"/>
              <a:cs typeface="Calibri"/>
            </a:endParaRPr>
          </a:p>
        </p:txBody>
      </p:sp>
      <p:sp>
        <p:nvSpPr>
          <p:cNvPr id="13" name="rv_g05"/>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 team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 team</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called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calls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drivers stop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to check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to check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Changing the tires are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Changing the tires is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especially important because the tires wear out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easily</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easy</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as short as 2 seconds, and there are as many as 20 members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has to work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may get all the attention, but as people say, “Races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won</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win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the pits.”</a:t>
            </a:r>
            <a:endParaRPr lang="en-US" altLang="ko-KR" sz="2100" b="0" dirty="0">
              <a:solidFill>
                <a:srgbClr val="1F2328"/>
              </a:solidFill>
              <a:latin typeface="Calibri"/>
              <a:ea typeface="맑은 고딕"/>
              <a:cs typeface="Calibri"/>
            </a:endParaRPr>
          </a:p>
        </p:txBody>
      </p:sp>
      <p:sp>
        <p:nvSpPr>
          <p:cNvPr id="14" name="rv_g06"/>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 team</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 team</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is called</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calls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drivers stop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are to check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is to check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Changing the tires are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Changing the tires is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especially important because the tires wear out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easily</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easy</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as short as 2 seconds, and there are as many as 20 members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has to work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may get all the attention, but as people say, “Races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are won</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win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the pits.”</a:t>
            </a:r>
            <a:endParaRPr lang="en-US" altLang="ko-KR" sz="21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6개)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0606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solidFill>
                <a:latin typeface="맑은 고딕"/>
                <a:ea typeface="맑은 고딕"/>
                <a:cs typeface="맑은 고딕"/>
              </a:rPr>
              <a:t>①</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You may only see the car and the driver during most car races, but there is a team behind the driver.</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②</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This team is called a pit crew.</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③</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A pit is a place on the side of the race track, and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drivers stop</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drivers stops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there several times during a race.</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④</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The main job of the pit crew is to check the car and change the tires.</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⑤</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Changing the tires is especially important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because</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because of</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the tires wear out easily in a high speed race.</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⑥</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A pit stop can be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as short as</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as shortly as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2 seconds, and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there are as many as 20 members</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there is as many as 20 members</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on a crew.</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⑦</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Therefore, the pit crew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has to work</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have to work</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in perfect harmony.</a:t>
            </a:r>
            <a:r>
              <a:rPr lang="en-US" altLang="ko-KR" sz="2100" b="0" dirty="0">
                <a:solidFill>
                  <a:srgbClr val="1F2328"/>
                </a:solidFill>
                <a:latin typeface="Calibri"/>
                <a:ea typeface="맑은 고딕"/>
                <a:cs typeface="Calibri"/>
              </a:rPr>
              <a:t>   </a:t>
            </a:r>
            <a:r>
              <a:rPr lang="ko-KR" altLang="en-US" sz="2100" b="1" dirty="0">
                <a:solidFill>
                  <a:srgbClr val="1E2A5A"/>
                </a:solidFill>
                <a:latin typeface="맑은 고딕"/>
                <a:ea typeface="맑은 고딕"/>
                <a:cs typeface="맑은 고딕"/>
              </a:rPr>
              <a:t>⑧</a:t>
            </a:r>
            <a:r>
              <a:rPr lang="en-US" altLang="ko-KR" sz="2100" b="0"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The driver </a:t>
            </a:r>
            <a:r>
              <a:rPr lang="en-US" altLang="ko-KR" sz="2100" b="1" dirty="0">
                <a:solidFill>
                  <a:srgbClr val="1F2328"/>
                </a:solidFill>
                <a:latin typeface="Calibri"/>
                <a:ea typeface="맑은 고딕"/>
                <a:cs typeface="Calibri"/>
              </a:rPr>
              <a:t>[ </a:t>
            </a:r>
            <a:r>
              <a:rPr lang="en-US" altLang="ko-KR" sz="2100" b="1" dirty="0">
                <a:solidFill>
                  <a:srgbClr val="1F2328"/>
                </a:solidFill>
                <a:latin typeface="Calibri"/>
                <a:ea typeface="맑은 고딕"/>
                <a:cs typeface="Calibri"/>
              </a:rPr>
              <a:t>may get</a:t>
            </a:r>
            <a:r>
              <a:rPr lang="en-US" altLang="ko-KR" sz="2100" b="1" dirty="0">
                <a:solidFill>
                  <a:srgbClr val="1F2328"/>
                </a:solidFill>
                <a:latin typeface="Calibri"/>
                <a:ea typeface="맑은 고딕"/>
                <a:cs typeface="Calibri"/>
              </a:rPr>
              <a:t> / </a:t>
            </a:r>
            <a:r>
              <a:rPr lang="en-US" altLang="ko-KR" sz="2100" b="1" dirty="0">
                <a:solidFill>
                  <a:srgbClr val="1F2328"/>
                </a:solidFill>
                <a:latin typeface="Calibri"/>
                <a:ea typeface="맑은 고딕"/>
                <a:cs typeface="Calibri"/>
              </a:rPr>
              <a:t>may be gotten</a:t>
            </a:r>
            <a:r>
              <a:rPr lang="en-US" altLang="ko-KR" sz="2100" b="1" dirty="0">
                <a:solidFill>
                  <a:srgbClr val="1F2328"/>
                </a:solidFill>
                <a:latin typeface="Calibri"/>
                <a:ea typeface="맑은 고딕"/>
                <a:cs typeface="Calibri"/>
              </a:rPr>
              <a:t> ]</a:t>
            </a:r>
            <a:r>
              <a:rPr lang="en-US" altLang="ko-KR" sz="2100" b="0" dirty="0">
                <a:solidFill>
                  <a:srgbClr val="1F2328"/>
                </a:solidFill>
                <a:latin typeface="Calibri"/>
                <a:ea typeface="맑은 고딕"/>
                <a:cs typeface="Calibri"/>
              </a:rPr>
              <a:t> all the attention, but as people say, “Races are won in the pits.”</a:t>
            </a:r>
            <a:endParaRPr lang="en-US" altLang="ko-KR" sz="2100" b="0" dirty="0">
              <a:solidFill>
                <a:srgbClr val="1F2328"/>
              </a:solidFill>
              <a:latin typeface="Calibri"/>
              <a:ea typeface="맑은 고딕"/>
              <a:cs typeface="Calibri"/>
            </a:endParaRPr>
          </a:p>
        </p:txBody>
      </p:sp>
      <p:sp>
        <p:nvSpPr>
          <p:cNvPr id="9" name="rv_g01"/>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there is a team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is called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drivers stop</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drivers stops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is to check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Changing the tires is especially important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because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because of</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tires wear out easily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as short as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as shortly as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2 seconds,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as many as 20 members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as many as 20 members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has to work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have to work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may get</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may be gotten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all the attention, but as people say, “Races are won in the pits.”</a:t>
            </a:r>
            <a:endParaRPr lang="en-US" altLang="ko-KR" sz="2100" b="0" dirty="0">
              <a:solidFill>
                <a:srgbClr val="1F2328"/>
              </a:solidFill>
              <a:latin typeface="Calibri"/>
              <a:ea typeface="맑은 고딕"/>
              <a:cs typeface="Calibri"/>
            </a:endParaRPr>
          </a:p>
        </p:txBody>
      </p:sp>
      <p:sp>
        <p:nvSpPr>
          <p:cNvPr id="10" name="rv_g02"/>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there is a team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is called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drivers stop</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drivers stops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is to check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Changing the tires is especially important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because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because of</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tires wear out easily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as short as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as shortly as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2 seconds,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as many as 20 members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as many as 20 members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has to work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have to work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may get</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may be gotten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all the attention, but as people say, “Races are won in the pits.”</a:t>
            </a:r>
            <a:endParaRPr lang="en-US" altLang="ko-KR" sz="2100" b="0" dirty="0">
              <a:solidFill>
                <a:srgbClr val="1F2328"/>
              </a:solidFill>
              <a:latin typeface="Calibri"/>
              <a:ea typeface="맑은 고딕"/>
              <a:cs typeface="Calibri"/>
            </a:endParaRPr>
          </a:p>
        </p:txBody>
      </p:sp>
      <p:sp>
        <p:nvSpPr>
          <p:cNvPr id="11" name="rv_g03"/>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there is a team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is called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drivers stop</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drivers stops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is to check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Changing the tires is especially important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because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because of</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tires wear out easily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as short as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as shortly as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2 seconds,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as many as 20 members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as many as 20 members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has to work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have to work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may get</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may be gotten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all the attention, but as people say, “Races are won in the pits.”</a:t>
            </a:r>
            <a:endParaRPr lang="en-US" altLang="ko-KR" sz="2100" b="0" dirty="0">
              <a:solidFill>
                <a:srgbClr val="1F2328"/>
              </a:solidFill>
              <a:latin typeface="Calibri"/>
              <a:ea typeface="맑은 고딕"/>
              <a:cs typeface="Calibri"/>
            </a:endParaRPr>
          </a:p>
        </p:txBody>
      </p:sp>
      <p:sp>
        <p:nvSpPr>
          <p:cNvPr id="12" name="rv_g04"/>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there is a team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is called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drivers stop</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drivers stops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is to check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Changing the tires is especially important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because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because of</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tires wear out easily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as short as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as shortly as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2 seconds, and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there are as many as 20 members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as many as 20 members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has to work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have to work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may get</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may be gotten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all the attention, but as people say, “Races are won in the pits.”</a:t>
            </a:r>
            <a:endParaRPr lang="en-US" altLang="ko-KR" sz="2100" b="0" dirty="0">
              <a:solidFill>
                <a:srgbClr val="1F2328"/>
              </a:solidFill>
              <a:latin typeface="Calibri"/>
              <a:ea typeface="맑은 고딕"/>
              <a:cs typeface="Calibri"/>
            </a:endParaRPr>
          </a:p>
        </p:txBody>
      </p:sp>
      <p:sp>
        <p:nvSpPr>
          <p:cNvPr id="13" name="rv_g05"/>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there is a team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is called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drivers stop</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drivers stops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is to check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Changing the tires is especially important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because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because of</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tires wear out easily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as short as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as shortly as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2 seconds,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as many as 20 members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as many as 20 members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has to work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have to work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may get</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may be gotten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all the attention, but as people say, “Races are won in the pits.”</a:t>
            </a:r>
            <a:endParaRPr lang="en-US" altLang="ko-KR" sz="2100" b="0" dirty="0">
              <a:solidFill>
                <a:srgbClr val="1F2328"/>
              </a:solidFill>
              <a:latin typeface="Calibri"/>
              <a:ea typeface="맑은 고딕"/>
              <a:cs typeface="Calibri"/>
            </a:endParaRPr>
          </a:p>
        </p:txBody>
      </p:sp>
      <p:sp>
        <p:nvSpPr>
          <p:cNvPr id="14" name="rv_g06"/>
          <p:cNvSpPr txBox="1"/>
          <p:nvPr/>
        </p:nvSpPr>
        <p:spPr>
          <a:xfrm>
            <a:off x="457200" y="950976"/>
            <a:ext cx="11277295" cy="5060696"/>
          </a:xfrm>
          <a:prstGeom prst="rect">
            <a:avLst/>
          </a:prstGeom>
          <a:noFill/>
        </p:spPr>
        <p:txBody>
          <a:bodyPr wrap="square" lIns="228600" tIns="155448" rIns="228600" bIns="155448" anchor="t" rtlCol="0">
            <a:noAutofit/>
          </a:bodyPr>
          <a:lstStyle/>
          <a:p>
            <a:pPr algn="l">
              <a:lnSpc>
                <a:spcPts val="3400"/>
              </a:lnSpc>
              <a:spcBef>
                <a:spcPts val="0"/>
              </a:spcBef>
              <a:spcAft>
                <a:spcPts val="0"/>
              </a:spcAft>
              <a:buNone/>
            </a:pPr>
            <a:r>
              <a:rPr lang="ko-KR" altLang="en-US" sz="2100" b="1" dirty="0">
                <a:solidFill>
                  <a:srgbClr val="1E2A5A">
                    <a:alpha val="0"/>
                  </a:srgbClr>
                </a:solidFill>
                <a:latin typeface="맑은 고딕"/>
                <a:ea typeface="맑은 고딕"/>
                <a:cs typeface="맑은 고딕"/>
              </a:rPr>
              <a:t>①</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You may only see the car and the driver during most car races, but there is a team behind the driver.</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②</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This team is called a pit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③</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is a place on the side of the race track,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drivers stop</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drivers stops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there several times during a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④</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main job of the pit crew is to check the car and change the tires.</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⑤</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Changing the tires is especially important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because</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because of</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the tires wear out easily in a high speed race.</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⑥</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A pit stop can be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as short as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as shortly as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2 seconds, and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there are as many as 20 members</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there is as many as 20 members</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on a crew.</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⑦</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Therefore, the pit crew </a:t>
            </a:r>
            <a:r>
              <a:rPr lang="en-US" altLang="ko-KR" sz="2100" b="1" dirty="0">
                <a:solidFill>
                  <a:srgbClr val="1F2328">
                    <a:alpha val="0"/>
                  </a:srgbClr>
                </a:solidFill>
                <a:latin typeface="Calibri"/>
                <a:ea typeface="맑은 고딕"/>
                <a:cs typeface="Calibri"/>
              </a:rPr>
              <a:t>[ </a:t>
            </a:r>
            <a:r>
              <a:rPr lang="en-US" altLang="ko-KR" sz="2100" b="1" dirty="0">
                <a:solidFill>
                  <a:srgbClr val="1F2328">
                    <a:alpha val="0"/>
                  </a:srgbClr>
                </a:solidFill>
                <a:latin typeface="Calibri"/>
                <a:ea typeface="맑은 고딕"/>
                <a:cs typeface="Calibri"/>
              </a:rPr>
              <a:t>has to work</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have to work</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in perfect harmony.</a:t>
            </a:r>
            <a:r>
              <a:rPr lang="en-US" altLang="ko-KR" sz="2100" b="0" dirty="0">
                <a:solidFill>
                  <a:srgbClr val="1F2328">
                    <a:alpha val="0"/>
                  </a:srgbClr>
                </a:solidFill>
                <a:latin typeface="Calibri"/>
                <a:ea typeface="맑은 고딕"/>
                <a:cs typeface="Calibri"/>
              </a:rPr>
              <a:t>   </a:t>
            </a:r>
            <a:r>
              <a:rPr lang="ko-KR" altLang="en-US" sz="2100" b="1" dirty="0">
                <a:solidFill>
                  <a:srgbClr val="1E2A5A">
                    <a:alpha val="0"/>
                  </a:srgbClr>
                </a:solidFill>
                <a:latin typeface="맑은 고딕"/>
                <a:ea typeface="맑은 고딕"/>
                <a:cs typeface="맑은 고딕"/>
              </a:rPr>
              <a:t>⑧</a:t>
            </a:r>
            <a:r>
              <a:rPr lang="en-US" altLang="ko-KR" sz="2100" b="0"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The driver </a:t>
            </a:r>
            <a:r>
              <a:rPr lang="en-US" altLang="ko-KR" sz="2100" b="1" dirty="0">
                <a:solidFill>
                  <a:srgbClr val="1F2328">
                    <a:alpha val="0"/>
                  </a:srgbClr>
                </a:solidFill>
                <a:latin typeface="Calibri"/>
                <a:ea typeface="맑은 고딕"/>
                <a:cs typeface="Calibri"/>
              </a:rPr>
              <a:t>[ </a:t>
            </a:r>
            <a:r>
              <a:rPr lang="en-US" altLang="ko-KR" sz="2100" b="1" dirty="0">
                <a:solidFill>
                  <a:srgbClr val="C00000"/>
                </a:solidFill>
                <a:highlight>
                  <a:srgbClr val="F3F5F9"/>
                </a:highlight>
                <a:latin typeface="Calibri"/>
                <a:ea typeface="맑은 고딕"/>
                <a:cs typeface="Calibri"/>
              </a:rPr>
              <a:t>may get</a:t>
            </a:r>
            <a:r>
              <a:rPr lang="en-US" altLang="ko-KR" sz="2100" b="1" dirty="0">
                <a:solidFill>
                  <a:srgbClr val="1F2328">
                    <a:alpha val="0"/>
                  </a:srgbClr>
                </a:solidFill>
                <a:latin typeface="Calibri"/>
                <a:ea typeface="맑은 고딕"/>
                <a:cs typeface="Calibri"/>
              </a:rPr>
              <a:t> / </a:t>
            </a:r>
            <a:r>
              <a:rPr lang="en-US" altLang="ko-KR" sz="2100" b="1" dirty="0">
                <a:solidFill>
                  <a:srgbClr val="1F2328">
                    <a:alpha val="0"/>
                  </a:srgbClr>
                </a:solidFill>
                <a:latin typeface="Calibri"/>
                <a:ea typeface="맑은 고딕"/>
                <a:cs typeface="Calibri"/>
              </a:rPr>
              <a:t>may be gotten</a:t>
            </a:r>
            <a:r>
              <a:rPr lang="en-US" altLang="ko-KR" sz="2100" b="1" dirty="0">
                <a:solidFill>
                  <a:srgbClr val="1F2328">
                    <a:alpha val="0"/>
                  </a:srgbClr>
                </a:solidFill>
                <a:latin typeface="Calibri"/>
                <a:ea typeface="맑은 고딕"/>
                <a:cs typeface="Calibri"/>
              </a:rPr>
              <a:t> ]</a:t>
            </a:r>
            <a:r>
              <a:rPr lang="en-US" altLang="ko-KR" sz="2100" b="0" dirty="0">
                <a:solidFill>
                  <a:srgbClr val="1F2328">
                    <a:alpha val="0"/>
                  </a:srgbClr>
                </a:solidFill>
                <a:latin typeface="Calibri"/>
                <a:ea typeface="맑은 고딕"/>
                <a:cs typeface="Calibri"/>
              </a:rPr>
              <a:t> all the attention, but as people say, “Races are won in the pits.”</a:t>
            </a:r>
            <a:endParaRPr lang="en-US" altLang="ko-KR" sz="21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The word Sherpa comes from the Sherpa tribe, which lives in the eastern part of Nepal. Sherpas have good climbing skills and know their way around the mountains well. They also have little difficulty breathing high up in the mountains. </a:t>
            </a:r>
            <a:r>
              <a:rPr lang="en-US" altLang="ko-KR" sz="1500" b="0" dirty="0">
                <a:solidFill>
                  <a:srgbClr val="1F2328"/>
                </a:solidFill>
                <a:latin typeface="Calibri"/>
                <a:ea typeface="맑은 고딕"/>
                <a:cs typeface="Calibri"/>
              </a:rPr>
              <a:t>Therefore, mountain climbers started to hire Sherpas to help them climb Mount Everest.</a:t>
            </a:r>
            <a:r>
              <a:rPr lang="en-US" altLang="ko-KR" sz="1500" b="0" dirty="0">
                <a:solidFill>
                  <a:srgbClr val="1F2328"/>
                </a:solidFill>
                <a:latin typeface="Calibri"/>
                <a:ea typeface="맑은 고딕"/>
                <a:cs typeface="Calibri"/>
              </a:rPr>
              <a:t> Sherpas lead mountain climbers to the top of the mountain. They support climbers in many ways. For example, they put up tents and carry climbers’ bags. </a:t>
            </a:r>
            <a:r>
              <a:rPr lang="en-US" altLang="ko-KR" sz="1500" b="0" dirty="0">
                <a:solidFill>
                  <a:srgbClr val="1F2328"/>
                </a:solidFill>
                <a:latin typeface="Calibri"/>
                <a:ea typeface="맑은 고딕"/>
                <a:cs typeface="Calibri"/>
              </a:rPr>
              <a:t>Sherpas are often called the invisible people of Mount Everest because people often see a picture of only the climbers at the top of the mountain.</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The word Sherpa comes from the Sherpa tribe, which lives in the eastern part of Nepal. Sherpas have good climbing skills and know their way around the mountains well. They also have little difficulty breathing high up in the mountains. </a:t>
            </a:r>
            <a:r>
              <a:rPr lang="en-US" altLang="ko-KR" sz="1500" b="0" dirty="0">
                <a:solidFill>
                  <a:srgbClr val="111111"/>
                </a:solidFill>
                <a:highlight>
                  <a:srgbClr val="FFE45C"/>
                </a:highlight>
                <a:latin typeface="Calibri"/>
                <a:ea typeface="맑은 고딕"/>
                <a:cs typeface="Calibri"/>
              </a:rPr>
              <a:t>Therefore, mountain climbers started to hire Sherpas to help them climb Mount Everest.</a:t>
            </a:r>
            <a:r>
              <a:rPr lang="en-US" altLang="ko-KR" sz="1500" b="0" dirty="0">
                <a:solidFill>
                  <a:srgbClr val="B3BAC6"/>
                </a:solidFill>
                <a:latin typeface="Calibri"/>
                <a:ea typeface="맑은 고딕"/>
                <a:cs typeface="Calibri"/>
              </a:rPr>
              <a:t> Sherpas lead mountain climbers to the top of the mountain. They support climbers in many ways. For example, they put up tents and carry climbers’ bags. </a:t>
            </a:r>
            <a:r>
              <a:rPr lang="en-US" altLang="ko-KR" sz="1500" b="0" dirty="0">
                <a:solidFill>
                  <a:srgbClr val="111111"/>
                </a:solidFill>
                <a:highlight>
                  <a:srgbClr val="FFE45C"/>
                </a:highlight>
                <a:latin typeface="Calibri"/>
                <a:ea typeface="맑은 고딕"/>
                <a:cs typeface="Calibri"/>
              </a:rPr>
              <a:t>Sherpas are often called the invisible people of Mount Everest because people often see a picture of only the climbers at the top of the mountain.</a:t>
            </a:r>
            <a:endParaRPr lang="en-US" altLang="ko-KR" sz="1500" b="0" dirty="0">
              <a:solidFill>
                <a:srgbClr val="111111"/>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the Sherpas' hidden role in mountain climbing</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285750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en-US" altLang="ko-KR" sz="1800" b="0" dirty="0">
                <a:solidFill>
                  <a:srgbClr val="C00000"/>
                </a:solidFill>
                <a:latin typeface="Calibri"/>
                <a:ea typeface="맑은 고딕"/>
                <a:cs typeface="Calibri"/>
              </a:rPr>
              <a:t>	the Sherpas' hidden role in mountain climbing</a:t>
            </a:r>
            <a:endParaRPr lang="en-US" altLang="ko-KR" sz="1800" b="0" dirty="0">
              <a:solidFill>
                <a:srgbClr val="C00000"/>
              </a:solidFill>
              <a:latin typeface="Calibri"/>
              <a:ea typeface="맑은 고딕"/>
              <a:cs typeface="Calibri"/>
            </a:endParaRPr>
          </a:p>
        </p:txBody>
      </p:sp>
      <p:sp>
        <p:nvSpPr>
          <p:cNvPr id="13"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dangers of climbing Mount Everest</a:t>
            </a:r>
            <a:endParaRPr lang="en-US" altLang="ko-KR" sz="1800" b="0" dirty="0">
              <a:solidFill>
                <a:srgbClr val="1F2328"/>
              </a:solidFill>
              <a:latin typeface="Calibri"/>
              <a:ea typeface="맑은 고딕"/>
              <a:cs typeface="Calibri"/>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the eastern part of Nepal and its weather</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how climbers take pictures on the top</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why climbers carry their own heavy bags</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the Sherpas' hidden role in mountain climbing</a:t>
            </a:r>
            <a:endParaRPr lang="en-US" altLang="ko-KR" sz="1900" b="1" dirty="0">
              <a:solidFill>
                <a:srgbClr val="5A4200"/>
              </a:solidFill>
              <a:latin typeface="Calibri"/>
              <a:ea typeface="맑은 고딕"/>
              <a:cs typeface="Calibri"/>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등산가들이 셰르파를 고용하고 셰르파는 보이지 않는 사람들로 불린다. 셰르파의 숨은 역할을 다룬 ①이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The word Sherpa comes from the Sherpa tribe, which lives in the eastern part of Nepal. Sherpas have good climbing skills and know their way around the mountains well. They also have little difficulty breathing high up in the mountains. Therefore, mountain climbers started to hire Sherpas to help them climb Mount Everest. Sherpas lead mountain climbers to the top of the mountain. They support climbers in many ways. For example, they put up tents and carry climbers’ bags. Sherpas are often called </a:t>
            </a:r>
            <a:r>
              <a:rPr lang="en-US" altLang="ko-KR" sz="1500" b="0" dirty="0">
                <a:solidFill>
                  <a:srgbClr val="1F2328"/>
                </a:solidFill>
                <a:latin typeface="Calibri"/>
                <a:ea typeface="맑은 고딕"/>
                <a:cs typeface="Calibri"/>
              </a:rPr>
              <a:t>the invisible people of Mount Everest</a:t>
            </a:r>
            <a:r>
              <a:rPr lang="en-US" altLang="ko-KR" sz="1500" b="0" dirty="0">
                <a:solidFill>
                  <a:srgbClr val="1F2328"/>
                </a:solidFill>
                <a:latin typeface="Calibri"/>
                <a:ea typeface="맑은 고딕"/>
                <a:cs typeface="Calibri"/>
              </a:rPr>
              <a:t> because people often see a picture of only the climbers at the top of the mountain.</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The word Sherpa comes from the Sherpa tribe, which lives in the eastern part of Nepal. Sherpas have good climbing skills and know their way around the mountains well. They also have little difficulty breathing high up in the mountains. Therefore, mountain climbers started to hire Sherpas to help them climb Mount Everest. Sherpas lead mountain climbers to the top of the mountain. They support climbers in many ways. For example, they put up tents and carry climbers’ bags. Sherpas are often called </a:t>
            </a:r>
            <a:r>
              <a:rPr lang="en-US" altLang="ko-KR" sz="1500" b="0" dirty="0">
                <a:solidFill>
                  <a:srgbClr val="111111"/>
                </a:solidFill>
                <a:highlight>
                  <a:srgbClr val="FFE45C"/>
                </a:highlight>
                <a:latin typeface="Calibri"/>
                <a:ea typeface="맑은 고딕"/>
                <a:cs typeface="Calibri"/>
              </a:rPr>
              <a:t>the invisible people of Mount Everest</a:t>
            </a:r>
            <a:r>
              <a:rPr lang="en-US" altLang="ko-KR" sz="1500" b="0" dirty="0">
                <a:solidFill>
                  <a:srgbClr val="B3BAC6"/>
                </a:solidFill>
                <a:latin typeface="Calibri"/>
                <a:ea typeface="맑은 고딕"/>
                <a:cs typeface="Calibri"/>
              </a:rPr>
              <a:t> because people often see a picture of only the climbers at the top of the mountain.</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Climbers Who Reach the Top Alone</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Sherpas: Invisible People of Everest</a:t>
            </a:r>
            <a:endParaRPr lang="en-US" altLang="ko-KR" sz="1800" b="0" dirty="0">
              <a:solidFill>
                <a:srgbClr val="1F2328"/>
              </a:solidFill>
              <a:latin typeface="Calibri"/>
              <a:ea typeface="맑은 고딕"/>
              <a:cs typeface="Calibri"/>
            </a:endParaRPr>
          </a:p>
        </p:txBody>
      </p:sp>
      <p:sp>
        <p:nvSpPr>
          <p:cNvPr id="13" name="rv_pick"/>
          <p:cNvSpPr txBox="1"/>
          <p:nvPr/>
        </p:nvSpPr>
        <p:spPr>
          <a:xfrm>
            <a:off x="457200" y="326491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en-US" altLang="ko-KR" sz="1800" b="0" dirty="0">
                <a:solidFill>
                  <a:srgbClr val="C00000"/>
                </a:solidFill>
                <a:latin typeface="Calibri"/>
                <a:ea typeface="맑은 고딕"/>
                <a:cs typeface="Calibri"/>
              </a:rPr>
              <a:t>	Sherpas: Invisible People of Everest</a:t>
            </a:r>
            <a:endParaRPr lang="en-US" altLang="ko-KR" sz="1800" b="0" dirty="0">
              <a:solidFill>
                <a:srgbClr val="C00000"/>
              </a:solidFill>
              <a:latin typeface="Calibri"/>
              <a:ea typeface="맑은 고딕"/>
              <a:cs typeface="Calibri"/>
            </a:endParaRPr>
          </a:p>
        </p:txBody>
      </p:sp>
      <p:sp>
        <p:nvSpPr>
          <p:cNvPr id="14"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How to Breathe High Up in Mountains</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The Best Tents for Mountain Climbers</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A Short History of Nepal's Mountains</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Sherpas: Invisible People of Everest</a:t>
            </a:r>
            <a:endParaRPr lang="en-US" altLang="ko-KR" sz="1900" b="1" dirty="0">
              <a:solidFill>
                <a:srgbClr val="5A4200"/>
              </a:solidFill>
              <a:latin typeface="Calibri"/>
              <a:ea typeface="맑은 고딕"/>
              <a:cs typeface="Calibri"/>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셰르파를 'the invisible people of Mount Everest'라 부른다고 했다. 이를 옮긴 ②가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The word Sherpa comes from the Sherpa tribe, which lives in the eastern part of Nepal. Sherpas have good climbing skills and know their way around the mountains well. They also have little difficulty breathing high up in the mountains. Therefore, mountain climbers started to hire Sherpas to help them climb Mount Everest. Sherpas lead mountain climbers to the top of the mountain. </a:t>
            </a:r>
            <a:r>
              <a:rPr lang="en-US" altLang="ko-KR" sz="1500" b="0" dirty="0">
                <a:solidFill>
                  <a:srgbClr val="1F2328"/>
                </a:solidFill>
                <a:latin typeface="Calibri"/>
                <a:ea typeface="맑은 고딕"/>
                <a:cs typeface="Calibri"/>
              </a:rPr>
              <a:t>They support climbers in many ways.</a:t>
            </a:r>
            <a:r>
              <a:rPr lang="en-US" altLang="ko-KR" sz="1500" b="0" dirty="0">
                <a:solidFill>
                  <a:srgbClr val="1F2328"/>
                </a:solidFill>
                <a:latin typeface="Calibri"/>
                <a:ea typeface="맑은 고딕"/>
                <a:cs typeface="Calibri"/>
              </a:rPr>
              <a:t> For example, they put up tents and carry climbers’ bags. Sherpas are often called </a:t>
            </a:r>
            <a:r>
              <a:rPr lang="en-US" altLang="ko-KR" sz="1500" b="0" dirty="0">
                <a:solidFill>
                  <a:srgbClr val="1F2328"/>
                </a:solidFill>
                <a:latin typeface="Calibri"/>
                <a:ea typeface="맑은 고딕"/>
                <a:cs typeface="Calibri"/>
              </a:rPr>
              <a:t>the invisible people of Mount Everest</a:t>
            </a:r>
            <a:r>
              <a:rPr lang="en-US" altLang="ko-KR" sz="1500" b="0" dirty="0">
                <a:solidFill>
                  <a:srgbClr val="1F2328"/>
                </a:solidFill>
                <a:latin typeface="Calibri"/>
                <a:ea typeface="맑은 고딕"/>
                <a:cs typeface="Calibri"/>
              </a:rPr>
              <a:t> because people often see a picture of only the climbers at the top of the mountain.</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The word Sherpa comes from the Sherpa tribe, which lives in the eastern part of Nepal. Sherpas have good climbing skills and know their way around the mountains well. They also have little difficulty breathing high up in the mountains. Therefore, mountain climbers started to hire Sherpas to help them climb Mount Everest. Sherpas lead mountain climbers to the top of the mountain. </a:t>
            </a:r>
            <a:r>
              <a:rPr lang="en-US" altLang="ko-KR" sz="1500" b="0" dirty="0">
                <a:solidFill>
                  <a:srgbClr val="111111"/>
                </a:solidFill>
                <a:highlight>
                  <a:srgbClr val="FFE45C"/>
                </a:highlight>
                <a:latin typeface="Calibri"/>
                <a:ea typeface="맑은 고딕"/>
                <a:cs typeface="Calibri"/>
              </a:rPr>
              <a:t>They support climbers in many ways.</a:t>
            </a:r>
            <a:r>
              <a:rPr lang="en-US" altLang="ko-KR" sz="1500" b="0" dirty="0">
                <a:solidFill>
                  <a:srgbClr val="B3BAC6"/>
                </a:solidFill>
                <a:latin typeface="Calibri"/>
                <a:ea typeface="맑은 고딕"/>
                <a:cs typeface="Calibri"/>
              </a:rPr>
              <a:t> For example, they put up tents and carry climbers’ bags. Sherpas are often called </a:t>
            </a:r>
            <a:r>
              <a:rPr lang="en-US" altLang="ko-KR" sz="1500" b="0" dirty="0">
                <a:solidFill>
                  <a:srgbClr val="111111"/>
                </a:solidFill>
                <a:highlight>
                  <a:srgbClr val="FFE45C"/>
                </a:highlight>
                <a:latin typeface="Calibri"/>
                <a:ea typeface="맑은 고딕"/>
                <a:cs typeface="Calibri"/>
              </a:rPr>
              <a:t>the invisible people of Mount Everest</a:t>
            </a:r>
            <a:r>
              <a:rPr lang="en-US" altLang="ko-KR" sz="1500" b="0" dirty="0">
                <a:solidFill>
                  <a:srgbClr val="B3BAC6"/>
                </a:solidFill>
                <a:latin typeface="Calibri"/>
                <a:ea typeface="맑은 고딕"/>
                <a:cs typeface="Calibri"/>
              </a:rPr>
              <a:t> because people often see a picture of only the climbers at the top of the mountain.</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등산가는 셰르파 없이 혼자 등반해야 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산 정상 사진에는 등산가만 나와야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보이지 않는 셰르파의 공헌을 알아야 한다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67233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보이지 않는 셰르파의 공헌을 알아야 한다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등산가는 자기 가방을 직접 운반해야 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셰르파족은 네팔 동쪽 지역을 떠나야 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보이지 않는 셰르파의 공헌을 알아야 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셰르파는 여러 방식으로 등산가를 돕지만 보이지 않는다. 그 공헌을 알아야 한다는 ③이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The word Sherpa comes from the Sherpa tribe, which lives in the eastern part of Nepal. Sherpas have good climbing skills and know their way around the mountains well. They also have little difficulty breathing high up in the mountains. Therefore, mountain climbers started to hire Sherpas to help them climb Mount Everest. </a:t>
            </a:r>
            <a:r>
              <a:rPr lang="en-US" altLang="ko-KR" sz="1500" b="0" dirty="0">
                <a:solidFill>
                  <a:srgbClr val="1F2328"/>
                </a:solidFill>
                <a:latin typeface="Calibri"/>
                <a:ea typeface="맑은 고딕"/>
                <a:cs typeface="Calibri"/>
              </a:rPr>
              <a:t>Sherpas lead mountain climbers to the top of the mountain.</a:t>
            </a:r>
            <a:r>
              <a:rPr lang="en-US" altLang="ko-KR" sz="1500" b="0" dirty="0">
                <a:solidFill>
                  <a:srgbClr val="1F2328"/>
                </a:solidFill>
                <a:latin typeface="Calibri"/>
                <a:ea typeface="맑은 고딕"/>
                <a:cs typeface="Calibri"/>
              </a:rPr>
              <a:t> They support climbers in many ways. For example, they put up tents and carry climbers’ bags. Sherpas are often called the invisible people of Mount Everest because people often see </a:t>
            </a:r>
            <a:r>
              <a:rPr lang="en-US" altLang="ko-KR" sz="1500" b="0" dirty="0">
                <a:solidFill>
                  <a:srgbClr val="1F2328"/>
                </a:solidFill>
                <a:latin typeface="Calibri"/>
                <a:ea typeface="맑은 고딕"/>
                <a:cs typeface="Calibri"/>
              </a:rPr>
              <a:t>a picture of only the climbers</a:t>
            </a:r>
            <a:r>
              <a:rPr lang="en-US" altLang="ko-KR" sz="1500" b="0" dirty="0">
                <a:solidFill>
                  <a:srgbClr val="1F2328"/>
                </a:solidFill>
                <a:latin typeface="Calibri"/>
                <a:ea typeface="맑은 고딕"/>
                <a:cs typeface="Calibri"/>
              </a:rPr>
              <a:t> at the top of the mountain.</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The word Sherpa comes from the Sherpa tribe, which lives in the eastern part of Nepal. Sherpas have good climbing skills and know their way around the mountains well. They also have little difficulty breathing high up in the mountains. Therefore, mountain climbers started to hire Sherpas to help them climb Mount Everest. </a:t>
            </a:r>
            <a:r>
              <a:rPr lang="en-US" altLang="ko-KR" sz="1500" b="0" dirty="0">
                <a:solidFill>
                  <a:srgbClr val="111111"/>
                </a:solidFill>
                <a:highlight>
                  <a:srgbClr val="FFE45C"/>
                </a:highlight>
                <a:latin typeface="Calibri"/>
                <a:ea typeface="맑은 고딕"/>
                <a:cs typeface="Calibri"/>
              </a:rPr>
              <a:t>Sherpas lead mountain climbers to the top of the mountain.</a:t>
            </a:r>
            <a:r>
              <a:rPr lang="en-US" altLang="ko-KR" sz="1500" b="0" dirty="0">
                <a:solidFill>
                  <a:srgbClr val="B3BAC6"/>
                </a:solidFill>
                <a:latin typeface="Calibri"/>
                <a:ea typeface="맑은 고딕"/>
                <a:cs typeface="Calibri"/>
              </a:rPr>
              <a:t> They support climbers in many ways. For example, they put up tents and carry climbers’ bags. Sherpas are often called the invisible people of Mount Everest because people often see </a:t>
            </a:r>
            <a:r>
              <a:rPr lang="en-US" altLang="ko-KR" sz="1500" b="0" dirty="0">
                <a:solidFill>
                  <a:srgbClr val="111111"/>
                </a:solidFill>
                <a:highlight>
                  <a:srgbClr val="FFE45C"/>
                </a:highlight>
                <a:latin typeface="Calibri"/>
                <a:ea typeface="맑은 고딕"/>
                <a:cs typeface="Calibri"/>
              </a:rPr>
              <a:t>a picture of only the climbers</a:t>
            </a:r>
            <a:r>
              <a:rPr lang="en-US" altLang="ko-KR" sz="1500" b="0" dirty="0">
                <a:solidFill>
                  <a:srgbClr val="B3BAC6"/>
                </a:solidFill>
                <a:latin typeface="Calibri"/>
                <a:ea typeface="맑은 고딕"/>
                <a:cs typeface="Calibri"/>
              </a:rPr>
              <a:t> at the top of the mountain.</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에베레스트 등반은 장비만 좋으면 가능하다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셰르파는 사진을 찍기 위해 정상에 오른다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등산가들은 셰르파를 고용하지 않게 되었다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셰르파는 숨은 곳에서 등산가의 등반을 돕는다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407974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셰르파는 숨은 곳에서 등산가의 등반을 돕는다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높은 산에서는 누구나 쉽게 호흡할 수 있다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셰르파는 숨은 곳에서 등산가의 등반을 돕는다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셰르파가 정상까지 이끌지만 사진엔 등산가만 나온다고 했다. 숨은 곳에서 돕는다는 ④가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The word Sherpa comes from the Sherpa tribe, which lives in </a:t>
            </a:r>
            <a:r>
              <a:rPr lang="en-US" altLang="ko-KR" sz="1500" b="0" dirty="0">
                <a:solidFill>
                  <a:srgbClr val="1F2328"/>
                </a:solidFill>
                <a:latin typeface="Calibri"/>
                <a:ea typeface="맑은 고딕"/>
                <a:cs typeface="Calibri"/>
              </a:rPr>
              <a:t>the eastern part of Nepal</a:t>
            </a:r>
            <a:r>
              <a:rPr lang="en-US" altLang="ko-KR" sz="1500" b="0" dirty="0">
                <a:solidFill>
                  <a:srgbClr val="1F2328"/>
                </a:solidFill>
                <a:latin typeface="Calibri"/>
                <a:ea typeface="맑은 고딕"/>
                <a:cs typeface="Calibri"/>
              </a:rPr>
              <a:t>. Sherpas have good climbing skills and know their way around the mountains well. They also have little difficulty breathing high up in the mountains. Therefore, mountain climbers started to hire Sherpas to help them climb Mount Everest. Sherpas lead mountain climbers to the top of the mountain. They support climbers in many ways. For example, they put up tents and carry climbers’ bags. Sherpas are often called the invisible people of Mount Everest because people often see a picture of only the climbers at the top of the mountain.</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The word Sherpa comes from the Sherpa tribe, which lives in </a:t>
            </a:r>
            <a:r>
              <a:rPr lang="en-US" altLang="ko-KR" sz="1500" b="0" dirty="0">
                <a:solidFill>
                  <a:srgbClr val="111111"/>
                </a:solidFill>
                <a:highlight>
                  <a:srgbClr val="FFE45C"/>
                </a:highlight>
                <a:latin typeface="Calibri"/>
                <a:ea typeface="맑은 고딕"/>
                <a:cs typeface="Calibri"/>
              </a:rPr>
              <a:t>the eastern part of Nepal</a:t>
            </a:r>
            <a:r>
              <a:rPr lang="en-US" altLang="ko-KR" sz="1500" b="0" dirty="0">
                <a:solidFill>
                  <a:srgbClr val="B3BAC6"/>
                </a:solidFill>
                <a:latin typeface="Calibri"/>
                <a:ea typeface="맑은 고딕"/>
                <a:cs typeface="Calibri"/>
              </a:rPr>
              <a:t>. Sherpas have good climbing skills and know their way around the mountains well. They also have little difficulty breathing high up in the mountains. Therefore, mountain climbers started to hire Sherpas to help them climb Mount Everest. Sherpas lead mountain climbers to the top of the mountain. They support climbers in many ways. For example, they put up tents and carry climbers’ bags. Sherpas are often called the invisible people of Mount Everest because people often see a picture of only the climbers at the top of the mountain.</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셰르파는 훌륭한 등반 기술을 가지고 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셰르파는 높은 곳에서 호흡에 어려움이 적다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셰르파족은 네팔의 서쪽 지역에 살고 있다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67233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셰르파족은 네팔의 서쪽 지역에 살고 있다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셰르파는 등산가들을 산 정상까지 이끈다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셰르파는 텐트를 치고 가방을 운반해 준다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셰르파족은 네팔의 서쪽 지역에 살고 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셰르파족은 네팔의 동쪽 지역에 산다고 했다. 서쪽 지역에 산다는 ③은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The word Sherpa comes from the Sherpa tribe</a:t>
            </a:r>
            <a:r>
              <a:rPr lang="en-US" altLang="ko-KR" sz="1500" b="0" dirty="0">
                <a:solidFill>
                  <a:srgbClr val="1F2328"/>
                </a:solidFill>
                <a:latin typeface="Calibri"/>
                <a:ea typeface="맑은 고딕"/>
                <a:cs typeface="Calibri"/>
              </a:rPr>
              <a:t>, which lives in the eastern part of Nepal. Sherpas have good climbing skills and know their way around the mountains well. They also have little difficulty breathing high up in the mountains. Therefore, mountain climbers started to hire Sherpas to help them climb Mount Everest. Sherpas lead mountain climbers to the top of the mountain. They support climbers in many ways. For example, they put up tents and carry climbers’ bags. Sherpas are often called the invisible people of Mount Everest because people often see a picture of only the climbers at the top of the mountain.</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760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760219"/>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11111"/>
                </a:solidFill>
                <a:highlight>
                  <a:srgbClr val="FFE45C"/>
                </a:highlight>
                <a:latin typeface="Calibri"/>
                <a:ea typeface="맑은 고딕"/>
                <a:cs typeface="Calibri"/>
              </a:rPr>
              <a:t>The word Sherpa comes from the Sherpa tribe</a:t>
            </a:r>
            <a:r>
              <a:rPr lang="en-US" altLang="ko-KR" sz="1500" b="0" dirty="0">
                <a:solidFill>
                  <a:srgbClr val="B3BAC6"/>
                </a:solidFill>
                <a:latin typeface="Calibri"/>
                <a:ea typeface="맑은 고딕"/>
                <a:cs typeface="Calibri"/>
              </a:rPr>
              <a:t>, which lives in the eastern part of Nepal. Sherpas have good climbing skills and know their way around the mountains well. They also have little difficulty breathing high up in the mountains. Therefore, mountain climbers started to hire Sherpas to help them climb Mount Everest. Sherpas lead mountain climbers to the top of the mountain. They support climbers in many ways. For example, they put up tents and carry climbers’ bags. Sherpas are often called the invisible people of Mount Everest because people often see a picture of only the climbers at the top of the mountain.</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85750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셰르파는 산의 지리를 잘 알지 못한다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26491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등산가들은 셰르파를 고용하지 않는다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67233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셰르파는 등산가의 텐트를 치지 않는다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07974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정상 사진에는 주로 셰르파가 찍혀 있다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48716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Sherpa라는 말은 셰르파족에서 유래했다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48716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Sherpa라는 말은 셰르파족에서 유래했다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497687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Sherpa라는 말은 셰르파족에서 유래했다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575808"/>
            <a:ext cx="11277295" cy="84327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Sherpa라는 말은 셰르파족에서 왔다고 했다. 이와 같은 ⑤가 맞다.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The word Sherpa comes from the Sherpa tribe, which lives in the eastern part of Nepal.</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79476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79476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Sherpas lead mountain climbers to the top of the mountain. They support climbers in many ways.</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For example, they put up tents and carry climbers’ bags. Sherpas are often called the invisible people of Mount Everest because people often see a picture of only the climbers at the top of the mountain.</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Sherpas have good climbing skills and know their way around the mountains well. They also have little difficulty breathing high up in the mountains. Therefore, mountain climbers started to hire Sherpas to help them climb Mount Everest.</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446532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46532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④ </a:t>
            </a:r>
            <a:r>
              <a:rPr lang="en-US" altLang="ko-KR" sz="1800" b="0" dirty="0">
                <a:solidFill>
                  <a:srgbClr val="C00000"/>
                </a:solidFill>
                <a:highlight>
                  <a:srgbClr val="FFFFFF"/>
                </a:highlight>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97738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(C) - (A)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576316"/>
            <a:ext cx="11277295" cy="84277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셰르파족 소개 → (C) 등반 기술이 좋아 'Therefore' 고용되었다 → (A) 정상까지 이끌고 여러 방식으로 돕는다 → (B) 'For example' 텐트와 가방을 맡는다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The word Sherpa comes from the Sherpa tribe, which lives in the eastern part of Nepal.</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79476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79476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Sherpas have good climbing skills and know their way around the mountains well. They also have little difficulty breathing high up in the mountains. Therefore, mountain climbers started to hire Sherpas to help them climb Mount Everest.</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For example, they put up tents and carry climbers’ bags. Sherpas are often called the invisible people of Mount Everest because people often see a picture of only the climbers at the top of the mountain.</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Sherpas lead mountain climbers to the top of the mountain. They support climbers in many ways.</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446532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46532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C00000"/>
                </a:solidFill>
                <a:highlight>
                  <a:srgbClr val="FFFFFF"/>
                </a:highlight>
                <a:latin typeface="맑은 고딕"/>
                <a:ea typeface="맑은 고딕"/>
                <a:cs typeface="맑은 고딕"/>
              </a:rPr>
              <a:t>① </a:t>
            </a:r>
            <a:r>
              <a:rPr lang="en-US" altLang="ko-KR" sz="1800" b="0" dirty="0">
                <a:solidFill>
                  <a:srgbClr val="C00000"/>
                </a:solidFill>
                <a:highlight>
                  <a:srgbClr val="FFFFFF"/>
                </a:highlight>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97738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(A) - (C)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576316"/>
            <a:ext cx="11277295" cy="84277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셰르파족 소개 → (A) 등반 기술이 좋아 등산가들이 고용했다 → (C) 정상까지 이끌고 'in many ways' 돕는다 → (B) 'For example' 텐트와 가방 예로 이어진다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Sherpas lead mountain climbers to the top of the mountain.</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55016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55016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The word Sherpa comes from the Sherpa tribe, which lives in the eastern part of Nepal.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Sherpas have good climbing skills and know their way around the mountains well.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They also have little difficulty breathing high up in the mountains.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Therefore, mountain climbers started to hire Sherpas to help them climb Mount Everest.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They support climbers in many ways. For example, they put up tents and carry climbers’ bags. Sherpas are often called the invisible people of Mount Everest because people often see a picture of only the climbers at the top of the mountain.</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55016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The word Sherpa comes from the Sherpa tribe, which lives in the eastern part of Nepal.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Sherpas have good climbing skills and know their way around the mountains well.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They also have little difficulty breathing high up in the mountains.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Therefore, mountain climbers started to hire Sherpas to help them climb Mount Everest. </a:t>
            </a:r>
            <a:r>
              <a:rPr lang="ko-KR" altLang="en-US" sz="1800" b="1" dirty="0">
                <a:solidFill>
                  <a:srgbClr val="C00000"/>
                </a:solidFill>
                <a:highlight>
                  <a:srgbClr val="F3F5F9"/>
                </a:highlight>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They support climbers in many ways. For example, they put up tents and carry climbers’ bags. Sherpas are often called the invisible people of Mount Everest because people often see a picture of only the climbers at the top of the mountain.</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26440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863338"/>
            <a:ext cx="11277295" cy="155574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⑤ 뒤 'They support climbers'는 앞에서 셰르파가 등산가를 이끄는 일을 말한 뒤 자연스럽다. 정상까지 이끈다는 주어진 문장은 ⑤에 들어간다.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Sherpas have good climbing skills and know their way around the mountains well.</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22504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The word Sherpa comes from the Sherpa tribe, which lives in the eastern part of Nepal.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They also have little difficulty breathing high up in the mountains.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Therefore, mountain climbers started to hire Sherpas to help them climb Mount Everest.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Sherpas lead mountain climbers to the top of the mountain.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They support climbers in many ways. For example, they put up tents and carry climbers’ bags. Sherpas are often called the invisible people of Mount Everest because people often see a picture of only the climbers at the top of the mountain.</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22504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The word Sherpa comes from the Sherpa tribe, which lives in the eastern part of Nepal. </a:t>
            </a:r>
            <a:r>
              <a:rPr lang="ko-KR" altLang="en-US" sz="1800" b="1" dirty="0">
                <a:solidFill>
                  <a:srgbClr val="C00000"/>
                </a:solidFill>
                <a:highlight>
                  <a:srgbClr val="F3F5F9"/>
                </a:highlight>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They also have little difficulty breathing high up in the mountains.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Therefore, mountain climbers started to hire Sherpas to help them climb Mount Everest.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Sherpas lead mountain climbers to the top of the mountain.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They support climbers in many ways. For example, they put up tents and carry climbers’ bags. Sherpas are often called the invisible people of Mount Everest because people often see a picture of only the climbers at the top of the mountain.</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3928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38218"/>
            <a:ext cx="11277295" cy="188086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② 뒤 'They also have'의 also는 앞에 셰르파의 다른 장점이 있어야 쓴다. 등반 기술을 말하는 주어진 문장이 ②에 들어간다.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5개)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28421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 word Sherpa comes from the Sherpa tribe,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where lives</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which lives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in the eastern part of Nepal.</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Sherpas have good climbing skills and know their way around the mountains well.</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They also have little difficulty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breathing</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to breathe</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high up in the mountains.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Therefore, mountain climbers started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to hire</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hired</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Sherpas to help them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climb Mount</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climbing Mount</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Everest.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Sherpas lead mountain climbers to the top of the mountain.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They support climbers in many ways.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For example, they put up tents and carry climbers’ bags.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⑧</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Sherpas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often call</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are often called</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invisible people of Mount Everest because people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comes from the Sherpa tribe,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where lives</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which lives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know their way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little difficulty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breathing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breathe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hire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hired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Sherpas to help them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climb Mount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climbing Mount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carry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often call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are often called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invisible people of Mount Everest because people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comes from the Sherpa tribe,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where lives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which lives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know their way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little difficulty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breathing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breathe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hire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hired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Sherpas to help them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climb Mount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climbing Mount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carry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often call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are often called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invisible people of Mount Everest because people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comes from the Sherpa tribe,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where lives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which lives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know their way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little difficulty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breathing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breathe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to hire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hired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Sherpas to help them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climb Mount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climbing Mount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carry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often call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are often called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invisible people of Mount Everest because people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comes from the Sherpa tribe,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where lives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which lives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know their way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little difficulty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breathing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breathe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hire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hired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Sherpas to help them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climb Mount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climbing Mount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carry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often call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are often called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invisible people of Mount Everest because people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13" name="rv_g05"/>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comes from the Sherpa tribe,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where lives</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which lives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know their way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little difficulty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breathing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breathe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hire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hired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Sherpas to help them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climb Mount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climbing Mount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carry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often call</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are often called</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invisible people of Mount Everest because people often see a picture of only the climbers at the top of the mountain.</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L5-4</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5</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5개)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28421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 word Sherpa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comes from</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is come from</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Sherpa tribe, which lives in the eastern part of Nepal.</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Sherpas have good climbing skills and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know their way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knows their way</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around the mountains well.</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They also have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little difficulty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few difficulty</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breathing high up in the mountains.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Therefore, mountain climbers started to hire Sherpas to help them climb Mount Everest.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Sherpas lead mountain climbers to the top of the mountain.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They support climbers in many ways.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For example, they put up tents and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carry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carries</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climbers’ bags.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⑧</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Sherpas are often called the invisible people of Mount Everest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because people</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because of people</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comes from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is come from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Sherpa tribe, which lives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 their way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knows their way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little difficulty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few difficulty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breathing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to hire Sherpas to help them climb Mount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carry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carries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are often called the invisible people of Mount Everest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because people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because of people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comes from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is come from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Sherpa tribe, which lives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know their way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knows their way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little difficulty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few difficulty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breathing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to hire Sherpas to help them climb Mount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carry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carries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are often called the invisible people of Mount Everest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because people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because of people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comes from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is come from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Sherpa tribe, which lives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 their way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knows their way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little difficulty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few difficulty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breathing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to hire Sherpas to help them climb Mount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carry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carries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are often called the invisible people of Mount Everest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because people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because of people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comes from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is come from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Sherpa tribe, which lives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 their way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knows their way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little difficulty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few difficulty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breathing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to hire Sherpas to help them climb Mount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carry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carries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are often called the invisible people of Mount Everest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because people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because of people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often see a picture of only the climbers at the top of the mountain.</a:t>
            </a:r>
            <a:endParaRPr lang="en-US" altLang="ko-KR" sz="2200" b="0" dirty="0">
              <a:solidFill>
                <a:srgbClr val="1F2328"/>
              </a:solidFill>
              <a:latin typeface="Calibri"/>
              <a:ea typeface="맑은 고딕"/>
              <a:cs typeface="Calibri"/>
            </a:endParaRPr>
          </a:p>
        </p:txBody>
      </p:sp>
      <p:sp>
        <p:nvSpPr>
          <p:cNvPr id="13" name="rv_g05"/>
          <p:cNvSpPr txBox="1"/>
          <p:nvPr/>
        </p:nvSpPr>
        <p:spPr>
          <a:xfrm>
            <a:off x="457200" y="950976"/>
            <a:ext cx="11277295" cy="528421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 word Sherpa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comes from</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is come from</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Sherpa tribe, which lives in the eastern part of Nepal.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have good climbing skills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 their way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knows their way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around the mountains well.</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also have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little difficulty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few difficulty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breathing high up in the mountains.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Therefore, mountain climbers started to hire Sherpas to help them climb Mount Everest.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lead mountain climbers to the top of the mountain.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They support climbers in many ways.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For example, they put up tents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carry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carries</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climbers’ bags.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⑧</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Sherpas are often called the invisible people of Mount Everest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because people</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because of people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often see a picture of only the climbers at the top of the mountain.</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