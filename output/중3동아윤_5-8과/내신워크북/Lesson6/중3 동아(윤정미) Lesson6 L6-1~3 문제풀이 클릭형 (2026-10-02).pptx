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A5A"/>
        </a:solidFill>
        <a:effectLst/>
      </p:bgPr>
    </p:bg>
    <p:spTree>
      <p:nvGrpSpPr>
        <p:cNvPr id="1" name=""/>
        <p:cNvGrpSpPr/>
        <p:nvPr/>
      </p:nvGrpSpPr>
      <p:grpSpPr/>
      <p:sp>
        <p:nvSpPr>
          <p:cNvPr id="2" name="cv_title"/>
          <p:cNvSpPr txBox="1"/>
          <p:nvPr/>
        </p:nvSpPr>
        <p:spPr>
          <a:xfrm>
            <a:off x="822960" y="1371600"/>
            <a:ext cx="10515600" cy="868680"/>
          </a:xfrm>
          <a:prstGeom prst="rect">
            <a:avLst/>
          </a:prstGeom>
          <a:noFill/>
        </p:spPr>
        <p:txBody>
          <a:bodyPr wrap="square" lIns="91440" tIns="45720" rIns="91440" bIns="45720" anchor="t" rtlCol="0">
            <a:noAutofit/>
          </a:bodyPr>
          <a:lstStyle/>
          <a:p>
            <a:pPr algn="l">
              <a:lnSpc>
                <a:spcPts val="5680"/>
              </a:lnSpc>
              <a:spcBef>
                <a:spcPts val="0"/>
              </a:spcBef>
              <a:spcAft>
                <a:spcPts val="0"/>
              </a:spcAft>
              <a:buNone/>
            </a:pPr>
            <a:r>
              <a:rPr lang="ko-KR" altLang="en-US" sz="4000" b="1" dirty="0">
                <a:solidFill>
                  <a:srgbClr val="FFFFFF"/>
                </a:solidFill>
                <a:latin typeface="맑은 고딕"/>
                <a:ea typeface="맑은 고딕"/>
                <a:cs typeface="맑은 고딕"/>
              </a:rPr>
              <a:t>문제 풀이 · 정답 확인</a:t>
            </a:r>
            <a:endParaRPr lang="ko-KR" altLang="en-US" sz="4000" b="1" dirty="0">
              <a:solidFill>
                <a:srgbClr val="FFFFFF"/>
              </a:solidFill>
              <a:latin typeface="맑은 고딕"/>
              <a:ea typeface="맑은 고딕"/>
              <a:cs typeface="맑은 고딕"/>
            </a:endParaRPr>
          </a:p>
        </p:txBody>
      </p:sp>
      <p:sp>
        <p:nvSpPr>
          <p:cNvPr id="3" name="cv_exam"/>
          <p:cNvSpPr txBox="1"/>
          <p:nvPr/>
        </p:nvSpPr>
        <p:spPr>
          <a:xfrm>
            <a:off x="822960" y="2240280"/>
            <a:ext cx="10515600" cy="502920"/>
          </a:xfrm>
          <a:prstGeom prst="rect">
            <a:avLst/>
          </a:prstGeom>
          <a:noFill/>
        </p:spPr>
        <p:txBody>
          <a:bodyPr wrap="square" lIns="91440" tIns="45720" rIns="91440" bIns="45720" anchor="t" rtlCol="0">
            <a:noAutofit/>
          </a:bodyPr>
          <a:lstStyle/>
          <a:p>
            <a:pPr algn="l">
              <a:lnSpc>
                <a:spcPts val="2840"/>
              </a:lnSpc>
              <a:spcBef>
                <a:spcPts val="0"/>
              </a:spcBef>
              <a:spcAft>
                <a:spcPts val="0"/>
              </a:spcAft>
              <a:buNone/>
            </a:pPr>
            <a:r>
              <a:rPr lang="ko-KR" altLang="en-US" sz="2000" b="0" dirty="0">
                <a:solidFill>
                  <a:srgbClr val="CFD8E8"/>
                </a:solidFill>
                <a:latin typeface="맑은 고딕"/>
                <a:ea typeface="맑은 고딕"/>
                <a:cs typeface="맑은 고딕"/>
              </a:rPr>
              <a:t>중3 동아(윤정미) Lesson 6</a:t>
            </a:r>
            <a:endParaRPr lang="ko-KR" altLang="en-US" sz="2000" b="0" dirty="0">
              <a:solidFill>
                <a:srgbClr val="CFD8E8"/>
              </a:solidFill>
              <a:latin typeface="맑은 고딕"/>
              <a:ea typeface="맑은 고딕"/>
              <a:cs typeface="맑은 고딕"/>
            </a:endParaRPr>
          </a:p>
        </p:txBody>
      </p:sp>
      <p:sp>
        <p:nvSpPr>
          <p:cNvPr id="4" name="cv_ids"/>
          <p:cNvSpPr txBox="1"/>
          <p:nvPr/>
        </p:nvSpPr>
        <p:spPr>
          <a:xfrm>
            <a:off x="822960" y="2788920"/>
            <a:ext cx="10515600" cy="457200"/>
          </a:xfrm>
          <a:prstGeom prst="rect">
            <a:avLst/>
          </a:prstGeom>
          <a:noFill/>
        </p:spPr>
        <p:txBody>
          <a:bodyPr wrap="square" lIns="91440" tIns="45720" rIns="91440" bIns="45720" anchor="t" rtlCol="0">
            <a:noAutofit/>
          </a:bodyPr>
          <a:lstStyle/>
          <a:p>
            <a:pPr algn="l">
              <a:lnSpc>
                <a:spcPts val="2340"/>
              </a:lnSpc>
              <a:spcBef>
                <a:spcPts val="0"/>
              </a:spcBef>
              <a:spcAft>
                <a:spcPts val="0"/>
              </a:spcAft>
              <a:buNone/>
            </a:pPr>
            <a:r>
              <a:rPr lang="en-US" altLang="ko-KR" sz="1800" b="1" dirty="0">
                <a:solidFill>
                  <a:srgbClr val="AEBBD0"/>
                </a:solidFill>
                <a:latin typeface="Calibri"/>
                <a:ea typeface="맑은 고딕"/>
                <a:cs typeface="Calibri"/>
              </a:rPr>
              <a:t>L6-1  ·  L6-2  ·  L6-3</a:t>
            </a:r>
            <a:endParaRPr lang="en-US" altLang="ko-KR" sz="1800" b="1" dirty="0">
              <a:solidFill>
                <a:srgbClr val="AEBBD0"/>
              </a:solidFill>
              <a:latin typeface="Calibri"/>
              <a:ea typeface="맑은 고딕"/>
              <a:cs typeface="Calibri"/>
            </a:endParaRPr>
          </a:p>
        </p:txBody>
      </p:sp>
      <p:sp>
        <p:nvSpPr>
          <p:cNvPr id="5" name="cv_legend"/>
          <p:cNvSpPr/>
          <p:nvPr/>
        </p:nvSpPr>
        <p:spPr>
          <a:xfrm>
            <a:off x="822960" y="3977639"/>
            <a:ext cx="10515600" cy="1645920"/>
          </a:xfrm>
          <a:prstGeom prst="roundRect">
            <a:avLst>
              <a:gd name="adj" fmla="val 6000"/>
            </a:avLst>
          </a:prstGeom>
          <a:solidFill>
            <a:srgbClr val="27356E"/>
          </a:solidFill>
          <a:ln>
            <a:noFill/>
          </a:ln>
        </p:spPr>
        <p:txBody>
          <a:bodyPr wrap="square" lIns="320040" tIns="201168" rIns="320040" bIns="182880" anchor="t" rtlCol="0">
            <a:noAutofit/>
          </a:bodyPr>
          <a:lstStyle/>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1  5지선다     </a:t>
            </a:r>
            <a:r>
              <a:rPr lang="ko-KR" altLang="en-US" sz="1600" b="0" dirty="0">
                <a:solidFill>
                  <a:srgbClr val="FFFFFF"/>
                </a:solidFill>
                <a:latin typeface="맑은 고딕"/>
                <a:ea typeface="맑은 고딕"/>
                <a:cs typeface="맑은 고딕"/>
              </a:rPr>
              <a:t>클릭 ① 정답  →  클릭 ② 본문 근거 형광 +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2  순서·위치     </a:t>
            </a:r>
            <a:r>
              <a:rPr lang="ko-KR" altLang="en-US" sz="1600" b="0" dirty="0">
                <a:solidFill>
                  <a:srgbClr val="FFFFFF"/>
                </a:solidFill>
                <a:latin typeface="맑은 고딕"/>
                <a:ea typeface="맑은 고딕"/>
                <a:cs typeface="맑은 고딕"/>
              </a:rPr>
              <a:t>클릭 ① 정답  →  클릭 ② 정답 원리</a:t>
            </a:r>
            <a:endParaRPr lang="ko-KR" altLang="en-US" sz="1600" b="0" dirty="0">
              <a:solidFill>
                <a:srgbClr val="FFFFFF"/>
              </a:solidFill>
              <a:latin typeface="맑은 고딕"/>
              <a:ea typeface="맑은 고딕"/>
              <a:cs typeface="맑은 고딕"/>
            </a:endParaRPr>
          </a:p>
          <a:p>
            <a:pPr algn="l">
              <a:lnSpc>
                <a:spcPts val="2270"/>
              </a:lnSpc>
              <a:spcBef>
                <a:spcPts val="0"/>
              </a:spcBef>
              <a:spcAft>
                <a:spcPts val="800"/>
              </a:spcAft>
              <a:buNone/>
            </a:pPr>
            <a:r>
              <a:rPr lang="ko-KR" altLang="en-US" sz="1600" b="1" dirty="0">
                <a:solidFill>
                  <a:srgbClr val="FFE98A"/>
                </a:solidFill>
                <a:latin typeface="맑은 고딕"/>
                <a:ea typeface="맑은 고딕"/>
                <a:cs typeface="맑은 고딕"/>
              </a:rPr>
              <a:t>PART 3  어법·어휘     </a:t>
            </a:r>
            <a:r>
              <a:rPr lang="ko-KR" altLang="en-US" sz="1600" b="0" dirty="0">
                <a:solidFill>
                  <a:srgbClr val="FFFFFF"/>
                </a:solidFill>
                <a:latin typeface="맑은 고딕"/>
                <a:ea typeface="맑은 고딕"/>
                <a:cs typeface="맑은 고딕"/>
              </a:rPr>
              <a:t>본문 속 괄호마다, 클릭할 때마다 정답이 빨간색으로</a:t>
            </a:r>
            <a:endParaRPr lang="ko-KR" altLang="en-US" sz="1600" b="0" dirty="0">
              <a:solidFill>
                <a:srgbClr val="FFFFFF"/>
              </a:solidFill>
              <a:latin typeface="맑은 고딕"/>
              <a:ea typeface="맑은 고딕"/>
              <a:cs typeface="맑은 고딕"/>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F2328"/>
                </a:solidFill>
                <a:latin typeface="Calibri"/>
                <a:ea typeface="맑은 고딕"/>
                <a:cs typeface="Calibri"/>
              </a:rPr>
              <a:t>Mr. Boggis’ secret was simple. He went to small towns every Sunday and knocked on doors.</a:t>
            </a:r>
            <a:r>
              <a:rPr lang="en-US" altLang="ko-KR" sz="1500" b="0" dirty="0">
                <a:solidFill>
                  <a:srgbClr val="1F2328"/>
                </a:solidFill>
                <a:latin typeface="Calibri"/>
                <a:ea typeface="맑은 고딕"/>
                <a:cs typeface="Calibri"/>
              </a:rPr>
              <a:t> He told people that he was a furniture dealer. </a:t>
            </a:r>
            <a:r>
              <a:rPr lang="en-US" altLang="ko-KR" sz="1500" b="0" dirty="0">
                <a:solidFill>
                  <a:srgbClr val="1F2328"/>
                </a:solidFill>
                <a:latin typeface="Calibri"/>
                <a:ea typeface="맑은 고딕"/>
                <a:cs typeface="Calibri"/>
              </a:rPr>
              <a:t>People didn’t know how valuable their things were, so Mr. Boggis took advantage of them.</a:t>
            </a:r>
            <a:r>
              <a:rPr lang="en-US" altLang="ko-KR" sz="1500" b="0" dirty="0">
                <a:solidFill>
                  <a:srgbClr val="1F2328"/>
                </a:solidFill>
                <a:latin typeface="Calibri"/>
                <a:ea typeface="맑은 고딕"/>
                <a:cs typeface="Calibri"/>
              </a:rPr>
              <a:t>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11111"/>
                </a:solidFill>
                <a:highlight>
                  <a:srgbClr val="FFE45C"/>
                </a:highlight>
                <a:latin typeface="Calibri"/>
                <a:ea typeface="맑은 고딕"/>
                <a:cs typeface="Calibri"/>
              </a:rPr>
              <a:t>Mr. Boggis’ secret was simple. He went to small towns every Sunday and knocked on doors.</a:t>
            </a:r>
            <a:r>
              <a:rPr lang="en-US" altLang="ko-KR" sz="1500" b="0" dirty="0">
                <a:solidFill>
                  <a:srgbClr val="B3BAC6"/>
                </a:solidFill>
                <a:latin typeface="Calibri"/>
                <a:ea typeface="맑은 고딕"/>
                <a:cs typeface="Calibri"/>
              </a:rPr>
              <a:t> He told people that he was a furniture dealer. </a:t>
            </a:r>
            <a:r>
              <a:rPr lang="en-US" altLang="ko-KR" sz="1500" b="0" dirty="0">
                <a:solidFill>
                  <a:srgbClr val="111111"/>
                </a:solidFill>
                <a:highlight>
                  <a:srgbClr val="FFE45C"/>
                </a:highlight>
                <a:latin typeface="Calibri"/>
                <a:ea typeface="맑은 고딕"/>
                <a:cs typeface="Calibri"/>
              </a:rPr>
              <a:t>People didn’t know how valuable their things were, so Mr. Boggis took advantage of them.</a:t>
            </a:r>
            <a:r>
              <a:rPr lang="en-US" altLang="ko-KR" sz="1500" b="0" dirty="0">
                <a:solidFill>
                  <a:srgbClr val="B3BAC6"/>
                </a:solidFill>
                <a:latin typeface="Calibri"/>
                <a:ea typeface="맑은 고딕"/>
                <a:cs typeface="Calibri"/>
              </a:rPr>
              <a:t>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how Mr. Boggis bought furniture at low prices</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26098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en-US" altLang="ko-KR" sz="1800" b="0" dirty="0">
                <a:solidFill>
                  <a:srgbClr val="C00000"/>
                </a:solidFill>
                <a:latin typeface="Calibri"/>
                <a:ea typeface="맑은 고딕"/>
                <a:cs typeface="Calibri"/>
              </a:rPr>
              <a:t>	how Mr. Boggis bought furniture at low prices</a:t>
            </a:r>
            <a:endParaRPr lang="en-US" altLang="ko-KR" sz="1800" b="0" dirty="0">
              <a:solidFill>
                <a:srgbClr val="C00000"/>
              </a:solidFill>
              <a:latin typeface="Calibri"/>
              <a:ea typeface="맑은 고딕"/>
              <a:cs typeface="Calibri"/>
            </a:endParaRPr>
          </a:p>
        </p:txBody>
      </p:sp>
      <p:sp>
        <p:nvSpPr>
          <p:cNvPr id="13"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why antique furniture is valuable in London</a:t>
            </a:r>
            <a:endParaRPr lang="en-US" altLang="ko-KR" sz="1800" b="0" dirty="0">
              <a:solidFill>
                <a:srgbClr val="1F2328"/>
              </a:solidFill>
              <a:latin typeface="Calibri"/>
              <a:ea typeface="맑은 고딕"/>
              <a:cs typeface="Calibri"/>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how people in small towns sold old tables</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why Mr. Boggis moved from London to a town</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what makes a good furniture dealer honest</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how Mr. Boggis bought furniture at low prices</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일요일마다 작은 마을을 돌며 물건을 매우 싸게 샀다. 싸게 사들인 방법을 다룬 ①이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F2328"/>
                </a:solidFill>
                <a:latin typeface="Calibri"/>
                <a:ea typeface="맑은 고딕"/>
                <a:cs typeface="Calibri"/>
              </a:rPr>
              <a:t>Mr. Boggis’ secret was simple</a:t>
            </a:r>
            <a:r>
              <a:rPr lang="en-US" altLang="ko-KR" sz="1500" b="0" dirty="0">
                <a:solidFill>
                  <a:srgbClr val="1F2328"/>
                </a:solidFill>
                <a:latin typeface="Calibri"/>
                <a:ea typeface="맑은 고딕"/>
                <a:cs typeface="Calibri"/>
              </a:rPr>
              <a:t>. He went to small towns every Sunday and knocked on doors. He told people that he was a furniture dealer. People didn’t know how valuable their things were, so Mr. Boggis took advantage of them.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a:t>
            </a:r>
            <a:r>
              <a:rPr lang="en-US" altLang="ko-KR" sz="1500" b="0" dirty="0">
                <a:solidFill>
                  <a:srgbClr val="111111"/>
                </a:solidFill>
                <a:highlight>
                  <a:srgbClr val="FFE45C"/>
                </a:highlight>
                <a:latin typeface="Calibri"/>
                <a:ea typeface="맑은 고딕"/>
                <a:cs typeface="Calibri"/>
              </a:rPr>
              <a:t>Mr. Boggis’ secret was simple</a:t>
            </a:r>
            <a:r>
              <a:rPr lang="en-US" altLang="ko-KR" sz="1500" b="0" dirty="0">
                <a:solidFill>
                  <a:srgbClr val="B3BAC6"/>
                </a:solidFill>
                <a:latin typeface="Calibri"/>
                <a:ea typeface="맑은 고딕"/>
                <a:cs typeface="Calibri"/>
              </a:rPr>
              <a:t>. He went to small towns every Sunday and knocked on doors. He told people that he was a furniture dealer. People didn’t know how valuable their things were, so Mr. Boggis took advantage of them.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The Rise of Antique Shops in London</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Simple Secret of a Clever Dealer</a:t>
            </a:r>
            <a:endParaRPr lang="en-US" altLang="ko-KR" sz="1800" b="0" dirty="0">
              <a:solidFill>
                <a:srgbClr val="1F2328"/>
              </a:solidFill>
              <a:latin typeface="Calibri"/>
              <a:ea typeface="맑은 고딕"/>
              <a:cs typeface="Calibri"/>
            </a:endParaRPr>
          </a:p>
        </p:txBody>
      </p:sp>
      <p:sp>
        <p:nvSpPr>
          <p:cNvPr id="13" name="rv_pick"/>
          <p:cNvSpPr txBox="1"/>
          <p:nvPr/>
        </p:nvSpPr>
        <p:spPr>
          <a:xfrm>
            <a:off x="457200" y="30172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en-US" altLang="ko-KR" sz="1800" b="0" dirty="0">
                <a:solidFill>
                  <a:srgbClr val="C00000"/>
                </a:solidFill>
                <a:latin typeface="Calibri"/>
                <a:ea typeface="맑은 고딕"/>
                <a:cs typeface="Calibri"/>
              </a:rPr>
              <a:t>	The Simple Secret of a Clever Dealer</a:t>
            </a:r>
            <a:endParaRPr lang="en-US" altLang="ko-KR" sz="1800" b="0" dirty="0">
              <a:solidFill>
                <a:srgbClr val="C00000"/>
              </a:solidFill>
              <a:latin typeface="Calibri"/>
              <a:ea typeface="맑은 고딕"/>
              <a:cs typeface="Calibri"/>
            </a:endParaRPr>
          </a:p>
        </p:txBody>
      </p:sp>
      <p:sp>
        <p:nvSpPr>
          <p:cNvPr id="14"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Small Towns and Their Rich Traditions</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to Tell Real Antiques from Fakes</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Why People Love Buying Old Furniture</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The Simple Secret of a Clever Dealer</a:t>
            </a:r>
            <a:endParaRPr lang="en-US" altLang="ko-KR" sz="1900" b="1" dirty="0">
              <a:solidFill>
                <a:srgbClr val="5A4200"/>
              </a:solidFill>
              <a:latin typeface="Calibri"/>
              <a:ea typeface="맑은 고딕"/>
              <a:cs typeface="Calibri"/>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Boggis의 비밀은 'simple'했다고 했다. 영리한 판매상의 단순한 비밀이라는 ②가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People didn’t know how valuable their things were, </a:t>
            </a:r>
            <a:r>
              <a:rPr lang="en-US" altLang="ko-KR" sz="1500" b="0" dirty="0">
                <a:solidFill>
                  <a:srgbClr val="1F2328"/>
                </a:solidFill>
                <a:latin typeface="Calibri"/>
                <a:ea typeface="맑은 고딕"/>
                <a:cs typeface="Calibri"/>
              </a:rPr>
              <a:t>so Mr. Boggis took advantage of them</a:t>
            </a:r>
            <a:r>
              <a:rPr lang="en-US" altLang="ko-KR" sz="1500" b="0" dirty="0">
                <a:solidFill>
                  <a:srgbClr val="1F2328"/>
                </a:solidFill>
                <a:latin typeface="Calibri"/>
                <a:ea typeface="맑은 고딕"/>
                <a:cs typeface="Calibri"/>
              </a:rPr>
              <a:t>.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People didn’t know how valuable their things were, </a:t>
            </a:r>
            <a:r>
              <a:rPr lang="en-US" altLang="ko-KR" sz="1500" b="0" dirty="0">
                <a:solidFill>
                  <a:srgbClr val="111111"/>
                </a:solidFill>
                <a:highlight>
                  <a:srgbClr val="FFE45C"/>
                </a:highlight>
                <a:latin typeface="Calibri"/>
                <a:ea typeface="맑은 고딕"/>
                <a:cs typeface="Calibri"/>
              </a:rPr>
              <a:t>so Mr. Boggis took advantage of them</a:t>
            </a:r>
            <a:r>
              <a:rPr lang="en-US" altLang="ko-KR" sz="1500" b="0" dirty="0">
                <a:solidFill>
                  <a:srgbClr val="B3BAC6"/>
                </a:solidFill>
                <a:latin typeface="Calibri"/>
                <a:ea typeface="맑은 고딕"/>
                <a:cs typeface="Calibri"/>
              </a:rPr>
              <a:t>.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골동품은 큰 도시의 전문 가게에서 사야 한다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가구를 살 때는 먼저 가격을 꼼꼼히 비교해야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남의 무지를 이용해 부당한 이익을 얻어선 안 된다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4246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남의 무지를 이용해 부당한 이익을 얻어선 안 된다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작은 마을의 오래된 물건을 잘 보존해야 한다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좋은 물건은 비싼 가격에 팔아야 이익이 남는다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남의 무지를 이용해 부당한 이익을 얻어선 안 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가치를 모르는 사람들을 이용한 Boggis의 행동을 비판하는 ③이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a:t>
            </a:r>
            <a:r>
              <a:rPr lang="en-US" altLang="ko-KR" sz="1500" b="0" dirty="0">
                <a:solidFill>
                  <a:srgbClr val="1F2328"/>
                </a:solidFill>
                <a:latin typeface="Calibri"/>
                <a:ea typeface="맑은 고딕"/>
                <a:cs typeface="Calibri"/>
              </a:rPr>
              <a:t>People didn’t know how valuable their things were, so Mr. Boggis took advantage of them.</a:t>
            </a:r>
            <a:r>
              <a:rPr lang="en-US" altLang="ko-KR" sz="1500" b="0" dirty="0">
                <a:solidFill>
                  <a:srgbClr val="1F2328"/>
                </a:solidFill>
                <a:latin typeface="Calibri"/>
                <a:ea typeface="맑은 고딕"/>
                <a:cs typeface="Calibri"/>
              </a:rPr>
              <a:t>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knocked on doors. He told people that he was a furniture dealer. </a:t>
            </a:r>
            <a:r>
              <a:rPr lang="en-US" altLang="ko-KR" sz="1500" b="0" dirty="0">
                <a:solidFill>
                  <a:srgbClr val="111111"/>
                </a:solidFill>
                <a:highlight>
                  <a:srgbClr val="FFE45C"/>
                </a:highlight>
                <a:latin typeface="Calibri"/>
                <a:ea typeface="맑은 고딕"/>
                <a:cs typeface="Calibri"/>
              </a:rPr>
              <a:t>People didn’t know how valuable their things were, so Mr. Boggis took advantage of them.</a:t>
            </a:r>
            <a:r>
              <a:rPr lang="en-US" altLang="ko-KR" sz="1500" b="0" dirty="0">
                <a:solidFill>
                  <a:srgbClr val="B3BAC6"/>
                </a:solidFill>
                <a:latin typeface="Calibri"/>
                <a:ea typeface="맑은 고딕"/>
                <a:cs typeface="Calibri"/>
              </a:rPr>
              <a:t>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직접 가구를 만들어 비싸게 팔았다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작은 마을 사람들은 골동품 가치를 잘 알았다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가구 출처를 사람들에게 다 밝혔다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물건값을 모르는 사람들을 이용했다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38320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Boggis 씨는 물건값을 모르는 사람들을 이용했다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런던 사람들은 고가구를 싸게 사는 법을 알았다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Boggis 씨는 물건값을 모르는 사람들을 이용했다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사람들이 물건의 가치를 몰라서 Boggis가 그들을 이용했다고 했다. 이를 옮긴 ④가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a:t>
            </a:r>
            <a:r>
              <a:rPr lang="en-US" altLang="ko-KR" sz="1500" b="0" dirty="0">
                <a:solidFill>
                  <a:srgbClr val="1F2328"/>
                </a:solidFill>
                <a:latin typeface="Calibri"/>
                <a:ea typeface="맑은 고딕"/>
                <a:cs typeface="Calibri"/>
              </a:rPr>
              <a:t>He went to small towns every Sunday</a:t>
            </a:r>
            <a:r>
              <a:rPr lang="en-US" altLang="ko-KR" sz="1500" b="0" dirty="0">
                <a:solidFill>
                  <a:srgbClr val="1F2328"/>
                </a:solidFill>
                <a:latin typeface="Calibri"/>
                <a:ea typeface="맑은 고딕"/>
                <a:cs typeface="Calibri"/>
              </a:rPr>
              <a:t> and knocked on doors. He told people that he was a furniture dealer. People didn’t know how valuable their things were, so Mr. Boggis took advantage of them.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a:t>
            </a:r>
            <a:r>
              <a:rPr lang="en-US" altLang="ko-KR" sz="1500" b="0" dirty="0">
                <a:solidFill>
                  <a:srgbClr val="111111"/>
                </a:solidFill>
                <a:highlight>
                  <a:srgbClr val="FFE45C"/>
                </a:highlight>
                <a:latin typeface="Calibri"/>
                <a:ea typeface="맑은 고딕"/>
                <a:cs typeface="Calibri"/>
              </a:rPr>
              <a:t>He went to small towns every Sunday</a:t>
            </a:r>
            <a:r>
              <a:rPr lang="en-US" altLang="ko-KR" sz="1500" b="0" dirty="0">
                <a:solidFill>
                  <a:srgbClr val="B3BAC6"/>
                </a:solidFill>
                <a:latin typeface="Calibri"/>
                <a:ea typeface="맑은 고딕"/>
                <a:cs typeface="Calibri"/>
              </a:rPr>
              <a:t> and knocked on doors. He told people that he was a furniture dealer. People didn’t know how valuable their things were, so Mr. Boggis took advantage of them.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런던의 골동품 가구 판매상이었다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Boggis 씨는 싸게 사서 비싸게 파는 것으로 유명했다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매주 토요일에 큰 도시를 방문했다</a:t>
            </a:r>
            <a:endParaRPr lang="ko-KR" altLang="en-US" sz="1800" b="0" dirty="0">
              <a:solidFill>
                <a:srgbClr val="1F2328"/>
              </a:solidFill>
              <a:latin typeface="맑은 고딕"/>
              <a:ea typeface="맑은 고딕"/>
              <a:cs typeface="맑은 고딕"/>
            </a:endParaRPr>
          </a:p>
        </p:txBody>
      </p:sp>
      <p:sp>
        <p:nvSpPr>
          <p:cNvPr id="14" name="rv_pick"/>
          <p:cNvSpPr txBox="1"/>
          <p:nvPr/>
        </p:nvSpPr>
        <p:spPr>
          <a:xfrm>
            <a:off x="457200" y="34246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ko-KR" altLang="en-US" sz="1800" b="0" dirty="0">
                <a:solidFill>
                  <a:srgbClr val="C00000"/>
                </a:solidFill>
                <a:latin typeface="맑은 고딕"/>
                <a:ea typeface="맑은 고딕"/>
                <a:cs typeface="맑은 고딕"/>
              </a:rPr>
              <a:t>	Boggis 씨는 매주 토요일에 큰 도시를 방문했다</a:t>
            </a:r>
            <a:endParaRPr lang="ko-KR" altLang="en-US" sz="1800" b="0" dirty="0">
              <a:solidFill>
                <a:srgbClr val="C00000"/>
              </a:solidFill>
              <a:latin typeface="맑은 고딕"/>
              <a:ea typeface="맑은 고딕"/>
              <a:cs typeface="맑은 고딕"/>
            </a:endParaRPr>
          </a:p>
        </p:txBody>
      </p:sp>
      <p:sp>
        <p:nvSpPr>
          <p:cNvPr id="15"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가구를 구한 곳을 비밀이라고 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사람들은 자기 물건이 얼마나 값진지 몰랐다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ko-KR" altLang="en-US" sz="1900" b="1" dirty="0">
                <a:solidFill>
                  <a:srgbClr val="5A4200"/>
                </a:solidFill>
                <a:latin typeface="맑은 고딕"/>
                <a:ea typeface="맑은 고딕"/>
                <a:cs typeface="맑은 고딕"/>
              </a:rPr>
              <a:t>Boggis 씨는 매주 토요일에 큰 도시를 방문했다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일요일마다 작은 마을에 갔다. 토요일에 큰 도시를 방문했다는 ③은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a:t>
            </a:r>
            <a:r>
              <a:rPr lang="en-US" altLang="ko-KR" sz="1500" b="0" dirty="0">
                <a:solidFill>
                  <a:srgbClr val="1F2328"/>
                </a:solidFill>
                <a:latin typeface="Calibri"/>
                <a:ea typeface="맑은 고딕"/>
                <a:cs typeface="Calibri"/>
              </a:rPr>
              <a:t>knocked on doors</a:t>
            </a:r>
            <a:r>
              <a:rPr lang="en-US" altLang="ko-KR" sz="1500" b="0" dirty="0">
                <a:solidFill>
                  <a:srgbClr val="1F2328"/>
                </a:solidFill>
                <a:latin typeface="Calibri"/>
                <a:ea typeface="맑은 고딕"/>
                <a:cs typeface="Calibri"/>
              </a:rPr>
              <a:t>. He told people that he was a furniture dealer. People didn’t know how valuable their things were, so Mr. Boggis took advantage of them. He was able to buy things very cheaply.</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15125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15125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Cyril Boggis was an antique furniture dealer in London. He was known for buying good things at a low price and then selling them at a high price. People asked him where he had got the furniture, but he just said, "It’s a secret." Mr. Boggis’ secret was simple. He went to small towns every Sunday and </a:t>
            </a:r>
            <a:r>
              <a:rPr lang="en-US" altLang="ko-KR" sz="1500" b="0" dirty="0">
                <a:solidFill>
                  <a:srgbClr val="111111"/>
                </a:solidFill>
                <a:highlight>
                  <a:srgbClr val="FFE45C"/>
                </a:highlight>
                <a:latin typeface="Calibri"/>
                <a:ea typeface="맑은 고딕"/>
                <a:cs typeface="Calibri"/>
              </a:rPr>
              <a:t>knocked on doors</a:t>
            </a:r>
            <a:r>
              <a:rPr lang="en-US" altLang="ko-KR" sz="1500" b="0" dirty="0">
                <a:solidFill>
                  <a:srgbClr val="B3BAC6"/>
                </a:solidFill>
                <a:latin typeface="Calibri"/>
                <a:ea typeface="맑은 고딕"/>
                <a:cs typeface="Calibri"/>
              </a:rPr>
              <a:t>. He told people that he was a furniture dealer. People didn’t know how valuable their things were, so Mr. Boggis took advantage of them. He was able to buy things very cheaply.</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26098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자신이 가구 수리공이라고 말했다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0172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사람들은 Boggis 씨에게 가구를 비싸게 팔았다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4246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가구 출처를 신문에 공개했다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38320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매일 런던의 가게를 돌아다녔다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2395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Boggis 씨는 작은 마을의 집 문을 두드렸다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2395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Boggis 씨는 작은 마을의 집 문을 두드렸다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47292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Boggis 씨는 작은 마을의 집 문을 두드렸다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328158"/>
            <a:ext cx="11277295" cy="10909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작은 마을에 가서 문을 두드렸다('knocked on doors')고 했으므로 ⑤가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He was known for buying good things at a low price and then selling them at a high price. People asked him where he had got the furniture, but he just said, "It’s a secret."</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Mr. Boggis’ secret was simple. He went to small towns every Sunday and knocked on doors. He told people that he was a furniture dealer.</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C00000"/>
                </a:solidFill>
                <a:highlight>
                  <a:srgbClr val="FFFFFF"/>
                </a:highlight>
                <a:latin typeface="맑은 고딕"/>
                <a:ea typeface="맑은 고딕"/>
                <a:cs typeface="맑은 고딕"/>
              </a:rPr>
              <a:t>① </a:t>
            </a:r>
            <a:r>
              <a:rPr lang="en-US" altLang="ko-KR" sz="1800" b="0" dirty="0">
                <a:solidFill>
                  <a:srgbClr val="C00000"/>
                </a:solidFill>
                <a:highlight>
                  <a:srgbClr val="FFFFFF"/>
                </a:highlight>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en-US" altLang="ko-KR" sz="1900" b="1" dirty="0">
                <a:solidFill>
                  <a:srgbClr val="5A4200"/>
                </a:solidFill>
                <a:latin typeface="Calibri"/>
                <a:ea typeface="맑은 고딕"/>
                <a:cs typeface="Calibri"/>
              </a:rPr>
              <a:t>(A) - (C)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판매상 소개 → (A) 싸게 사서 비싸게 팔고 출처는 비밀이라 한다 → (C) 그 비밀(secret)이 단순했다며 방법을 밝힌다 → (B) 사람들이 가치를 몰라 싸게 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818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81838"/>
          </a:xfrm>
          <a:prstGeom prst="rect">
            <a:avLst/>
          </a:prstGeom>
          <a:noFill/>
        </p:spPr>
        <p:txBody>
          <a:bodyPr wrap="square" lIns="201168" tIns="100584" rIns="201168" bIns="100584" anchor="t" rtlCol="0">
            <a:noAutofit/>
          </a:bodyPr>
          <a:lstStyle/>
          <a:p>
            <a:pPr algn="l">
              <a:lnSpc>
                <a:spcPts val="221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a:t>
            </a:r>
            <a:endParaRPr lang="en-US" altLang="ko-KR" sz="1700" b="0" dirty="0">
              <a:solidFill>
                <a:srgbClr val="1F2328"/>
              </a:solidFill>
              <a:latin typeface="Calibri"/>
              <a:ea typeface="맑은 고딕"/>
              <a:cs typeface="Calibri"/>
            </a:endParaRPr>
          </a:p>
        </p:txBody>
      </p:sp>
      <p:sp>
        <p:nvSpPr>
          <p:cNvPr id="9" name="parts_card"/>
          <p:cNvSpPr/>
          <p:nvPr/>
        </p:nvSpPr>
        <p:spPr>
          <a:xfrm>
            <a:off x="457200" y="1560830"/>
            <a:ext cx="11277295" cy="2233422"/>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60830"/>
            <a:ext cx="11277295" cy="2233422"/>
          </a:xfrm>
          <a:prstGeom prst="rect">
            <a:avLst/>
          </a:prstGeom>
          <a:noFill/>
        </p:spPr>
        <p:txBody>
          <a:bodyPr wrap="square" lIns="201168" tIns="118872" rIns="201168" bIns="118872" anchor="t" rtlCol="0">
            <a:noAutofit/>
          </a:bodyPr>
          <a:lstStyle/>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(A)</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(B)</a:t>
            </a:r>
            <a:r>
              <a:rPr lang="en-US" altLang="ko-KR" sz="1700" b="0" dirty="0">
                <a:solidFill>
                  <a:srgbClr val="1F2328"/>
                </a:solidFill>
                <a:latin typeface="Calibri"/>
                <a:ea typeface="맑은 고딕"/>
                <a:cs typeface="Calibri"/>
              </a:rPr>
              <a:t>	He was known for buying good things at a low price and then selling them at a high price. People asked him where he had got the furniture, but he just said, "It’s a secret."</a:t>
            </a:r>
            <a:endParaRPr lang="en-US" altLang="ko-KR" sz="1700" b="0" dirty="0">
              <a:solidFill>
                <a:srgbClr val="1F2328"/>
              </a:solidFill>
              <a:latin typeface="Calibri"/>
              <a:ea typeface="맑은 고딕"/>
              <a:cs typeface="Calibri"/>
            </a:endParaRPr>
          </a:p>
          <a:p>
            <a:pPr algn="just" marL="453390" indent="-453390">
              <a:lnSpc>
                <a:spcPts val="2210"/>
              </a:lnSpc>
              <a:spcBef>
                <a:spcPts val="0"/>
              </a:spcBef>
              <a:spcAft>
                <a:spcPts val="770"/>
              </a:spcAft>
              <a:buNone/>
              <a:tabLst>
                <a:tab pos="453390" algn="l"/>
              </a:tabLst>
            </a:pPr>
            <a:r>
              <a:rPr lang="en-US" altLang="ko-KR" sz="1700" b="1" dirty="0">
                <a:solidFill>
                  <a:srgbClr val="1E2A5A"/>
                </a:solidFill>
                <a:latin typeface="Calibri"/>
                <a:ea typeface="맑은 고딕"/>
                <a:cs typeface="Calibri"/>
              </a:rPr>
              <a:t>(C)</a:t>
            </a:r>
            <a:r>
              <a:rPr lang="en-US" altLang="ko-KR" sz="1700" b="0" dirty="0">
                <a:solidFill>
                  <a:srgbClr val="1F2328"/>
                </a:solidFill>
                <a:latin typeface="Calibri"/>
                <a:ea typeface="맑은 고딕"/>
                <a:cs typeface="Calibri"/>
              </a:rPr>
              <a:t>	Mr. Boggis’ secret was simple. He went to small towns every Sunday and knocked on doors. He told people that he was a furniture dealer.</a:t>
            </a:r>
            <a:endParaRPr lang="en-US" altLang="ko-KR" sz="1700" b="0" dirty="0">
              <a:solidFill>
                <a:srgbClr val="1F2328"/>
              </a:solidFill>
              <a:latin typeface="Calibri"/>
              <a:ea typeface="맑은 고딕"/>
              <a:cs typeface="Calibri"/>
            </a:endParaRPr>
          </a:p>
        </p:txBody>
      </p:sp>
      <p:sp>
        <p:nvSpPr>
          <p:cNvPr id="11" name="options"/>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39039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4160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014976"/>
            <a:ext cx="11277295" cy="14041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판매상 소개 → (B) 싸게 사서 비싸게 팔고 출처는 'a secret'이라 한다 → (C) 그 비밀이 단순했다며 마을을 돈 방법을 밝힌다 → (A) 가치를 모르는 사람들을 이용했다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81330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81330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He was known for buying good things at a low price and then selling them at a high price.</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910587"/>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People asked him where he had got the furniture, but he just said, "It’s a secret."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Mr. Boggis’ secret was simple. He went to small towns every Sunday and knocked on doors.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He told people that he was a furniture dealer.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910587"/>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Cyril Boggis was an antique furniture dealer in London. </a:t>
            </a:r>
            <a:r>
              <a:rPr lang="ko-KR" altLang="en-US" sz="1800" b="1" dirty="0">
                <a:solidFill>
                  <a:srgbClr val="C00000"/>
                </a:solidFill>
                <a:highlight>
                  <a:srgbClr val="F3F5F9"/>
                </a:highlight>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People asked him where he had got the furniture, but he just said, "It’s a secret."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Mr. Boggis’ secret was simple. He went to small towns every Sunday and knocked on doors.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He told people that he was a furniture dealer.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92023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519168"/>
            <a:ext cx="11277295" cy="189991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He는 앞의 Cyril Boggis이고, 유명한 장사 방식을 알아야 사람들이 가구 출처를 물은 이유가 선다. ②가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People asked him where he had got the furniture, but he just said, "It’s a secret."</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18999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Cyril Boggis was an antique furniture dealer in London.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He was known for buying good things at a low price and then selling them at a high price.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Mr. Boggis’ secret was simple. He went to small towns every Sunday and knocked on doors.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He told people that he was a furniture dealer.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1899919"/>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Cyril Boggis was an antique furniture dealer in London.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He was known for buying good things at a low price and then selling them at a high price.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Mr. Boggis’ secret was simple. He went to small towns every Sunday and knocked on doors.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He told people that he was a furniture dealer.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People didn’t know how valuable their things were, so Mr. Boggis took advantage of them. He was able to buy things very cheaply.</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3614165"/>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4213098"/>
            <a:ext cx="11277295" cy="220598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'It’s a secret'이라는 대답이 먼저 나와야 ③ 뒤 'Mr. Boggis’ secret was simple'이 그 비밀을 풀어 준다. ③이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8320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Cyril Boggis was an antique furniture dealer in London.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known for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buying</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to buy</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good things at a low price and then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sell</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selling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them at a high price.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asked him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which</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where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he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had got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has got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 furniture, but he just said, "It’s a secret."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Mr. Boggis’ secret was simple. He went to small towns every Sunday and knocked on doors.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told people that he was a furniture dealer.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didn’t know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how valuably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how valuable</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their things were, so Mr. Boggis took advantage of them.</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able to buy things very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cheaply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cheap</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3" name="rv_g05"/>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C00000"/>
                </a:solidFill>
                <a:highlight>
                  <a:srgbClr val="F3F5F9"/>
                </a:highlight>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
        <p:nvSpPr>
          <p:cNvPr id="14" name="rv_g06"/>
          <p:cNvSpPr txBox="1"/>
          <p:nvPr/>
        </p:nvSpPr>
        <p:spPr>
          <a:xfrm>
            <a:off x="457200" y="950976"/>
            <a:ext cx="11277295" cy="483209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known for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good things at a low price and then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sell</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selling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which</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where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had got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has got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knocked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that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how valuably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how valuable</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to buy things very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cheaply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cheap</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L6-1</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37997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solidFill>
                <a:latin typeface="맑은 고딕"/>
                <a:ea typeface="맑은 고딕"/>
                <a:cs typeface="맑은 고딕"/>
              </a:rPr>
              <a:t>①</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Cyril Boggis was an antique furniture dealer in London.</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②</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known</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knowing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for buying good things at a low price and then selling them at a high price.</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③</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asked him where he had got the furniture, but he just said, "It’s a secret."</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④</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Mr. Boggis’ secret was simple. He went to small towns every Sunday and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knocked</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knocking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on doors.</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⑤</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told people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that</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what</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he was a furniture dealer.</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⑥</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People didn’t know how valuable their things were, so Mr. Boggis took advantage of them.</a:t>
            </a:r>
            <a:r>
              <a:rPr lang="en-US" altLang="ko-KR" sz="2200" b="0" dirty="0">
                <a:solidFill>
                  <a:srgbClr val="1F2328"/>
                </a:solidFill>
                <a:latin typeface="Calibri"/>
                <a:ea typeface="맑은 고딕"/>
                <a:cs typeface="Calibri"/>
              </a:rPr>
              <a:t>   </a:t>
            </a:r>
            <a:r>
              <a:rPr lang="ko-KR" altLang="en-US" sz="2200" b="1" dirty="0">
                <a:solidFill>
                  <a:srgbClr val="1E2A5A"/>
                </a:solidFill>
                <a:latin typeface="맑은 고딕"/>
                <a:ea typeface="맑은 고딕"/>
                <a:cs typeface="맑은 고딕"/>
              </a:rPr>
              <a:t>⑦</a:t>
            </a:r>
            <a:r>
              <a:rPr lang="en-US" altLang="ko-KR" sz="2200" b="0"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He was able </a:t>
            </a:r>
            <a:r>
              <a:rPr lang="en-US" altLang="ko-KR" sz="2200" b="1" dirty="0">
                <a:solidFill>
                  <a:srgbClr val="1F2328"/>
                </a:solidFill>
                <a:latin typeface="Calibri"/>
                <a:ea typeface="맑은 고딕"/>
                <a:cs typeface="Calibri"/>
              </a:rPr>
              <a:t>[ </a:t>
            </a:r>
            <a:r>
              <a:rPr lang="en-US" altLang="ko-KR" sz="2200" b="1" dirty="0">
                <a:solidFill>
                  <a:srgbClr val="1F2328"/>
                </a:solidFill>
                <a:latin typeface="Calibri"/>
                <a:ea typeface="맑은 고딕"/>
                <a:cs typeface="Calibri"/>
              </a:rPr>
              <a:t>to buy</a:t>
            </a:r>
            <a:r>
              <a:rPr lang="en-US" altLang="ko-KR" sz="2200" b="1" dirty="0">
                <a:solidFill>
                  <a:srgbClr val="1F2328"/>
                </a:solidFill>
                <a:latin typeface="Calibri"/>
                <a:ea typeface="맑은 고딕"/>
                <a:cs typeface="Calibri"/>
              </a:rPr>
              <a:t> / </a:t>
            </a:r>
            <a:r>
              <a:rPr lang="en-US" altLang="ko-KR" sz="2200" b="1" dirty="0">
                <a:solidFill>
                  <a:srgbClr val="1F2328"/>
                </a:solidFill>
                <a:latin typeface="Calibri"/>
                <a:ea typeface="맑은 고딕"/>
                <a:cs typeface="Calibri"/>
              </a:rPr>
              <a:t>buying</a:t>
            </a:r>
            <a:r>
              <a:rPr lang="en-US" altLang="ko-KR" sz="2200" b="1" dirty="0">
                <a:solidFill>
                  <a:srgbClr val="1F2328"/>
                </a:solidFill>
                <a:latin typeface="Calibri"/>
                <a:ea typeface="맑은 고딕"/>
                <a:cs typeface="Calibri"/>
              </a:rPr>
              <a:t> ]</a:t>
            </a:r>
            <a:r>
              <a:rPr lang="en-US" altLang="ko-KR" sz="2200" b="0" dirty="0">
                <a:solidFill>
                  <a:srgbClr val="1F2328"/>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9" name="rv_g01"/>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10" name="rv_g02"/>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11" name="rv_g03"/>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
        <p:nvSpPr>
          <p:cNvPr id="12" name="rv_g04"/>
          <p:cNvSpPr txBox="1"/>
          <p:nvPr/>
        </p:nvSpPr>
        <p:spPr>
          <a:xfrm>
            <a:off x="457200" y="950976"/>
            <a:ext cx="11277295" cy="4379976"/>
          </a:xfrm>
          <a:prstGeom prst="rect">
            <a:avLst/>
          </a:prstGeom>
          <a:noFill/>
        </p:spPr>
        <p:txBody>
          <a:bodyPr wrap="square" lIns="228600" tIns="155448" rIns="228600" bIns="155448" anchor="t" rtlCol="0">
            <a:noAutofit/>
          </a:bodyPr>
          <a:lstStyle/>
          <a:p>
            <a:pPr algn="l">
              <a:lnSpc>
                <a:spcPts val="3560"/>
              </a:lnSpc>
              <a:spcBef>
                <a:spcPts val="0"/>
              </a:spcBef>
              <a:spcAft>
                <a:spcPts val="0"/>
              </a:spcAft>
              <a:buNone/>
            </a:pPr>
            <a:r>
              <a:rPr lang="ko-KR" altLang="en-US" sz="2200" b="1" dirty="0">
                <a:solidFill>
                  <a:srgbClr val="1E2A5A">
                    <a:alpha val="0"/>
                  </a:srgbClr>
                </a:solidFill>
                <a:latin typeface="맑은 고딕"/>
                <a:ea typeface="맑은 고딕"/>
                <a:cs typeface="맑은 고딕"/>
              </a:rPr>
              <a:t>①</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Cyril Boggis was an antique furniture dealer in London.</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②</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known</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knowing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for buying good things at a low price and then selling them at a high price.</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③</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asked him where he had got the furniture, but he just said, "It’s a secret."</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④</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Mr. Boggis’ secret was simple. He went to small towns every Sunday and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knocked</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knocking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on doors.</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⑤</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told people </a:t>
            </a:r>
            <a:r>
              <a:rPr lang="en-US" altLang="ko-KR" sz="2200" b="1" dirty="0">
                <a:solidFill>
                  <a:srgbClr val="1F2328">
                    <a:alpha val="0"/>
                  </a:srgbClr>
                </a:solidFill>
                <a:latin typeface="Calibri"/>
                <a:ea typeface="맑은 고딕"/>
                <a:cs typeface="Calibri"/>
              </a:rPr>
              <a:t>[ </a:t>
            </a:r>
            <a:r>
              <a:rPr lang="en-US" altLang="ko-KR" sz="2200" b="1" dirty="0">
                <a:solidFill>
                  <a:srgbClr val="1F2328">
                    <a:alpha val="0"/>
                  </a:srgbClr>
                </a:solidFill>
                <a:latin typeface="Calibri"/>
                <a:ea typeface="맑은 고딕"/>
                <a:cs typeface="Calibri"/>
              </a:rPr>
              <a:t>that</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what</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he was a furniture dealer.</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⑥</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People didn’t know how valuable their things were, so Mr. Boggis took advantage of them.</a:t>
            </a:r>
            <a:r>
              <a:rPr lang="en-US" altLang="ko-KR" sz="2200" b="0" dirty="0">
                <a:solidFill>
                  <a:srgbClr val="1F2328">
                    <a:alpha val="0"/>
                  </a:srgbClr>
                </a:solidFill>
                <a:latin typeface="Calibri"/>
                <a:ea typeface="맑은 고딕"/>
                <a:cs typeface="Calibri"/>
              </a:rPr>
              <a:t>   </a:t>
            </a:r>
            <a:r>
              <a:rPr lang="ko-KR" altLang="en-US" sz="2200" b="1" dirty="0">
                <a:solidFill>
                  <a:srgbClr val="1E2A5A">
                    <a:alpha val="0"/>
                  </a:srgbClr>
                </a:solidFill>
                <a:latin typeface="맑은 고딕"/>
                <a:ea typeface="맑은 고딕"/>
                <a:cs typeface="맑은 고딕"/>
              </a:rPr>
              <a:t>⑦</a:t>
            </a:r>
            <a:r>
              <a:rPr lang="en-US" altLang="ko-KR" sz="2200" b="0"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He was able </a:t>
            </a:r>
            <a:r>
              <a:rPr lang="en-US" altLang="ko-KR" sz="2200" b="1" dirty="0">
                <a:solidFill>
                  <a:srgbClr val="1F2328">
                    <a:alpha val="0"/>
                  </a:srgbClr>
                </a:solidFill>
                <a:latin typeface="Calibri"/>
                <a:ea typeface="맑은 고딕"/>
                <a:cs typeface="Calibri"/>
              </a:rPr>
              <a:t>[ </a:t>
            </a:r>
            <a:r>
              <a:rPr lang="en-US" altLang="ko-KR" sz="2200" b="1" dirty="0">
                <a:solidFill>
                  <a:srgbClr val="C00000"/>
                </a:solidFill>
                <a:highlight>
                  <a:srgbClr val="F3F5F9"/>
                </a:highlight>
                <a:latin typeface="Calibri"/>
                <a:ea typeface="맑은 고딕"/>
                <a:cs typeface="Calibri"/>
              </a:rPr>
              <a:t>to buy</a:t>
            </a:r>
            <a:r>
              <a:rPr lang="en-US" altLang="ko-KR" sz="2200" b="1" dirty="0">
                <a:solidFill>
                  <a:srgbClr val="1F2328">
                    <a:alpha val="0"/>
                  </a:srgbClr>
                </a:solidFill>
                <a:latin typeface="Calibri"/>
                <a:ea typeface="맑은 고딕"/>
                <a:cs typeface="Calibri"/>
              </a:rPr>
              <a:t> / </a:t>
            </a:r>
            <a:r>
              <a:rPr lang="en-US" altLang="ko-KR" sz="2200" b="1" dirty="0">
                <a:solidFill>
                  <a:srgbClr val="1F2328">
                    <a:alpha val="0"/>
                  </a:srgbClr>
                </a:solidFill>
                <a:latin typeface="Calibri"/>
                <a:ea typeface="맑은 고딕"/>
                <a:cs typeface="Calibri"/>
              </a:rPr>
              <a:t>buying</a:t>
            </a:r>
            <a:r>
              <a:rPr lang="en-US" altLang="ko-KR" sz="2200" b="1" dirty="0">
                <a:solidFill>
                  <a:srgbClr val="1F2328">
                    <a:alpha val="0"/>
                  </a:srgbClr>
                </a:solidFill>
                <a:latin typeface="Calibri"/>
                <a:ea typeface="맑은 고딕"/>
                <a:cs typeface="Calibri"/>
              </a:rPr>
              <a:t> ]</a:t>
            </a:r>
            <a:r>
              <a:rPr lang="en-US" altLang="ko-KR" sz="2200" b="0" dirty="0">
                <a:solidFill>
                  <a:srgbClr val="1F2328">
                    <a:alpha val="0"/>
                  </a:srgbClr>
                </a:solidFill>
                <a:latin typeface="Calibri"/>
                <a:ea typeface="맑은 고딕"/>
                <a:cs typeface="Calibri"/>
              </a:rPr>
              <a:t> things very cheaply.</a:t>
            </a:r>
            <a:endParaRPr lang="en-US" altLang="ko-KR" sz="22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t>
            </a:r>
            <a:r>
              <a:rPr lang="en-US" altLang="ko-KR" sz="1500" b="0" dirty="0">
                <a:solidFill>
                  <a:srgbClr val="1F2328"/>
                </a:solidFill>
                <a:latin typeface="Calibri"/>
                <a:ea typeface="맑은 고딕"/>
                <a:cs typeface="Calibri"/>
              </a:rPr>
              <a:t>A table which was a priceless piece of eighteenth‑century English furniture.</a:t>
            </a:r>
            <a:r>
              <a:rPr lang="en-US" altLang="ko-KR" sz="1500" b="0" dirty="0">
                <a:solidFill>
                  <a:srgbClr val="1F2328"/>
                </a:solidFill>
                <a:latin typeface="Calibri"/>
                <a:ea typeface="맑은 고딕"/>
                <a:cs typeface="Calibri"/>
              </a:rPr>
              <a:t> He was so excited that he almost fell over. "What’s wrong?" Bert asked. "Oh, nothing. Nothing at all," Mr. Boggis lied.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t>
            </a:r>
            <a:r>
              <a:rPr lang="en-US" altLang="ko-KR" sz="1500" b="0" dirty="0">
                <a:solidFill>
                  <a:srgbClr val="111111"/>
                </a:solidFill>
                <a:highlight>
                  <a:srgbClr val="FFE45C"/>
                </a:highlight>
                <a:latin typeface="Calibri"/>
                <a:ea typeface="맑은 고딕"/>
                <a:cs typeface="Calibri"/>
              </a:rPr>
              <a:t>A table which was a priceless piece of eighteenth‑century English furniture.</a:t>
            </a:r>
            <a:r>
              <a:rPr lang="en-US" altLang="ko-KR" sz="1500" b="0" dirty="0">
                <a:solidFill>
                  <a:srgbClr val="B3BAC6"/>
                </a:solidFill>
                <a:latin typeface="Calibri"/>
                <a:ea typeface="맑은 고딕"/>
                <a:cs typeface="Calibri"/>
              </a:rPr>
              <a:t> He was so excited that he almost fell over. "What’s wrong?" Bert asked. "Oh, nothing. Nothing at all," Mr. Boggis lied.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a family selling old furniture to a stranger</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a dealer finding a valuable table and lying</a:t>
            </a:r>
            <a:endParaRPr lang="en-US" altLang="ko-KR" sz="1800" b="0" dirty="0">
              <a:solidFill>
                <a:srgbClr val="1F2328"/>
              </a:solidFill>
              <a:latin typeface="Calibri"/>
              <a:ea typeface="맑은 고딕"/>
              <a:cs typeface="Calibri"/>
            </a:endParaRPr>
          </a:p>
        </p:txBody>
      </p:sp>
      <p:sp>
        <p:nvSpPr>
          <p:cNvPr id="13" name="rv_pick"/>
          <p:cNvSpPr txBox="1"/>
          <p:nvPr/>
        </p:nvSpPr>
        <p:spPr>
          <a:xfrm>
            <a:off x="457200" y="3512566"/>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②</a:t>
            </a:r>
            <a:r>
              <a:rPr lang="en-US" altLang="ko-KR" sz="1800" b="0" dirty="0">
                <a:solidFill>
                  <a:srgbClr val="C00000"/>
                </a:solidFill>
                <a:latin typeface="Calibri"/>
                <a:ea typeface="맑은 고딕"/>
                <a:cs typeface="Calibri"/>
              </a:rPr>
              <a:t>	a dealer finding a valuable table and lying</a:t>
            </a:r>
            <a:endParaRPr lang="en-US" altLang="ko-KR" sz="1800" b="0" dirty="0">
              <a:solidFill>
                <a:srgbClr val="C00000"/>
              </a:solidFill>
              <a:latin typeface="Calibri"/>
              <a:ea typeface="맑은 고딕"/>
              <a:cs typeface="Calibri"/>
            </a:endParaRPr>
          </a:p>
        </p:txBody>
      </p:sp>
      <p:sp>
        <p:nvSpPr>
          <p:cNvPr id="14"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a man learning to make antique tables</a:t>
            </a:r>
            <a:endParaRPr lang="en-US" altLang="ko-KR" sz="1800" b="0" dirty="0">
              <a:solidFill>
                <a:srgbClr val="1F2328"/>
              </a:solidFill>
              <a:latin typeface="Calibri"/>
              <a:ea typeface="맑은 고딕"/>
              <a:cs typeface="Calibri"/>
            </a:endParaRPr>
          </a:p>
        </p:txBody>
      </p:sp>
      <p:sp>
        <p:nvSpPr>
          <p:cNvPr id="15"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two men fixing a broken kitchen table</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a dealer buying a cheap copy of a table</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a dealer finding a valuable table and lying</a:t>
            </a:r>
            <a:endParaRPr lang="en-US" altLang="ko-KR" sz="1900" b="1" dirty="0">
              <a:solidFill>
                <a:srgbClr val="5A4200"/>
              </a:solidFill>
              <a:latin typeface="Calibri"/>
              <a:ea typeface="맑은 고딕"/>
              <a:cs typeface="Calibri"/>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귀중한 18세기 탁자를 보고 복제품이라고 말했다. 귀한 탁자를 찾고 거짓말한 ②가 주제다.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t>
            </a:r>
            <a:r>
              <a:rPr lang="en-US" altLang="ko-KR" sz="1500" b="0" dirty="0">
                <a:solidFill>
                  <a:srgbClr val="1F2328"/>
                </a:solidFill>
                <a:latin typeface="Calibri"/>
                <a:ea typeface="맑은 고딕"/>
                <a:cs typeface="Calibri"/>
              </a:rPr>
              <a:t>And there it was!</a:t>
            </a:r>
            <a:r>
              <a:rPr lang="en-US" altLang="ko-KR" sz="1500" b="0" dirty="0">
                <a:solidFill>
                  <a:srgbClr val="1F2328"/>
                </a:solidFill>
                <a:latin typeface="Calibri"/>
                <a:ea typeface="맑은 고딕"/>
                <a:cs typeface="Calibri"/>
              </a:rPr>
              <a:t> A table which was a priceless piece of eighteenth‑century English furniture. He was so excited that he almost fell over. "What’s wrong?" Bert asked. "Oh, nothing. Nothing at all," </a:t>
            </a:r>
            <a:r>
              <a:rPr lang="en-US" altLang="ko-KR" sz="1500" b="0" dirty="0">
                <a:solidFill>
                  <a:srgbClr val="1F2328"/>
                </a:solidFill>
                <a:latin typeface="Calibri"/>
                <a:ea typeface="맑은 고딕"/>
                <a:cs typeface="Calibri"/>
              </a:rPr>
              <a:t>Mr. Boggis lied</a:t>
            </a:r>
            <a:r>
              <a:rPr lang="en-US" altLang="ko-KR" sz="1500" b="0" dirty="0">
                <a:solidFill>
                  <a:srgbClr val="1F2328"/>
                </a:solidFill>
                <a:latin typeface="Calibri"/>
                <a:ea typeface="맑은 고딕"/>
                <a:cs typeface="Calibri"/>
              </a:rPr>
              <a:t>. He then said with a straight face, "This table is a reproduction.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t>
            </a:r>
            <a:r>
              <a:rPr lang="en-US" altLang="ko-KR" sz="1500" b="0" dirty="0">
                <a:solidFill>
                  <a:srgbClr val="111111"/>
                </a:solidFill>
                <a:highlight>
                  <a:srgbClr val="FFE45C"/>
                </a:highlight>
                <a:latin typeface="Calibri"/>
                <a:ea typeface="맑은 고딕"/>
                <a:cs typeface="Calibri"/>
              </a:rPr>
              <a:t>And there it was!</a:t>
            </a:r>
            <a:r>
              <a:rPr lang="en-US" altLang="ko-KR" sz="1500" b="0" dirty="0">
                <a:solidFill>
                  <a:srgbClr val="B3BAC6"/>
                </a:solidFill>
                <a:latin typeface="Calibri"/>
                <a:ea typeface="맑은 고딕"/>
                <a:cs typeface="Calibri"/>
              </a:rPr>
              <a:t> A table which was a priceless piece of eighteenth‑century English furniture. He was so excited that he almost fell over. "What’s wrong?" Bert asked. "Oh, nothing. Nothing at all," </a:t>
            </a:r>
            <a:r>
              <a:rPr lang="en-US" altLang="ko-KR" sz="1500" b="0" dirty="0">
                <a:solidFill>
                  <a:srgbClr val="111111"/>
                </a:solidFill>
                <a:highlight>
                  <a:srgbClr val="FFE45C"/>
                </a:highlight>
                <a:latin typeface="Calibri"/>
                <a:ea typeface="맑은 고딕"/>
                <a:cs typeface="Calibri"/>
              </a:rPr>
              <a:t>Mr. Boggis lied</a:t>
            </a:r>
            <a:r>
              <a:rPr lang="en-US" altLang="ko-KR" sz="1500" b="0" dirty="0">
                <a:solidFill>
                  <a:srgbClr val="B3BAC6"/>
                </a:solidFill>
                <a:latin typeface="Calibri"/>
                <a:ea typeface="맑은 고딕"/>
                <a:cs typeface="Calibri"/>
              </a:rPr>
              <a:t>. He then said with a straight face, "This table is a reproduction.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en-US" altLang="ko-KR" sz="1800" b="0" dirty="0">
                <a:solidFill>
                  <a:srgbClr val="1F2328"/>
                </a:solidFill>
                <a:latin typeface="Calibri"/>
                <a:ea typeface="맑은 고딕"/>
                <a:cs typeface="Calibri"/>
              </a:rPr>
              <a:t>	An Honest Dealer Pays a Fair Price</a:t>
            </a:r>
            <a:endParaRPr lang="en-US" altLang="ko-KR" sz="1800" b="0" dirty="0">
              <a:solidFill>
                <a:srgbClr val="1F2328"/>
              </a:solidFill>
              <a:latin typeface="Calibri"/>
              <a:ea typeface="맑은 고딕"/>
              <a:cs typeface="Calibri"/>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en-US" altLang="ko-KR" sz="1800" b="0" dirty="0">
                <a:solidFill>
                  <a:srgbClr val="1F2328"/>
                </a:solidFill>
                <a:latin typeface="Calibri"/>
                <a:ea typeface="맑은 고딕"/>
                <a:cs typeface="Calibri"/>
              </a:rPr>
              <a:t>	The Kitchen Full of Old Treasures</a:t>
            </a:r>
            <a:endParaRPr lang="en-US" altLang="ko-KR" sz="1800" b="0" dirty="0">
              <a:solidFill>
                <a:srgbClr val="1F2328"/>
              </a:solidFill>
              <a:latin typeface="Calibri"/>
              <a:ea typeface="맑은 고딕"/>
              <a:cs typeface="Calibri"/>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en-US" altLang="ko-KR" sz="1800" b="0" dirty="0">
                <a:solidFill>
                  <a:srgbClr val="1F2328"/>
                </a:solidFill>
                <a:latin typeface="Calibri"/>
                <a:ea typeface="맑은 고딕"/>
                <a:cs typeface="Calibri"/>
              </a:rPr>
              <a:t>	A Lucky Find and a Clever Lie</a:t>
            </a:r>
            <a:endParaRPr lang="en-US" altLang="ko-KR" sz="1800" b="0" dirty="0">
              <a:solidFill>
                <a:srgbClr val="1F2328"/>
              </a:solidFill>
              <a:latin typeface="Calibri"/>
              <a:ea typeface="맑은 고딕"/>
              <a:cs typeface="Calibri"/>
            </a:endParaRPr>
          </a:p>
        </p:txBody>
      </p:sp>
      <p:sp>
        <p:nvSpPr>
          <p:cNvPr id="14" name="rv_pick"/>
          <p:cNvSpPr txBox="1"/>
          <p:nvPr/>
        </p:nvSpPr>
        <p:spPr>
          <a:xfrm>
            <a:off x="457200" y="3919982"/>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③</a:t>
            </a:r>
            <a:r>
              <a:rPr lang="en-US" altLang="ko-KR" sz="1800" b="0" dirty="0">
                <a:solidFill>
                  <a:srgbClr val="C00000"/>
                </a:solidFill>
                <a:latin typeface="Calibri"/>
                <a:ea typeface="맑은 고딕"/>
                <a:cs typeface="Calibri"/>
              </a:rPr>
              <a:t>	A Lucky Find and a Clever Lie</a:t>
            </a:r>
            <a:endParaRPr lang="en-US" altLang="ko-KR" sz="1800" b="0" dirty="0">
              <a:solidFill>
                <a:srgbClr val="C00000"/>
              </a:solidFill>
              <a:latin typeface="Calibri"/>
              <a:ea typeface="맑은 고딕"/>
              <a:cs typeface="Calibri"/>
            </a:endParaRPr>
          </a:p>
        </p:txBody>
      </p:sp>
      <p:sp>
        <p:nvSpPr>
          <p:cNvPr id="15"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en-US" altLang="ko-KR" sz="1800" b="0" dirty="0">
                <a:solidFill>
                  <a:srgbClr val="1F2328"/>
                </a:solidFill>
                <a:latin typeface="Calibri"/>
                <a:ea typeface="맑은 고딕"/>
                <a:cs typeface="Calibri"/>
              </a:rPr>
              <a:t>	How Bert Found a Priceless Table</a:t>
            </a:r>
            <a:endParaRPr lang="en-US" altLang="ko-KR" sz="1800" b="0" dirty="0">
              <a:solidFill>
                <a:srgbClr val="1F2328"/>
              </a:solidFill>
              <a:latin typeface="Calibri"/>
              <a:ea typeface="맑은 고딕"/>
              <a:cs typeface="Calibri"/>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en-US" altLang="ko-KR" sz="1800" b="0" dirty="0">
                <a:solidFill>
                  <a:srgbClr val="1F2328"/>
                </a:solidFill>
                <a:latin typeface="Calibri"/>
                <a:ea typeface="맑은 고딕"/>
                <a:cs typeface="Calibri"/>
              </a:rPr>
              <a:t>	A Sunday Trip to a Big City Shop</a:t>
            </a:r>
            <a:endParaRPr lang="en-US" altLang="ko-KR" sz="1800" b="0" dirty="0">
              <a:solidFill>
                <a:srgbClr val="1F2328"/>
              </a:solidFill>
              <a:latin typeface="Calibri"/>
              <a:ea typeface="맑은 고딕"/>
              <a:cs typeface="Calibri"/>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A Lucky Find and a Clever Lie</a:t>
            </a:r>
            <a:endParaRPr lang="en-US" altLang="ko-KR" sz="1900" b="1" dirty="0">
              <a:solidFill>
                <a:srgbClr val="5A4200"/>
              </a:solidFill>
              <a:latin typeface="Calibri"/>
              <a:ea typeface="맑은 고딕"/>
              <a:cs typeface="Calibri"/>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뜻밖에 귀한 탁자를 찾고('there it was') 거짓말했다('lied'). ③이 제목이다.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오래된 가구는 부엌에 두는 것이 좋다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낯선 사람을 집에 들이지 말아야 한다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복제품은 진품보다 싸게 사야 한다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물건의 가치를 정직하게 알려 주어야 한다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3273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물건의 가치를 정직하게 알려 주어야 한다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가구를 살 때 전문가와 동행해야 한다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물건의 가치를 정직하게 알려 주어야 한다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귀한 탁자를 복제품이라고 속인 행동을 비판적으로 보면 가치를 정직하게 알려야 한다는 ④가 주장이다.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a:t>
            </a:r>
            <a:r>
              <a:rPr lang="en-US" altLang="ko-KR" sz="1500" b="0" dirty="0">
                <a:solidFill>
                  <a:srgbClr val="1F2328"/>
                </a:solidFill>
                <a:latin typeface="Calibri"/>
                <a:ea typeface="맑은 고딕"/>
                <a:cs typeface="Calibri"/>
              </a:rPr>
              <a:t>Mr. Boggis lied</a:t>
            </a:r>
            <a:r>
              <a:rPr lang="en-US" altLang="ko-KR" sz="1500" b="0" dirty="0">
                <a:solidFill>
                  <a:srgbClr val="1F2328"/>
                </a:solidFill>
                <a:latin typeface="Calibri"/>
                <a:ea typeface="맑은 고딕"/>
                <a:cs typeface="Calibri"/>
              </a:rPr>
              <a:t>.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a:t>
            </a:r>
            <a:r>
              <a:rPr lang="en-US" altLang="ko-KR" sz="1500" b="0" dirty="0">
                <a:solidFill>
                  <a:srgbClr val="111111"/>
                </a:solidFill>
                <a:highlight>
                  <a:srgbClr val="FFE45C"/>
                </a:highlight>
                <a:latin typeface="Calibri"/>
                <a:ea typeface="맑은 고딕"/>
                <a:cs typeface="Calibri"/>
              </a:rPr>
              <a:t>Mr. Boggis lied</a:t>
            </a:r>
            <a:r>
              <a:rPr lang="en-US" altLang="ko-KR" sz="1500" b="0" dirty="0">
                <a:solidFill>
                  <a:srgbClr val="B3BAC6"/>
                </a:solidFill>
                <a:latin typeface="Calibri"/>
                <a:ea typeface="맑은 고딕"/>
                <a:cs typeface="Calibri"/>
              </a:rPr>
              <a:t>.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Bert는 탁자의 진짜 가치를 알고 있었다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Rummins는 탁자를 비싼 값에 팔았다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부엌에 18세기 영국 가구가 놓여 있었다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Boggis 씨는 탁자가 진품이라고 말했다</a:t>
            </a:r>
            <a:endParaRPr lang="ko-KR" altLang="en-US" sz="1800" b="0" dirty="0">
              <a:solidFill>
                <a:srgbClr val="1F2328"/>
              </a:solidFill>
              <a:latin typeface="맑은 고딕"/>
              <a:ea typeface="맑은 고딕"/>
              <a:cs typeface="맑은 고딕"/>
            </a:endParaRPr>
          </a:p>
        </p:txBody>
      </p:sp>
      <p:sp>
        <p:nvSpPr>
          <p:cNvPr id="15"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Boggis 씨는 귀한 탁자를 보고 거짓말했다</a:t>
            </a:r>
            <a:endParaRPr lang="ko-KR" altLang="en-US" sz="1800" b="0" dirty="0">
              <a:solidFill>
                <a:srgbClr val="1F2328"/>
              </a:solidFill>
              <a:latin typeface="맑은 고딕"/>
              <a:ea typeface="맑은 고딕"/>
              <a:cs typeface="맑은 고딕"/>
            </a:endParaRPr>
          </a:p>
        </p:txBody>
      </p:sp>
      <p:sp>
        <p:nvSpPr>
          <p:cNvPr id="16" name="rv_pick"/>
          <p:cNvSpPr txBox="1"/>
          <p:nvPr/>
        </p:nvSpPr>
        <p:spPr>
          <a:xfrm>
            <a:off x="457200" y="4734814"/>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⑤</a:t>
            </a:r>
            <a:r>
              <a:rPr lang="ko-KR" altLang="en-US" sz="1800" b="0" dirty="0">
                <a:solidFill>
                  <a:srgbClr val="C00000"/>
                </a:solidFill>
                <a:latin typeface="맑은 고딕"/>
                <a:ea typeface="맑은 고딕"/>
                <a:cs typeface="맑은 고딕"/>
              </a:rPr>
              <a:t>	Boggis 씨는 귀한 탁자를 보고 거짓말했다</a:t>
            </a:r>
            <a:endParaRPr lang="ko-KR" altLang="en-US" sz="1800" b="0" dirty="0">
              <a:solidFill>
                <a:srgbClr val="C00000"/>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Boggis 씨는 귀한 탁자를 보고 거짓말했다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귀한 탁자를 보고 거짓말을 하며 복제품이라 했다. ⑤가 요지다.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a:t>
            </a:r>
            <a:r>
              <a:rPr lang="en-US" altLang="ko-KR" sz="1500" b="0" dirty="0">
                <a:solidFill>
                  <a:srgbClr val="1F2328"/>
                </a:solidFill>
                <a:latin typeface="Calibri"/>
                <a:ea typeface="맑은 고딕"/>
                <a:cs typeface="Calibri"/>
              </a:rPr>
              <a:t>the other was his son Bert</a:t>
            </a:r>
            <a:r>
              <a:rPr lang="en-US" altLang="ko-KR" sz="1500" b="0" dirty="0">
                <a:solidFill>
                  <a:srgbClr val="1F2328"/>
                </a:solidFill>
                <a:latin typeface="Calibri"/>
                <a:ea typeface="맑은 고딕"/>
                <a:cs typeface="Calibri"/>
              </a:rPr>
              <a: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a:t>
            </a:r>
            <a:r>
              <a:rPr lang="en-US" altLang="ko-KR" sz="1500" b="0" dirty="0">
                <a:solidFill>
                  <a:srgbClr val="111111"/>
                </a:solidFill>
                <a:highlight>
                  <a:srgbClr val="FFE45C"/>
                </a:highlight>
                <a:latin typeface="Calibri"/>
                <a:ea typeface="맑은 고딕"/>
                <a:cs typeface="Calibri"/>
              </a:rPr>
              <a:t>the other was his son Bert</a:t>
            </a:r>
            <a:r>
              <a:rPr lang="en-US" altLang="ko-KR" sz="1500" b="0" dirty="0">
                <a:solidFill>
                  <a:srgbClr val="B3BAC6"/>
                </a:solidFill>
                <a:latin typeface="Calibri"/>
                <a:ea typeface="맑은 고딕"/>
                <a:cs typeface="Calibri"/>
              </a:rPr>
              <a: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일요일에 작은 마을에 있었다</a:t>
            </a:r>
            <a:endParaRPr lang="ko-KR" altLang="en-US" sz="1800" b="0" dirty="0">
              <a:solidFill>
                <a:srgbClr val="1F2328"/>
              </a:solidFill>
              <a:latin typeface="맑은 고딕"/>
              <a:ea typeface="맑은 고딕"/>
              <a:cs typeface="맑은 고딕"/>
            </a:endParaRPr>
          </a:p>
        </p:txBody>
      </p:sp>
      <p:sp>
        <p:nvSpPr>
          <p:cNvPr id="12"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Rummins는 그 집의 주인이었다</a:t>
            </a:r>
            <a:endParaRPr lang="ko-KR" altLang="en-US" sz="1800" b="0" dirty="0">
              <a:solidFill>
                <a:srgbClr val="1F2328"/>
              </a:solidFill>
              <a:latin typeface="맑은 고딕"/>
              <a:ea typeface="맑은 고딕"/>
              <a:cs typeface="맑은 고딕"/>
            </a:endParaRPr>
          </a:p>
        </p:txBody>
      </p:sp>
      <p:sp>
        <p:nvSpPr>
          <p:cNvPr id="13"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Boggis 씨는 먼저 부엌에 들어갔다</a:t>
            </a:r>
            <a:endParaRPr lang="ko-KR" altLang="en-US" sz="1800" b="0" dirty="0">
              <a:solidFill>
                <a:srgbClr val="1F2328"/>
              </a:solidFill>
              <a:latin typeface="맑은 고딕"/>
              <a:ea typeface="맑은 고딕"/>
              <a:cs typeface="맑은 고딕"/>
            </a:endParaRPr>
          </a:p>
        </p:txBody>
      </p:sp>
      <p:sp>
        <p:nvSpPr>
          <p:cNvPr id="14"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Bert는 Rummins의 형이었다</a:t>
            </a:r>
            <a:endParaRPr lang="ko-KR" altLang="en-US" sz="1800" b="0" dirty="0">
              <a:solidFill>
                <a:srgbClr val="1F2328"/>
              </a:solidFill>
              <a:latin typeface="맑은 고딕"/>
              <a:ea typeface="맑은 고딕"/>
              <a:cs typeface="맑은 고딕"/>
            </a:endParaRPr>
          </a:p>
        </p:txBody>
      </p:sp>
      <p:sp>
        <p:nvSpPr>
          <p:cNvPr id="15" name="rv_pick"/>
          <p:cNvSpPr txBox="1"/>
          <p:nvPr/>
        </p:nvSpPr>
        <p:spPr>
          <a:xfrm>
            <a:off x="457200" y="4327398"/>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④</a:t>
            </a:r>
            <a:r>
              <a:rPr lang="ko-KR" altLang="en-US" sz="1800" b="0" dirty="0">
                <a:solidFill>
                  <a:srgbClr val="C00000"/>
                </a:solidFill>
                <a:latin typeface="맑은 고딕"/>
                <a:ea typeface="맑은 고딕"/>
                <a:cs typeface="맑은 고딕"/>
              </a:rPr>
              <a:t>	Bert는 Rummins의 형이었다</a:t>
            </a:r>
            <a:endParaRPr lang="ko-KR" altLang="en-US" sz="1800" b="0" dirty="0">
              <a:solidFill>
                <a:srgbClr val="C00000"/>
              </a:solidFill>
              <a:latin typeface="맑은 고딕"/>
              <a:ea typeface="맑은 고딕"/>
              <a:cs typeface="맑은 고딕"/>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거실에서 귀중한 탁자를 발견했다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ko-KR" altLang="en-US" sz="1900" b="1" dirty="0">
                <a:solidFill>
                  <a:srgbClr val="5A4200"/>
                </a:solidFill>
                <a:latin typeface="맑은 고딕"/>
                <a:ea typeface="맑은 고딕"/>
                <a:cs typeface="맑은 고딕"/>
              </a:rPr>
              <a:t>Bert는 Rummins의 형이었다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Bert는 Rummins의 아들('his son')이다. 형이라고 한 ④는 틀리다.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1F2328"/>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F2328"/>
                </a:solidFill>
                <a:latin typeface="Calibri"/>
                <a:ea typeface="맑은 고딕"/>
                <a:cs typeface="Calibri"/>
              </a:rPr>
              <a:t>This table is a reproduction</a:t>
            </a:r>
            <a:r>
              <a:rPr lang="en-US" altLang="ko-KR" sz="1500" b="0" dirty="0">
                <a:solidFill>
                  <a:srgbClr val="1F2328"/>
                </a:solidFill>
                <a:latin typeface="Calibri"/>
                <a:ea typeface="맑은 고딕"/>
                <a:cs typeface="Calibri"/>
              </a:rPr>
              <a:t>. It’s worth only a few pounds."</a:t>
            </a:r>
            <a:endParaRPr lang="en-US" altLang="ko-KR" sz="1500" b="0" dirty="0">
              <a:solidFill>
                <a:srgbClr val="1F2328"/>
              </a:solidFill>
              <a:latin typeface="Calibri"/>
              <a:ea typeface="맑은 고딕"/>
              <a:cs typeface="Calibri"/>
            </a:endParaRPr>
          </a:p>
        </p:txBody>
      </p:sp>
      <p:sp>
        <p:nvSpPr>
          <p:cNvPr id="9" name="rv_evidence_card"/>
          <p:cNvSpPr/>
          <p:nvPr/>
        </p:nvSpPr>
        <p:spPr>
          <a:xfrm>
            <a:off x="457200" y="950976"/>
            <a:ext cx="11277295" cy="200787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007870"/>
          </a:xfrm>
          <a:prstGeom prst="rect">
            <a:avLst/>
          </a:prstGeom>
          <a:noFill/>
        </p:spPr>
        <p:txBody>
          <a:bodyPr wrap="square" lIns="201168" tIns="118872" rIns="201168" bIns="118872" anchor="t" rtlCol="0">
            <a:noAutofit/>
          </a:bodyPr>
          <a:lstStyle/>
          <a:p>
            <a:pPr algn="just">
              <a:lnSpc>
                <a:spcPts val="1950"/>
              </a:lnSpc>
              <a:spcBef>
                <a:spcPts val="0"/>
              </a:spcBef>
              <a:spcAft>
                <a:spcPts val="0"/>
              </a:spcAft>
              <a:buNone/>
            </a:pPr>
            <a:r>
              <a:rPr lang="en-US" altLang="ko-KR" sz="1500" b="0" dirty="0">
                <a:solidFill>
                  <a:srgbClr val="B3BAC6"/>
                </a:solidFill>
                <a:latin typeface="Calibri"/>
                <a:ea typeface="맑은 고딕"/>
                <a:cs typeface="Calibri"/>
              </a:rPr>
              <a:t>Now it was another Sunday, and Mr. Boggis was in a small town again. At a house he visited, he met two men. One was Rummins, the owner, and the other was his son Bert. "I buy old furniture. Do you have any?" asked Mr. Boggis. "No, I don’t," said Rummins. "Can I just take a look?" asked Mr. Boggis. "Sure. Please come in," said Rummins.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a:t>
            </a:r>
            <a:r>
              <a:rPr lang="en-US" altLang="ko-KR" sz="1500" b="0" dirty="0">
                <a:solidFill>
                  <a:srgbClr val="111111"/>
                </a:solidFill>
                <a:highlight>
                  <a:srgbClr val="FFE45C"/>
                </a:highlight>
                <a:latin typeface="Calibri"/>
                <a:ea typeface="맑은 고딕"/>
                <a:cs typeface="Calibri"/>
              </a:rPr>
              <a:t>This table is a reproduction</a:t>
            </a:r>
            <a:r>
              <a:rPr lang="en-US" altLang="ko-KR" sz="1500" b="0" dirty="0">
                <a:solidFill>
                  <a:srgbClr val="B3BAC6"/>
                </a:solidFill>
                <a:latin typeface="Calibri"/>
                <a:ea typeface="맑은 고딕"/>
                <a:cs typeface="Calibri"/>
              </a:rPr>
              <a:t>. It’s worth only a few pounds."</a:t>
            </a:r>
            <a:endParaRPr lang="en-US" altLang="ko-KR" sz="1500" b="0" dirty="0">
              <a:solidFill>
                <a:srgbClr val="B3BAC6"/>
              </a:solidFill>
              <a:latin typeface="Calibri"/>
              <a:ea typeface="맑은 고딕"/>
              <a:cs typeface="Calibri"/>
            </a:endParaRPr>
          </a:p>
        </p:txBody>
      </p:sp>
      <p:sp>
        <p:nvSpPr>
          <p:cNvPr id="11" name="choice_1"/>
          <p:cNvSpPr txBox="1"/>
          <p:nvPr/>
        </p:nvSpPr>
        <p:spPr>
          <a:xfrm>
            <a:off x="457200" y="3105150"/>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①</a:t>
            </a:r>
            <a:r>
              <a:rPr lang="ko-KR" altLang="en-US" sz="1800" b="0" dirty="0">
                <a:solidFill>
                  <a:srgbClr val="1F2328"/>
                </a:solidFill>
                <a:latin typeface="맑은 고딕"/>
                <a:ea typeface="맑은 고딕"/>
                <a:cs typeface="맑은 고딕"/>
              </a:rPr>
              <a:t>	Boggis 씨는 탁자가 복제품이라고 했다</a:t>
            </a:r>
            <a:endParaRPr lang="ko-KR" altLang="en-US" sz="1800" b="0" dirty="0">
              <a:solidFill>
                <a:srgbClr val="1F2328"/>
              </a:solidFill>
              <a:latin typeface="맑은 고딕"/>
              <a:ea typeface="맑은 고딕"/>
              <a:cs typeface="맑은 고딕"/>
            </a:endParaRPr>
          </a:p>
        </p:txBody>
      </p:sp>
      <p:sp>
        <p:nvSpPr>
          <p:cNvPr id="12" name="rv_pick"/>
          <p:cNvSpPr txBox="1"/>
          <p:nvPr/>
        </p:nvSpPr>
        <p:spPr>
          <a:xfrm>
            <a:off x="457200" y="3105150"/>
            <a:ext cx="11277295" cy="379984"/>
          </a:xfrm>
          <a:prstGeom prst="rect">
            <a:avLst/>
          </a:prstGeom>
          <a:solidFill>
            <a:srgbClr val="FFF3C4"/>
          </a:solid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C00000"/>
                </a:solidFill>
                <a:latin typeface="맑은 고딕"/>
                <a:ea typeface="맑은 고딕"/>
                <a:cs typeface="맑은 고딕"/>
              </a:rPr>
              <a:t>①</a:t>
            </a:r>
            <a:r>
              <a:rPr lang="ko-KR" altLang="en-US" sz="1800" b="0" dirty="0">
                <a:solidFill>
                  <a:srgbClr val="C00000"/>
                </a:solidFill>
                <a:latin typeface="맑은 고딕"/>
                <a:ea typeface="맑은 고딕"/>
                <a:cs typeface="맑은 고딕"/>
              </a:rPr>
              <a:t>	Boggis 씨는 탁자가 복제품이라고 했다</a:t>
            </a:r>
            <a:endParaRPr lang="ko-KR" altLang="en-US" sz="1800" b="0" dirty="0">
              <a:solidFill>
                <a:srgbClr val="C00000"/>
              </a:solidFill>
              <a:latin typeface="맑은 고딕"/>
              <a:ea typeface="맑은 고딕"/>
              <a:cs typeface="맑은 고딕"/>
            </a:endParaRPr>
          </a:p>
        </p:txBody>
      </p:sp>
      <p:sp>
        <p:nvSpPr>
          <p:cNvPr id="13" name="choice_2"/>
          <p:cNvSpPr txBox="1"/>
          <p:nvPr/>
        </p:nvSpPr>
        <p:spPr>
          <a:xfrm>
            <a:off x="457200" y="3512566"/>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②</a:t>
            </a:r>
            <a:r>
              <a:rPr lang="ko-KR" altLang="en-US" sz="1800" b="0" dirty="0">
                <a:solidFill>
                  <a:srgbClr val="1F2328"/>
                </a:solidFill>
                <a:latin typeface="맑은 고딕"/>
                <a:ea typeface="맑은 고딕"/>
                <a:cs typeface="맑은 고딕"/>
              </a:rPr>
              <a:t>	Rummins는 고가구가 있다고 말했다</a:t>
            </a:r>
            <a:endParaRPr lang="ko-KR" altLang="en-US" sz="1800" b="0" dirty="0">
              <a:solidFill>
                <a:srgbClr val="1F2328"/>
              </a:solidFill>
              <a:latin typeface="맑은 고딕"/>
              <a:ea typeface="맑은 고딕"/>
              <a:cs typeface="맑은 고딕"/>
            </a:endParaRPr>
          </a:p>
        </p:txBody>
      </p:sp>
      <p:sp>
        <p:nvSpPr>
          <p:cNvPr id="14" name="choice_3"/>
          <p:cNvSpPr txBox="1"/>
          <p:nvPr/>
        </p:nvSpPr>
        <p:spPr>
          <a:xfrm>
            <a:off x="457200" y="3919982"/>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③</a:t>
            </a:r>
            <a:r>
              <a:rPr lang="ko-KR" altLang="en-US" sz="1800" b="0" dirty="0">
                <a:solidFill>
                  <a:srgbClr val="1F2328"/>
                </a:solidFill>
                <a:latin typeface="맑은 고딕"/>
                <a:ea typeface="맑은 고딕"/>
                <a:cs typeface="맑은 고딕"/>
              </a:rPr>
              <a:t>	부엌에서 18세기 탁자를 발견했다</a:t>
            </a:r>
            <a:endParaRPr lang="ko-KR" altLang="en-US" sz="1800" b="0" dirty="0">
              <a:solidFill>
                <a:srgbClr val="1F2328"/>
              </a:solidFill>
              <a:latin typeface="맑은 고딕"/>
              <a:ea typeface="맑은 고딕"/>
              <a:cs typeface="맑은 고딕"/>
            </a:endParaRPr>
          </a:p>
        </p:txBody>
      </p:sp>
      <p:sp>
        <p:nvSpPr>
          <p:cNvPr id="15" name="choice_4"/>
          <p:cNvSpPr txBox="1"/>
          <p:nvPr/>
        </p:nvSpPr>
        <p:spPr>
          <a:xfrm>
            <a:off x="457200" y="4327398"/>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④</a:t>
            </a:r>
            <a:r>
              <a:rPr lang="ko-KR" altLang="en-US" sz="1800" b="0" dirty="0">
                <a:solidFill>
                  <a:srgbClr val="1F2328"/>
                </a:solidFill>
                <a:latin typeface="맑은 고딕"/>
                <a:ea typeface="맑은 고딕"/>
                <a:cs typeface="맑은 고딕"/>
              </a:rPr>
              <a:t>	Bert는 탁자가 진품이라고 말했다</a:t>
            </a:r>
            <a:endParaRPr lang="ko-KR" altLang="en-US" sz="1800" b="0" dirty="0">
              <a:solidFill>
                <a:srgbClr val="1F2328"/>
              </a:solidFill>
              <a:latin typeface="맑은 고딕"/>
              <a:ea typeface="맑은 고딕"/>
              <a:cs typeface="맑은 고딕"/>
            </a:endParaRPr>
          </a:p>
        </p:txBody>
      </p:sp>
      <p:sp>
        <p:nvSpPr>
          <p:cNvPr id="16" name="choice_5"/>
          <p:cNvSpPr txBox="1"/>
          <p:nvPr/>
        </p:nvSpPr>
        <p:spPr>
          <a:xfrm>
            <a:off x="457200" y="4734814"/>
            <a:ext cx="11277295" cy="379984"/>
          </a:xfrm>
          <a:prstGeom prst="rect">
            <a:avLst/>
          </a:prstGeom>
          <a:noFill/>
        </p:spPr>
        <p:txBody>
          <a:bodyPr wrap="square" lIns="137160" tIns="27432" rIns="137160" bIns="27432" anchor="t" rtlCol="0">
            <a:noAutofit/>
          </a:bodyPr>
          <a:lstStyle/>
          <a:p>
            <a:pPr algn="l" marL="365760" indent="-365760">
              <a:lnSpc>
                <a:spcPts val="2560"/>
              </a:lnSpc>
              <a:spcBef>
                <a:spcPts val="0"/>
              </a:spcBef>
              <a:spcAft>
                <a:spcPts val="0"/>
              </a:spcAft>
              <a:buNone/>
              <a:tabLst>
                <a:tab pos="365760" algn="l"/>
              </a:tabLst>
            </a:pPr>
            <a:r>
              <a:rPr lang="ko-KR" altLang="en-US" sz="1800" b="1" dirty="0">
                <a:solidFill>
                  <a:srgbClr val="1E2A5A"/>
                </a:solidFill>
                <a:latin typeface="맑은 고딕"/>
                <a:ea typeface="맑은 고딕"/>
                <a:cs typeface="맑은 고딕"/>
              </a:rPr>
              <a:t>⑤</a:t>
            </a:r>
            <a:r>
              <a:rPr lang="ko-KR" altLang="en-US" sz="1800" b="0" dirty="0">
                <a:solidFill>
                  <a:srgbClr val="1F2328"/>
                </a:solidFill>
                <a:latin typeface="맑은 고딕"/>
                <a:ea typeface="맑은 고딕"/>
                <a:cs typeface="맑은 고딕"/>
              </a:rPr>
              <a:t>	Boggis 씨는 흥분해서 실제로 넘어졌다</a:t>
            </a:r>
            <a:endParaRPr lang="ko-KR" altLang="en-US" sz="1800" b="0" dirty="0">
              <a:solidFill>
                <a:srgbClr val="1F2328"/>
              </a:solidFill>
              <a:latin typeface="맑은 고딕"/>
              <a:ea typeface="맑은 고딕"/>
              <a:cs typeface="맑은 고딕"/>
            </a:endParaRPr>
          </a:p>
        </p:txBody>
      </p:sp>
      <p:sp>
        <p:nvSpPr>
          <p:cNvPr id="17" name="rv_answer"/>
          <p:cNvSpPr/>
          <p:nvPr/>
        </p:nvSpPr>
        <p:spPr>
          <a:xfrm>
            <a:off x="457200" y="5224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Boggis 씨는 탁자가 복제품이라고 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23458"/>
            <a:ext cx="11277295" cy="595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Boggis는 정색하며 탁자가 복제품이라고 말했다. ①이 일치한다.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294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2948"/>
          </a:xfrm>
          <a:prstGeom prst="rect">
            <a:avLst/>
          </a:prstGeom>
          <a:noFill/>
        </p:spPr>
        <p:txBody>
          <a:bodyPr wrap="square" lIns="201168" tIns="100584" rIns="201168" bIns="100584" anchor="t" rtlCol="0">
            <a:noAutofit/>
          </a:bodyPr>
          <a:lstStyle/>
          <a:p>
            <a:pPr algn="l">
              <a:lnSpc>
                <a:spcPts val="2140"/>
              </a:lnSpc>
              <a:spcBef>
                <a:spcPts val="0"/>
              </a:spcBef>
              <a:spcAft>
                <a:spcPts val="0"/>
              </a:spcAft>
              <a:buNone/>
            </a:pPr>
            <a:r>
              <a:rPr lang="en-US" altLang="ko-KR" sz="1650" b="0" dirty="0">
                <a:solidFill>
                  <a:srgbClr val="1F2328"/>
                </a:solidFill>
                <a:latin typeface="Calibri"/>
                <a:ea typeface="맑은 고딕"/>
                <a:cs typeface="Calibri"/>
              </a:rPr>
              <a:t>Now it was another Sunday, and Mr. Boggis was in a small town again.</a:t>
            </a:r>
            <a:endParaRPr lang="en-US" altLang="ko-KR" sz="1650" b="0" dirty="0">
              <a:solidFill>
                <a:srgbClr val="1F2328"/>
              </a:solidFill>
              <a:latin typeface="Calibri"/>
              <a:ea typeface="맑은 고딕"/>
              <a:cs typeface="Calibri"/>
            </a:endParaRPr>
          </a:p>
        </p:txBody>
      </p:sp>
      <p:sp>
        <p:nvSpPr>
          <p:cNvPr id="9" name="parts_card"/>
          <p:cNvSpPr/>
          <p:nvPr/>
        </p:nvSpPr>
        <p:spPr>
          <a:xfrm>
            <a:off x="457200" y="1551940"/>
            <a:ext cx="11277295" cy="271221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51940"/>
            <a:ext cx="11277295" cy="2712211"/>
          </a:xfrm>
          <a:prstGeom prst="rect">
            <a:avLst/>
          </a:prstGeom>
          <a:noFill/>
        </p:spPr>
        <p:txBody>
          <a:bodyPr wrap="square" lIns="201168" tIns="118872" rIns="201168" bIns="118872" anchor="t" rtlCol="0">
            <a:noAutofit/>
          </a:bodyPr>
          <a:lstStyle/>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(A)</a:t>
            </a:r>
            <a:r>
              <a:rPr lang="en-US" altLang="ko-KR" sz="165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(B)</a:t>
            </a:r>
            <a:r>
              <a:rPr lang="en-US" altLang="ko-KR" sz="1650" b="0" dirty="0">
                <a:solidFill>
                  <a:srgbClr val="1F2328"/>
                </a:solidFill>
                <a:latin typeface="Calibri"/>
                <a:ea typeface="맑은 고딕"/>
                <a:cs typeface="Calibri"/>
              </a:rPr>
              <a:t>	At a house he visited, he met two men. One was Rummins, the owner, and the other was his son Bert. "I buy old furniture. Do you have any?" asked Mr. Boggis. "No, I don’t," said Rummins. "Can I just take a look?" asked Mr. Boggis. "Sure. Please come in," said Rummins.</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(C)</a:t>
            </a:r>
            <a:r>
              <a:rPr lang="en-US" altLang="ko-KR" sz="1650" b="0" dirty="0">
                <a:solidFill>
                  <a:srgbClr val="1F2328"/>
                </a:solidFill>
                <a:latin typeface="Calibri"/>
                <a:ea typeface="맑은 고딕"/>
                <a:cs typeface="Calibri"/>
              </a:rPr>
              <a:t>	He was so excited that he almost fell over. "What’s wrong?" Bert asked. "Oh, nothing. Nothing at all," Mr. Boggis lied. He then said with a straight face, "This table is a reproduction. It’s worth only a few pounds."</a:t>
            </a:r>
            <a:endParaRPr lang="en-US" altLang="ko-KR" sz="1650" b="0" dirty="0">
              <a:solidFill>
                <a:srgbClr val="1F2328"/>
              </a:solidFill>
              <a:latin typeface="Calibri"/>
              <a:ea typeface="맑은 고딕"/>
              <a:cs typeface="Calibri"/>
            </a:endParaRPr>
          </a:p>
        </p:txBody>
      </p:sp>
      <p:sp>
        <p:nvSpPr>
          <p:cNvPr id="11" name="options"/>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② </a:t>
            </a:r>
            <a:r>
              <a:rPr lang="en-US" altLang="ko-KR" sz="1800" b="0" dirty="0">
                <a:solidFill>
                  <a:srgbClr val="C00000"/>
                </a:solidFill>
                <a:highlight>
                  <a:srgbClr val="FFFFFF"/>
                </a:highlight>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8859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en-US" altLang="ko-KR" sz="1900" b="1" dirty="0">
                <a:solidFill>
                  <a:srgbClr val="5A4200"/>
                </a:solidFill>
                <a:latin typeface="Calibri"/>
                <a:ea typeface="맑은 고딕"/>
                <a:cs typeface="Calibri"/>
              </a:rPr>
              <a:t>(B) - (A) - (C)</a:t>
            </a:r>
            <a:endParaRPr lang="en-US" altLang="ko-KR" sz="1900" b="1" dirty="0">
              <a:solidFill>
                <a:srgbClr val="5A4200"/>
              </a:solidFill>
              <a:latin typeface="Calibri"/>
              <a:ea typeface="맑은 고딕"/>
              <a:cs typeface="Calibri"/>
            </a:endParaRPr>
          </a:p>
        </p:txBody>
      </p:sp>
      <p:sp>
        <p:nvSpPr>
          <p:cNvPr id="14" name="rv_why"/>
          <p:cNvSpPr/>
          <p:nvPr/>
        </p:nvSpPr>
        <p:spPr>
          <a:xfrm>
            <a:off x="457200" y="5484876"/>
            <a:ext cx="11277295" cy="9342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일요일 작은 마을 → (B) 한 집에서 Rummins 부자를 만나 둘러봐도 되냐고 묻는다 → (A) 부엌을 거쳐 거실에서 탁자를 찾는다 → (C) 흥분했지만 복제품이라고 속인다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294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2948"/>
          </a:xfrm>
          <a:prstGeom prst="rect">
            <a:avLst/>
          </a:prstGeom>
          <a:noFill/>
        </p:spPr>
        <p:txBody>
          <a:bodyPr wrap="square" lIns="201168" tIns="100584" rIns="201168" bIns="100584" anchor="t" rtlCol="0">
            <a:noAutofit/>
          </a:bodyPr>
          <a:lstStyle/>
          <a:p>
            <a:pPr algn="l">
              <a:lnSpc>
                <a:spcPts val="2140"/>
              </a:lnSpc>
              <a:spcBef>
                <a:spcPts val="0"/>
              </a:spcBef>
              <a:spcAft>
                <a:spcPts val="0"/>
              </a:spcAft>
              <a:buNone/>
            </a:pPr>
            <a:r>
              <a:rPr lang="en-US" altLang="ko-KR" sz="1650" b="0" dirty="0">
                <a:solidFill>
                  <a:srgbClr val="1F2328"/>
                </a:solidFill>
                <a:latin typeface="Calibri"/>
                <a:ea typeface="맑은 고딕"/>
                <a:cs typeface="Calibri"/>
              </a:rPr>
              <a:t>Now it was another Sunday, and Mr. Boggis was in a small town again.</a:t>
            </a:r>
            <a:endParaRPr lang="en-US" altLang="ko-KR" sz="1650" b="0" dirty="0">
              <a:solidFill>
                <a:srgbClr val="1F2328"/>
              </a:solidFill>
              <a:latin typeface="Calibri"/>
              <a:ea typeface="맑은 고딕"/>
              <a:cs typeface="Calibri"/>
            </a:endParaRPr>
          </a:p>
        </p:txBody>
      </p:sp>
      <p:sp>
        <p:nvSpPr>
          <p:cNvPr id="9" name="parts_card"/>
          <p:cNvSpPr/>
          <p:nvPr/>
        </p:nvSpPr>
        <p:spPr>
          <a:xfrm>
            <a:off x="457200" y="1551940"/>
            <a:ext cx="11277295" cy="271221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551940"/>
            <a:ext cx="11277295" cy="2712211"/>
          </a:xfrm>
          <a:prstGeom prst="rect">
            <a:avLst/>
          </a:prstGeom>
          <a:noFill/>
        </p:spPr>
        <p:txBody>
          <a:bodyPr wrap="square" lIns="201168" tIns="118872" rIns="201168" bIns="118872" anchor="t" rtlCol="0">
            <a:noAutofit/>
          </a:bodyPr>
          <a:lstStyle/>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(A)</a:t>
            </a:r>
            <a:r>
              <a:rPr lang="en-US" altLang="ko-KR" sz="165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(B)</a:t>
            </a:r>
            <a:r>
              <a:rPr lang="en-US" altLang="ko-KR" sz="1650" b="0" dirty="0">
                <a:solidFill>
                  <a:srgbClr val="1F2328"/>
                </a:solidFill>
                <a:latin typeface="Calibri"/>
                <a:ea typeface="맑은 고딕"/>
                <a:cs typeface="Calibri"/>
              </a:rPr>
              <a:t>	He was so excited that he almost fell over. "What’s wrong?" Bert asked. "Oh, nothing. Nothing at all," Mr. Boggis lied. He then said with a straight face, "This table is a reproduction. It’s worth only a few pounds."</a:t>
            </a:r>
            <a:endParaRPr lang="en-US" altLang="ko-KR" sz="1650" b="0" dirty="0">
              <a:solidFill>
                <a:srgbClr val="1F2328"/>
              </a:solidFill>
              <a:latin typeface="Calibri"/>
              <a:ea typeface="맑은 고딕"/>
              <a:cs typeface="Calibri"/>
            </a:endParaRPr>
          </a:p>
          <a:p>
            <a:pPr algn="just" marL="439420" indent="-439420">
              <a:lnSpc>
                <a:spcPts val="2140"/>
              </a:lnSpc>
              <a:spcBef>
                <a:spcPts val="0"/>
              </a:spcBef>
              <a:spcAft>
                <a:spcPts val="740"/>
              </a:spcAft>
              <a:buNone/>
              <a:tabLst>
                <a:tab pos="439420" algn="l"/>
              </a:tabLst>
            </a:pPr>
            <a:r>
              <a:rPr lang="en-US" altLang="ko-KR" sz="1650" b="1" dirty="0">
                <a:solidFill>
                  <a:srgbClr val="1E2A5A"/>
                </a:solidFill>
                <a:latin typeface="Calibri"/>
                <a:ea typeface="맑은 고딕"/>
                <a:cs typeface="Calibri"/>
              </a:rPr>
              <a:t>(C)</a:t>
            </a:r>
            <a:r>
              <a:rPr lang="en-US" altLang="ko-KR" sz="1650" b="0" dirty="0">
                <a:solidFill>
                  <a:srgbClr val="1F2328"/>
                </a:solidFill>
                <a:latin typeface="Calibri"/>
                <a:ea typeface="맑은 고딕"/>
                <a:cs typeface="Calibri"/>
              </a:rPr>
              <a:t>	At a house he visited, he met two men. One was Rummins, the owner, and the other was his son Bert. "I buy old furniture. Do you have any?" asked Mr. Boggis. "No, I don’t," said Rummins. "Can I just take a look?" asked Mr. Boggis. "Sure. Please come in," said Rummins.</a:t>
            </a:r>
            <a:endParaRPr lang="en-US" altLang="ko-KR" sz="1650" b="0" dirty="0">
              <a:solidFill>
                <a:srgbClr val="1F2328"/>
              </a:solidFill>
              <a:latin typeface="Calibri"/>
              <a:ea typeface="맑은 고딕"/>
              <a:cs typeface="Calibri"/>
            </a:endParaRPr>
          </a:p>
        </p:txBody>
      </p:sp>
      <p:sp>
        <p:nvSpPr>
          <p:cNvPr id="11" name="options"/>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37388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④ </a:t>
            </a:r>
            <a:r>
              <a:rPr lang="en-US" altLang="ko-KR" sz="1800" b="0" dirty="0">
                <a:solidFill>
                  <a:srgbClr val="C00000"/>
                </a:solidFill>
                <a:highlight>
                  <a:srgbClr val="FFFFFF"/>
                </a:highlight>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488594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(C) - (A) - (B)</a:t>
            </a:r>
            <a:endParaRPr lang="en-US" altLang="ko-KR" sz="1900" b="1" dirty="0">
              <a:solidFill>
                <a:srgbClr val="5A4200"/>
              </a:solidFill>
              <a:latin typeface="Calibri"/>
              <a:ea typeface="맑은 고딕"/>
              <a:cs typeface="Calibri"/>
            </a:endParaRPr>
          </a:p>
        </p:txBody>
      </p:sp>
      <p:sp>
        <p:nvSpPr>
          <p:cNvPr id="14" name="rv_why"/>
          <p:cNvSpPr/>
          <p:nvPr/>
        </p:nvSpPr>
        <p:spPr>
          <a:xfrm>
            <a:off x="457200" y="5484876"/>
            <a:ext cx="11277295" cy="93421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일요일 작은 마을 → (C) 한 집에서 두 남자를 만나 집 안으로 들어간다 → (A) 부엌에 이어 거실에서 귀한 탁자를 찾는다 → (B) 너무 흥분했지만 복제품이라고 거짓말한다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"I buy old furniture. Do you have any?" asked Mr. Boggis.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87528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Now it was another Sunday, and Mr. Boggis was in a small town again.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 house he visited, he met two men. One was Rummins, the owner, and the other was his son Bert.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"No, I don’t," said Rummins. "Can I just take a look?" asked Mr. Boggis.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"Sure. Please come in," said Rummins.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Now it was another Sunday, and Mr. Boggis was in a small town again.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 house he visited, he met two men. One was Rummins, the owner, and the other was his son Bert. </a:t>
            </a:r>
            <a:r>
              <a:rPr lang="ko-KR" altLang="en-US" sz="1800" b="1" dirty="0">
                <a:solidFill>
                  <a:srgbClr val="C00000"/>
                </a:solidFill>
                <a:highlight>
                  <a:srgbClr val="F3F5F9"/>
                </a:highlight>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"No, I don’t," said Rummins. "Can I just take a look?" asked Mr. Boggis. </a:t>
            </a:r>
            <a:r>
              <a:rPr lang="ko-KR" altLang="en-US" sz="18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"Sure. Please come in," said Rummins.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589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188458"/>
            <a:ext cx="11277295" cy="1230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'Do you have any?'에 대한 대답이 ③ 뒤 'No, I don’t'이다. 질문이 먼저 와야 하므로 ③이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50723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507238"/>
          </a:xfrm>
          <a:prstGeom prst="rect">
            <a:avLst/>
          </a:prstGeom>
          <a:noFill/>
        </p:spPr>
        <p:txBody>
          <a:bodyPr wrap="square" lIns="201168" tIns="100584" rIns="201168" bIns="100584"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주어진 문장</a:t>
            </a:r>
            <a:r>
              <a:rPr lang="en-US" altLang="ko-KR" sz="1700" b="0" dirty="0">
                <a:solidFill>
                  <a:srgbClr val="1F2328"/>
                </a:solidFill>
                <a:latin typeface="Calibri"/>
                <a:ea typeface="맑은 고딕"/>
                <a:cs typeface="Calibri"/>
              </a:rPr>
              <a:t>   "No, I don’t," said Rummins. "Can I just take a look?" asked Mr. Boggis.</a:t>
            </a:r>
            <a:endParaRPr lang="en-US" altLang="ko-KR" sz="1700" b="0" dirty="0">
              <a:solidFill>
                <a:srgbClr val="1F2328"/>
              </a:solidFill>
              <a:latin typeface="Calibri"/>
              <a:ea typeface="맑은 고딕"/>
              <a:cs typeface="Calibri"/>
            </a:endParaRPr>
          </a:p>
        </p:txBody>
      </p:sp>
      <p:sp>
        <p:nvSpPr>
          <p:cNvPr id="9" name="passage_card"/>
          <p:cNvSpPr/>
          <p:nvPr/>
        </p:nvSpPr>
        <p:spPr>
          <a:xfrm>
            <a:off x="457200" y="1604518"/>
            <a:ext cx="11277295" cy="2875280"/>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solidFill>
                <a:latin typeface="Calibri"/>
                <a:ea typeface="맑은 고딕"/>
                <a:cs typeface="Calibri"/>
              </a:rPr>
              <a:t>Now it was another Sunday, and Mr. Boggis was in a small town again. </a:t>
            </a:r>
            <a:r>
              <a:rPr lang="ko-KR" altLang="en-US" sz="18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 house he visited, he met two men. One was Rummins, the owner, and the other was his son Bert. </a:t>
            </a:r>
            <a:r>
              <a:rPr lang="ko-KR" altLang="en-US" sz="18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"I buy old furniture. Do you have any?" asked Mr. Boggis. </a:t>
            </a:r>
            <a:r>
              <a:rPr lang="ko-KR" altLang="en-US" sz="18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"Sure. Please come in," said Rummins. </a:t>
            </a:r>
            <a:r>
              <a:rPr lang="ko-KR" altLang="en-US" sz="18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1" name="rv_pick"/>
          <p:cNvSpPr txBox="1"/>
          <p:nvPr/>
        </p:nvSpPr>
        <p:spPr>
          <a:xfrm>
            <a:off x="457200" y="1604518"/>
            <a:ext cx="11277295" cy="2875280"/>
          </a:xfrm>
          <a:prstGeom prst="rect">
            <a:avLst/>
          </a:prstGeom>
          <a:noFill/>
        </p:spPr>
        <p:txBody>
          <a:bodyPr wrap="square" lIns="201168" tIns="118872" rIns="201168" bIns="118872" anchor="t" rtlCol="0">
            <a:noAutofit/>
          </a:bodyPr>
          <a:lstStyle/>
          <a:p>
            <a:pPr algn="just">
              <a:lnSpc>
                <a:spcPts val="2560"/>
              </a:lnSpc>
              <a:spcBef>
                <a:spcPts val="0"/>
              </a:spcBef>
              <a:spcAft>
                <a:spcPts val="0"/>
              </a:spcAft>
              <a:buNone/>
            </a:pPr>
            <a:r>
              <a:rPr lang="en-US" altLang="ko-KR" sz="1700" b="0" dirty="0">
                <a:solidFill>
                  <a:srgbClr val="1F2328">
                    <a:alpha val="0"/>
                  </a:srgbClr>
                </a:solidFill>
                <a:latin typeface="Calibri"/>
                <a:ea typeface="맑은 고딕"/>
                <a:cs typeface="Calibri"/>
              </a:rPr>
              <a:t>Now it was another Sunday, and Mr. Boggis was in a small town again. </a:t>
            </a:r>
            <a:r>
              <a:rPr lang="ko-KR" altLang="en-US" sz="18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 house he visited, he met two men. One was Rummins, the owner, and the other was his son Bert. </a:t>
            </a:r>
            <a:r>
              <a:rPr lang="ko-KR" altLang="en-US" sz="18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"I buy old furniture. Do you have any?" asked Mr. Boggis. </a:t>
            </a:r>
            <a:r>
              <a:rPr lang="ko-KR" altLang="en-US" sz="1800" b="1" dirty="0">
                <a:solidFill>
                  <a:srgbClr val="C00000"/>
                </a:solidFill>
                <a:highlight>
                  <a:srgbClr val="F3F5F9"/>
                </a:highlight>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"Sure. Please come in," said Rummins. </a:t>
            </a:r>
            <a:r>
              <a:rPr lang="ko-KR" altLang="en-US" sz="18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Mr. Boggis first went to the kitchen, and there was nothing. He then moved to the living room. And there it was! A table which was a priceless piece of eighteenth‑century English furniture. He was so excited that he almost fell over. "What’s wrong?" Bert asked. "Oh, nothing. Nothing at all," Mr. Boggis lied. He then said with a straight face, "This table is a reproduction. It’s worth only a few pounds."</a:t>
            </a:r>
            <a:endParaRPr lang="en-US" altLang="ko-KR" sz="1700" b="0" dirty="0">
              <a:solidFill>
                <a:srgbClr val="1F2328"/>
              </a:solidFill>
              <a:latin typeface="Calibri"/>
              <a:ea typeface="맑은 고딕"/>
              <a:cs typeface="Calibri"/>
            </a:endParaRPr>
          </a:p>
        </p:txBody>
      </p:sp>
      <p:sp>
        <p:nvSpPr>
          <p:cNvPr id="12" name="rv_answer"/>
          <p:cNvSpPr/>
          <p:nvPr/>
        </p:nvSpPr>
        <p:spPr>
          <a:xfrm>
            <a:off x="457200" y="458952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188458"/>
            <a:ext cx="11277295" cy="123062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주어진 문장의 'Can I just take a look?'에 ④ 뒤 'Sure. Please come in'이 답한다. 고가구를 묻는 말 다음인 ④가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94893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solidFill>
                <a:latin typeface="맑은 고딕"/>
                <a:ea typeface="맑은 고딕"/>
                <a:cs typeface="맑은 고딕"/>
              </a:rPr>
              <a:t>①</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Now it was another Sunday, and Mr. Boggis was in a small town again.</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②</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 house he visited, he met two men. One was Rummins, the owner, and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another</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the other</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was his son Bert.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③</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 buy old furniture. Do you have any?"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④</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 I don’t," said Rummins. "Can I just take a look?"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⑤</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"Sure. Please come in," said Rummins.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⑥</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Mr. Boggis first went to the kitchen, and there was nothing.</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⑦</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moved to the living room. And there it was!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⑧</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 table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which</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where</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was a priceless piece of eighteenth‑century English furniture.</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⑨</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was so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exciting</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excited</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that he almost fell over.</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⑩</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"What’s wrong?" Bert asked. "Oh, nothing. Nothing at all," Mr. Boggis lied.</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⑪</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said with a straight face, "This table is a reproduction. It’s worth only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a few</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a little</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9" name="rv_g01"/>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C00000"/>
                </a:solidFill>
                <a:highlight>
                  <a:srgbClr val="F3F5F9"/>
                </a:highlight>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10" name="rv_g02"/>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11" name="rv_g03"/>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C00000"/>
                </a:solidFill>
                <a:highlight>
                  <a:srgbClr val="F3F5F9"/>
                </a:highlight>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
        <p:nvSpPr>
          <p:cNvPr id="12" name="rv_g04"/>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another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the 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was nothing.</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which</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where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so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exciting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excited</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lied.</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a few</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a little</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pounds."</a:t>
            </a:r>
            <a:endParaRPr lang="en-US" altLang="ko-KR" sz="20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L6-2</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94893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solidFill>
                <a:latin typeface="맑은 고딕"/>
                <a:ea typeface="맑은 고딕"/>
                <a:cs typeface="맑은 고딕"/>
              </a:rPr>
              <a:t>①</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Now it was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another</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other</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Sunday, and Mr. Boggis was in a small town again.</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②</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 house he visited, he met two men. One was Rummins, the owner, and the other was his son Bert.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③</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"I buy old furniture. Do you have any?"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④</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"No, I don’t," said Rummins. "Can I just take a look?" asked Mr. Boggis.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⑤</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"Sure. Please come in," said Rummins.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⑥</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Mr. Boggis first went to the kitchen, and there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was nothing</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were nothing</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⑦</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moved to the living room. And there it was!</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⑧</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 table which was a priceless piece of eighteenth‑century English furniture.</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⑨</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was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so</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such</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 excited that he almost fell over.</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⑩</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"What’s wrong?" Bert asked. "Oh, nothing. Nothing at all," Mr. Boggis </a:t>
            </a:r>
            <a:r>
              <a:rPr lang="en-US" altLang="ko-KR" sz="2050" b="1" dirty="0">
                <a:solidFill>
                  <a:srgbClr val="1F2328"/>
                </a:solidFill>
                <a:latin typeface="Calibri"/>
                <a:ea typeface="맑은 고딕"/>
                <a:cs typeface="Calibri"/>
              </a:rPr>
              <a:t>[ </a:t>
            </a:r>
            <a:r>
              <a:rPr lang="en-US" altLang="ko-KR" sz="2050" b="1" dirty="0">
                <a:solidFill>
                  <a:srgbClr val="1F2328"/>
                </a:solidFill>
                <a:latin typeface="Calibri"/>
                <a:ea typeface="맑은 고딕"/>
                <a:cs typeface="Calibri"/>
              </a:rPr>
              <a:t>lied</a:t>
            </a:r>
            <a:r>
              <a:rPr lang="en-US" altLang="ko-KR" sz="2050" b="1" dirty="0">
                <a:solidFill>
                  <a:srgbClr val="1F2328"/>
                </a:solidFill>
                <a:latin typeface="Calibri"/>
                <a:ea typeface="맑은 고딕"/>
                <a:cs typeface="Calibri"/>
              </a:rPr>
              <a:t> / </a:t>
            </a:r>
            <a:r>
              <a:rPr lang="en-US" altLang="ko-KR" sz="2050" b="1" dirty="0">
                <a:solidFill>
                  <a:srgbClr val="1F2328"/>
                </a:solidFill>
                <a:latin typeface="Calibri"/>
                <a:ea typeface="맑은 고딕"/>
                <a:cs typeface="Calibri"/>
              </a:rPr>
              <a:t>lay</a:t>
            </a:r>
            <a:r>
              <a:rPr lang="en-US" altLang="ko-KR" sz="2050" b="1"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a:t>
            </a:r>
            <a:r>
              <a:rPr lang="en-US" altLang="ko-KR" sz="2050" b="0" dirty="0">
                <a:solidFill>
                  <a:srgbClr val="1F2328"/>
                </a:solidFill>
                <a:latin typeface="Calibri"/>
                <a:ea typeface="맑은 고딕"/>
                <a:cs typeface="Calibri"/>
              </a:rPr>
              <a:t>   </a:t>
            </a:r>
            <a:r>
              <a:rPr lang="ko-KR" altLang="en-US" sz="2050" b="1" dirty="0">
                <a:solidFill>
                  <a:srgbClr val="1E2A5A"/>
                </a:solidFill>
                <a:latin typeface="맑은 고딕"/>
                <a:ea typeface="맑은 고딕"/>
                <a:cs typeface="맑은 고딕"/>
              </a:rPr>
              <a:t>⑪</a:t>
            </a:r>
            <a:r>
              <a:rPr lang="en-US" altLang="ko-KR" sz="2050" b="0" dirty="0">
                <a:solidFill>
                  <a:srgbClr val="1F2328"/>
                </a:solidFill>
                <a:latin typeface="Calibri"/>
                <a:ea typeface="맑은 고딕"/>
                <a:cs typeface="Calibri"/>
              </a:rPr>
              <a:t> </a:t>
            </a:r>
            <a:r>
              <a:rPr lang="en-US" altLang="ko-KR" sz="2050" b="0" dirty="0">
                <a:solidFill>
                  <a:srgbClr val="1F2328"/>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9" name="rv_g01"/>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10" name="rv_g02"/>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11" name="rv_g03"/>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
        <p:nvSpPr>
          <p:cNvPr id="12" name="rv_g04"/>
          <p:cNvSpPr txBox="1"/>
          <p:nvPr/>
        </p:nvSpPr>
        <p:spPr>
          <a:xfrm>
            <a:off x="457200" y="950976"/>
            <a:ext cx="11277295" cy="4948936"/>
          </a:xfrm>
          <a:prstGeom prst="rect">
            <a:avLst/>
          </a:prstGeom>
          <a:noFill/>
        </p:spPr>
        <p:txBody>
          <a:bodyPr wrap="square" lIns="228600" tIns="155448" rIns="228600" bIns="155448" anchor="t" rtlCol="0">
            <a:noAutofit/>
          </a:bodyPr>
          <a:lstStyle/>
          <a:p>
            <a:pPr algn="l">
              <a:lnSpc>
                <a:spcPts val="3320"/>
              </a:lnSpc>
              <a:spcBef>
                <a:spcPts val="0"/>
              </a:spcBef>
              <a:spcAft>
                <a:spcPts val="0"/>
              </a:spcAft>
              <a:buNone/>
            </a:pPr>
            <a:r>
              <a:rPr lang="ko-KR" altLang="en-US" sz="2050" b="1" dirty="0">
                <a:solidFill>
                  <a:srgbClr val="1E2A5A">
                    <a:alpha val="0"/>
                  </a:srgbClr>
                </a:solidFill>
                <a:latin typeface="맑은 고딕"/>
                <a:ea typeface="맑은 고딕"/>
                <a:cs typeface="맑은 고딕"/>
              </a:rPr>
              <a:t>①</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Now it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another</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other</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Sunday, and Mr. Boggis was in a small town again.</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②</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 house he visited, he met two men. One was Rummins, the owner, and the other was his son Bert.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③</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"I buy old furniture. Do you have any?"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④</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"No, I don’t," said Rummins. "Can I just take a look?" asked Mr. Boggis.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⑤</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"Sure. Please come in," said Rummins.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⑥</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Mr. Boggis first went to the kitchen, and there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was nothing</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were nothing</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⑦</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moved to the living room. And there it was!</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⑧</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 table which was a priceless piece of eighteenth‑century English furniture.</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⑨</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was </a:t>
            </a:r>
            <a:r>
              <a:rPr lang="en-US" altLang="ko-KR" sz="2050" b="1" dirty="0">
                <a:solidFill>
                  <a:srgbClr val="1F2328">
                    <a:alpha val="0"/>
                  </a:srgbClr>
                </a:solidFill>
                <a:latin typeface="Calibri"/>
                <a:ea typeface="맑은 고딕"/>
                <a:cs typeface="Calibri"/>
              </a:rPr>
              <a:t>[ </a:t>
            </a:r>
            <a:r>
              <a:rPr lang="en-US" altLang="ko-KR" sz="2050" b="1" dirty="0">
                <a:solidFill>
                  <a:srgbClr val="1F2328">
                    <a:alpha val="0"/>
                  </a:srgbClr>
                </a:solidFill>
                <a:latin typeface="Calibri"/>
                <a:ea typeface="맑은 고딕"/>
                <a:cs typeface="Calibri"/>
              </a:rPr>
              <a:t>so</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such</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 excited that he almost fell over.</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⑩</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"What’s wrong?" Bert asked. "Oh, nothing. Nothing at all," Mr. Boggis </a:t>
            </a:r>
            <a:r>
              <a:rPr lang="en-US" altLang="ko-KR" sz="2050" b="1" dirty="0">
                <a:solidFill>
                  <a:srgbClr val="1F2328">
                    <a:alpha val="0"/>
                  </a:srgbClr>
                </a:solidFill>
                <a:latin typeface="Calibri"/>
                <a:ea typeface="맑은 고딕"/>
                <a:cs typeface="Calibri"/>
              </a:rPr>
              <a:t>[ </a:t>
            </a:r>
            <a:r>
              <a:rPr lang="en-US" altLang="ko-KR" sz="2050" b="1" dirty="0">
                <a:solidFill>
                  <a:srgbClr val="C00000"/>
                </a:solidFill>
                <a:highlight>
                  <a:srgbClr val="F3F5F9"/>
                </a:highlight>
                <a:latin typeface="Calibri"/>
                <a:ea typeface="맑은 고딕"/>
                <a:cs typeface="Calibri"/>
              </a:rPr>
              <a:t>lied</a:t>
            </a:r>
            <a:r>
              <a:rPr lang="en-US" altLang="ko-KR" sz="2050" b="1" dirty="0">
                <a:solidFill>
                  <a:srgbClr val="1F2328">
                    <a:alpha val="0"/>
                  </a:srgbClr>
                </a:solidFill>
                <a:latin typeface="Calibri"/>
                <a:ea typeface="맑은 고딕"/>
                <a:cs typeface="Calibri"/>
              </a:rPr>
              <a:t> / </a:t>
            </a:r>
            <a:r>
              <a:rPr lang="en-US" altLang="ko-KR" sz="2050" b="1" dirty="0">
                <a:solidFill>
                  <a:srgbClr val="1F2328">
                    <a:alpha val="0"/>
                  </a:srgbClr>
                </a:solidFill>
                <a:latin typeface="Calibri"/>
                <a:ea typeface="맑은 고딕"/>
                <a:cs typeface="Calibri"/>
              </a:rPr>
              <a:t>lay</a:t>
            </a:r>
            <a:r>
              <a:rPr lang="en-US" altLang="ko-KR" sz="2050" b="1"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a:t>
            </a:r>
            <a:r>
              <a:rPr lang="en-US" altLang="ko-KR" sz="2050" b="0" dirty="0">
                <a:solidFill>
                  <a:srgbClr val="1F2328">
                    <a:alpha val="0"/>
                  </a:srgbClr>
                </a:solidFill>
                <a:latin typeface="Calibri"/>
                <a:ea typeface="맑은 고딕"/>
                <a:cs typeface="Calibri"/>
              </a:rPr>
              <a:t>   </a:t>
            </a:r>
            <a:r>
              <a:rPr lang="ko-KR" altLang="en-US" sz="2050" b="1" dirty="0">
                <a:solidFill>
                  <a:srgbClr val="1E2A5A">
                    <a:alpha val="0"/>
                  </a:srgbClr>
                </a:solidFill>
                <a:latin typeface="맑은 고딕"/>
                <a:ea typeface="맑은 고딕"/>
                <a:cs typeface="맑은 고딕"/>
              </a:rPr>
              <a:t>⑪</a:t>
            </a:r>
            <a:r>
              <a:rPr lang="en-US" altLang="ko-KR" sz="2050" b="0" dirty="0">
                <a:solidFill>
                  <a:srgbClr val="1F2328">
                    <a:alpha val="0"/>
                  </a:srgbClr>
                </a:solidFill>
                <a:latin typeface="Calibri"/>
                <a:ea typeface="맑은 고딕"/>
                <a:cs typeface="Calibri"/>
              </a:rPr>
              <a:t> </a:t>
            </a:r>
            <a:r>
              <a:rPr lang="en-US" altLang="ko-KR" sz="2050" b="0" dirty="0">
                <a:solidFill>
                  <a:srgbClr val="1F2328">
                    <a:alpha val="0"/>
                  </a:srgbClr>
                </a:solidFill>
                <a:latin typeface="Calibri"/>
                <a:ea typeface="맑은 고딕"/>
                <a:cs typeface="Calibri"/>
              </a:rPr>
              <a:t>He then said with a straight face, "This table is a reproduction. It’s worth only a few pounds."</a:t>
            </a:r>
            <a:endParaRPr lang="en-US" altLang="ko-KR" sz="205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다음 글의 주제로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a:t>
            </a:r>
            <a:r>
              <a:rPr lang="en-US" altLang="ko-KR" sz="1300" b="0" dirty="0">
                <a:solidFill>
                  <a:srgbClr val="1F2328"/>
                </a:solidFill>
                <a:latin typeface="Calibri"/>
                <a:ea typeface="맑은 고딕"/>
                <a:cs typeface="Calibri"/>
              </a:rPr>
              <a:t>I can cut off the legs of your table</a:t>
            </a:r>
            <a:r>
              <a:rPr lang="en-US" altLang="ko-KR" sz="1300" b="0" dirty="0">
                <a:solidFill>
                  <a:srgbClr val="1F2328"/>
                </a:solidFill>
                <a:latin typeface="Calibri"/>
                <a:ea typeface="맑은 고딕"/>
                <a:cs typeface="Calibri"/>
              </a:rPr>
              <a:t>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a:t>
            </a:r>
            <a:r>
              <a:rPr lang="en-US" altLang="ko-KR" sz="1300" b="0" dirty="0">
                <a:solidFill>
                  <a:srgbClr val="1F2328"/>
                </a:solidFill>
                <a:latin typeface="Calibri"/>
                <a:ea typeface="맑은 고딕"/>
                <a:cs typeface="Calibri"/>
              </a:rPr>
              <a:t>When Mr. Boggis came back, the legs had been cut off.</a:t>
            </a:r>
            <a:r>
              <a:rPr lang="en-US" altLang="ko-KR" sz="1300" b="0" dirty="0">
                <a:solidFill>
                  <a:srgbClr val="1F2328"/>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a:t>
            </a:r>
            <a:r>
              <a:rPr lang="en-US" altLang="ko-KR" sz="1300" b="0" dirty="0">
                <a:solidFill>
                  <a:srgbClr val="111111"/>
                </a:solidFill>
                <a:highlight>
                  <a:srgbClr val="FFE45C"/>
                </a:highlight>
                <a:latin typeface="Calibri"/>
                <a:ea typeface="맑은 고딕"/>
                <a:cs typeface="Calibri"/>
              </a:rPr>
              <a:t>I can cut off the legs of your table</a:t>
            </a:r>
            <a:r>
              <a:rPr lang="en-US" altLang="ko-KR" sz="1300" b="0" dirty="0">
                <a:solidFill>
                  <a:srgbClr val="B3BAC6"/>
                </a:solidFill>
                <a:latin typeface="Calibri"/>
                <a:ea typeface="맑은 고딕"/>
                <a:cs typeface="Calibri"/>
              </a:rPr>
              <a:t>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a:t>
            </a:r>
            <a:r>
              <a:rPr lang="en-US" altLang="ko-KR" sz="1300" b="0" dirty="0">
                <a:solidFill>
                  <a:srgbClr val="111111"/>
                </a:solidFill>
                <a:highlight>
                  <a:srgbClr val="FFE45C"/>
                </a:highlight>
                <a:latin typeface="Calibri"/>
                <a:ea typeface="맑은 고딕"/>
                <a:cs typeface="Calibri"/>
              </a:rPr>
              <a:t>When Mr. Boggis came back, the legs had been cut off.</a:t>
            </a:r>
            <a:r>
              <a:rPr lang="en-US" altLang="ko-KR" sz="1300" b="0" dirty="0">
                <a:solidFill>
                  <a:srgbClr val="B3BAC6"/>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en-US" altLang="ko-KR" sz="1650" b="0" dirty="0">
                <a:solidFill>
                  <a:srgbClr val="1F2328"/>
                </a:solidFill>
                <a:latin typeface="Calibri"/>
                <a:ea typeface="맑은 고딕"/>
                <a:cs typeface="Calibri"/>
              </a:rPr>
              <a:t>	how Bert fixed the broken legs of a table</a:t>
            </a:r>
            <a:endParaRPr lang="en-US" altLang="ko-KR" sz="1650" b="0" dirty="0">
              <a:solidFill>
                <a:srgbClr val="1F2328"/>
              </a:solidFill>
              <a:latin typeface="Calibri"/>
              <a:ea typeface="맑은 고딕"/>
              <a:cs typeface="Calibri"/>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en-US" altLang="ko-KR" sz="1650" b="0" dirty="0">
                <a:solidFill>
                  <a:srgbClr val="1F2328"/>
                </a:solidFill>
                <a:latin typeface="Calibri"/>
                <a:ea typeface="맑은 고딕"/>
                <a:cs typeface="Calibri"/>
              </a:rPr>
              <a:t>	why the dealer paid fifty pounds for a table</a:t>
            </a:r>
            <a:endParaRPr lang="en-US" altLang="ko-KR" sz="1650" b="0" dirty="0">
              <a:solidFill>
                <a:srgbClr val="1F2328"/>
              </a:solidFill>
              <a:latin typeface="Calibri"/>
              <a:ea typeface="맑은 고딕"/>
              <a:cs typeface="Calibri"/>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en-US" altLang="ko-KR" sz="1650" b="0" dirty="0">
                <a:solidFill>
                  <a:srgbClr val="1F2328"/>
                </a:solidFill>
                <a:latin typeface="Calibri"/>
                <a:ea typeface="맑은 고딕"/>
                <a:cs typeface="Calibri"/>
              </a:rPr>
              <a:t>	how a dealer's lie ruined the deal he wanted</a:t>
            </a:r>
            <a:endParaRPr lang="en-US" altLang="ko-KR" sz="1650" b="0" dirty="0">
              <a:solidFill>
                <a:srgbClr val="1F2328"/>
              </a:solidFill>
              <a:latin typeface="Calibri"/>
              <a:ea typeface="맑은 고딕"/>
              <a:cs typeface="Calibri"/>
            </a:endParaRPr>
          </a:p>
        </p:txBody>
      </p:sp>
      <p:sp>
        <p:nvSpPr>
          <p:cNvPr id="14" name="rv_pick"/>
          <p:cNvSpPr txBox="1"/>
          <p:nvPr/>
        </p:nvSpPr>
        <p:spPr>
          <a:xfrm>
            <a:off x="457200" y="4062222"/>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③</a:t>
            </a:r>
            <a:r>
              <a:rPr lang="en-US" altLang="ko-KR" sz="1650" b="0" dirty="0">
                <a:solidFill>
                  <a:srgbClr val="C00000"/>
                </a:solidFill>
                <a:latin typeface="Calibri"/>
                <a:ea typeface="맑은 고딕"/>
                <a:cs typeface="Calibri"/>
              </a:rPr>
              <a:t>	how a dealer's lie ruined the deal he wanted</a:t>
            </a:r>
            <a:endParaRPr lang="en-US" altLang="ko-KR" sz="1650" b="0" dirty="0">
              <a:solidFill>
                <a:srgbClr val="C00000"/>
              </a:solidFill>
              <a:latin typeface="Calibri"/>
              <a:ea typeface="맑은 고딕"/>
              <a:cs typeface="Calibri"/>
            </a:endParaRPr>
          </a:p>
        </p:txBody>
      </p:sp>
      <p:sp>
        <p:nvSpPr>
          <p:cNvPr id="15"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en-US" altLang="ko-KR" sz="1650" b="0" dirty="0">
                <a:solidFill>
                  <a:srgbClr val="1F2328"/>
                </a:solidFill>
                <a:latin typeface="Calibri"/>
                <a:ea typeface="맑은 고딕"/>
                <a:cs typeface="Calibri"/>
              </a:rPr>
              <a:t>	how Rummins got a new car from the dealer</a:t>
            </a:r>
            <a:endParaRPr lang="en-US" altLang="ko-KR" sz="1650" b="0" dirty="0">
              <a:solidFill>
                <a:srgbClr val="1F2328"/>
              </a:solidFill>
              <a:latin typeface="Calibri"/>
              <a:ea typeface="맑은 고딕"/>
              <a:cs typeface="Calibri"/>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en-US" altLang="ko-KR" sz="1650" b="0" dirty="0">
                <a:solidFill>
                  <a:srgbClr val="1F2328"/>
                </a:solidFill>
                <a:latin typeface="Calibri"/>
                <a:ea typeface="맑은 고딕"/>
                <a:cs typeface="Calibri"/>
              </a:rPr>
              <a:t>	why the table could not go into the car</a:t>
            </a:r>
            <a:endParaRPr lang="en-US" altLang="ko-KR" sz="1650" b="0" dirty="0">
              <a:solidFill>
                <a:srgbClr val="1F2328"/>
              </a:solidFill>
              <a:latin typeface="Calibri"/>
              <a:ea typeface="맑은 고딕"/>
              <a:cs typeface="Calibri"/>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how a dealer's lie ruined the deal he wanted</a:t>
            </a:r>
            <a:endParaRPr lang="en-US" altLang="ko-KR" sz="1900" b="1" dirty="0">
              <a:solidFill>
                <a:srgbClr val="5A4200"/>
              </a:solidFill>
              <a:latin typeface="Calibri"/>
              <a:ea typeface="맑은 고딕"/>
              <a:cs typeface="Calibri"/>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다리만 쓰겠다는 거짓말 때문에 다리가 잘려 거래를 망쳤다. ③이 주제다.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25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7" grpId="0" animBg="1"/>
      <p:bldP spid="9" grpId="0" animBg="1"/>
      <p:bldP spid="10" grpId="0" animBg="1"/>
      <p:bldP spid="18"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다음 글의 제목으로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F2328"/>
                </a:solidFill>
                <a:latin typeface="Calibri"/>
                <a:ea typeface="맑은 고딕"/>
                <a:cs typeface="Calibri"/>
              </a:rPr>
              <a:t>What he wants is only the legs</a:t>
            </a:r>
            <a:r>
              <a:rPr lang="en-US" altLang="ko-KR" sz="1300" b="0" dirty="0">
                <a:solidFill>
                  <a:srgbClr val="1F2328"/>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F2328"/>
                </a:solidFill>
                <a:latin typeface="Calibri"/>
                <a:ea typeface="맑은 고딕"/>
                <a:cs typeface="Calibri"/>
              </a:rPr>
              <a:t>When Mr. Boggis came back, the legs had been cut off.</a:t>
            </a:r>
            <a:r>
              <a:rPr lang="en-US" altLang="ko-KR" sz="1300" b="0" dirty="0">
                <a:solidFill>
                  <a:srgbClr val="1F2328"/>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11111"/>
                </a:solidFill>
                <a:highlight>
                  <a:srgbClr val="FFE45C"/>
                </a:highlight>
                <a:latin typeface="Calibri"/>
                <a:ea typeface="맑은 고딕"/>
                <a:cs typeface="Calibri"/>
              </a:rPr>
              <a:t>What he wants is only the legs</a:t>
            </a:r>
            <a:r>
              <a:rPr lang="en-US" altLang="ko-KR" sz="1300" b="0" dirty="0">
                <a:solidFill>
                  <a:srgbClr val="B3BAC6"/>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11111"/>
                </a:solidFill>
                <a:highlight>
                  <a:srgbClr val="FFE45C"/>
                </a:highlight>
                <a:latin typeface="Calibri"/>
                <a:ea typeface="맑은 고딕"/>
                <a:cs typeface="Calibri"/>
              </a:rPr>
              <a:t>When Mr. Boggis came back, the legs had been cut off.</a:t>
            </a:r>
            <a:r>
              <a:rPr lang="en-US" altLang="ko-KR" sz="1300" b="0" dirty="0">
                <a:solidFill>
                  <a:srgbClr val="B3BAC6"/>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en-US" altLang="ko-KR" sz="1650" b="0" dirty="0">
                <a:solidFill>
                  <a:srgbClr val="1F2328"/>
                </a:solidFill>
                <a:latin typeface="Calibri"/>
                <a:ea typeface="맑은 고딕"/>
                <a:cs typeface="Calibri"/>
              </a:rPr>
              <a:t>	A Generous Gift from Mr. Boggis</a:t>
            </a:r>
            <a:endParaRPr lang="en-US" altLang="ko-KR" sz="1650" b="0" dirty="0">
              <a:solidFill>
                <a:srgbClr val="1F2328"/>
              </a:solidFill>
              <a:latin typeface="Calibri"/>
              <a:ea typeface="맑은 고딕"/>
              <a:cs typeface="Calibri"/>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en-US" altLang="ko-KR" sz="1650" b="0" dirty="0">
                <a:solidFill>
                  <a:srgbClr val="1F2328"/>
                </a:solidFill>
                <a:latin typeface="Calibri"/>
                <a:ea typeface="맑은 고딕"/>
                <a:cs typeface="Calibri"/>
              </a:rPr>
              <a:t>	How to Fit Furniture into a Car</a:t>
            </a:r>
            <a:endParaRPr lang="en-US" altLang="ko-KR" sz="1650" b="0" dirty="0">
              <a:solidFill>
                <a:srgbClr val="1F2328"/>
              </a:solidFill>
              <a:latin typeface="Calibri"/>
              <a:ea typeface="맑은 고딕"/>
              <a:cs typeface="Calibri"/>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en-US" altLang="ko-KR" sz="1650" b="0" dirty="0">
                <a:solidFill>
                  <a:srgbClr val="1F2328"/>
                </a:solidFill>
                <a:latin typeface="Calibri"/>
                <a:ea typeface="맑은 고딕"/>
                <a:cs typeface="Calibri"/>
              </a:rPr>
              <a:t>	The Best Way to Repair Old Tables</a:t>
            </a:r>
            <a:endParaRPr lang="en-US" altLang="ko-KR" sz="1650" b="0" dirty="0">
              <a:solidFill>
                <a:srgbClr val="1F2328"/>
              </a:solidFill>
              <a:latin typeface="Calibri"/>
              <a:ea typeface="맑은 고딕"/>
              <a:cs typeface="Calibri"/>
            </a:endParaRPr>
          </a:p>
        </p:txBody>
      </p:sp>
      <p:sp>
        <p:nvSpPr>
          <p:cNvPr id="14"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en-US" altLang="ko-KR" sz="1650" b="0" dirty="0">
                <a:solidFill>
                  <a:srgbClr val="1F2328"/>
                </a:solidFill>
                <a:latin typeface="Calibri"/>
                <a:ea typeface="맑은 고딕"/>
                <a:cs typeface="Calibri"/>
              </a:rPr>
              <a:t>	A Lie That Cut Off His Own Luck</a:t>
            </a:r>
            <a:endParaRPr lang="en-US" altLang="ko-KR" sz="1650" b="0" dirty="0">
              <a:solidFill>
                <a:srgbClr val="1F2328"/>
              </a:solidFill>
              <a:latin typeface="Calibri"/>
              <a:ea typeface="맑은 고딕"/>
              <a:cs typeface="Calibri"/>
            </a:endParaRPr>
          </a:p>
        </p:txBody>
      </p:sp>
      <p:sp>
        <p:nvSpPr>
          <p:cNvPr id="15" name="rv_pick"/>
          <p:cNvSpPr txBox="1"/>
          <p:nvPr/>
        </p:nvSpPr>
        <p:spPr>
          <a:xfrm>
            <a:off x="457200" y="4441698"/>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④</a:t>
            </a:r>
            <a:r>
              <a:rPr lang="en-US" altLang="ko-KR" sz="1650" b="0" dirty="0">
                <a:solidFill>
                  <a:srgbClr val="C00000"/>
                </a:solidFill>
                <a:latin typeface="Calibri"/>
                <a:ea typeface="맑은 고딕"/>
                <a:cs typeface="Calibri"/>
              </a:rPr>
              <a:t>	A Lie That Cut Off His Own Luck</a:t>
            </a:r>
            <a:endParaRPr lang="en-US" altLang="ko-KR" sz="1650" b="0" dirty="0">
              <a:solidFill>
                <a:srgbClr val="C00000"/>
              </a:solidFill>
              <a:latin typeface="Calibri"/>
              <a:ea typeface="맑은 고딕"/>
              <a:cs typeface="Calibri"/>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en-US" altLang="ko-KR" sz="1650" b="0" dirty="0">
                <a:solidFill>
                  <a:srgbClr val="1F2328"/>
                </a:solidFill>
                <a:latin typeface="Calibri"/>
                <a:ea typeface="맑은 고딕"/>
                <a:cs typeface="Calibri"/>
              </a:rPr>
              <a:t>	Rummins Sells His Table for Fifty</a:t>
            </a:r>
            <a:endParaRPr lang="en-US" altLang="ko-KR" sz="1650" b="0" dirty="0">
              <a:solidFill>
                <a:srgbClr val="1F2328"/>
              </a:solidFill>
              <a:latin typeface="Calibri"/>
              <a:ea typeface="맑은 고딕"/>
              <a:cs typeface="Calibri"/>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 </a:t>
            </a:r>
            <a:r>
              <a:rPr lang="en-US" altLang="ko-KR" sz="1900" b="1" dirty="0">
                <a:solidFill>
                  <a:srgbClr val="5A4200"/>
                </a:solidFill>
                <a:latin typeface="Calibri"/>
                <a:ea typeface="맑은 고딕"/>
                <a:cs typeface="Calibri"/>
              </a:rPr>
              <a:t>A Lie That Cut Off His Own Luck</a:t>
            </a:r>
            <a:endParaRPr lang="en-US" altLang="ko-KR" sz="1900" b="1" dirty="0">
              <a:solidFill>
                <a:srgbClr val="5A4200"/>
              </a:solidFill>
              <a:latin typeface="Calibri"/>
              <a:ea typeface="맑은 고딕"/>
              <a:cs typeface="Calibri"/>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Boggis의 거짓말대로 다리를 잘라 주어 그의 행운이 잘려 나갔다. ④가 제목이다.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25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7" grpId="0" animBg="1"/>
      <p:bldP spid="9" grpId="0" animBg="1"/>
      <p:bldP spid="10" grpId="0" animBg="1"/>
      <p:bldP spid="18"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다음 글에서 필자가 주장하는 바로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a:t>
            </a:r>
            <a:r>
              <a:rPr lang="en-US" altLang="ko-KR" sz="1300" b="0" dirty="0">
                <a:solidFill>
                  <a:srgbClr val="1F2328"/>
                </a:solidFill>
                <a:latin typeface="Calibri"/>
                <a:ea typeface="맑은 고딕"/>
                <a:cs typeface="Calibri"/>
              </a:rPr>
              <a:t>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a:t>
            </a:r>
            <a:r>
              <a:rPr lang="en-US" altLang="ko-KR" sz="1300" b="0" dirty="0">
                <a:solidFill>
                  <a:srgbClr val="111111"/>
                </a:solidFill>
                <a:highlight>
                  <a:srgbClr val="FFE45C"/>
                </a:highlight>
                <a:latin typeface="Calibri"/>
                <a:ea typeface="맑은 고딕"/>
                <a:cs typeface="Calibri"/>
              </a:rPr>
              <a:t>Mr. Boggis was so shocked that he couldn’t say anything.</a:t>
            </a:r>
            <a:endParaRPr lang="en-US" altLang="ko-KR" sz="1300" b="0" dirty="0">
              <a:solidFill>
                <a:srgbClr val="111111"/>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가구는 운반하기 쉬운 크기로 만들어야 한다</a:t>
            </a:r>
            <a:endParaRPr lang="ko-KR" altLang="en-US" sz="1650" b="0" dirty="0">
              <a:solidFill>
                <a:srgbClr val="1F2328"/>
              </a:solidFill>
              <a:latin typeface="맑은 고딕"/>
              <a:ea typeface="맑은 고딕"/>
              <a:cs typeface="맑은 고딕"/>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거래할 때는 반드시 계약서를 써야 한다</a:t>
            </a:r>
            <a:endParaRPr lang="ko-KR" altLang="en-US" sz="1650" b="0" dirty="0">
              <a:solidFill>
                <a:srgbClr val="1F2328"/>
              </a:solidFill>
              <a:latin typeface="맑은 고딕"/>
              <a:ea typeface="맑은 고딕"/>
              <a:cs typeface="맑은 고딕"/>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부탁받지 않은 일은 하지 않아야 한다</a:t>
            </a:r>
            <a:endParaRPr lang="ko-KR" altLang="en-US" sz="1650" b="0" dirty="0">
              <a:solidFill>
                <a:srgbClr val="1F2328"/>
              </a:solidFill>
              <a:latin typeface="맑은 고딕"/>
              <a:ea typeface="맑은 고딕"/>
              <a:cs typeface="맑은 고딕"/>
            </a:endParaRPr>
          </a:p>
        </p:txBody>
      </p:sp>
      <p:sp>
        <p:nvSpPr>
          <p:cNvPr id="14"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물건값은 처음 제시한 대로 지켜야 한다</a:t>
            </a:r>
            <a:endParaRPr lang="ko-KR" altLang="en-US" sz="1650" b="0" dirty="0">
              <a:solidFill>
                <a:srgbClr val="1F2328"/>
              </a:solidFill>
              <a:latin typeface="맑은 고딕"/>
              <a:ea typeface="맑은 고딕"/>
              <a:cs typeface="맑은 고딕"/>
            </a:endParaRPr>
          </a:p>
        </p:txBody>
      </p:sp>
      <p:sp>
        <p:nvSpPr>
          <p:cNvPr id="15"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거짓말은 결국 자신에게 해가 될 수 있다</a:t>
            </a:r>
            <a:endParaRPr lang="ko-KR" altLang="en-US" sz="1650" b="0" dirty="0">
              <a:solidFill>
                <a:srgbClr val="1F2328"/>
              </a:solidFill>
              <a:latin typeface="맑은 고딕"/>
              <a:ea typeface="맑은 고딕"/>
              <a:cs typeface="맑은 고딕"/>
            </a:endParaRPr>
          </a:p>
        </p:txBody>
      </p:sp>
      <p:sp>
        <p:nvSpPr>
          <p:cNvPr id="16" name="rv_pick"/>
          <p:cNvSpPr txBox="1"/>
          <p:nvPr/>
        </p:nvSpPr>
        <p:spPr>
          <a:xfrm>
            <a:off x="457200" y="4821174"/>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⑤</a:t>
            </a:r>
            <a:r>
              <a:rPr lang="ko-KR" altLang="en-US" sz="1650" b="0" dirty="0">
                <a:solidFill>
                  <a:srgbClr val="C00000"/>
                </a:solidFill>
                <a:latin typeface="맑은 고딕"/>
                <a:ea typeface="맑은 고딕"/>
                <a:cs typeface="맑은 고딕"/>
              </a:rPr>
              <a:t>	거짓말은 결국 자신에게 해가 될 수 있다</a:t>
            </a:r>
            <a:endParaRPr lang="ko-KR" altLang="en-US" sz="1650" b="0" dirty="0">
              <a:solidFill>
                <a:srgbClr val="C00000"/>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거짓말은 결국 자신에게 해가 될 수 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자신의 거짓말 때문에 귀한 탁자를 잃고 충격을 받았다. 거짓말이 자신에게 해가 된다는 ⑤가 주장이다.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다음 글의 요지로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F2328"/>
                </a:solidFill>
                <a:latin typeface="Calibri"/>
                <a:ea typeface="맑은 고딕"/>
                <a:cs typeface="Calibri"/>
              </a:rPr>
              <a:t>What he wants is only the legs</a:t>
            </a:r>
            <a:r>
              <a:rPr lang="en-US" altLang="ko-KR" sz="1300" b="0" dirty="0">
                <a:solidFill>
                  <a:srgbClr val="1F2328"/>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F2328"/>
                </a:solidFill>
                <a:latin typeface="Calibri"/>
                <a:ea typeface="맑은 고딕"/>
                <a:cs typeface="Calibri"/>
              </a:rPr>
              <a:t>When Mr. Boggis came back, the legs had been cut off.</a:t>
            </a:r>
            <a:r>
              <a:rPr lang="en-US" altLang="ko-KR" sz="1300" b="0" dirty="0">
                <a:solidFill>
                  <a:srgbClr val="1F2328"/>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a:t>
            </a:r>
            <a:r>
              <a:rPr lang="en-US" altLang="ko-KR" sz="1300" b="0" dirty="0">
                <a:solidFill>
                  <a:srgbClr val="111111"/>
                </a:solidFill>
                <a:highlight>
                  <a:srgbClr val="FFE45C"/>
                </a:highlight>
                <a:latin typeface="Calibri"/>
                <a:ea typeface="맑은 고딕"/>
                <a:cs typeface="Calibri"/>
              </a:rPr>
              <a:t>What he wants is only the legs</a:t>
            </a:r>
            <a:r>
              <a:rPr lang="en-US" altLang="ko-KR" sz="1300" b="0" dirty="0">
                <a:solidFill>
                  <a:srgbClr val="B3BAC6"/>
                </a:solidFill>
                <a:latin typeface="Calibri"/>
                <a:ea typeface="맑은 고딕"/>
                <a:cs typeface="Calibri"/>
              </a:rPr>
              <a:t>. Let’s cut the legs off for him," said Rummins. "Great idea!" said Bert. Bert then took out a saw and began to cut off the legs. </a:t>
            </a:r>
            <a:r>
              <a:rPr lang="en-US" altLang="ko-KR" sz="1300" b="0" dirty="0">
                <a:solidFill>
                  <a:srgbClr val="111111"/>
                </a:solidFill>
                <a:highlight>
                  <a:srgbClr val="FFE45C"/>
                </a:highlight>
                <a:latin typeface="Calibri"/>
                <a:ea typeface="맑은 고딕"/>
                <a:cs typeface="Calibri"/>
              </a:rPr>
              <a:t>When Mr. Boggis came back, the legs had been cut off.</a:t>
            </a:r>
            <a:r>
              <a:rPr lang="en-US" altLang="ko-KR" sz="1300" b="0" dirty="0">
                <a:solidFill>
                  <a:srgbClr val="B3BAC6"/>
                </a:solidFill>
                <a:latin typeface="Calibri"/>
                <a:ea typeface="맑은 고딕"/>
                <a:cs typeface="Calibri"/>
              </a:rPr>
              <a:t>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Boggis 씨의 거짓말이 귀한 탁자를 망쳤다</a:t>
            </a:r>
            <a:endParaRPr lang="ko-KR" altLang="en-US" sz="1650" b="0" dirty="0">
              <a:solidFill>
                <a:srgbClr val="1F2328"/>
              </a:solidFill>
              <a:latin typeface="맑은 고딕"/>
              <a:ea typeface="맑은 고딕"/>
              <a:cs typeface="맑은 고딕"/>
            </a:endParaRPr>
          </a:p>
        </p:txBody>
      </p:sp>
      <p:sp>
        <p:nvSpPr>
          <p:cNvPr id="12" name="rv_pick"/>
          <p:cNvSpPr txBox="1"/>
          <p:nvPr/>
        </p:nvSpPr>
        <p:spPr>
          <a:xfrm>
            <a:off x="457200" y="3303270"/>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①</a:t>
            </a:r>
            <a:r>
              <a:rPr lang="ko-KR" altLang="en-US" sz="1650" b="0" dirty="0">
                <a:solidFill>
                  <a:srgbClr val="C00000"/>
                </a:solidFill>
                <a:latin typeface="맑은 고딕"/>
                <a:ea typeface="맑은 고딕"/>
                <a:cs typeface="맑은 고딕"/>
              </a:rPr>
              <a:t>	Boggis 씨의 거짓말이 귀한 탁자를 망쳤다</a:t>
            </a:r>
            <a:endParaRPr lang="ko-KR" altLang="en-US" sz="1650" b="0" dirty="0">
              <a:solidFill>
                <a:srgbClr val="C00000"/>
              </a:solidFill>
              <a:latin typeface="맑은 고딕"/>
              <a:ea typeface="맑은 고딕"/>
              <a:cs typeface="맑은 고딕"/>
            </a:endParaRPr>
          </a:p>
        </p:txBody>
      </p:sp>
      <p:sp>
        <p:nvSpPr>
          <p:cNvPr id="13"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Boggis 씨는 탁자를 50파운드에 샀다</a:t>
            </a:r>
            <a:endParaRPr lang="ko-KR" altLang="en-US" sz="1650" b="0" dirty="0">
              <a:solidFill>
                <a:srgbClr val="1F2328"/>
              </a:solidFill>
              <a:latin typeface="맑은 고딕"/>
              <a:ea typeface="맑은 고딕"/>
              <a:cs typeface="맑은 고딕"/>
            </a:endParaRPr>
          </a:p>
        </p:txBody>
      </p:sp>
      <p:sp>
        <p:nvSpPr>
          <p:cNvPr id="14"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Bert는 Boggis 씨의 차를 고쳐 주었다</a:t>
            </a:r>
            <a:endParaRPr lang="ko-KR" altLang="en-US" sz="1650" b="0" dirty="0">
              <a:solidFill>
                <a:srgbClr val="1F2328"/>
              </a:solidFill>
              <a:latin typeface="맑은 고딕"/>
              <a:ea typeface="맑은 고딕"/>
              <a:cs typeface="맑은 고딕"/>
            </a:endParaRPr>
          </a:p>
        </p:txBody>
      </p:sp>
      <p:sp>
        <p:nvSpPr>
          <p:cNvPr id="15"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Rummins는 탁자 다리를 비싸게 팔았다</a:t>
            </a:r>
            <a:endParaRPr lang="ko-KR" altLang="en-US" sz="1650" b="0" dirty="0">
              <a:solidFill>
                <a:srgbClr val="1F2328"/>
              </a:solidFill>
              <a:latin typeface="맑은 고딕"/>
              <a:ea typeface="맑은 고딕"/>
              <a:cs typeface="맑은 고딕"/>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Boggis 씨는 탁자를 차에 쉽게 실었다</a:t>
            </a:r>
            <a:endParaRPr lang="ko-KR" altLang="en-US" sz="1650" b="0" dirty="0">
              <a:solidFill>
                <a:srgbClr val="1F2328"/>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① </a:t>
            </a:r>
            <a:r>
              <a:rPr lang="ko-KR" altLang="en-US" sz="1900" b="1" dirty="0">
                <a:solidFill>
                  <a:srgbClr val="5A4200"/>
                </a:solidFill>
                <a:latin typeface="맑은 고딕"/>
                <a:ea typeface="맑은 고딕"/>
                <a:cs typeface="맑은 고딕"/>
              </a:rPr>
              <a:t>Boggis 씨의 거짓말이 귀한 탁자를 망쳤다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다리만 원한다는 거짓말을 믿은 부자가 다리를 잘라 탁자를 망쳤다. ①이 요지다.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9" grpId="0" animBg="1"/>
      <p:bldP spid="10" grpId="0" animBg="1"/>
      <p:bldP spid="18"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5</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5. 다음 글의 내용과 일치하지 않는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a:t>
            </a:r>
            <a:r>
              <a:rPr lang="en-US" altLang="ko-KR" sz="1300" b="0" dirty="0">
                <a:solidFill>
                  <a:srgbClr val="1F2328"/>
                </a:solidFill>
                <a:latin typeface="Calibri"/>
                <a:ea typeface="맑은 고딕"/>
                <a:cs typeface="Calibri"/>
              </a:rPr>
              <a:t>I won’t charge you for this</a:t>
            </a:r>
            <a:r>
              <a:rPr lang="en-US" altLang="ko-KR" sz="1300" b="0" dirty="0">
                <a:solidFill>
                  <a:srgbClr val="1F2328"/>
                </a:solidFill>
                <a:latin typeface="Calibri"/>
                <a:ea typeface="맑은 고딕"/>
                <a:cs typeface="Calibri"/>
              </a:rPr>
              <a:t>,"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a:t>
            </a:r>
            <a:r>
              <a:rPr lang="en-US" altLang="ko-KR" sz="1300" b="0" dirty="0">
                <a:solidFill>
                  <a:srgbClr val="111111"/>
                </a:solidFill>
                <a:highlight>
                  <a:srgbClr val="FFE45C"/>
                </a:highlight>
                <a:latin typeface="Calibri"/>
                <a:ea typeface="맑은 고딕"/>
                <a:cs typeface="Calibri"/>
              </a:rPr>
              <a:t>I won’t charge you for this</a:t>
            </a:r>
            <a:r>
              <a:rPr lang="en-US" altLang="ko-KR" sz="1300" b="0" dirty="0">
                <a:solidFill>
                  <a:srgbClr val="B3BAC6"/>
                </a:solidFill>
                <a:latin typeface="Calibri"/>
                <a:ea typeface="맑은 고딕"/>
                <a:cs typeface="Calibri"/>
              </a:rPr>
              <a:t>,"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Boggis 씨는 탁자 다리만 필요하다고 했다</a:t>
            </a:r>
            <a:endParaRPr lang="ko-KR" altLang="en-US" sz="1650" b="0" dirty="0">
              <a:solidFill>
                <a:srgbClr val="1F2328"/>
              </a:solidFill>
              <a:latin typeface="맑은 고딕"/>
              <a:ea typeface="맑은 고딕"/>
              <a:cs typeface="맑은 고딕"/>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Boggis 씨는 마지막으로 30파운드를 제안했다</a:t>
            </a:r>
            <a:endParaRPr lang="ko-KR" altLang="en-US" sz="1650" b="0" dirty="0">
              <a:solidFill>
                <a:srgbClr val="1F2328"/>
              </a:solidFill>
              <a:latin typeface="맑은 고딕"/>
              <a:ea typeface="맑은 고딕"/>
              <a:cs typeface="맑은 고딕"/>
            </a:endParaRPr>
          </a:p>
        </p:txBody>
      </p:sp>
      <p:sp>
        <p:nvSpPr>
          <p:cNvPr id="13"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Boggis 씨는 차를 가지러 밖으로 나갔다</a:t>
            </a:r>
            <a:endParaRPr lang="ko-KR" altLang="en-US" sz="1650" b="0" dirty="0">
              <a:solidFill>
                <a:srgbClr val="1F2328"/>
              </a:solidFill>
              <a:latin typeface="맑은 고딕"/>
              <a:ea typeface="맑은 고딕"/>
              <a:cs typeface="맑은 고딕"/>
            </a:endParaRPr>
          </a:p>
        </p:txBody>
      </p:sp>
      <p:sp>
        <p:nvSpPr>
          <p:cNvPr id="14"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Bert가 톱으로 탁자 다리를 잘랐다</a:t>
            </a:r>
            <a:endParaRPr lang="ko-KR" altLang="en-US" sz="1650" b="0" dirty="0">
              <a:solidFill>
                <a:srgbClr val="1F2328"/>
              </a:solidFill>
              <a:latin typeface="맑은 고딕"/>
              <a:ea typeface="맑은 고딕"/>
              <a:cs typeface="맑은 고딕"/>
            </a:endParaRPr>
          </a:p>
        </p:txBody>
      </p:sp>
      <p:sp>
        <p:nvSpPr>
          <p:cNvPr id="15"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Rummins는 다리 자른 비용을 청구했다</a:t>
            </a:r>
            <a:endParaRPr lang="ko-KR" altLang="en-US" sz="1650" b="0" dirty="0">
              <a:solidFill>
                <a:srgbClr val="1F2328"/>
              </a:solidFill>
              <a:latin typeface="맑은 고딕"/>
              <a:ea typeface="맑은 고딕"/>
              <a:cs typeface="맑은 고딕"/>
            </a:endParaRPr>
          </a:p>
        </p:txBody>
      </p:sp>
      <p:sp>
        <p:nvSpPr>
          <p:cNvPr id="16" name="rv_pick"/>
          <p:cNvSpPr txBox="1"/>
          <p:nvPr/>
        </p:nvSpPr>
        <p:spPr>
          <a:xfrm>
            <a:off x="457200" y="4821174"/>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⑤</a:t>
            </a:r>
            <a:r>
              <a:rPr lang="ko-KR" altLang="en-US" sz="1650" b="0" dirty="0">
                <a:solidFill>
                  <a:srgbClr val="C00000"/>
                </a:solidFill>
                <a:latin typeface="맑은 고딕"/>
                <a:ea typeface="맑은 고딕"/>
                <a:cs typeface="맑은 고딕"/>
              </a:rPr>
              <a:t>	Rummins는 다리 자른 비용을 청구했다</a:t>
            </a:r>
            <a:endParaRPr lang="ko-KR" altLang="en-US" sz="1650" b="0" dirty="0">
              <a:solidFill>
                <a:srgbClr val="C00000"/>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ko-KR" altLang="en-US" sz="1900" b="1" dirty="0">
                <a:solidFill>
                  <a:srgbClr val="5A4200"/>
                </a:solidFill>
                <a:latin typeface="맑은 고딕"/>
                <a:ea typeface="맑은 고딕"/>
                <a:cs typeface="맑은 고딕"/>
              </a:rPr>
              <a:t>Rummins는 다리 자른 비용을 청구했다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Rummins는 호의였다며 비용을 청구하지 않겠다고 했다. 청구했다는 ⑤는 틀리다.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25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9" grpId="0" animBg="1"/>
      <p:bldP spid="10" grpId="0" animBg="1"/>
      <p:bldP spid="18"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1 · 6</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6. 다음 글의 내용과 일치하는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본문 근거 형광 + 정답 원리</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1F2328"/>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a:t>
            </a:r>
            <a:r>
              <a:rPr lang="en-US" altLang="ko-KR" sz="1300" b="0" dirty="0">
                <a:solidFill>
                  <a:srgbClr val="1F2328"/>
                </a:solidFill>
                <a:latin typeface="Calibri"/>
                <a:ea typeface="맑은 고딕"/>
                <a:cs typeface="Calibri"/>
              </a:rPr>
              <a:t>what if this thing doesn’t go in his car?</a:t>
            </a:r>
            <a:r>
              <a:rPr lang="en-US" altLang="ko-KR" sz="1300" b="0" dirty="0">
                <a:solidFill>
                  <a:srgbClr val="1F2328"/>
                </a:solidFill>
                <a:latin typeface="Calibri"/>
                <a:ea typeface="맑은 고딕"/>
                <a:cs typeface="Calibri"/>
              </a:rPr>
              <a:t>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300" b="0" dirty="0">
              <a:solidFill>
                <a:srgbClr val="1F2328"/>
              </a:solidFill>
              <a:latin typeface="Calibri"/>
              <a:ea typeface="맑은 고딕"/>
              <a:cs typeface="Calibri"/>
            </a:endParaRPr>
          </a:p>
        </p:txBody>
      </p:sp>
      <p:sp>
        <p:nvSpPr>
          <p:cNvPr id="9" name="rv_evidence_card"/>
          <p:cNvSpPr/>
          <p:nvPr/>
        </p:nvSpPr>
        <p:spPr>
          <a:xfrm>
            <a:off x="457200" y="950976"/>
            <a:ext cx="11277295" cy="220598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rv_evidence"/>
          <p:cNvSpPr txBox="1"/>
          <p:nvPr/>
        </p:nvSpPr>
        <p:spPr>
          <a:xfrm>
            <a:off x="457200" y="950976"/>
            <a:ext cx="11277295" cy="2205989"/>
          </a:xfrm>
          <a:prstGeom prst="rect">
            <a:avLst/>
          </a:prstGeom>
          <a:noFill/>
        </p:spPr>
        <p:txBody>
          <a:bodyPr wrap="square" lIns="201168" tIns="118872" rIns="201168" bIns="118872" anchor="t" rtlCol="0">
            <a:noAutofit/>
          </a:bodyPr>
          <a:lstStyle/>
          <a:p>
            <a:pPr algn="just">
              <a:lnSpc>
                <a:spcPts val="1690"/>
              </a:lnSpc>
              <a:spcBef>
                <a:spcPts val="0"/>
              </a:spcBef>
              <a:spcAft>
                <a:spcPts val="0"/>
              </a:spcAft>
              <a:buNone/>
            </a:pPr>
            <a:r>
              <a:rPr lang="en-US" altLang="ko-KR" sz="1300" b="0" dirty="0">
                <a:solidFill>
                  <a:srgbClr val="B3BAC6"/>
                </a:solidFill>
                <a:latin typeface="Calibri"/>
                <a:ea typeface="맑은 고딕"/>
                <a:cs typeface="Calibri"/>
              </a:rPr>
              <a:t>He then added, "Hmm, I think I may buy it. The legs of my table at home are broken. I can cut off the legs of your table and attach them to mine."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 On his way to the car, Mr. Boggis couldn’t help smiling. The table was what every dealer dreamed of. He couldn’t believe his luck. "Dad, </a:t>
            </a:r>
            <a:r>
              <a:rPr lang="en-US" altLang="ko-KR" sz="1300" b="0" dirty="0">
                <a:solidFill>
                  <a:srgbClr val="111111"/>
                </a:solidFill>
                <a:highlight>
                  <a:srgbClr val="FFE45C"/>
                </a:highlight>
                <a:latin typeface="Calibri"/>
                <a:ea typeface="맑은 고딕"/>
                <a:cs typeface="Calibri"/>
              </a:rPr>
              <a:t>what if this thing doesn’t go in his car?</a:t>
            </a:r>
            <a:r>
              <a:rPr lang="en-US" altLang="ko-KR" sz="1300" b="0" dirty="0">
                <a:solidFill>
                  <a:srgbClr val="B3BAC6"/>
                </a:solidFill>
                <a:latin typeface="Calibri"/>
                <a:ea typeface="맑은 고딕"/>
                <a:cs typeface="Calibri"/>
              </a:rPr>
              <a:t>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300" b="0" dirty="0">
              <a:solidFill>
                <a:srgbClr val="B3BAC6"/>
              </a:solidFill>
              <a:latin typeface="Calibri"/>
              <a:ea typeface="맑은 고딕"/>
              <a:cs typeface="Calibri"/>
            </a:endParaRPr>
          </a:p>
        </p:txBody>
      </p:sp>
      <p:sp>
        <p:nvSpPr>
          <p:cNvPr id="11" name="choice_1"/>
          <p:cNvSpPr txBox="1"/>
          <p:nvPr/>
        </p:nvSpPr>
        <p:spPr>
          <a:xfrm>
            <a:off x="457200" y="3303270"/>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①</a:t>
            </a:r>
            <a:r>
              <a:rPr lang="ko-KR" altLang="en-US" sz="1650" b="0" dirty="0">
                <a:solidFill>
                  <a:srgbClr val="1F2328"/>
                </a:solidFill>
                <a:latin typeface="맑은 고딕"/>
                <a:ea typeface="맑은 고딕"/>
                <a:cs typeface="맑은 고딕"/>
              </a:rPr>
              <a:t>	Rummins는 처음에 10파운드를 요구했다</a:t>
            </a:r>
            <a:endParaRPr lang="ko-KR" altLang="en-US" sz="1650" b="0" dirty="0">
              <a:solidFill>
                <a:srgbClr val="1F2328"/>
              </a:solidFill>
              <a:latin typeface="맑은 고딕"/>
              <a:ea typeface="맑은 고딕"/>
              <a:cs typeface="맑은 고딕"/>
            </a:endParaRPr>
          </a:p>
        </p:txBody>
      </p:sp>
      <p:sp>
        <p:nvSpPr>
          <p:cNvPr id="12" name="choice_2"/>
          <p:cNvSpPr txBox="1"/>
          <p:nvPr/>
        </p:nvSpPr>
        <p:spPr>
          <a:xfrm>
            <a:off x="457200" y="3682746"/>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②</a:t>
            </a:r>
            <a:r>
              <a:rPr lang="ko-KR" altLang="en-US" sz="1650" b="0" dirty="0">
                <a:solidFill>
                  <a:srgbClr val="1F2328"/>
                </a:solidFill>
                <a:latin typeface="맑은 고딕"/>
                <a:ea typeface="맑은 고딕"/>
                <a:cs typeface="맑은 고딕"/>
              </a:rPr>
              <a:t>	Bert는 탁자가 차에 안 들어갈까 걱정했다</a:t>
            </a:r>
            <a:endParaRPr lang="ko-KR" altLang="en-US" sz="1650" b="0" dirty="0">
              <a:solidFill>
                <a:srgbClr val="1F2328"/>
              </a:solidFill>
              <a:latin typeface="맑은 고딕"/>
              <a:ea typeface="맑은 고딕"/>
              <a:cs typeface="맑은 고딕"/>
            </a:endParaRPr>
          </a:p>
        </p:txBody>
      </p:sp>
      <p:sp>
        <p:nvSpPr>
          <p:cNvPr id="13" name="rv_pick"/>
          <p:cNvSpPr txBox="1"/>
          <p:nvPr/>
        </p:nvSpPr>
        <p:spPr>
          <a:xfrm>
            <a:off x="457200" y="3682746"/>
            <a:ext cx="11277295" cy="352044"/>
          </a:xfrm>
          <a:prstGeom prst="rect">
            <a:avLst/>
          </a:prstGeom>
          <a:solidFill>
            <a:srgbClr val="FFF3C4"/>
          </a:solid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C00000"/>
                </a:solidFill>
                <a:latin typeface="맑은 고딕"/>
                <a:ea typeface="맑은 고딕"/>
                <a:cs typeface="맑은 고딕"/>
              </a:rPr>
              <a:t>②</a:t>
            </a:r>
            <a:r>
              <a:rPr lang="ko-KR" altLang="en-US" sz="1650" b="0" dirty="0">
                <a:solidFill>
                  <a:srgbClr val="C00000"/>
                </a:solidFill>
                <a:latin typeface="맑은 고딕"/>
                <a:ea typeface="맑은 고딕"/>
                <a:cs typeface="맑은 고딕"/>
              </a:rPr>
              <a:t>	Bert는 탁자가 차에 안 들어갈까 걱정했다</a:t>
            </a:r>
            <a:endParaRPr lang="ko-KR" altLang="en-US" sz="1650" b="0" dirty="0">
              <a:solidFill>
                <a:srgbClr val="C00000"/>
              </a:solidFill>
              <a:latin typeface="맑은 고딕"/>
              <a:ea typeface="맑은 고딕"/>
              <a:cs typeface="맑은 고딕"/>
            </a:endParaRPr>
          </a:p>
        </p:txBody>
      </p:sp>
      <p:sp>
        <p:nvSpPr>
          <p:cNvPr id="14" name="choice_3"/>
          <p:cNvSpPr txBox="1"/>
          <p:nvPr/>
        </p:nvSpPr>
        <p:spPr>
          <a:xfrm>
            <a:off x="457200" y="4062222"/>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③</a:t>
            </a:r>
            <a:r>
              <a:rPr lang="ko-KR" altLang="en-US" sz="1650" b="0" dirty="0">
                <a:solidFill>
                  <a:srgbClr val="1F2328"/>
                </a:solidFill>
                <a:latin typeface="맑은 고딕"/>
                <a:ea typeface="맑은 고딕"/>
                <a:cs typeface="맑은 고딕"/>
              </a:rPr>
              <a:t>	Boggis 씨는 차로 가며 화를 냈다</a:t>
            </a:r>
            <a:endParaRPr lang="ko-KR" altLang="en-US" sz="1650" b="0" dirty="0">
              <a:solidFill>
                <a:srgbClr val="1F2328"/>
              </a:solidFill>
              <a:latin typeface="맑은 고딕"/>
              <a:ea typeface="맑은 고딕"/>
              <a:cs typeface="맑은 고딕"/>
            </a:endParaRPr>
          </a:p>
        </p:txBody>
      </p:sp>
      <p:sp>
        <p:nvSpPr>
          <p:cNvPr id="15" name="choice_4"/>
          <p:cNvSpPr txBox="1"/>
          <p:nvPr/>
        </p:nvSpPr>
        <p:spPr>
          <a:xfrm>
            <a:off x="457200" y="4441698"/>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④</a:t>
            </a:r>
            <a:r>
              <a:rPr lang="ko-KR" altLang="en-US" sz="1650" b="0" dirty="0">
                <a:solidFill>
                  <a:srgbClr val="1F2328"/>
                </a:solidFill>
                <a:latin typeface="맑은 고딕"/>
                <a:ea typeface="맑은 고딕"/>
                <a:cs typeface="맑은 고딕"/>
              </a:rPr>
              <a:t>	Boggis 씨는 돌아와서 크게 기뻐했다</a:t>
            </a:r>
            <a:endParaRPr lang="ko-KR" altLang="en-US" sz="1650" b="0" dirty="0">
              <a:solidFill>
                <a:srgbClr val="1F2328"/>
              </a:solidFill>
              <a:latin typeface="맑은 고딕"/>
              <a:ea typeface="맑은 고딕"/>
              <a:cs typeface="맑은 고딕"/>
            </a:endParaRPr>
          </a:p>
        </p:txBody>
      </p:sp>
      <p:sp>
        <p:nvSpPr>
          <p:cNvPr id="16" name="choice_5"/>
          <p:cNvSpPr txBox="1"/>
          <p:nvPr/>
        </p:nvSpPr>
        <p:spPr>
          <a:xfrm>
            <a:off x="457200" y="4821174"/>
            <a:ext cx="11277295" cy="352044"/>
          </a:xfrm>
          <a:prstGeom prst="rect">
            <a:avLst/>
          </a:prstGeom>
          <a:noFill/>
        </p:spPr>
        <p:txBody>
          <a:bodyPr wrap="square" lIns="137160" tIns="27432" rIns="137160" bIns="27432" anchor="t" rtlCol="0">
            <a:noAutofit/>
          </a:bodyPr>
          <a:lstStyle/>
          <a:p>
            <a:pPr algn="l" marL="335280" indent="-335280">
              <a:lnSpc>
                <a:spcPts val="2340"/>
              </a:lnSpc>
              <a:spcBef>
                <a:spcPts val="0"/>
              </a:spcBef>
              <a:spcAft>
                <a:spcPts val="0"/>
              </a:spcAft>
              <a:buNone/>
              <a:tabLst>
                <a:tab pos="335280" algn="l"/>
              </a:tabLst>
            </a:pPr>
            <a:r>
              <a:rPr lang="ko-KR" altLang="en-US" sz="1650" b="1" dirty="0">
                <a:solidFill>
                  <a:srgbClr val="1E2A5A"/>
                </a:solidFill>
                <a:latin typeface="맑은 고딕"/>
                <a:ea typeface="맑은 고딕"/>
                <a:cs typeface="맑은 고딕"/>
              </a:rPr>
              <a:t>⑤</a:t>
            </a:r>
            <a:r>
              <a:rPr lang="ko-KR" altLang="en-US" sz="1650" b="0" dirty="0">
                <a:solidFill>
                  <a:srgbClr val="1F2328"/>
                </a:solidFill>
                <a:latin typeface="맑은 고딕"/>
                <a:ea typeface="맑은 고딕"/>
                <a:cs typeface="맑은 고딕"/>
              </a:rPr>
              <a:t>	Rummins는 탁자를 차에 직접 실어 주었다</a:t>
            </a:r>
            <a:endParaRPr lang="ko-KR" altLang="en-US" sz="1650" b="0" dirty="0">
              <a:solidFill>
                <a:srgbClr val="1F2328"/>
              </a:solidFill>
              <a:latin typeface="맑은 고딕"/>
              <a:ea typeface="맑은 고딕"/>
              <a:cs typeface="맑은 고딕"/>
            </a:endParaRPr>
          </a:p>
        </p:txBody>
      </p:sp>
      <p:sp>
        <p:nvSpPr>
          <p:cNvPr id="17" name="rv_answer"/>
          <p:cNvSpPr/>
          <p:nvPr/>
        </p:nvSpPr>
        <p:spPr>
          <a:xfrm>
            <a:off x="457200" y="528294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② </a:t>
            </a:r>
            <a:r>
              <a:rPr lang="ko-KR" altLang="en-US" sz="1900" b="1" dirty="0">
                <a:solidFill>
                  <a:srgbClr val="5A4200"/>
                </a:solidFill>
                <a:latin typeface="맑은 고딕"/>
                <a:ea typeface="맑은 고딕"/>
                <a:cs typeface="맑은 고딕"/>
              </a:rPr>
              <a:t>Bert는 탁자가 차에 안 들어갈까 걱정했다</a:t>
            </a:r>
            <a:endParaRPr lang="ko-KR" altLang="en-US" sz="1900" b="1" dirty="0">
              <a:solidFill>
                <a:srgbClr val="5A4200"/>
              </a:solidFill>
              <a:latin typeface="맑은 고딕"/>
              <a:ea typeface="맑은 고딕"/>
              <a:cs typeface="맑은 고딕"/>
            </a:endParaRPr>
          </a:p>
        </p:txBody>
      </p:sp>
      <p:sp>
        <p:nvSpPr>
          <p:cNvPr id="18" name="rv_why"/>
          <p:cNvSpPr/>
          <p:nvPr/>
        </p:nvSpPr>
        <p:spPr>
          <a:xfrm>
            <a:off x="457200" y="5881878"/>
            <a:ext cx="11277295" cy="53720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Bert는 탁자가 차에 안 들어가 돈을 못 받을까 걱정했다. ②가 일치한다.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5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25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5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250"/>
                                        <p:tgtEl>
                                          <p:spTgt spid="1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2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7" grpId="0" animBg="1"/>
      <p:bldP spid="9" grpId="0" animBg="1"/>
      <p:bldP spid="10" grpId="0" animBg="1"/>
      <p:bldP spid="18"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1</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1.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681227"/>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681227"/>
          </a:xfrm>
          <a:prstGeom prst="rect">
            <a:avLst/>
          </a:prstGeom>
          <a:noFill/>
        </p:spPr>
        <p:txBody>
          <a:bodyPr wrap="square" lIns="201168" tIns="100584" rIns="201168" bIns="100584" anchor="t" rtlCol="0">
            <a:noAutofit/>
          </a:bodyPr>
          <a:lstStyle/>
          <a:p>
            <a:pPr algn="l">
              <a:lnSpc>
                <a:spcPts val="1890"/>
              </a:lnSpc>
              <a:spcBef>
                <a:spcPts val="0"/>
              </a:spcBef>
              <a:spcAft>
                <a:spcPts val="0"/>
              </a:spcAft>
              <a:buNone/>
            </a:pPr>
            <a:r>
              <a:rPr lang="en-US" altLang="ko-KR" sz="1450" b="0" dirty="0">
                <a:solidFill>
                  <a:srgbClr val="1F2328"/>
                </a:solidFill>
                <a:latin typeface="Calibri"/>
                <a:ea typeface="맑은 고딕"/>
                <a:cs typeface="Calibri"/>
              </a:rPr>
              <a:t>He then added, "Hmm, I think I may buy it. The legs of my table at home are broken. I can cut off the legs of your table and attach them to mine."</a:t>
            </a:r>
            <a:endParaRPr lang="en-US" altLang="ko-KR" sz="1450" b="0" dirty="0">
              <a:solidFill>
                <a:srgbClr val="1F2328"/>
              </a:solidFill>
              <a:latin typeface="Calibri"/>
              <a:ea typeface="맑은 고딕"/>
              <a:cs typeface="Calibri"/>
            </a:endParaRPr>
          </a:p>
        </p:txBody>
      </p:sp>
      <p:sp>
        <p:nvSpPr>
          <p:cNvPr id="9" name="parts_card"/>
          <p:cNvSpPr/>
          <p:nvPr/>
        </p:nvSpPr>
        <p:spPr>
          <a:xfrm>
            <a:off x="457200" y="1760219"/>
            <a:ext cx="11277295" cy="290398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760219"/>
            <a:ext cx="11277295" cy="2903981"/>
          </a:xfrm>
          <a:prstGeom prst="rect">
            <a:avLst/>
          </a:prstGeom>
          <a:noFill/>
        </p:spPr>
        <p:txBody>
          <a:bodyPr wrap="square" lIns="201168" tIns="118872" rIns="201168" bIns="118872" anchor="t" rtlCol="0">
            <a:noAutofit/>
          </a:bodyPr>
          <a:lstStyle/>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(A)</a:t>
            </a:r>
            <a:r>
              <a:rPr lang="en-US" altLang="ko-KR" sz="1450" b="0" dirty="0">
                <a:solidFill>
                  <a:srgbClr val="1F2328"/>
                </a:solidFill>
                <a:latin typeface="Calibri"/>
                <a:ea typeface="맑은 고딕"/>
                <a:cs typeface="Calibri"/>
              </a:rPr>
              <a:t>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(B)</a:t>
            </a:r>
            <a:r>
              <a:rPr lang="en-US" altLang="ko-KR" sz="1450" b="0" dirty="0">
                <a:solidFill>
                  <a:srgbClr val="1F2328"/>
                </a:solidFill>
                <a:latin typeface="Calibri"/>
                <a:ea typeface="맑은 고딕"/>
                <a:cs typeface="Calibri"/>
              </a:rPr>
              <a:t>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(C)</a:t>
            </a:r>
            <a:r>
              <a:rPr lang="en-US" altLang="ko-KR" sz="145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a:t>
            </a:r>
            <a:endParaRPr lang="en-US" altLang="ko-KR" sz="1450" b="0" dirty="0">
              <a:solidFill>
                <a:srgbClr val="1F2328"/>
              </a:solidFill>
              <a:latin typeface="Calibri"/>
              <a:ea typeface="맑은 고딕"/>
              <a:cs typeface="Calibri"/>
            </a:endParaRPr>
          </a:p>
        </p:txBody>
      </p:sp>
      <p:sp>
        <p:nvSpPr>
          <p:cNvPr id="11" name="options"/>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③ </a:t>
            </a:r>
            <a:r>
              <a:rPr lang="en-US" altLang="ko-KR" sz="1800" b="0" dirty="0">
                <a:solidFill>
                  <a:srgbClr val="C00000"/>
                </a:solidFill>
                <a:highlight>
                  <a:srgbClr val="FFFFFF"/>
                </a:highlight>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⑤ </a:t>
            </a:r>
            <a:r>
              <a:rPr lang="en-US" altLang="ko-KR" sz="1800" b="0" dirty="0">
                <a:solidFill>
                  <a:srgbClr val="1F2328">
                    <a:alpha val="0"/>
                  </a:srgbClr>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3" name="rv_answer"/>
          <p:cNvSpPr/>
          <p:nvPr/>
        </p:nvSpPr>
        <p:spPr>
          <a:xfrm>
            <a:off x="457200" y="528599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③ </a:t>
            </a:r>
            <a:r>
              <a:rPr lang="en-US" altLang="ko-KR" sz="1900" b="1" dirty="0">
                <a:solidFill>
                  <a:srgbClr val="5A4200"/>
                </a:solidFill>
                <a:latin typeface="Calibri"/>
                <a:ea typeface="맑은 고딕"/>
                <a:cs typeface="Calibri"/>
              </a:rPr>
              <a:t>(B) - (C)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884926"/>
            <a:ext cx="11277295" cy="53416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다리를 쓰겠다는 말 → (B) 흥정 후 차를 가지러 간다 → (C) 그사이 부자가 다리만 잘라 주기로 한다 → (A) 다리가 잘려 충격을 받는다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2</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2. 주어진 글 다음에 이어질 글의 순서로 가장 적절한 것은?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681227"/>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681227"/>
          </a:xfrm>
          <a:prstGeom prst="rect">
            <a:avLst/>
          </a:prstGeom>
          <a:noFill/>
        </p:spPr>
        <p:txBody>
          <a:bodyPr wrap="square" lIns="201168" tIns="100584" rIns="201168" bIns="100584" anchor="t" rtlCol="0">
            <a:noAutofit/>
          </a:bodyPr>
          <a:lstStyle/>
          <a:p>
            <a:pPr algn="l">
              <a:lnSpc>
                <a:spcPts val="1890"/>
              </a:lnSpc>
              <a:spcBef>
                <a:spcPts val="0"/>
              </a:spcBef>
              <a:spcAft>
                <a:spcPts val="0"/>
              </a:spcAft>
              <a:buNone/>
            </a:pPr>
            <a:r>
              <a:rPr lang="en-US" altLang="ko-KR" sz="1450" b="0" dirty="0">
                <a:solidFill>
                  <a:srgbClr val="1F2328"/>
                </a:solidFill>
                <a:latin typeface="Calibri"/>
                <a:ea typeface="맑은 고딕"/>
                <a:cs typeface="Calibri"/>
              </a:rPr>
              <a:t>He then added, "Hmm, I think I may buy it. The legs of my table at home are broken. I can cut off the legs of your table and attach them to mine."</a:t>
            </a:r>
            <a:endParaRPr lang="en-US" altLang="ko-KR" sz="1450" b="0" dirty="0">
              <a:solidFill>
                <a:srgbClr val="1F2328"/>
              </a:solidFill>
              <a:latin typeface="Calibri"/>
              <a:ea typeface="맑은 고딕"/>
              <a:cs typeface="Calibri"/>
            </a:endParaRPr>
          </a:p>
        </p:txBody>
      </p:sp>
      <p:sp>
        <p:nvSpPr>
          <p:cNvPr id="9" name="parts_card"/>
          <p:cNvSpPr/>
          <p:nvPr/>
        </p:nvSpPr>
        <p:spPr>
          <a:xfrm>
            <a:off x="457200" y="1760219"/>
            <a:ext cx="11277295" cy="2903981"/>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rts"/>
          <p:cNvSpPr txBox="1"/>
          <p:nvPr/>
        </p:nvSpPr>
        <p:spPr>
          <a:xfrm>
            <a:off x="457200" y="1760219"/>
            <a:ext cx="11277295" cy="2903981"/>
          </a:xfrm>
          <a:prstGeom prst="rect">
            <a:avLst/>
          </a:prstGeom>
          <a:noFill/>
        </p:spPr>
        <p:txBody>
          <a:bodyPr wrap="square" lIns="201168" tIns="118872" rIns="201168" bIns="118872" anchor="t" rtlCol="0">
            <a:noAutofit/>
          </a:bodyPr>
          <a:lstStyle/>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(A)</a:t>
            </a:r>
            <a:r>
              <a:rPr lang="en-US" altLang="ko-KR" sz="1450" b="0" dirty="0">
                <a:solidFill>
                  <a:srgbClr val="1F2328"/>
                </a:solidFill>
                <a:latin typeface="Calibri"/>
                <a:ea typeface="맑은 고딕"/>
                <a:cs typeface="Calibri"/>
              </a:rPr>
              <a:t>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(B)</a:t>
            </a:r>
            <a:r>
              <a:rPr lang="en-US" altLang="ko-KR" sz="145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a:t>
            </a:r>
            <a:endParaRPr lang="en-US" altLang="ko-KR" sz="1450" b="0" dirty="0">
              <a:solidFill>
                <a:srgbClr val="1F2328"/>
              </a:solidFill>
              <a:latin typeface="Calibri"/>
              <a:ea typeface="맑은 고딕"/>
              <a:cs typeface="Calibri"/>
            </a:endParaRPr>
          </a:p>
          <a:p>
            <a:pPr algn="just" marL="387350" indent="-387350">
              <a:lnSpc>
                <a:spcPts val="1890"/>
              </a:lnSpc>
              <a:spcBef>
                <a:spcPts val="0"/>
              </a:spcBef>
              <a:spcAft>
                <a:spcPts val="650"/>
              </a:spcAft>
              <a:buNone/>
              <a:tabLst>
                <a:tab pos="387350" algn="l"/>
              </a:tabLst>
            </a:pPr>
            <a:r>
              <a:rPr lang="en-US" altLang="ko-KR" sz="1450" b="1" dirty="0">
                <a:solidFill>
                  <a:srgbClr val="1E2A5A"/>
                </a:solidFill>
                <a:latin typeface="Calibri"/>
                <a:ea typeface="맑은 고딕"/>
                <a:cs typeface="Calibri"/>
              </a:rPr>
              <a:t>(C)</a:t>
            </a:r>
            <a:r>
              <a:rPr lang="en-US" altLang="ko-KR" sz="1450" b="0" dirty="0">
                <a:solidFill>
                  <a:srgbClr val="1F2328"/>
                </a:solidFill>
                <a:latin typeface="Calibri"/>
                <a:ea typeface="맑은 고딕"/>
                <a:cs typeface="Calibri"/>
              </a:rPr>
              <a:t>	"How much?" Rummins asked. "Not much, I’m afraid. This is just a reproduction," said Mr. Boggis. "So how much?" "Ten pounds." "Ten? It’s worth more than that." "How about fifteen?" "Make it fifty." "Well, thirty. This is my final offer." "OK, it’s yours, but how are you going to take it? This thing will not go in a car!" "We’ll see," Mr. Boggis said and went out to bring his car.</a:t>
            </a:r>
            <a:endParaRPr lang="en-US" altLang="ko-KR" sz="1450" b="0" dirty="0">
              <a:solidFill>
                <a:srgbClr val="1F2328"/>
              </a:solidFill>
              <a:latin typeface="Calibri"/>
              <a:ea typeface="맑은 고딕"/>
              <a:cs typeface="Calibri"/>
            </a:endParaRPr>
          </a:p>
        </p:txBody>
      </p:sp>
      <p:sp>
        <p:nvSpPr>
          <p:cNvPr id="11" name="options"/>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solidFill>
                <a:latin typeface="맑은 고딕"/>
                <a:ea typeface="맑은 고딕"/>
                <a:cs typeface="맑은 고딕"/>
              </a:rPr>
              <a:t>① </a:t>
            </a:r>
            <a:r>
              <a:rPr lang="en-US" altLang="ko-KR" sz="1800" b="0" dirty="0">
                <a:solidFill>
                  <a:srgbClr val="1F2328"/>
                </a:solidFill>
                <a:latin typeface="Calibri"/>
                <a:ea typeface="맑은 고딕"/>
                <a:cs typeface="Calibri"/>
              </a:rPr>
              <a:t>(A) - (C)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② </a:t>
            </a:r>
            <a:r>
              <a:rPr lang="en-US" altLang="ko-KR" sz="1800" b="0" dirty="0">
                <a:solidFill>
                  <a:srgbClr val="1F2328"/>
                </a:solidFill>
                <a:latin typeface="Calibri"/>
                <a:ea typeface="맑은 고딕"/>
                <a:cs typeface="Calibri"/>
              </a:rPr>
              <a:t>(B) - (A) - (C)</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③ </a:t>
            </a:r>
            <a:r>
              <a:rPr lang="en-US" altLang="ko-KR" sz="1800" b="0" dirty="0">
                <a:solidFill>
                  <a:srgbClr val="1F2328"/>
                </a:solidFill>
                <a:latin typeface="Calibri"/>
                <a:ea typeface="맑은 고딕"/>
                <a:cs typeface="Calibri"/>
              </a:rPr>
              <a:t>(B) - (C) - (A)</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④ </a:t>
            </a:r>
            <a:r>
              <a:rPr lang="en-US" altLang="ko-KR" sz="1800" b="0" dirty="0">
                <a:solidFill>
                  <a:srgbClr val="1F2328"/>
                </a:solidFill>
                <a:latin typeface="Calibri"/>
                <a:ea typeface="맑은 고딕"/>
                <a:cs typeface="Calibri"/>
              </a:rPr>
              <a:t>(C) - (A) - (B)</a:t>
            </a:r>
            <a:r>
              <a:rPr lang="en-US" altLang="ko-KR" sz="1800" b="0" dirty="0">
                <a:solidFill>
                  <a:srgbClr val="1F2328"/>
                </a:solidFill>
                <a:latin typeface="Calibri"/>
                <a:ea typeface="맑은 고딕"/>
                <a:cs typeface="Calibri"/>
              </a:rPr>
              <a:t>       </a:t>
            </a:r>
            <a:r>
              <a:rPr lang="ko-KR" altLang="en-US" sz="1800" b="1" dirty="0">
                <a:solidFill>
                  <a:srgbClr val="1E2A5A"/>
                </a:solidFill>
                <a:latin typeface="맑은 고딕"/>
                <a:ea typeface="맑은 고딕"/>
                <a:cs typeface="맑은 고딕"/>
              </a:rPr>
              <a:t>⑤ </a:t>
            </a:r>
            <a:r>
              <a:rPr lang="en-US" altLang="ko-KR" sz="1800" b="0" dirty="0">
                <a:solidFill>
                  <a:srgbClr val="1F2328"/>
                </a:solidFill>
                <a:latin typeface="Calibri"/>
                <a:ea typeface="맑은 고딕"/>
                <a:cs typeface="Calibri"/>
              </a:rPr>
              <a:t>(C) - (B) - (A)</a:t>
            </a:r>
            <a:endParaRPr lang="en-US" altLang="ko-KR" sz="1800" b="0" dirty="0">
              <a:solidFill>
                <a:srgbClr val="1F2328"/>
              </a:solidFill>
              <a:latin typeface="Calibri"/>
              <a:ea typeface="맑은 고딕"/>
              <a:cs typeface="Calibri"/>
            </a:endParaRPr>
          </a:p>
        </p:txBody>
      </p:sp>
      <p:sp>
        <p:nvSpPr>
          <p:cNvPr id="12" name="rv_pick"/>
          <p:cNvSpPr txBox="1"/>
          <p:nvPr/>
        </p:nvSpPr>
        <p:spPr>
          <a:xfrm>
            <a:off x="457200" y="4773930"/>
            <a:ext cx="11277295" cy="420624"/>
          </a:xfrm>
          <a:prstGeom prst="rect">
            <a:avLst/>
          </a:prstGeom>
          <a:noFill/>
        </p:spPr>
        <p:txBody>
          <a:bodyPr wrap="square" lIns="91440" tIns="18288" rIns="91440" bIns="18288" anchor="ctr" rtlCol="0">
            <a:noAutofit/>
          </a:bodyPr>
          <a:lstStyle/>
          <a:p>
            <a:pPr algn="ctr">
              <a:lnSpc>
                <a:spcPts val="2560"/>
              </a:lnSpc>
              <a:spcBef>
                <a:spcPts val="0"/>
              </a:spcBef>
              <a:spcAft>
                <a:spcPts val="0"/>
              </a:spcAft>
              <a:buNone/>
            </a:pPr>
            <a:r>
              <a:rPr lang="ko-KR" altLang="en-US" sz="1800" b="1" dirty="0">
                <a:solidFill>
                  <a:srgbClr val="1E2A5A">
                    <a:alpha val="0"/>
                  </a:srgbClr>
                </a:solidFill>
                <a:latin typeface="맑은 고딕"/>
                <a:ea typeface="맑은 고딕"/>
                <a:cs typeface="맑은 고딕"/>
              </a:rPr>
              <a:t>① </a:t>
            </a:r>
            <a:r>
              <a:rPr lang="en-US" altLang="ko-KR" sz="1800" b="0" dirty="0">
                <a:solidFill>
                  <a:srgbClr val="1F2328">
                    <a:alpha val="0"/>
                  </a:srgbClr>
                </a:solidFill>
                <a:latin typeface="Calibri"/>
                <a:ea typeface="맑은 고딕"/>
                <a:cs typeface="Calibri"/>
              </a:rPr>
              <a:t>(A) - (C) - (B)</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② </a:t>
            </a:r>
            <a:r>
              <a:rPr lang="en-US" altLang="ko-KR" sz="1800" b="0" dirty="0">
                <a:solidFill>
                  <a:srgbClr val="1F2328">
                    <a:alpha val="0"/>
                  </a:srgbClr>
                </a:solidFill>
                <a:latin typeface="Calibri"/>
                <a:ea typeface="맑은 고딕"/>
                <a:cs typeface="Calibri"/>
              </a:rPr>
              <a:t>(B) - (A) - (C)</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③ </a:t>
            </a:r>
            <a:r>
              <a:rPr lang="en-US" altLang="ko-KR" sz="1800" b="0" dirty="0">
                <a:solidFill>
                  <a:srgbClr val="1F2328">
                    <a:alpha val="0"/>
                  </a:srgbClr>
                </a:solidFill>
                <a:latin typeface="Calibri"/>
                <a:ea typeface="맑은 고딕"/>
                <a:cs typeface="Calibri"/>
              </a:rPr>
              <a:t>(B) - (C) - (A)</a:t>
            </a:r>
            <a:r>
              <a:rPr lang="en-US" altLang="ko-KR" sz="1800" b="0" dirty="0">
                <a:solidFill>
                  <a:srgbClr val="1F2328">
                    <a:alpha val="0"/>
                  </a:srgbClr>
                </a:solidFill>
                <a:latin typeface="Calibri"/>
                <a:ea typeface="맑은 고딕"/>
                <a:cs typeface="Calibri"/>
              </a:rPr>
              <a:t>       </a:t>
            </a:r>
            <a:r>
              <a:rPr lang="ko-KR" altLang="en-US" sz="1800" b="1" dirty="0">
                <a:solidFill>
                  <a:srgbClr val="1E2A5A">
                    <a:alpha val="0"/>
                  </a:srgbClr>
                </a:solidFill>
                <a:latin typeface="맑은 고딕"/>
                <a:ea typeface="맑은 고딕"/>
                <a:cs typeface="맑은 고딕"/>
              </a:rPr>
              <a:t>④ </a:t>
            </a:r>
            <a:r>
              <a:rPr lang="en-US" altLang="ko-KR" sz="1800" b="0" dirty="0">
                <a:solidFill>
                  <a:srgbClr val="1F2328">
                    <a:alpha val="0"/>
                  </a:srgbClr>
                </a:solidFill>
                <a:latin typeface="Calibri"/>
                <a:ea typeface="맑은 고딕"/>
                <a:cs typeface="Calibri"/>
              </a:rPr>
              <a:t>(C) - (A) - (B)</a:t>
            </a:r>
            <a:r>
              <a:rPr lang="en-US" altLang="ko-KR" sz="1800" b="0" dirty="0">
                <a:solidFill>
                  <a:srgbClr val="1F2328">
                    <a:alpha val="0"/>
                  </a:srgbClr>
                </a:solidFill>
                <a:latin typeface="Calibri"/>
                <a:ea typeface="맑은 고딕"/>
                <a:cs typeface="Calibri"/>
              </a:rPr>
              <a:t>       </a:t>
            </a:r>
            <a:r>
              <a:rPr lang="ko-KR" altLang="en-US" sz="1800" b="1" dirty="0">
                <a:solidFill>
                  <a:srgbClr val="C00000"/>
                </a:solidFill>
                <a:highlight>
                  <a:srgbClr val="FFFFFF"/>
                </a:highlight>
                <a:latin typeface="맑은 고딕"/>
                <a:ea typeface="맑은 고딕"/>
                <a:cs typeface="맑은 고딕"/>
              </a:rPr>
              <a:t>⑤ </a:t>
            </a:r>
            <a:r>
              <a:rPr lang="en-US" altLang="ko-KR" sz="1800" b="0" dirty="0">
                <a:solidFill>
                  <a:srgbClr val="C00000"/>
                </a:solidFill>
                <a:highlight>
                  <a:srgbClr val="FFFFFF"/>
                </a:highlight>
                <a:latin typeface="Calibri"/>
                <a:ea typeface="맑은 고딕"/>
                <a:cs typeface="Calibri"/>
              </a:rPr>
              <a:t>(C) - (B) - (A)</a:t>
            </a:r>
            <a:endParaRPr lang="en-US" altLang="ko-KR" sz="1800" b="0" dirty="0">
              <a:solidFill>
                <a:srgbClr val="C00000"/>
              </a:solidFill>
              <a:latin typeface="Calibri"/>
              <a:ea typeface="맑은 고딕"/>
              <a:cs typeface="Calibri"/>
            </a:endParaRPr>
          </a:p>
        </p:txBody>
      </p:sp>
      <p:sp>
        <p:nvSpPr>
          <p:cNvPr id="13" name="rv_answer"/>
          <p:cNvSpPr/>
          <p:nvPr/>
        </p:nvSpPr>
        <p:spPr>
          <a:xfrm>
            <a:off x="457200" y="5285994"/>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 </a:t>
            </a:r>
            <a:r>
              <a:rPr lang="en-US" altLang="ko-KR" sz="1900" b="1" dirty="0">
                <a:solidFill>
                  <a:srgbClr val="5A4200"/>
                </a:solidFill>
                <a:latin typeface="Calibri"/>
                <a:ea typeface="맑은 고딕"/>
                <a:cs typeface="Calibri"/>
              </a:rPr>
              <a:t>(C) - (B) - (A)</a:t>
            </a:r>
            <a:endParaRPr lang="en-US" altLang="ko-KR" sz="1900" b="1" dirty="0">
              <a:solidFill>
                <a:srgbClr val="5A4200"/>
              </a:solidFill>
              <a:latin typeface="Calibri"/>
              <a:ea typeface="맑은 고딕"/>
              <a:cs typeface="Calibri"/>
            </a:endParaRPr>
          </a:p>
        </p:txBody>
      </p:sp>
      <p:sp>
        <p:nvSpPr>
          <p:cNvPr id="14" name="rv_why"/>
          <p:cNvSpPr/>
          <p:nvPr/>
        </p:nvSpPr>
        <p:spPr>
          <a:xfrm>
            <a:off x="457200" y="5884926"/>
            <a:ext cx="11277295" cy="534161"/>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340"/>
              </a:lnSpc>
              <a:spcBef>
                <a:spcPts val="0"/>
              </a:spcBef>
              <a:spcAft>
                <a:spcPts val="0"/>
              </a:spcAft>
              <a:buNone/>
            </a:pPr>
            <a:r>
              <a:rPr lang="ko-KR" altLang="en-US" sz="1650" b="1" dirty="0">
                <a:solidFill>
                  <a:srgbClr val="1E2A5A"/>
                </a:solidFill>
                <a:latin typeface="맑은 고딕"/>
                <a:ea typeface="맑은 고딕"/>
                <a:cs typeface="맑은 고딕"/>
              </a:rPr>
              <a:t>정답 원리   </a:t>
            </a:r>
            <a:r>
              <a:rPr lang="ko-KR" altLang="en-US" sz="1650" b="0" dirty="0">
                <a:solidFill>
                  <a:srgbClr val="16284A"/>
                </a:solidFill>
                <a:latin typeface="맑은 고딕"/>
                <a:ea typeface="맑은 고딕"/>
                <a:cs typeface="맑은 고딕"/>
              </a:rPr>
              <a:t>다리를 쓰겠다는 말 → (C) 흥정 후 차를 가지러 간다 → (B) 그사이 부자가 다리만 잘라 주기로 한다 → (A) 다리가 잘려 충격을 받는다</a:t>
            </a:r>
            <a:endParaRPr lang="ko-KR" altLang="en-US" sz="165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25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3</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3.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167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1678"/>
          </a:xfrm>
          <a:prstGeom prst="rect">
            <a:avLst/>
          </a:prstGeom>
          <a:noFill/>
        </p:spPr>
        <p:txBody>
          <a:bodyPr wrap="square" lIns="201168" tIns="100584" rIns="201168" bIns="100584" anchor="t" rtlCol="0">
            <a:noAutofit/>
          </a:bodyPr>
          <a:lstStyle/>
          <a:p>
            <a:pPr algn="l">
              <a:lnSpc>
                <a:spcPts val="2130"/>
              </a:lnSpc>
              <a:spcBef>
                <a:spcPts val="0"/>
              </a:spcBef>
              <a:spcAft>
                <a:spcPts val="0"/>
              </a:spcAft>
              <a:buNone/>
            </a:pPr>
            <a:r>
              <a:rPr lang="ko-KR" altLang="en-US" sz="1500" b="1" dirty="0">
                <a:solidFill>
                  <a:srgbClr val="1E2A5A"/>
                </a:solidFill>
                <a:latin typeface="맑은 고딕"/>
                <a:ea typeface="맑은 고딕"/>
                <a:cs typeface="맑은 고딕"/>
              </a:rPr>
              <a:t>주어진 문장</a:t>
            </a:r>
            <a:r>
              <a:rPr lang="en-US" altLang="ko-KR" sz="1500" b="0" dirty="0">
                <a:solidFill>
                  <a:srgbClr val="1F2328"/>
                </a:solidFill>
                <a:latin typeface="Calibri"/>
                <a:ea typeface="맑은 고딕"/>
                <a:cs typeface="Calibri"/>
              </a:rPr>
              <a:t>   "OK, it’s yours, but how are you going to take it? This thing will not go in a car!"</a:t>
            </a:r>
            <a:endParaRPr lang="en-US" altLang="ko-KR" sz="1500" b="0" dirty="0">
              <a:solidFill>
                <a:srgbClr val="1F2328"/>
              </a:solidFill>
              <a:latin typeface="Calibri"/>
              <a:ea typeface="맑은 고딕"/>
              <a:cs typeface="Calibri"/>
            </a:endParaRPr>
          </a:p>
        </p:txBody>
      </p:sp>
      <p:sp>
        <p:nvSpPr>
          <p:cNvPr id="9" name="passage_card"/>
          <p:cNvSpPr/>
          <p:nvPr/>
        </p:nvSpPr>
        <p:spPr>
          <a:xfrm>
            <a:off x="457200" y="1568958"/>
            <a:ext cx="11277295" cy="3157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solidFill>
                <a:latin typeface="맑은 고딕"/>
                <a:ea typeface="맑은 고딕"/>
                <a:cs typeface="맑은 고딕"/>
              </a:rPr>
              <a:t>②</a:t>
            </a:r>
            <a:r>
              <a:rPr lang="en-US" altLang="ko-KR" sz="1500" b="0" dirty="0">
                <a:solidFill>
                  <a:srgbClr val="1F2328"/>
                </a:solidFill>
                <a:latin typeface="Calibri"/>
                <a:ea typeface="맑은 고딕"/>
                <a:cs typeface="Calibri"/>
              </a:rPr>
              <a:t> "How much?" Rummins asked. "Not much, I’m afraid. This is just a reproduction," said Mr. Boggis. </a:t>
            </a:r>
            <a:r>
              <a:rPr lang="ko-KR" altLang="en-US" sz="1600" b="1" dirty="0">
                <a:solidFill>
                  <a:srgbClr val="1E2A5A"/>
                </a:solidFill>
                <a:latin typeface="맑은 고딕"/>
                <a:ea typeface="맑은 고딕"/>
                <a:cs typeface="맑은 고딕"/>
              </a:rPr>
              <a:t>③</a:t>
            </a:r>
            <a:r>
              <a:rPr lang="en-US" altLang="ko-KR" sz="1500" b="0" dirty="0">
                <a:solidFill>
                  <a:srgbClr val="1F2328"/>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1E2A5A"/>
                </a:solidFill>
                <a:latin typeface="맑은 고딕"/>
                <a:ea typeface="맑은 고딕"/>
                <a:cs typeface="맑은 고딕"/>
              </a:rPr>
              <a:t>④</a:t>
            </a:r>
            <a:r>
              <a:rPr lang="en-US" altLang="ko-KR" sz="1500" b="0" dirty="0">
                <a:solidFill>
                  <a:srgbClr val="1F2328"/>
                </a:solidFill>
                <a:latin typeface="Calibri"/>
                <a:ea typeface="맑은 고딕"/>
                <a:cs typeface="Calibri"/>
              </a:rPr>
              <a:t> "We’ll see," Mr. Boggis said and went out to bring his car. </a:t>
            </a:r>
            <a:r>
              <a:rPr lang="ko-KR" altLang="en-US" sz="1600" b="1" dirty="0">
                <a:solidFill>
                  <a:srgbClr val="1E2A5A"/>
                </a:solidFill>
                <a:latin typeface="맑은 고딕"/>
                <a:ea typeface="맑은 고딕"/>
                <a:cs typeface="맑은 고딕"/>
              </a:rPr>
              <a:t>⑤</a:t>
            </a:r>
            <a:r>
              <a:rPr lang="en-US" altLang="ko-KR" sz="150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1" name="rv_pick"/>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alpha val="0"/>
                  </a:srgbClr>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alpha val="0"/>
                  </a:srgbClr>
                </a:solidFill>
                <a:latin typeface="맑은 고딕"/>
                <a:ea typeface="맑은 고딕"/>
                <a:cs typeface="맑은 고딕"/>
              </a:rPr>
              <a:t>②</a:t>
            </a:r>
            <a:r>
              <a:rPr lang="en-US" altLang="ko-KR" sz="1500" b="0" dirty="0">
                <a:solidFill>
                  <a:srgbClr val="1F2328">
                    <a:alpha val="0"/>
                  </a:srgbClr>
                </a:solidFill>
                <a:latin typeface="Calibri"/>
                <a:ea typeface="맑은 고딕"/>
                <a:cs typeface="Calibri"/>
              </a:rPr>
              <a:t> "How much?" Rummins asked. "Not much, I’m afraid. This is just a reproduction," said Mr. Boggis. </a:t>
            </a:r>
            <a:r>
              <a:rPr lang="ko-KR" altLang="en-US" sz="1600" b="1" dirty="0">
                <a:solidFill>
                  <a:srgbClr val="1E2A5A">
                    <a:alpha val="0"/>
                  </a:srgbClr>
                </a:solidFill>
                <a:latin typeface="맑은 고딕"/>
                <a:ea typeface="맑은 고딕"/>
                <a:cs typeface="맑은 고딕"/>
              </a:rPr>
              <a:t>③</a:t>
            </a:r>
            <a:r>
              <a:rPr lang="en-US" altLang="ko-KR" sz="1500" b="0" dirty="0">
                <a:solidFill>
                  <a:srgbClr val="1F2328">
                    <a:alpha val="0"/>
                  </a:srgbClr>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C00000"/>
                </a:solidFill>
                <a:highlight>
                  <a:srgbClr val="F3F5F9"/>
                </a:highlight>
                <a:latin typeface="맑은 고딕"/>
                <a:ea typeface="맑은 고딕"/>
                <a:cs typeface="맑은 고딕"/>
              </a:rPr>
              <a:t>④</a:t>
            </a:r>
            <a:r>
              <a:rPr lang="en-US" altLang="ko-KR" sz="1500" b="0" dirty="0">
                <a:solidFill>
                  <a:srgbClr val="1F2328">
                    <a:alpha val="0"/>
                  </a:srgbClr>
                </a:solidFill>
                <a:latin typeface="Calibri"/>
                <a:ea typeface="맑은 고딕"/>
                <a:cs typeface="Calibri"/>
              </a:rPr>
              <a:t> "We’ll see," Mr. Boggis said and went out to bring his car. </a:t>
            </a:r>
            <a:r>
              <a:rPr lang="ko-KR" altLang="en-US" sz="1600" b="1" dirty="0">
                <a:solidFill>
                  <a:srgbClr val="1E2A5A">
                    <a:alpha val="0"/>
                  </a:srgbClr>
                </a:solidFill>
                <a:latin typeface="맑은 고딕"/>
                <a:ea typeface="맑은 고딕"/>
                <a:cs typeface="맑은 고딕"/>
              </a:rPr>
              <a:t>⑤</a:t>
            </a:r>
            <a:r>
              <a:rPr lang="en-US" altLang="ko-KR" sz="1500" b="0" dirty="0">
                <a:solidFill>
                  <a:srgbClr val="1F2328">
                    <a:alpha val="0"/>
                  </a:srgbClr>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2" name="rv_answer"/>
          <p:cNvSpPr/>
          <p:nvPr/>
        </p:nvSpPr>
        <p:spPr>
          <a:xfrm>
            <a:off x="457200" y="483590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④</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434838"/>
            <a:ext cx="11277295" cy="98424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30파운드 최종 제안 뒤 'it’s yours'로 거래를 받아들이고 어떻게 가져가냐고 묻는다. ④ 뒤 'We’ll see'가 이 질문에 답하므로 ④가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2 · 4</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4. 글의 흐름으로 보아, 주어진 문장이 들어가기에 가장 적절한 곳은?</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 ① 정답 공개   →   클릭 ② 정답 원리</a:t>
            </a:r>
            <a:endParaRPr lang="ko-KR" altLang="en-US" sz="1000" b="0" dirty="0">
              <a:solidFill>
                <a:srgbClr val="7A808C"/>
              </a:solidFill>
              <a:latin typeface="맑은 고딕"/>
              <a:ea typeface="맑은 고딕"/>
              <a:cs typeface="맑은 고딕"/>
            </a:endParaRPr>
          </a:p>
        </p:txBody>
      </p:sp>
      <p:sp>
        <p:nvSpPr>
          <p:cNvPr id="7" name="given_card"/>
          <p:cNvSpPr/>
          <p:nvPr/>
        </p:nvSpPr>
        <p:spPr>
          <a:xfrm>
            <a:off x="457200" y="950976"/>
            <a:ext cx="11277295" cy="471678"/>
          </a:xfrm>
          <a:prstGeom prst="roundRect">
            <a:avLst>
              <a:gd name="adj" fmla="val 6000"/>
            </a:avLst>
          </a:prstGeom>
          <a:solidFill>
            <a:srgbClr val="FFFFFF"/>
          </a:solidFill>
          <a:ln w="15875">
            <a:solidFill>
              <a:srgbClr val="1E2A5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given"/>
          <p:cNvSpPr txBox="1"/>
          <p:nvPr/>
        </p:nvSpPr>
        <p:spPr>
          <a:xfrm>
            <a:off x="457200" y="950976"/>
            <a:ext cx="11277295" cy="471678"/>
          </a:xfrm>
          <a:prstGeom prst="rect">
            <a:avLst/>
          </a:prstGeom>
          <a:noFill/>
        </p:spPr>
        <p:txBody>
          <a:bodyPr wrap="square" lIns="201168" tIns="100584" rIns="201168" bIns="100584" anchor="t" rtlCol="0">
            <a:noAutofit/>
          </a:bodyPr>
          <a:lstStyle/>
          <a:p>
            <a:pPr algn="l">
              <a:lnSpc>
                <a:spcPts val="2130"/>
              </a:lnSpc>
              <a:spcBef>
                <a:spcPts val="0"/>
              </a:spcBef>
              <a:spcAft>
                <a:spcPts val="0"/>
              </a:spcAft>
              <a:buNone/>
            </a:pPr>
            <a:r>
              <a:rPr lang="ko-KR" altLang="en-US" sz="1500" b="1" dirty="0">
                <a:solidFill>
                  <a:srgbClr val="1E2A5A"/>
                </a:solidFill>
                <a:latin typeface="맑은 고딕"/>
                <a:ea typeface="맑은 고딕"/>
                <a:cs typeface="맑은 고딕"/>
              </a:rPr>
              <a:t>주어진 문장</a:t>
            </a:r>
            <a:r>
              <a:rPr lang="en-US" altLang="ko-KR" sz="1500" b="0" dirty="0">
                <a:solidFill>
                  <a:srgbClr val="1F2328"/>
                </a:solidFill>
                <a:latin typeface="Calibri"/>
                <a:ea typeface="맑은 고딕"/>
                <a:cs typeface="Calibri"/>
              </a:rPr>
              <a:t>   "We’ll see," Mr. Boggis said and went out to bring his car.</a:t>
            </a:r>
            <a:endParaRPr lang="en-US" altLang="ko-KR" sz="1500" b="0" dirty="0">
              <a:solidFill>
                <a:srgbClr val="1F2328"/>
              </a:solidFill>
              <a:latin typeface="Calibri"/>
              <a:ea typeface="맑은 고딕"/>
              <a:cs typeface="Calibri"/>
            </a:endParaRPr>
          </a:p>
        </p:txBody>
      </p:sp>
      <p:sp>
        <p:nvSpPr>
          <p:cNvPr id="9" name="passage_card"/>
          <p:cNvSpPr/>
          <p:nvPr/>
        </p:nvSpPr>
        <p:spPr>
          <a:xfrm>
            <a:off x="457200" y="1568958"/>
            <a:ext cx="11277295" cy="3157219"/>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10" name="passage"/>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solidFill>
                <a:latin typeface="맑은 고딕"/>
                <a:ea typeface="맑은 고딕"/>
                <a:cs typeface="맑은 고딕"/>
              </a:rPr>
              <a:t>②</a:t>
            </a:r>
            <a:r>
              <a:rPr lang="en-US" altLang="ko-KR" sz="1500" b="0" dirty="0">
                <a:solidFill>
                  <a:srgbClr val="1F2328"/>
                </a:solidFill>
                <a:latin typeface="Calibri"/>
                <a:ea typeface="맑은 고딕"/>
                <a:cs typeface="Calibri"/>
              </a:rPr>
              <a:t> "How much?" Rummins asked. "Not much, I’m afraid. This is just a reproduction," said Mr. Boggis. </a:t>
            </a:r>
            <a:r>
              <a:rPr lang="ko-KR" altLang="en-US" sz="1600" b="1" dirty="0">
                <a:solidFill>
                  <a:srgbClr val="1E2A5A"/>
                </a:solidFill>
                <a:latin typeface="맑은 고딕"/>
                <a:ea typeface="맑은 고딕"/>
                <a:cs typeface="맑은 고딕"/>
              </a:rPr>
              <a:t>③</a:t>
            </a:r>
            <a:r>
              <a:rPr lang="en-US" altLang="ko-KR" sz="1500" b="0" dirty="0">
                <a:solidFill>
                  <a:srgbClr val="1F2328"/>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1E2A5A"/>
                </a:solidFill>
                <a:latin typeface="맑은 고딕"/>
                <a:ea typeface="맑은 고딕"/>
                <a:cs typeface="맑은 고딕"/>
              </a:rPr>
              <a:t>④</a:t>
            </a:r>
            <a:r>
              <a:rPr lang="en-US" altLang="ko-KR" sz="1500" b="0" dirty="0">
                <a:solidFill>
                  <a:srgbClr val="1F2328"/>
                </a:solidFill>
                <a:latin typeface="Calibri"/>
                <a:ea typeface="맑은 고딕"/>
                <a:cs typeface="Calibri"/>
              </a:rPr>
              <a:t> "OK, it’s yours, but how are you going to take it? This thing will not go in a car!" </a:t>
            </a:r>
            <a:r>
              <a:rPr lang="ko-KR" altLang="en-US" sz="1600" b="1" dirty="0">
                <a:solidFill>
                  <a:srgbClr val="1E2A5A"/>
                </a:solidFill>
                <a:latin typeface="맑은 고딕"/>
                <a:ea typeface="맑은 고딕"/>
                <a:cs typeface="맑은 고딕"/>
              </a:rPr>
              <a:t>⑤</a:t>
            </a:r>
            <a:r>
              <a:rPr lang="en-US" altLang="ko-KR" sz="1500" b="0" dirty="0">
                <a:solidFill>
                  <a:srgbClr val="1F2328"/>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1" name="rv_pick"/>
          <p:cNvSpPr txBox="1"/>
          <p:nvPr/>
        </p:nvSpPr>
        <p:spPr>
          <a:xfrm>
            <a:off x="457200" y="1568958"/>
            <a:ext cx="11277295" cy="3157219"/>
          </a:xfrm>
          <a:prstGeom prst="rect">
            <a:avLst/>
          </a:prstGeom>
          <a:noFill/>
        </p:spPr>
        <p:txBody>
          <a:bodyPr wrap="square" lIns="201168" tIns="118872" rIns="201168" bIns="118872" anchor="t" rtlCol="0">
            <a:noAutofit/>
          </a:bodyPr>
          <a:lstStyle/>
          <a:p>
            <a:pPr algn="just">
              <a:lnSpc>
                <a:spcPts val="2270"/>
              </a:lnSpc>
              <a:spcBef>
                <a:spcPts val="0"/>
              </a:spcBef>
              <a:spcAft>
                <a:spcPts val="0"/>
              </a:spcAft>
              <a:buNone/>
            </a:pPr>
            <a:r>
              <a:rPr lang="en-US" altLang="ko-KR" sz="1500" b="0" dirty="0">
                <a:solidFill>
                  <a:srgbClr val="1F2328">
                    <a:alpha val="0"/>
                  </a:srgbClr>
                </a:solidFill>
                <a:latin typeface="Calibri"/>
                <a:ea typeface="맑은 고딕"/>
                <a:cs typeface="Calibri"/>
              </a:rPr>
              <a:t>He then added, "Hmm, I think I may buy it. The legs of my table at home are broken. I can cut off the legs of your table and attach them to mine." </a:t>
            </a:r>
            <a:r>
              <a:rPr lang="ko-KR" altLang="en-US" sz="1600" b="1" dirty="0">
                <a:solidFill>
                  <a:srgbClr val="1E2A5A">
                    <a:alpha val="0"/>
                  </a:srgbClr>
                </a:solidFill>
                <a:latin typeface="맑은 고딕"/>
                <a:ea typeface="맑은 고딕"/>
                <a:cs typeface="맑은 고딕"/>
              </a:rPr>
              <a:t>②</a:t>
            </a:r>
            <a:r>
              <a:rPr lang="en-US" altLang="ko-KR" sz="1500" b="0" dirty="0">
                <a:solidFill>
                  <a:srgbClr val="1F2328">
                    <a:alpha val="0"/>
                  </a:srgbClr>
                </a:solidFill>
                <a:latin typeface="Calibri"/>
                <a:ea typeface="맑은 고딕"/>
                <a:cs typeface="Calibri"/>
              </a:rPr>
              <a:t> "How much?" Rummins asked. "Not much, I’m afraid. This is just a reproduction," said Mr. Boggis. </a:t>
            </a:r>
            <a:r>
              <a:rPr lang="ko-KR" altLang="en-US" sz="1600" b="1" dirty="0">
                <a:solidFill>
                  <a:srgbClr val="1E2A5A">
                    <a:alpha val="0"/>
                  </a:srgbClr>
                </a:solidFill>
                <a:latin typeface="맑은 고딕"/>
                <a:ea typeface="맑은 고딕"/>
                <a:cs typeface="맑은 고딕"/>
              </a:rPr>
              <a:t>③</a:t>
            </a:r>
            <a:r>
              <a:rPr lang="en-US" altLang="ko-KR" sz="1500" b="0" dirty="0">
                <a:solidFill>
                  <a:srgbClr val="1F2328">
                    <a:alpha val="0"/>
                  </a:srgbClr>
                </a:solidFill>
                <a:latin typeface="Calibri"/>
                <a:ea typeface="맑은 고딕"/>
                <a:cs typeface="Calibri"/>
              </a:rPr>
              <a:t> "So how much?" "Ten pounds." "Ten? It’s worth more than that." "How about fifteen?" "Make it fifty." "Well, thirty. This is my final offer." </a:t>
            </a:r>
            <a:r>
              <a:rPr lang="ko-KR" altLang="en-US" sz="1600" b="1" dirty="0">
                <a:solidFill>
                  <a:srgbClr val="1E2A5A">
                    <a:alpha val="0"/>
                  </a:srgbClr>
                </a:solidFill>
                <a:latin typeface="맑은 고딕"/>
                <a:ea typeface="맑은 고딕"/>
                <a:cs typeface="맑은 고딕"/>
              </a:rPr>
              <a:t>④</a:t>
            </a:r>
            <a:r>
              <a:rPr lang="en-US" altLang="ko-KR" sz="1500" b="0" dirty="0">
                <a:solidFill>
                  <a:srgbClr val="1F2328">
                    <a:alpha val="0"/>
                  </a:srgbClr>
                </a:solidFill>
                <a:latin typeface="Calibri"/>
                <a:ea typeface="맑은 고딕"/>
                <a:cs typeface="Calibri"/>
              </a:rPr>
              <a:t> "OK, it’s yours, but how are you going to take it? This thing will not go in a car!" </a:t>
            </a:r>
            <a:r>
              <a:rPr lang="ko-KR" altLang="en-US" sz="1600" b="1" dirty="0">
                <a:solidFill>
                  <a:srgbClr val="C00000"/>
                </a:solidFill>
                <a:highlight>
                  <a:srgbClr val="F3F5F9"/>
                </a:highlight>
                <a:latin typeface="맑은 고딕"/>
                <a:ea typeface="맑은 고딕"/>
                <a:cs typeface="맑은 고딕"/>
              </a:rPr>
              <a:t>⑤</a:t>
            </a:r>
            <a:r>
              <a:rPr lang="en-US" altLang="ko-KR" sz="1500" b="0" dirty="0">
                <a:solidFill>
                  <a:srgbClr val="1F2328">
                    <a:alpha val="0"/>
                  </a:srgbClr>
                </a:solidFill>
                <a:latin typeface="Calibri"/>
                <a:ea typeface="맑은 고딕"/>
                <a:cs typeface="Calibri"/>
              </a:rPr>
              <a:t> On his way to the car, Mr. Boggis couldn’t help smiling. The table was what every dealer dreamed of. He couldn’t believe his luck. "Dad, what if this thing doesn’t go in his car? He might not pay you," said Bert. Rummins then had an idea. "What he wants is only the legs. Let’s cut the legs off for him," said Rummins. "Great idea!" said Bert. Bert then took out a saw and began to cut off the legs. When Mr. Boggis came back, the legs had been cut off. "Don’t worry, this was a favor. I won’t charge you for this," said Rummins. Mr. Boggis was so shocked that he couldn’t say anything.</a:t>
            </a:r>
            <a:endParaRPr lang="en-US" altLang="ko-KR" sz="1500" b="0" dirty="0">
              <a:solidFill>
                <a:srgbClr val="1F2328"/>
              </a:solidFill>
              <a:latin typeface="Calibri"/>
              <a:ea typeface="맑은 고딕"/>
              <a:cs typeface="Calibri"/>
            </a:endParaRPr>
          </a:p>
        </p:txBody>
      </p:sp>
      <p:sp>
        <p:nvSpPr>
          <p:cNvPr id="12" name="rv_answer"/>
          <p:cNvSpPr/>
          <p:nvPr/>
        </p:nvSpPr>
        <p:spPr>
          <a:xfrm>
            <a:off x="457200" y="4835906"/>
            <a:ext cx="11277295" cy="507491"/>
          </a:xfrm>
          <a:prstGeom prst="roundRect">
            <a:avLst>
              <a:gd name="adj" fmla="val 12000"/>
            </a:avLst>
          </a:prstGeom>
          <a:solidFill>
            <a:srgbClr val="FFE98A"/>
          </a:solidFill>
          <a:ln w="15875">
            <a:solidFill>
              <a:srgbClr val="E0B400"/>
            </a:solidFill>
          </a:ln>
        </p:spPr>
        <p:txBody>
          <a:bodyPr wrap="square" lIns="228600" tIns="54864" rIns="228600" bIns="54864" anchor="ctr" rtlCol="0">
            <a:noAutofit/>
          </a:bodyPr>
          <a:lstStyle/>
          <a:p>
            <a:pPr algn="ctr">
              <a:lnSpc>
                <a:spcPts val="2700"/>
              </a:lnSpc>
              <a:spcBef>
                <a:spcPts val="0"/>
              </a:spcBef>
              <a:spcAft>
                <a:spcPts val="0"/>
              </a:spcAft>
              <a:buNone/>
            </a:pPr>
            <a:r>
              <a:rPr lang="ko-KR" altLang="en-US" sz="1900" b="1" dirty="0">
                <a:solidFill>
                  <a:srgbClr val="5A4200"/>
                </a:solidFill>
                <a:latin typeface="맑은 고딕"/>
                <a:ea typeface="맑은 고딕"/>
                <a:cs typeface="맑은 고딕"/>
              </a:rPr>
              <a:t>정답   </a:t>
            </a:r>
            <a:r>
              <a:rPr lang="ko-KR" altLang="en-US" sz="1900" b="1" dirty="0">
                <a:solidFill>
                  <a:srgbClr val="5A4200"/>
                </a:solidFill>
                <a:latin typeface="맑은 고딕"/>
                <a:ea typeface="맑은 고딕"/>
                <a:cs typeface="맑은 고딕"/>
              </a:rPr>
              <a:t>⑤</a:t>
            </a:r>
            <a:endParaRPr lang="ko-KR" altLang="en-US" sz="1900" b="1" dirty="0">
              <a:solidFill>
                <a:srgbClr val="5A4200"/>
              </a:solidFill>
              <a:latin typeface="맑은 고딕"/>
              <a:ea typeface="맑은 고딕"/>
              <a:cs typeface="맑은 고딕"/>
            </a:endParaRPr>
          </a:p>
        </p:txBody>
      </p:sp>
      <p:sp>
        <p:nvSpPr>
          <p:cNvPr id="13" name="rv_why"/>
          <p:cNvSpPr/>
          <p:nvPr/>
        </p:nvSpPr>
        <p:spPr>
          <a:xfrm>
            <a:off x="457200" y="5434838"/>
            <a:ext cx="11277295" cy="984249"/>
          </a:xfrm>
          <a:prstGeom prst="roundRect">
            <a:avLst>
              <a:gd name="adj" fmla="val 8000"/>
            </a:avLst>
          </a:prstGeom>
          <a:solidFill>
            <a:srgbClr val="E8F1FC"/>
          </a:solidFill>
          <a:ln w="12700">
            <a:solidFill>
              <a:srgbClr val="7A9CCB"/>
            </a:solidFill>
          </a:ln>
        </p:spPr>
        <p:txBody>
          <a:bodyPr wrap="square" lIns="228600" tIns="91440" rIns="228600" bIns="73152" anchor="t" rtlCol="0">
            <a:noAutofit/>
          </a:bodyPr>
          <a:lstStyle/>
          <a:p>
            <a:pPr algn="l">
              <a:lnSpc>
                <a:spcPts val="2410"/>
              </a:lnSpc>
              <a:spcBef>
                <a:spcPts val="0"/>
              </a:spcBef>
              <a:spcAft>
                <a:spcPts val="0"/>
              </a:spcAft>
              <a:buNone/>
            </a:pPr>
            <a:r>
              <a:rPr lang="ko-KR" altLang="en-US" sz="1700" b="1" dirty="0">
                <a:solidFill>
                  <a:srgbClr val="1E2A5A"/>
                </a:solidFill>
                <a:latin typeface="맑은 고딕"/>
                <a:ea typeface="맑은 고딕"/>
                <a:cs typeface="맑은 고딕"/>
              </a:rPr>
              <a:t>정답 원리   </a:t>
            </a:r>
            <a:r>
              <a:rPr lang="ko-KR" altLang="en-US" sz="1700" b="0" dirty="0">
                <a:solidFill>
                  <a:srgbClr val="16284A"/>
                </a:solidFill>
                <a:latin typeface="맑은 고딕"/>
                <a:ea typeface="맑은 고딕"/>
                <a:cs typeface="맑은 고딕"/>
              </a:rPr>
              <a:t>어떻게 가져가냐는 물음에 'We’ll see'로 답하고 차를 가지러 나가야 ⑤ 뒤 'On his way to the car'가 이어진다. ⑤가 정답이다.</a:t>
            </a:r>
            <a:endParaRPr lang="ko-KR" altLang="en-US" sz="1700" b="0" dirty="0">
              <a:solidFill>
                <a:srgbClr val="16284A"/>
              </a:solidFill>
              <a:latin typeface="맑은 고딕"/>
              <a:ea typeface="맑은 고딕"/>
              <a:cs typeface="맑은 고딕"/>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5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5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①</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6개)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520039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solidFill>
                <a:latin typeface="맑은 고딕"/>
                <a:ea typeface="맑은 고딕"/>
                <a:cs typeface="맑은 고딕"/>
              </a:rPr>
              <a:t>①</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He then added, "Hmm, I think I may buy it. The legs of my table at home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are broken</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is broken</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I can cut off the legs of your table and attach them to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me</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mine</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"How much?" Rummins asked. "Not much, I’m afraid. This is just a reproduction," said Mr. Boggis.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"OK, it’s yours, but how are you going to take it? This thing will not go in a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"We’ll see," Mr. Boggis said and went out to bring his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⑥</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On his way to the car, Mr. Boggis couldn’t help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smiling</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to smile</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⑦</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The table was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which</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what</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every dealer dreamed of. He couldn’t believe his luck.</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⑧</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"Dad, what if this thing doesn’t go in his car? He might not pay you," said Bert.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⑨</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Rummins then had an idea. "What he wants is only the legs. Let’s cut the legs off for him,"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⑩</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"Great idea!" said Bert. Bert then took out a saw and began to cut off the legs.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⑪</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When Mr. Boggis came back, the legs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had cut</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had been cut</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off.</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⑫</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"Don’t worry, this was a favor. I won’t charge you for this,"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⑬</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Mr. Boggis was so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shocked</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shocking</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9" name="rv_g01"/>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0" name="rv_g02"/>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C00000"/>
                </a:solidFill>
                <a:highlight>
                  <a:srgbClr val="F3F5F9"/>
                </a:highlight>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1" name="rv_g03"/>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2" name="rv_g04"/>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C00000"/>
                </a:solidFill>
                <a:highlight>
                  <a:srgbClr val="F3F5F9"/>
                </a:highlight>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3" name="rv_g05"/>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C00000"/>
                </a:solidFill>
                <a:highlight>
                  <a:srgbClr val="F3F5F9"/>
                </a:highlight>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
        <p:nvSpPr>
          <p:cNvPr id="14" name="rv_g06"/>
          <p:cNvSpPr txBox="1"/>
          <p:nvPr/>
        </p:nvSpPr>
        <p:spPr>
          <a:xfrm>
            <a:off x="457200" y="950976"/>
            <a:ext cx="11277295" cy="520039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are broken</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is broken</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I can cut off the legs of your table and attach them to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me</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mine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yours,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to bring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smiling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to smile</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which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what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is only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had cut</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had been cut</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shocked</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shocking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that he couldn’t say anything.</a:t>
            </a:r>
            <a:endParaRPr lang="en-US" altLang="ko-KR" sz="17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25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2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_badge"/>
          <p:cNvSpPr/>
          <p:nvPr/>
        </p:nvSpPr>
        <p:spPr>
          <a:xfrm>
            <a:off x="457200" y="274320"/>
            <a:ext cx="1188720" cy="493776"/>
          </a:xfrm>
          <a:prstGeom prst="roundRect">
            <a:avLst>
              <a:gd name="adj" fmla="val 18000"/>
            </a:avLst>
          </a:prstGeom>
          <a:solidFill>
            <a:srgbClr val="1E2A5A"/>
          </a:solidFill>
          <a:ln>
            <a:noFill/>
          </a:ln>
        </p:spPr>
        <p:txBody>
          <a:bodyPr wrap="square" lIns="36576" tIns="18288" rIns="36576" bIns="18288" anchor="ctr" rtlCol="0">
            <a:noAutofit/>
          </a:bodyPr>
          <a:lstStyle/>
          <a:p>
            <a:pPr algn="ctr">
              <a:lnSpc>
                <a:spcPts val="2210"/>
              </a:lnSpc>
              <a:spcBef>
                <a:spcPts val="0"/>
              </a:spcBef>
              <a:spcAft>
                <a:spcPts val="0"/>
              </a:spcAft>
              <a:buNone/>
            </a:pPr>
            <a:r>
              <a:rPr lang="en-US" altLang="ko-KR" sz="1700" b="1" dirty="0">
                <a:solidFill>
                  <a:srgbClr val="FFFFFF"/>
                </a:solidFill>
                <a:latin typeface="Calibri"/>
                <a:ea typeface="맑은 고딕"/>
                <a:cs typeface="Calibri"/>
              </a:rPr>
              <a:t>L6-3</a:t>
            </a:r>
            <a:endParaRPr lang="en-US" altLang="ko-KR" sz="1700" b="1" dirty="0">
              <a:solidFill>
                <a:srgbClr val="FFFFFF"/>
              </a:solidFill>
              <a:latin typeface="Calibri"/>
              <a:ea typeface="맑은 고딕"/>
              <a:cs typeface="Calibri"/>
            </a:endParaRPr>
          </a:p>
        </p:txBody>
      </p:sp>
      <p:sp>
        <p:nvSpPr>
          <p:cNvPr id="3" name="hdr_chip"/>
          <p:cNvSpPr/>
          <p:nvPr/>
        </p:nvSpPr>
        <p:spPr>
          <a:xfrm>
            <a:off x="1755648" y="274320"/>
            <a:ext cx="1371600" cy="493776"/>
          </a:xfrm>
          <a:prstGeom prst="roundRect">
            <a:avLst>
              <a:gd name="adj" fmla="val 18000"/>
            </a:avLst>
          </a:prstGeom>
          <a:solidFill>
            <a:srgbClr val="E6EAF4"/>
          </a:solidFill>
          <a:ln>
            <a:noFill/>
          </a:ln>
        </p:spPr>
        <p:txBody>
          <a:bodyPr wrap="square" lIns="36576" tIns="18288" rIns="36576" bIns="18288" anchor="ctr" rtlCol="0">
            <a:noAutofit/>
          </a:bodyPr>
          <a:lstStyle/>
          <a:p>
            <a:pPr algn="ctr">
              <a:lnSpc>
                <a:spcPts val="1990"/>
              </a:lnSpc>
              <a:spcBef>
                <a:spcPts val="0"/>
              </a:spcBef>
              <a:spcAft>
                <a:spcPts val="0"/>
              </a:spcAft>
              <a:buNone/>
            </a:pPr>
            <a:r>
              <a:rPr lang="ko-KR" altLang="en-US" sz="1400" b="1" dirty="0">
                <a:solidFill>
                  <a:srgbClr val="1E2A5A"/>
                </a:solidFill>
                <a:latin typeface="맑은 고딕"/>
                <a:ea typeface="맑은 고딕"/>
                <a:cs typeface="맑은 고딕"/>
              </a:rPr>
              <a:t>PART 3 · ②</a:t>
            </a:r>
            <a:endParaRPr lang="ko-KR" altLang="en-US" sz="1400" b="1" dirty="0">
              <a:solidFill>
                <a:srgbClr val="1E2A5A"/>
              </a:solidFill>
              <a:latin typeface="맑은 고딕"/>
              <a:ea typeface="맑은 고딕"/>
              <a:cs typeface="맑은 고딕"/>
            </a:endParaRPr>
          </a:p>
        </p:txBody>
      </p:sp>
      <p:sp>
        <p:nvSpPr>
          <p:cNvPr id="4" name="hdr_q"/>
          <p:cNvSpPr txBox="1"/>
          <p:nvPr/>
        </p:nvSpPr>
        <p:spPr>
          <a:xfrm>
            <a:off x="3246120" y="246888"/>
            <a:ext cx="8488375" cy="548640"/>
          </a:xfrm>
          <a:prstGeom prst="rect">
            <a:avLst/>
          </a:prstGeom>
          <a:noFill/>
        </p:spPr>
        <p:txBody>
          <a:bodyPr wrap="square" lIns="54864" tIns="0" rIns="54864" bIns="0" anchor="ctr" rtlCol="0">
            <a:noAutofit/>
          </a:bodyPr>
          <a:lstStyle/>
          <a:p>
            <a:pPr algn="l">
              <a:lnSpc>
                <a:spcPts val="2980"/>
              </a:lnSpc>
              <a:spcBef>
                <a:spcPts val="0"/>
              </a:spcBef>
              <a:spcAft>
                <a:spcPts val="0"/>
              </a:spcAft>
              <a:buNone/>
            </a:pPr>
            <a:r>
              <a:rPr lang="ko-KR" altLang="en-US" sz="2100" b="1" dirty="0">
                <a:solidFill>
                  <a:srgbClr val="1F2328"/>
                </a:solidFill>
                <a:latin typeface="맑은 고딕"/>
                <a:ea typeface="맑은 고딕"/>
                <a:cs typeface="맑은 고딕"/>
              </a:rPr>
              <a:t>다음 글의 각 [  ] 안에서 문맥상 알맞은 것을 고르시오.</a:t>
            </a:r>
            <a:endParaRPr lang="ko-KR" altLang="en-US" sz="2100" b="1" dirty="0">
              <a:solidFill>
                <a:srgbClr val="1F2328"/>
              </a:solidFill>
              <a:latin typeface="맑은 고딕"/>
              <a:ea typeface="맑은 고딕"/>
              <a:cs typeface="맑은 고딕"/>
            </a:endParaRPr>
          </a:p>
        </p:txBody>
      </p:sp>
      <p:sp>
        <p:nvSpPr>
          <p:cNvPr id="5" name="ftr_exam"/>
          <p:cNvSpPr txBox="1"/>
          <p:nvPr/>
        </p:nvSpPr>
        <p:spPr>
          <a:xfrm>
            <a:off x="457200" y="6519672"/>
            <a:ext cx="5669280" cy="256032"/>
          </a:xfrm>
          <a:prstGeom prst="rect">
            <a:avLst/>
          </a:prstGeom>
          <a:noFill/>
        </p:spPr>
        <p:txBody>
          <a:bodyPr wrap="square" lIns="18288" tIns="0" rIns="18288" bIns="0" anchor="ctr" rtlCol="0">
            <a:noAutofit/>
          </a:bodyPr>
          <a:lstStyle/>
          <a:p>
            <a:pPr algn="l">
              <a:lnSpc>
                <a:spcPts val="1420"/>
              </a:lnSpc>
              <a:spcBef>
                <a:spcPts val="0"/>
              </a:spcBef>
              <a:spcAft>
                <a:spcPts val="0"/>
              </a:spcAft>
              <a:buNone/>
            </a:pPr>
            <a:r>
              <a:rPr lang="ko-KR" altLang="en-US" sz="1000" b="0" dirty="0">
                <a:solidFill>
                  <a:srgbClr val="7A808C"/>
                </a:solidFill>
                <a:latin typeface="맑은 고딕"/>
                <a:ea typeface="맑은 고딕"/>
                <a:cs typeface="맑은 고딕"/>
              </a:rPr>
              <a:t>중3 동아(윤정미) Lesson 6</a:t>
            </a:r>
            <a:endParaRPr lang="ko-KR" altLang="en-US" sz="1000" b="0" dirty="0">
              <a:solidFill>
                <a:srgbClr val="7A808C"/>
              </a:solidFill>
              <a:latin typeface="맑은 고딕"/>
              <a:ea typeface="맑은 고딕"/>
              <a:cs typeface="맑은 고딕"/>
            </a:endParaRPr>
          </a:p>
        </p:txBody>
      </p:sp>
      <p:sp>
        <p:nvSpPr>
          <p:cNvPr id="6" name="ftr_hint"/>
          <p:cNvSpPr txBox="1"/>
          <p:nvPr/>
        </p:nvSpPr>
        <p:spPr>
          <a:xfrm>
            <a:off x="5973775" y="6519672"/>
            <a:ext cx="5760720" cy="256032"/>
          </a:xfrm>
          <a:prstGeom prst="rect">
            <a:avLst/>
          </a:prstGeom>
          <a:noFill/>
        </p:spPr>
        <p:txBody>
          <a:bodyPr wrap="square" lIns="18288" tIns="0" rIns="18288" bIns="0" anchor="ctr" rtlCol="0">
            <a:noAutofit/>
          </a:bodyPr>
          <a:lstStyle/>
          <a:p>
            <a:pPr algn="r">
              <a:lnSpc>
                <a:spcPts val="1420"/>
              </a:lnSpc>
              <a:spcBef>
                <a:spcPts val="0"/>
              </a:spcBef>
              <a:spcAft>
                <a:spcPts val="0"/>
              </a:spcAft>
              <a:buNone/>
            </a:pPr>
            <a:r>
              <a:rPr lang="ko-KR" altLang="en-US" sz="1000" b="0" dirty="0">
                <a:solidFill>
                  <a:srgbClr val="7A808C"/>
                </a:solidFill>
                <a:latin typeface="맑은 고딕"/>
                <a:ea typeface="맑은 고딕"/>
                <a:cs typeface="맑은 고딕"/>
              </a:rPr>
              <a:t>클릭할 때마다 괄호 속 정답이 앞에서부터 하나씩 빨간색으로 나타납니다 (총 4개)</a:t>
            </a:r>
            <a:endParaRPr lang="ko-KR" altLang="en-US" sz="1000" b="0" dirty="0">
              <a:solidFill>
                <a:srgbClr val="7A808C"/>
              </a:solidFill>
              <a:latin typeface="맑은 고딕"/>
              <a:ea typeface="맑은 고딕"/>
              <a:cs typeface="맑은 고딕"/>
            </a:endParaRPr>
          </a:p>
        </p:txBody>
      </p:sp>
      <p:sp>
        <p:nvSpPr>
          <p:cNvPr id="7" name="passage_card"/>
          <p:cNvSpPr/>
          <p:nvPr/>
        </p:nvSpPr>
        <p:spPr>
          <a:xfrm>
            <a:off x="457200" y="950976"/>
            <a:ext cx="11277295" cy="4851146"/>
          </a:xfrm>
          <a:prstGeom prst="roundRect">
            <a:avLst>
              <a:gd name="adj" fmla="val 3000"/>
            </a:avLst>
          </a:prstGeom>
          <a:solidFill>
            <a:srgbClr val="F3F5F9"/>
          </a:solidFill>
          <a:ln w="9525">
            <a:solidFill>
              <a:srgbClr val="D9DFEA"/>
            </a:solidFill>
          </a:ln>
        </p:spPr>
        <p:txBody>
          <a:bodyPr wrap="square" lIns="91440" tIns="45720" rIns="91440" bIns="45720" anchor="t" rtlCol="0">
            <a:noAutofit/>
          </a:bodyPr>
          <a:lstStyle/>
          <a:p>
            <a:pPr algn="l">
              <a:lnSpc>
                <a:spcPts val="1300"/>
              </a:lnSpc>
              <a:spcBef>
                <a:spcPts val="0"/>
              </a:spcBef>
              <a:spcAft>
                <a:spcPts val="0"/>
              </a:spcAft>
              <a:buNone/>
            </a:pPr>
            <a:endParaRPr lang="en-US" altLang="ko-KR" sz="1000" b="0" dirty="0">
              <a:solidFill>
                <a:srgbClr val="1F2328"/>
              </a:solidFill>
              <a:latin typeface="Calibri"/>
              <a:ea typeface="맑은 고딕"/>
              <a:cs typeface="Calibri"/>
            </a:endParaRPr>
          </a:p>
        </p:txBody>
      </p:sp>
      <p:sp>
        <p:nvSpPr>
          <p:cNvPr id="8" name="passage"/>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solidFill>
                <a:latin typeface="맑은 고딕"/>
                <a:ea typeface="맑은 고딕"/>
                <a:cs typeface="맑은 고딕"/>
              </a:rPr>
              <a:t>①</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attach</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attaching</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them to mine."</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②</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"How much?" Rummins asked. "Not much, I’m afraid. This is just a reproduction," said Mr. Boggis.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③</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④</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"OK, it’s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yours</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your</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but how are you going to take it? This thing will not go in a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⑤</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"We’ll see," Mr. Boggis said and went out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to bring</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bringing</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his car.</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⑥</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On his way to the car, Mr. Boggis couldn’t help smiling.</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⑦</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The table was what every dealer dreamed of. He couldn’t believe his luck.</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⑧</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"Dad, what if this thing doesn’t go in his car? He might not pay you," said Bert.</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⑨</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Rummins then had an idea. "What he wants </a:t>
            </a:r>
            <a:r>
              <a:rPr lang="en-US" altLang="ko-KR" sz="1700" b="1" dirty="0">
                <a:solidFill>
                  <a:srgbClr val="1F2328"/>
                </a:solidFill>
                <a:latin typeface="Calibri"/>
                <a:ea typeface="맑은 고딕"/>
                <a:cs typeface="Calibri"/>
              </a:rPr>
              <a:t>[ </a:t>
            </a:r>
            <a:r>
              <a:rPr lang="en-US" altLang="ko-KR" sz="1700" b="1" dirty="0">
                <a:solidFill>
                  <a:srgbClr val="1F2328"/>
                </a:solidFill>
                <a:latin typeface="Calibri"/>
                <a:ea typeface="맑은 고딕"/>
                <a:cs typeface="Calibri"/>
              </a:rPr>
              <a:t>is only</a:t>
            </a:r>
            <a:r>
              <a:rPr lang="en-US" altLang="ko-KR" sz="1700" b="1" dirty="0">
                <a:solidFill>
                  <a:srgbClr val="1F2328"/>
                </a:solidFill>
                <a:latin typeface="Calibri"/>
                <a:ea typeface="맑은 고딕"/>
                <a:cs typeface="Calibri"/>
              </a:rPr>
              <a:t> / </a:t>
            </a:r>
            <a:r>
              <a:rPr lang="en-US" altLang="ko-KR" sz="1700" b="1" dirty="0">
                <a:solidFill>
                  <a:srgbClr val="1F2328"/>
                </a:solidFill>
                <a:latin typeface="Calibri"/>
                <a:ea typeface="맑은 고딕"/>
                <a:cs typeface="Calibri"/>
              </a:rPr>
              <a:t>are only</a:t>
            </a:r>
            <a:r>
              <a:rPr lang="en-US" altLang="ko-KR" sz="1700" b="1"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 the legs. Let’s cut the legs off for him,"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⑩</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"Great idea!" said Bert. Bert then took out a saw and began to cut off the legs.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⑪</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When Mr. Boggis came back, the legs had been cut off.</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⑫</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"Don’t worry, this was a favor. I won’t charge you for this," said Rummins.</a:t>
            </a:r>
            <a:r>
              <a:rPr lang="en-US" altLang="ko-KR" sz="1700" b="0" dirty="0">
                <a:solidFill>
                  <a:srgbClr val="1F2328"/>
                </a:solidFill>
                <a:latin typeface="Calibri"/>
                <a:ea typeface="맑은 고딕"/>
                <a:cs typeface="Calibri"/>
              </a:rPr>
              <a:t>   </a:t>
            </a:r>
            <a:r>
              <a:rPr lang="ko-KR" altLang="en-US" sz="1700" b="1" dirty="0">
                <a:solidFill>
                  <a:srgbClr val="1E2A5A"/>
                </a:solidFill>
                <a:latin typeface="맑은 고딕"/>
                <a:ea typeface="맑은 고딕"/>
                <a:cs typeface="맑은 고딕"/>
              </a:rPr>
              <a:t>⑬</a:t>
            </a:r>
            <a:r>
              <a:rPr lang="en-US" altLang="ko-KR" sz="1700" b="0" dirty="0">
                <a:solidFill>
                  <a:srgbClr val="1F2328"/>
                </a:solidFill>
                <a:latin typeface="Calibri"/>
                <a:ea typeface="맑은 고딕"/>
                <a:cs typeface="Calibri"/>
              </a:rPr>
              <a:t> </a:t>
            </a:r>
            <a:r>
              <a:rPr lang="en-US" altLang="ko-KR" sz="1700" b="0" dirty="0">
                <a:solidFill>
                  <a:srgbClr val="1F2328"/>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9" name="rv_g01"/>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10" name="rv_g02"/>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11" name="rv_g03"/>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
        <p:nvSpPr>
          <p:cNvPr id="12" name="rv_g04"/>
          <p:cNvSpPr txBox="1"/>
          <p:nvPr/>
        </p:nvSpPr>
        <p:spPr>
          <a:xfrm>
            <a:off x="457200" y="950976"/>
            <a:ext cx="11277295" cy="4851146"/>
          </a:xfrm>
          <a:prstGeom prst="rect">
            <a:avLst/>
          </a:prstGeom>
          <a:noFill/>
        </p:spPr>
        <p:txBody>
          <a:bodyPr wrap="square" lIns="228600" tIns="155448" rIns="228600" bIns="155448" anchor="t" rtlCol="0">
            <a:noAutofit/>
          </a:bodyPr>
          <a:lstStyle/>
          <a:p>
            <a:pPr algn="l">
              <a:lnSpc>
                <a:spcPts val="2750"/>
              </a:lnSpc>
              <a:spcBef>
                <a:spcPts val="0"/>
              </a:spcBef>
              <a:spcAft>
                <a:spcPts val="0"/>
              </a:spcAft>
              <a:buNone/>
            </a:pPr>
            <a:r>
              <a:rPr lang="ko-KR" altLang="en-US" sz="1700" b="1" dirty="0">
                <a:solidFill>
                  <a:srgbClr val="1E2A5A">
                    <a:alpha val="0"/>
                  </a:srgbClr>
                </a:solidFill>
                <a:latin typeface="맑은 고딕"/>
                <a:ea typeface="맑은 고딕"/>
                <a:cs typeface="맑은 고딕"/>
              </a:rPr>
              <a:t>①</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He then added, "Hmm, I think I may buy it. The legs of my table at home are broken. I can cut off the legs of your table and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attach</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attaching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them to mine."</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②</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"How much?" Rummins asked. "Not much, I’m afraid. This is just a reproduction," said Mr. Boggis.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③</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"So how much?" "Ten pounds." "Ten? It’s worth more than that." "How about fifteen?" "Make it fifty." "Well, thirty. This is my final offer."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④</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"OK, it’s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yours</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your</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but how are you going to take it? This thing will not go in a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⑤</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"We’ll see," Mr. Boggis said and went out </a:t>
            </a:r>
            <a:r>
              <a:rPr lang="en-US" altLang="ko-KR" sz="1700" b="1" dirty="0">
                <a:solidFill>
                  <a:srgbClr val="1F2328">
                    <a:alpha val="0"/>
                  </a:srgbClr>
                </a:solidFill>
                <a:latin typeface="Calibri"/>
                <a:ea typeface="맑은 고딕"/>
                <a:cs typeface="Calibri"/>
              </a:rPr>
              <a:t>[ </a:t>
            </a:r>
            <a:r>
              <a:rPr lang="en-US" altLang="ko-KR" sz="1700" b="1" dirty="0">
                <a:solidFill>
                  <a:srgbClr val="1F2328">
                    <a:alpha val="0"/>
                  </a:srgbClr>
                </a:solidFill>
                <a:latin typeface="Calibri"/>
                <a:ea typeface="맑은 고딕"/>
                <a:cs typeface="Calibri"/>
              </a:rPr>
              <a:t>to bring</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bringing</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his car.</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⑥</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On his way to the car, Mr. Boggis couldn’t help smiling.</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⑦</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The table was what every dealer dreamed of. He couldn’t believe his luck.</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⑧</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"Dad, what if this thing doesn’t go in his car? He might not pay you," said Bert.</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⑨</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Rummins then had an idea. "What he wants </a:t>
            </a:r>
            <a:r>
              <a:rPr lang="en-US" altLang="ko-KR" sz="1700" b="1" dirty="0">
                <a:solidFill>
                  <a:srgbClr val="1F2328">
                    <a:alpha val="0"/>
                  </a:srgbClr>
                </a:solidFill>
                <a:latin typeface="Calibri"/>
                <a:ea typeface="맑은 고딕"/>
                <a:cs typeface="Calibri"/>
              </a:rPr>
              <a:t>[ </a:t>
            </a:r>
            <a:r>
              <a:rPr lang="en-US" altLang="ko-KR" sz="1700" b="1" dirty="0">
                <a:solidFill>
                  <a:srgbClr val="C00000"/>
                </a:solidFill>
                <a:highlight>
                  <a:srgbClr val="F3F5F9"/>
                </a:highlight>
                <a:latin typeface="Calibri"/>
                <a:ea typeface="맑은 고딕"/>
                <a:cs typeface="Calibri"/>
              </a:rPr>
              <a:t>is only</a:t>
            </a:r>
            <a:r>
              <a:rPr lang="en-US" altLang="ko-KR" sz="1700" b="1" dirty="0">
                <a:solidFill>
                  <a:srgbClr val="1F2328">
                    <a:alpha val="0"/>
                  </a:srgbClr>
                </a:solidFill>
                <a:latin typeface="Calibri"/>
                <a:ea typeface="맑은 고딕"/>
                <a:cs typeface="Calibri"/>
              </a:rPr>
              <a:t> / </a:t>
            </a:r>
            <a:r>
              <a:rPr lang="en-US" altLang="ko-KR" sz="1700" b="1" dirty="0">
                <a:solidFill>
                  <a:srgbClr val="1F2328">
                    <a:alpha val="0"/>
                  </a:srgbClr>
                </a:solidFill>
                <a:latin typeface="Calibri"/>
                <a:ea typeface="맑은 고딕"/>
                <a:cs typeface="Calibri"/>
              </a:rPr>
              <a:t>are only</a:t>
            </a:r>
            <a:r>
              <a:rPr lang="en-US" altLang="ko-KR" sz="1700" b="1"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 the legs. Let’s cut the legs off for him,"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⑩</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"Great idea!" said Bert. Bert then took out a saw and began to cut off the legs.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⑪</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When Mr. Boggis came back, the legs had been cut off.</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⑫</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"Don’t worry, this was a favor. I won’t charge you for this," said Rummins.</a:t>
            </a:r>
            <a:r>
              <a:rPr lang="en-US" altLang="ko-KR" sz="1700" b="0" dirty="0">
                <a:solidFill>
                  <a:srgbClr val="1F2328">
                    <a:alpha val="0"/>
                  </a:srgbClr>
                </a:solidFill>
                <a:latin typeface="Calibri"/>
                <a:ea typeface="맑은 고딕"/>
                <a:cs typeface="Calibri"/>
              </a:rPr>
              <a:t>   </a:t>
            </a:r>
            <a:r>
              <a:rPr lang="ko-KR" altLang="en-US" sz="1700" b="1" dirty="0">
                <a:solidFill>
                  <a:srgbClr val="1E2A5A">
                    <a:alpha val="0"/>
                  </a:srgbClr>
                </a:solidFill>
                <a:latin typeface="맑은 고딕"/>
                <a:ea typeface="맑은 고딕"/>
                <a:cs typeface="맑은 고딕"/>
              </a:rPr>
              <a:t>⑬</a:t>
            </a:r>
            <a:r>
              <a:rPr lang="en-US" altLang="ko-KR" sz="1700" b="0" dirty="0">
                <a:solidFill>
                  <a:srgbClr val="1F2328">
                    <a:alpha val="0"/>
                  </a:srgbClr>
                </a:solidFill>
                <a:latin typeface="Calibri"/>
                <a:ea typeface="맑은 고딕"/>
                <a:cs typeface="Calibri"/>
              </a:rPr>
              <a:t> </a:t>
            </a:r>
            <a:r>
              <a:rPr lang="en-US" altLang="ko-KR" sz="1700" b="0" dirty="0">
                <a:solidFill>
                  <a:srgbClr val="1F2328">
                    <a:alpha val="0"/>
                  </a:srgbClr>
                </a:solidFill>
                <a:latin typeface="Calibri"/>
                <a:ea typeface="맑은 고딕"/>
                <a:cs typeface="Calibri"/>
              </a:rPr>
              <a:t>Mr. Boggis was so shocked that he couldn’t say anything.</a:t>
            </a:r>
            <a:endParaRPr lang="en-US" altLang="ko-KR" sz="1700" b="0" dirty="0">
              <a:solidFill>
                <a:srgbClr val="1F2328"/>
              </a:solidFill>
              <a:latin typeface="Calibri"/>
              <a:ea typeface="맑은 고딕"/>
              <a:cs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5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5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2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