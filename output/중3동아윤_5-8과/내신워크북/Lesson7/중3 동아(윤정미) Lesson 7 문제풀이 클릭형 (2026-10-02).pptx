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5A"/>
        </a:solidFill>
        <a:effectLst/>
      </p:bgPr>
    </p:bg>
    <p:spTree>
      <p:nvGrpSpPr>
        <p:cNvPr id="1" name=""/>
        <p:cNvGrpSpPr/>
        <p:nvPr/>
      </p:nvGrpSpPr>
      <p:grpSpPr/>
      <p:sp>
        <p:nvSpPr>
          <p:cNvPr id="2" name="cv_title"/>
          <p:cNvSpPr txBox="1"/>
          <p:nvPr/>
        </p:nvSpPr>
        <p:spPr>
          <a:xfrm>
            <a:off x="822960" y="1371600"/>
            <a:ext cx="10515600" cy="868680"/>
          </a:xfrm>
          <a:prstGeom prst="rect">
            <a:avLst/>
          </a:prstGeom>
          <a:noFill/>
        </p:spPr>
        <p:txBody>
          <a:bodyPr wrap="square" lIns="91440" tIns="45720" rIns="91440" bIns="45720" anchor="t" rtlCol="0">
            <a:noAutofit/>
          </a:bodyPr>
          <a:lstStyle/>
          <a:p>
            <a:pPr algn="l">
              <a:lnSpc>
                <a:spcPts val="5680"/>
              </a:lnSpc>
              <a:spcBef>
                <a:spcPts val="0"/>
              </a:spcBef>
              <a:spcAft>
                <a:spcPts val="0"/>
              </a:spcAft>
              <a:buNone/>
            </a:pPr>
            <a:r>
              <a:rPr lang="ko-KR" altLang="en-US" sz="4000" b="1" dirty="0">
                <a:solidFill>
                  <a:srgbClr val="FFFFFF"/>
                </a:solidFill>
                <a:latin typeface="맑은 고딕"/>
                <a:ea typeface="맑은 고딕"/>
                <a:cs typeface="맑은 고딕"/>
              </a:rPr>
              <a:t>문제 풀이 · 정답 확인</a:t>
            </a:r>
            <a:endParaRPr lang="ko-KR" altLang="en-US" sz="4000" b="1" dirty="0">
              <a:solidFill>
                <a:srgbClr val="FFFFFF"/>
              </a:solidFill>
              <a:latin typeface="맑은 고딕"/>
              <a:ea typeface="맑은 고딕"/>
              <a:cs typeface="맑은 고딕"/>
            </a:endParaRPr>
          </a:p>
        </p:txBody>
      </p:sp>
      <p:sp>
        <p:nvSpPr>
          <p:cNvPr id="3" name="cv_exam"/>
          <p:cNvSpPr txBox="1"/>
          <p:nvPr/>
        </p:nvSpPr>
        <p:spPr>
          <a:xfrm>
            <a:off x="822960" y="2240280"/>
            <a:ext cx="10515600" cy="502920"/>
          </a:xfrm>
          <a:prstGeom prst="rect">
            <a:avLst/>
          </a:prstGeom>
          <a:noFill/>
        </p:spPr>
        <p:txBody>
          <a:bodyPr wrap="square" lIns="91440" tIns="45720" rIns="91440" bIns="45720" anchor="t" rtlCol="0">
            <a:noAutofit/>
          </a:bodyPr>
          <a:lstStyle/>
          <a:p>
            <a:pPr algn="l">
              <a:lnSpc>
                <a:spcPts val="2840"/>
              </a:lnSpc>
              <a:spcBef>
                <a:spcPts val="0"/>
              </a:spcBef>
              <a:spcAft>
                <a:spcPts val="0"/>
              </a:spcAft>
              <a:buNone/>
            </a:pPr>
            <a:r>
              <a:rPr lang="ko-KR" altLang="en-US" sz="2000" b="0" dirty="0">
                <a:solidFill>
                  <a:srgbClr val="CFD8E8"/>
                </a:solidFill>
                <a:latin typeface="맑은 고딕"/>
                <a:ea typeface="맑은 고딕"/>
                <a:cs typeface="맑은 고딕"/>
              </a:rPr>
              <a:t>src</a:t>
            </a:r>
            <a:endParaRPr lang="ko-KR" altLang="en-US" sz="2000" b="0" dirty="0">
              <a:solidFill>
                <a:srgbClr val="CFD8E8"/>
              </a:solidFill>
              <a:latin typeface="맑은 고딕"/>
              <a:ea typeface="맑은 고딕"/>
              <a:cs typeface="맑은 고딕"/>
            </a:endParaRPr>
          </a:p>
        </p:txBody>
      </p:sp>
      <p:sp>
        <p:nvSpPr>
          <p:cNvPr id="4" name="cv_ids"/>
          <p:cNvSpPr txBox="1"/>
          <p:nvPr/>
        </p:nvSpPr>
        <p:spPr>
          <a:xfrm>
            <a:off x="822960" y="2788920"/>
            <a:ext cx="10515600" cy="457200"/>
          </a:xfrm>
          <a:prstGeom prst="rect">
            <a:avLst/>
          </a:prstGeom>
          <a:noFill/>
        </p:spPr>
        <p:txBody>
          <a:bodyPr wrap="square" lIns="91440" tIns="45720" rIns="91440" bIns="45720" anchor="t" rtlCol="0">
            <a:noAutofit/>
          </a:bodyPr>
          <a:lstStyle/>
          <a:p>
            <a:pPr algn="l">
              <a:lnSpc>
                <a:spcPts val="2340"/>
              </a:lnSpc>
              <a:spcBef>
                <a:spcPts val="0"/>
              </a:spcBef>
              <a:spcAft>
                <a:spcPts val="0"/>
              </a:spcAft>
              <a:buNone/>
            </a:pPr>
            <a:r>
              <a:rPr lang="en-US" altLang="ko-KR" sz="1800" b="1" dirty="0">
                <a:solidFill>
                  <a:srgbClr val="AEBBD0"/>
                </a:solidFill>
                <a:latin typeface="Calibri"/>
                <a:ea typeface="맑은 고딕"/>
                <a:cs typeface="Calibri"/>
              </a:rPr>
              <a:t>L7-1  ·  L7-2  ·  L7-3  ·  L7-4</a:t>
            </a:r>
            <a:endParaRPr lang="en-US" altLang="ko-KR" sz="1800" b="1" dirty="0">
              <a:solidFill>
                <a:srgbClr val="AEBBD0"/>
              </a:solidFill>
              <a:latin typeface="Calibri"/>
              <a:ea typeface="맑은 고딕"/>
              <a:cs typeface="Calibri"/>
            </a:endParaRPr>
          </a:p>
        </p:txBody>
      </p:sp>
      <p:sp>
        <p:nvSpPr>
          <p:cNvPr id="5" name="cv_legend"/>
          <p:cNvSpPr/>
          <p:nvPr/>
        </p:nvSpPr>
        <p:spPr>
          <a:xfrm>
            <a:off x="822960" y="3977639"/>
            <a:ext cx="10515600" cy="1645920"/>
          </a:xfrm>
          <a:prstGeom prst="roundRect">
            <a:avLst>
              <a:gd name="adj" fmla="val 6000"/>
            </a:avLst>
          </a:prstGeom>
          <a:solidFill>
            <a:srgbClr val="27356E"/>
          </a:solidFill>
          <a:ln>
            <a:noFill/>
          </a:ln>
        </p:spPr>
        <p:txBody>
          <a:bodyPr wrap="square" lIns="320040" tIns="201168" rIns="320040" bIns="182880" anchor="t" rtlCol="0">
            <a:noAutofit/>
          </a:bodyPr>
          <a:lstStyle/>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1  5지선다     </a:t>
            </a:r>
            <a:r>
              <a:rPr lang="ko-KR" altLang="en-US" sz="1600" b="0" dirty="0">
                <a:solidFill>
                  <a:srgbClr val="FFFFFF"/>
                </a:solidFill>
                <a:latin typeface="맑은 고딕"/>
                <a:ea typeface="맑은 고딕"/>
                <a:cs typeface="맑은 고딕"/>
              </a:rPr>
              <a:t>클릭 ① 정답  →  클릭 ② 본문 근거 형광 +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2  순서·위치     </a:t>
            </a:r>
            <a:r>
              <a:rPr lang="ko-KR" altLang="en-US" sz="1600" b="0" dirty="0">
                <a:solidFill>
                  <a:srgbClr val="FFFFFF"/>
                </a:solidFill>
                <a:latin typeface="맑은 고딕"/>
                <a:ea typeface="맑은 고딕"/>
                <a:cs typeface="맑은 고딕"/>
              </a:rPr>
              <a:t>클릭 ① 정답  →  클릭 ② 정답 원리</a:t>
            </a:r>
            <a:endParaRPr lang="ko-KR" altLang="en-US" sz="1600" b="0" dirty="0">
              <a:solidFill>
                <a:srgbClr val="FFFFFF"/>
              </a:solidFill>
              <a:latin typeface="맑은 고딕"/>
              <a:ea typeface="맑은 고딕"/>
              <a:cs typeface="맑은 고딕"/>
            </a:endParaRPr>
          </a:p>
          <a:p>
            <a:pPr algn="l">
              <a:lnSpc>
                <a:spcPts val="2270"/>
              </a:lnSpc>
              <a:spcBef>
                <a:spcPts val="0"/>
              </a:spcBef>
              <a:spcAft>
                <a:spcPts val="800"/>
              </a:spcAft>
              <a:buNone/>
            </a:pPr>
            <a:r>
              <a:rPr lang="ko-KR" altLang="en-US" sz="1600" b="1" dirty="0">
                <a:solidFill>
                  <a:srgbClr val="FFE98A"/>
                </a:solidFill>
                <a:latin typeface="맑은 고딕"/>
                <a:ea typeface="맑은 고딕"/>
                <a:cs typeface="맑은 고딕"/>
              </a:rPr>
              <a:t>PART 3  어법·어휘     </a:t>
            </a:r>
            <a:r>
              <a:rPr lang="ko-KR" altLang="en-US" sz="1600" b="0" dirty="0">
                <a:solidFill>
                  <a:srgbClr val="FFFFFF"/>
                </a:solidFill>
                <a:latin typeface="맑은 고딕"/>
                <a:ea typeface="맑은 고딕"/>
                <a:cs typeface="맑은 고딕"/>
              </a:rPr>
              <a:t>본문 속 괄호마다, 클릭할 때마다 정답이 빨간색으로</a:t>
            </a:r>
            <a:endParaRPr lang="ko-KR" altLang="en-US" sz="1600" b="0" dirty="0">
              <a:solidFill>
                <a:srgbClr val="FFFFFF"/>
              </a:solidFill>
              <a:latin typeface="맑은 고딕"/>
              <a:ea typeface="맑은 고딕"/>
              <a:cs typeface="맑은 고딕"/>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a:t>
            </a:r>
            <a:r>
              <a:rPr lang="en-US" altLang="ko-KR" sz="1400" b="0" dirty="0">
                <a:solidFill>
                  <a:srgbClr val="1F2328"/>
                </a:solidFill>
                <a:latin typeface="Calibri"/>
                <a:ea typeface="맑은 고딕"/>
                <a:cs typeface="Calibri"/>
              </a:rPr>
              <a:t>Big data is data sets that are very big and complex.</a:t>
            </a:r>
            <a:r>
              <a:rPr lang="en-US" altLang="ko-KR" sz="140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a:t>
            </a:r>
            <a:r>
              <a:rPr lang="en-US" altLang="ko-KR" sz="1400" b="0" dirty="0">
                <a:solidFill>
                  <a:srgbClr val="1F2328"/>
                </a:solidFill>
                <a:latin typeface="Calibri"/>
                <a:ea typeface="맑은 고딕"/>
                <a:cs typeface="Calibri"/>
              </a:rPr>
              <a:t>Using various methods, experts analyze big data and draw meaningful results from it.</a:t>
            </a:r>
            <a:r>
              <a:rPr lang="en-US" altLang="ko-KR" sz="1400" b="0" dirty="0">
                <a:solidFill>
                  <a:srgbClr val="1F2328"/>
                </a:solidFill>
                <a:latin typeface="Calibri"/>
                <a:ea typeface="맑은 고딕"/>
                <a:cs typeface="Calibri"/>
              </a:rPr>
              <a:t> These results then can be used to make decisions or to predict the future.</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a:t>
            </a:r>
            <a:r>
              <a:rPr lang="en-US" altLang="ko-KR" sz="1400" b="0" dirty="0">
                <a:solidFill>
                  <a:srgbClr val="111111"/>
                </a:solidFill>
                <a:highlight>
                  <a:srgbClr val="FFE45C"/>
                </a:highlight>
                <a:latin typeface="Calibri"/>
                <a:ea typeface="맑은 고딕"/>
                <a:cs typeface="Calibri"/>
              </a:rPr>
              <a:t>Big data is data sets that are very big and complex.</a:t>
            </a:r>
            <a:r>
              <a:rPr lang="en-US" altLang="ko-KR" sz="1400" b="0" dirty="0">
                <a:solidFill>
                  <a:srgbClr val="B3BAC6"/>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a:t>
            </a:r>
            <a:r>
              <a:rPr lang="en-US" altLang="ko-KR" sz="1400" b="0" dirty="0">
                <a:solidFill>
                  <a:srgbClr val="111111"/>
                </a:solidFill>
                <a:highlight>
                  <a:srgbClr val="FFE45C"/>
                </a:highlight>
                <a:latin typeface="Calibri"/>
                <a:ea typeface="맑은 고딕"/>
                <a:cs typeface="Calibri"/>
              </a:rPr>
              <a:t>Using various methods, experts analyze big data and draw meaningful results from it.</a:t>
            </a:r>
            <a:r>
              <a:rPr lang="en-US" altLang="ko-KR" sz="1400" b="0" dirty="0">
                <a:solidFill>
                  <a:srgbClr val="B3BAC6"/>
                </a:solidFill>
                <a:latin typeface="Calibri"/>
                <a:ea typeface="맑은 고딕"/>
                <a:cs typeface="Calibri"/>
              </a:rPr>
              <a:t> These results then can be used to make decisions or to predict the future.</a:t>
            </a:r>
            <a:endParaRPr lang="en-US" altLang="ko-KR" sz="1400" b="0" dirty="0">
              <a:solidFill>
                <a:srgbClr val="B3BAC6"/>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what big data is and how experts make use of it</a:t>
            </a:r>
            <a:endParaRPr lang="en-US" altLang="ko-KR" sz="1750" b="0" dirty="0">
              <a:solidFill>
                <a:srgbClr val="1F2328"/>
              </a:solidFill>
              <a:latin typeface="Calibri"/>
              <a:ea typeface="맑은 고딕"/>
              <a:cs typeface="Calibri"/>
            </a:endParaRPr>
          </a:p>
        </p:txBody>
      </p:sp>
      <p:sp>
        <p:nvSpPr>
          <p:cNvPr id="12" name="rv_pick"/>
          <p:cNvSpPr txBox="1"/>
          <p:nvPr/>
        </p:nvSpPr>
        <p:spPr>
          <a:xfrm>
            <a:off x="457200" y="3220720"/>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①</a:t>
            </a:r>
            <a:r>
              <a:rPr lang="en-US" altLang="ko-KR" sz="1750" b="0" dirty="0">
                <a:solidFill>
                  <a:srgbClr val="C00000"/>
                </a:solidFill>
                <a:latin typeface="Calibri"/>
                <a:ea typeface="맑은 고딕"/>
                <a:cs typeface="Calibri"/>
              </a:rPr>
              <a:t>	what big data is and how experts make use of it</a:t>
            </a:r>
            <a:endParaRPr lang="en-US" altLang="ko-KR" sz="1750" b="0" dirty="0">
              <a:solidFill>
                <a:srgbClr val="C00000"/>
              </a:solidFill>
              <a:latin typeface="Calibri"/>
              <a:ea typeface="맑은 고딕"/>
              <a:cs typeface="Calibri"/>
            </a:endParaRPr>
          </a:p>
        </p:txBody>
      </p:sp>
      <p:sp>
        <p:nvSpPr>
          <p:cNvPr id="13"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the reasons people enjoy shopping at online bookstores</a:t>
            </a:r>
            <a:endParaRPr lang="en-US" altLang="ko-KR" sz="1750" b="0" dirty="0">
              <a:solidFill>
                <a:srgbClr val="1F2328"/>
              </a:solidFill>
              <a:latin typeface="Calibri"/>
              <a:ea typeface="맑은 고딕"/>
              <a:cs typeface="Calibri"/>
            </a:endParaRPr>
          </a:p>
        </p:txBody>
      </p:sp>
      <p:sp>
        <p:nvSpPr>
          <p:cNvPr id="14"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the ways to protect your privacy on online websites</a:t>
            </a:r>
            <a:endParaRPr lang="en-US" altLang="ko-KR" sz="1750" b="0" dirty="0">
              <a:solidFill>
                <a:srgbClr val="1F2328"/>
              </a:solidFill>
              <a:latin typeface="Calibri"/>
              <a:ea typeface="맑은 고딕"/>
              <a:cs typeface="Calibri"/>
            </a:endParaRPr>
          </a:p>
        </p:txBody>
      </p:sp>
      <p:sp>
        <p:nvSpPr>
          <p:cNvPr id="15"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the problems caused by collecting too much data</a:t>
            </a:r>
            <a:endParaRPr lang="en-US" altLang="ko-KR" sz="1750" b="0" dirty="0">
              <a:solidFill>
                <a:srgbClr val="1F2328"/>
              </a:solidFill>
              <a:latin typeface="Calibri"/>
              <a:ea typeface="맑은 고딕"/>
              <a:cs typeface="Calibri"/>
            </a:endParaRPr>
          </a:p>
        </p:txBody>
      </p:sp>
      <p:sp>
        <p:nvSpPr>
          <p:cNvPr id="16"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why information technology develops faster each year</a:t>
            </a:r>
            <a:endParaRPr lang="en-US" altLang="ko-KR" sz="1750" b="0" dirty="0">
              <a:solidFill>
                <a:srgbClr val="1F2328"/>
              </a:solidFill>
              <a:latin typeface="Calibri"/>
              <a:ea typeface="맑은 고딕"/>
              <a:cs typeface="Calibri"/>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what big data is and how experts make use of it</a:t>
            </a:r>
            <a:endParaRPr lang="en-US" altLang="ko-KR" sz="1900" b="1" dirty="0">
              <a:solidFill>
                <a:srgbClr val="5A4200"/>
              </a:solidFill>
              <a:latin typeface="Calibri"/>
              <a:ea typeface="맑은 고딕"/>
              <a:cs typeface="Calibri"/>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빅데이터가 매우 크고 복잡한 데이터 집합이며 전문가가 분석해 결과를 끌어낸다고 했다. 개념과 활용을 함께 담은 ①이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a:t>
            </a:r>
            <a:r>
              <a:rPr lang="en-US" altLang="ko-KR" sz="1400" b="0" dirty="0">
                <a:solidFill>
                  <a:srgbClr val="1F2328"/>
                </a:solidFill>
                <a:latin typeface="Calibri"/>
                <a:ea typeface="맑은 고딕"/>
                <a:cs typeface="Calibri"/>
              </a:rPr>
              <a:t>Big data is data sets that are very big and complex.</a:t>
            </a:r>
            <a:r>
              <a:rPr lang="en-US" altLang="ko-KR" sz="140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a:t>
            </a:r>
            <a:r>
              <a:rPr lang="en-US" altLang="ko-KR" sz="1400" b="0" dirty="0">
                <a:solidFill>
                  <a:srgbClr val="1F2328"/>
                </a:solidFill>
                <a:latin typeface="Calibri"/>
                <a:ea typeface="맑은 고딕"/>
                <a:cs typeface="Calibri"/>
              </a:rPr>
              <a:t>Big data has to be analyzed, and this is done by big data experts.</a:t>
            </a:r>
            <a:r>
              <a:rPr lang="en-US" altLang="ko-KR" sz="1400" b="0" dirty="0">
                <a:solidFill>
                  <a:srgbClr val="1F2328"/>
                </a:solidFill>
                <a:latin typeface="Calibri"/>
                <a:ea typeface="맑은 고딕"/>
                <a:cs typeface="Calibri"/>
              </a:rPr>
              <a:t> Using various methods, experts analyze big data and draw meaningful results from it. These results then can be used to make decisions or to predict the future.</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a:t>
            </a:r>
            <a:r>
              <a:rPr lang="en-US" altLang="ko-KR" sz="1400" b="0" dirty="0">
                <a:solidFill>
                  <a:srgbClr val="111111"/>
                </a:solidFill>
                <a:highlight>
                  <a:srgbClr val="FFE45C"/>
                </a:highlight>
                <a:latin typeface="Calibri"/>
                <a:ea typeface="맑은 고딕"/>
                <a:cs typeface="Calibri"/>
              </a:rPr>
              <a:t>Big data is data sets that are very big and complex.</a:t>
            </a:r>
            <a:r>
              <a:rPr lang="en-US" altLang="ko-KR" sz="1400" b="0" dirty="0">
                <a:solidFill>
                  <a:srgbClr val="B3BAC6"/>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a:t>
            </a:r>
            <a:r>
              <a:rPr lang="en-US" altLang="ko-KR" sz="1400" b="0" dirty="0">
                <a:solidFill>
                  <a:srgbClr val="111111"/>
                </a:solidFill>
                <a:highlight>
                  <a:srgbClr val="FFE45C"/>
                </a:highlight>
                <a:latin typeface="Calibri"/>
                <a:ea typeface="맑은 고딕"/>
                <a:cs typeface="Calibri"/>
              </a:rPr>
              <a:t>Big data has to be analyzed, and this is done by big data experts.</a:t>
            </a:r>
            <a:r>
              <a:rPr lang="en-US" altLang="ko-KR" sz="1400" b="0" dirty="0">
                <a:solidFill>
                  <a:srgbClr val="B3BAC6"/>
                </a:solidFill>
                <a:latin typeface="Calibri"/>
                <a:ea typeface="맑은 고딕"/>
                <a:cs typeface="Calibri"/>
              </a:rPr>
              <a:t> Using various methods, experts analyze big data and draw meaningful results from it. These results then can be used to make decisions or to predict the future.</a:t>
            </a:r>
            <a:endParaRPr lang="en-US" altLang="ko-KR" sz="1400" b="0" dirty="0">
              <a:solidFill>
                <a:srgbClr val="B3BAC6"/>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Online Bookstores Know Your Taste</a:t>
            </a:r>
            <a:endParaRPr lang="en-US" altLang="ko-KR" sz="1750" b="0" dirty="0">
              <a:solidFill>
                <a:srgbClr val="1F2328"/>
              </a:solidFill>
              <a:latin typeface="Calibri"/>
              <a:ea typeface="맑은 고딕"/>
              <a:cs typeface="Calibri"/>
            </a:endParaRPr>
          </a:p>
        </p:txBody>
      </p:sp>
      <p:sp>
        <p:nvSpPr>
          <p:cNvPr id="12"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Big Data: What It Is and How It Works</a:t>
            </a:r>
            <a:endParaRPr lang="en-US" altLang="ko-KR" sz="1750" b="0" dirty="0">
              <a:solidFill>
                <a:srgbClr val="1F2328"/>
              </a:solidFill>
              <a:latin typeface="Calibri"/>
              <a:ea typeface="맑은 고딕"/>
              <a:cs typeface="Calibri"/>
            </a:endParaRPr>
          </a:p>
        </p:txBody>
      </p:sp>
      <p:sp>
        <p:nvSpPr>
          <p:cNvPr id="13" name="rv_pick"/>
          <p:cNvSpPr txBox="1"/>
          <p:nvPr/>
        </p:nvSpPr>
        <p:spPr>
          <a:xfrm>
            <a:off x="457200" y="3617976"/>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②</a:t>
            </a:r>
            <a:r>
              <a:rPr lang="en-US" altLang="ko-KR" sz="1750" b="0" dirty="0">
                <a:solidFill>
                  <a:srgbClr val="C00000"/>
                </a:solidFill>
                <a:latin typeface="Calibri"/>
                <a:ea typeface="맑은 고딕"/>
                <a:cs typeface="Calibri"/>
              </a:rPr>
              <a:t>	Big Data: What It Is and How It Works</a:t>
            </a:r>
            <a:endParaRPr lang="en-US" altLang="ko-KR" sz="1750" b="0" dirty="0">
              <a:solidFill>
                <a:srgbClr val="C00000"/>
              </a:solidFill>
              <a:latin typeface="Calibri"/>
              <a:ea typeface="맑은 고딕"/>
              <a:cs typeface="Calibri"/>
            </a:endParaRPr>
          </a:p>
        </p:txBody>
      </p:sp>
      <p:sp>
        <p:nvSpPr>
          <p:cNvPr id="14"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Why Your Photos Belong on Your Blog</a:t>
            </a:r>
            <a:endParaRPr lang="en-US" altLang="ko-KR" sz="1750" b="0" dirty="0">
              <a:solidFill>
                <a:srgbClr val="1F2328"/>
              </a:solidFill>
              <a:latin typeface="Calibri"/>
              <a:ea typeface="맑은 고딕"/>
              <a:cs typeface="Calibri"/>
            </a:endParaRPr>
          </a:p>
        </p:txBody>
      </p:sp>
      <p:sp>
        <p:nvSpPr>
          <p:cNvPr id="15"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Too Much Data Can Hurt Your Privacy</a:t>
            </a:r>
            <a:endParaRPr lang="en-US" altLang="ko-KR" sz="1750" b="0" dirty="0">
              <a:solidFill>
                <a:srgbClr val="1F2328"/>
              </a:solidFill>
              <a:latin typeface="Calibri"/>
              <a:ea typeface="맑은 고딕"/>
              <a:cs typeface="Calibri"/>
            </a:endParaRPr>
          </a:p>
        </p:txBody>
      </p:sp>
      <p:sp>
        <p:nvSpPr>
          <p:cNvPr id="16"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Technology Develops, Data Disappears</a:t>
            </a:r>
            <a:endParaRPr lang="en-US" altLang="ko-KR" sz="1750" b="0" dirty="0">
              <a:solidFill>
                <a:srgbClr val="1F2328"/>
              </a:solidFill>
              <a:latin typeface="Calibri"/>
              <a:ea typeface="맑은 고딕"/>
              <a:cs typeface="Calibri"/>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Big Data: What It Is and How It Works</a:t>
            </a:r>
            <a:endParaRPr lang="en-US" altLang="ko-KR" sz="1900" b="1" dirty="0">
              <a:solidFill>
                <a:srgbClr val="5A4200"/>
              </a:solidFill>
              <a:latin typeface="Calibri"/>
              <a:ea typeface="맑은 고딕"/>
              <a:cs typeface="Calibri"/>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빅데이터의 정의와 분석·활용 과정을 차례로 설명하므로 '무엇이며 어떻게 작동하는가'를 묻는 ②가 제목으로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a:t>
            </a:r>
            <a:r>
              <a:rPr lang="en-US" altLang="ko-KR" sz="1400" b="0" dirty="0">
                <a:solidFill>
                  <a:srgbClr val="1F2328"/>
                </a:solidFill>
                <a:latin typeface="Calibri"/>
                <a:ea typeface="맑은 고딕"/>
                <a:cs typeface="Calibri"/>
              </a:rPr>
              <a:t>Simply collecting data, however, is not enough.</a:t>
            </a:r>
            <a:r>
              <a:rPr lang="en-US" altLang="ko-KR" sz="1400" b="0" dirty="0">
                <a:solidFill>
                  <a:srgbClr val="1F2328"/>
                </a:solidFill>
                <a:latin typeface="Calibri"/>
                <a:ea typeface="맑은 고딕"/>
                <a:cs typeface="Calibri"/>
              </a:rPr>
              <a:t> </a:t>
            </a:r>
            <a:r>
              <a:rPr lang="en-US" altLang="ko-KR" sz="1400" b="0" dirty="0">
                <a:solidFill>
                  <a:srgbClr val="1F2328"/>
                </a:solidFill>
                <a:latin typeface="Calibri"/>
                <a:ea typeface="맑은 고딕"/>
                <a:cs typeface="Calibri"/>
              </a:rPr>
              <a:t>Big data has to be analyzed, and this is done by big data experts.</a:t>
            </a:r>
            <a:r>
              <a:rPr lang="en-US" altLang="ko-KR" sz="1400" b="0" dirty="0">
                <a:solidFill>
                  <a:srgbClr val="1F2328"/>
                </a:solidFill>
                <a:latin typeface="Calibri"/>
                <a:ea typeface="맑은 고딕"/>
                <a:cs typeface="Calibri"/>
              </a:rPr>
              <a:t> Using various methods, experts analyze big data and draw meaningful results from it. These results then can be used to make decisions or to predict the future.</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a:t>
            </a:r>
            <a:r>
              <a:rPr lang="en-US" altLang="ko-KR" sz="1400" b="0" dirty="0">
                <a:solidFill>
                  <a:srgbClr val="111111"/>
                </a:solidFill>
                <a:highlight>
                  <a:srgbClr val="FFE45C"/>
                </a:highlight>
                <a:latin typeface="Calibri"/>
                <a:ea typeface="맑은 고딕"/>
                <a:cs typeface="Calibri"/>
              </a:rPr>
              <a:t>Simply collecting data, however, is not enough.</a:t>
            </a:r>
            <a:r>
              <a:rPr lang="en-US" altLang="ko-KR" sz="1400" b="0" dirty="0">
                <a:solidFill>
                  <a:srgbClr val="B3BAC6"/>
                </a:solidFill>
                <a:latin typeface="Calibri"/>
                <a:ea typeface="맑은 고딕"/>
                <a:cs typeface="Calibri"/>
              </a:rPr>
              <a:t> </a:t>
            </a:r>
            <a:r>
              <a:rPr lang="en-US" altLang="ko-KR" sz="1400" b="0" dirty="0">
                <a:solidFill>
                  <a:srgbClr val="111111"/>
                </a:solidFill>
                <a:highlight>
                  <a:srgbClr val="FFE45C"/>
                </a:highlight>
                <a:latin typeface="Calibri"/>
                <a:ea typeface="맑은 고딕"/>
                <a:cs typeface="Calibri"/>
              </a:rPr>
              <a:t>Big data has to be analyzed, and this is done by big data experts.</a:t>
            </a:r>
            <a:r>
              <a:rPr lang="en-US" altLang="ko-KR" sz="1400" b="0" dirty="0">
                <a:solidFill>
                  <a:srgbClr val="B3BAC6"/>
                </a:solidFill>
                <a:latin typeface="Calibri"/>
                <a:ea typeface="맑은 고딕"/>
                <a:cs typeface="Calibri"/>
              </a:rPr>
              <a:t> Using various methods, experts analyze big data and draw meaningful results from it. These results then can be used to make decisions or to predict the future.</a:t>
            </a:r>
            <a:endParaRPr lang="en-US" altLang="ko-KR" sz="1400" b="0" dirty="0">
              <a:solidFill>
                <a:srgbClr val="B3BAC6"/>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온라인 서점은 고객의 취향을 더 존중해 책을 추천해야 한다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개인 정보를 지키려면 온라인에 흔적을 남기지 말아야 한다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빅데이터는 수집 후 전문가의 분석을 거쳐야 쓸모가 있다</a:t>
            </a:r>
            <a:endParaRPr lang="ko-KR" altLang="en-US" sz="1750" b="0" dirty="0">
              <a:solidFill>
                <a:srgbClr val="1F2328"/>
              </a:solidFill>
              <a:latin typeface="맑은 고딕"/>
              <a:ea typeface="맑은 고딕"/>
              <a:cs typeface="맑은 고딕"/>
            </a:endParaRPr>
          </a:p>
        </p:txBody>
      </p:sp>
      <p:sp>
        <p:nvSpPr>
          <p:cNvPr id="14" name="rv_pick"/>
          <p:cNvSpPr txBox="1"/>
          <p:nvPr/>
        </p:nvSpPr>
        <p:spPr>
          <a:xfrm>
            <a:off x="457200" y="4015232"/>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③</a:t>
            </a:r>
            <a:r>
              <a:rPr lang="ko-KR" altLang="en-US" sz="1750" b="0" dirty="0">
                <a:solidFill>
                  <a:srgbClr val="C00000"/>
                </a:solidFill>
                <a:latin typeface="맑은 고딕"/>
                <a:ea typeface="맑은 고딕"/>
                <a:cs typeface="맑은 고딕"/>
              </a:rPr>
              <a:t>	빅데이터는 수집 후 전문가의 분석을 거쳐야 쓸모가 있다</a:t>
            </a:r>
            <a:endParaRPr lang="ko-KR" altLang="en-US" sz="1750" b="0" dirty="0">
              <a:solidFill>
                <a:srgbClr val="C00000"/>
              </a:solidFill>
              <a:latin typeface="맑은 고딕"/>
              <a:ea typeface="맑은 고딕"/>
              <a:cs typeface="맑은 고딕"/>
            </a:endParaRPr>
          </a:p>
        </p:txBody>
      </p:sp>
      <p:sp>
        <p:nvSpPr>
          <p:cNvPr id="15"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정보 통신 기술의 발달 속도를 조금 더 늦출 필요가 있다</a:t>
            </a:r>
            <a:endParaRPr lang="ko-KR" altLang="en-US" sz="1750" b="0" dirty="0">
              <a:solidFill>
                <a:srgbClr val="1F2328"/>
              </a:solidFill>
              <a:latin typeface="맑은 고딕"/>
              <a:ea typeface="맑은 고딕"/>
              <a:cs typeface="맑은 고딕"/>
            </a:endParaRPr>
          </a:p>
        </p:txBody>
      </p:sp>
      <p:sp>
        <p:nvSpPr>
          <p:cNvPr id="16"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블로그에 올리는 사진은 신중하게 골라서 공유해야 한다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빅데이터는 수집 후 전문가의 분석을 거쳐야 쓸모가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데이터를 모으기만 해서는 충분하지 않고 전문가가 분석해야 한다고 했다. 이를 옮긴 ③이 필자의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a:t>
            </a:r>
            <a:r>
              <a:rPr lang="en-US" altLang="ko-KR" sz="1400" b="0" dirty="0">
                <a:solidFill>
                  <a:srgbClr val="1F2328"/>
                </a:solidFill>
                <a:latin typeface="Calibri"/>
                <a:ea typeface="맑은 고딕"/>
                <a:cs typeface="Calibri"/>
              </a:rPr>
              <a:t>Using various methods, experts analyze big data and draw meaningful results from it.</a:t>
            </a:r>
            <a:r>
              <a:rPr lang="en-US" altLang="ko-KR" sz="1400" b="0" dirty="0">
                <a:solidFill>
                  <a:srgbClr val="1F2328"/>
                </a:solidFill>
                <a:latin typeface="Calibri"/>
                <a:ea typeface="맑은 고딕"/>
                <a:cs typeface="Calibri"/>
              </a:rPr>
              <a:t> </a:t>
            </a:r>
            <a:r>
              <a:rPr lang="en-US" altLang="ko-KR" sz="1400" b="0" dirty="0">
                <a:solidFill>
                  <a:srgbClr val="1F2328"/>
                </a:solidFill>
                <a:latin typeface="Calibri"/>
                <a:ea typeface="맑은 고딕"/>
                <a:cs typeface="Calibri"/>
              </a:rPr>
              <a:t>These results then can be used to make decisions or to predict the future.</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a:t>
            </a:r>
            <a:r>
              <a:rPr lang="en-US" altLang="ko-KR" sz="1400" b="0" dirty="0">
                <a:solidFill>
                  <a:srgbClr val="111111"/>
                </a:solidFill>
                <a:highlight>
                  <a:srgbClr val="FFE45C"/>
                </a:highlight>
                <a:latin typeface="Calibri"/>
                <a:ea typeface="맑은 고딕"/>
                <a:cs typeface="Calibri"/>
              </a:rPr>
              <a:t>Using various methods, experts analyze big data and draw meaningful results from it.</a:t>
            </a:r>
            <a:r>
              <a:rPr lang="en-US" altLang="ko-KR" sz="1400" b="0" dirty="0">
                <a:solidFill>
                  <a:srgbClr val="B3BAC6"/>
                </a:solidFill>
                <a:latin typeface="Calibri"/>
                <a:ea typeface="맑은 고딕"/>
                <a:cs typeface="Calibri"/>
              </a:rPr>
              <a:t> </a:t>
            </a:r>
            <a:r>
              <a:rPr lang="en-US" altLang="ko-KR" sz="1400" b="0" dirty="0">
                <a:solidFill>
                  <a:srgbClr val="111111"/>
                </a:solidFill>
                <a:highlight>
                  <a:srgbClr val="FFE45C"/>
                </a:highlight>
                <a:latin typeface="Calibri"/>
                <a:ea typeface="맑은 고딕"/>
                <a:cs typeface="Calibri"/>
              </a:rPr>
              <a:t>These results then can be used to make decisions or to predict the future.</a:t>
            </a:r>
            <a:endParaRPr lang="en-US" altLang="ko-KR" sz="1400" b="0" dirty="0">
              <a:solidFill>
                <a:srgbClr val="111111"/>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온라인 서점의 추천 도서는 대부분 독자의 흥미를 끈다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데이터의 양이 많아질수록 그 분석은 불가능해진다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온라인 구매 기록은 빅데이터에 포함되지 않는다</a:t>
            </a:r>
            <a:endParaRPr lang="ko-KR" altLang="en-US" sz="1750" b="0" dirty="0">
              <a:solidFill>
                <a:srgbClr val="1F2328"/>
              </a:solidFill>
              <a:latin typeface="맑은 고딕"/>
              <a:ea typeface="맑은 고딕"/>
              <a:cs typeface="맑은 고딕"/>
            </a:endParaRPr>
          </a:p>
        </p:txBody>
      </p:sp>
      <p:sp>
        <p:nvSpPr>
          <p:cNvPr id="14"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빅데이터는 분석을 거쳐 의사결정과 예측에 활용된다</a:t>
            </a:r>
            <a:endParaRPr lang="ko-KR" altLang="en-US" sz="1750" b="0" dirty="0">
              <a:solidFill>
                <a:srgbClr val="1F2328"/>
              </a:solidFill>
              <a:latin typeface="맑은 고딕"/>
              <a:ea typeface="맑은 고딕"/>
              <a:cs typeface="맑은 고딕"/>
            </a:endParaRPr>
          </a:p>
        </p:txBody>
      </p:sp>
      <p:sp>
        <p:nvSpPr>
          <p:cNvPr id="15" name="rv_pick"/>
          <p:cNvSpPr txBox="1"/>
          <p:nvPr/>
        </p:nvSpPr>
        <p:spPr>
          <a:xfrm>
            <a:off x="457200" y="4412488"/>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④</a:t>
            </a:r>
            <a:r>
              <a:rPr lang="ko-KR" altLang="en-US" sz="1750" b="0" dirty="0">
                <a:solidFill>
                  <a:srgbClr val="C00000"/>
                </a:solidFill>
                <a:latin typeface="맑은 고딕"/>
                <a:ea typeface="맑은 고딕"/>
                <a:cs typeface="맑은 고딕"/>
              </a:rPr>
              <a:t>	빅데이터는 분석을 거쳐 의사결정과 예측에 활용된다</a:t>
            </a:r>
            <a:endParaRPr lang="ko-KR" altLang="en-US" sz="1750" b="0" dirty="0">
              <a:solidFill>
                <a:srgbClr val="C00000"/>
              </a:solidFill>
              <a:latin typeface="맑은 고딕"/>
              <a:ea typeface="맑은 고딕"/>
              <a:cs typeface="맑은 고딕"/>
            </a:endParaRPr>
          </a:p>
        </p:txBody>
      </p:sp>
      <p:sp>
        <p:nvSpPr>
          <p:cNvPr id="16"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데이터는 많이 모으는 것만으로 충분한 가치가 있다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빅데이터는 분석을 거쳐 의사결정과 예측에 활용된다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분석에서 얻은 결과가 결정을 내리고 미래를 예측하는 데 쓰인다고 했으므로 ④가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a:t>
            </a:r>
            <a:r>
              <a:rPr lang="en-US" altLang="ko-KR" sz="1400" b="0" dirty="0">
                <a:solidFill>
                  <a:srgbClr val="1F2328"/>
                </a:solidFill>
                <a:latin typeface="Calibri"/>
                <a:ea typeface="맑은 고딕"/>
                <a:cs typeface="Calibri"/>
              </a:rPr>
              <a:t>Simply collecting data, however, is not enough</a:t>
            </a:r>
            <a:r>
              <a:rPr lang="en-US" altLang="ko-KR" sz="1400" b="0" dirty="0">
                <a:solidFill>
                  <a:srgbClr val="1F2328"/>
                </a:solidFill>
                <a:latin typeface="Calibri"/>
                <a:ea typeface="맑은 고딕"/>
                <a:cs typeface="Calibri"/>
              </a:rPr>
              <a:t>. Big data has to be analyzed, and this is done by big data experts. Using various methods, experts analyze big data and draw meaningful results from it. These results then can be used to make decisions or to predict the future.</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a:t>
            </a:r>
            <a:r>
              <a:rPr lang="en-US" altLang="ko-KR" sz="1400" b="0" dirty="0">
                <a:solidFill>
                  <a:srgbClr val="111111"/>
                </a:solidFill>
                <a:highlight>
                  <a:srgbClr val="FFE45C"/>
                </a:highlight>
                <a:latin typeface="Calibri"/>
                <a:ea typeface="맑은 고딕"/>
                <a:cs typeface="Calibri"/>
              </a:rPr>
              <a:t>Simply collecting data, however, is not enough</a:t>
            </a:r>
            <a:r>
              <a:rPr lang="en-US" altLang="ko-KR" sz="1400" b="0" dirty="0">
                <a:solidFill>
                  <a:srgbClr val="B3BAC6"/>
                </a:solidFill>
                <a:latin typeface="Calibri"/>
                <a:ea typeface="맑은 고딕"/>
                <a:cs typeface="Calibri"/>
              </a:rPr>
              <a:t>. Big data has to be analyzed, and this is done by big data experts. Using various methods, experts analyze big data and draw meaningful results from it. These results then can be used to make decisions or to predict the future.</a:t>
            </a:r>
            <a:endParaRPr lang="en-US" altLang="ko-KR" sz="1400" b="0" dirty="0">
              <a:solidFill>
                <a:srgbClr val="B3BAC6"/>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온라인 서점은 고객에게 책을 추천해 줄 수 있다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빅데이터는 매우 크고 복잡한 데이터의 집합이다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단순히 데이터를 수집하는 것만으로도 충분하다</a:t>
            </a:r>
            <a:endParaRPr lang="ko-KR" altLang="en-US" sz="1750" b="0" dirty="0">
              <a:solidFill>
                <a:srgbClr val="1F2328"/>
              </a:solidFill>
              <a:latin typeface="맑은 고딕"/>
              <a:ea typeface="맑은 고딕"/>
              <a:cs typeface="맑은 고딕"/>
            </a:endParaRPr>
          </a:p>
        </p:txBody>
      </p:sp>
      <p:sp>
        <p:nvSpPr>
          <p:cNvPr id="14" name="rv_pick"/>
          <p:cNvSpPr txBox="1"/>
          <p:nvPr/>
        </p:nvSpPr>
        <p:spPr>
          <a:xfrm>
            <a:off x="457200" y="4015232"/>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③</a:t>
            </a:r>
            <a:r>
              <a:rPr lang="ko-KR" altLang="en-US" sz="1750" b="0" dirty="0">
                <a:solidFill>
                  <a:srgbClr val="C00000"/>
                </a:solidFill>
                <a:latin typeface="맑은 고딕"/>
                <a:ea typeface="맑은 고딕"/>
                <a:cs typeface="맑은 고딕"/>
              </a:rPr>
              <a:t>	단순히 데이터를 수집하는 것만으로도 충분하다</a:t>
            </a:r>
            <a:endParaRPr lang="ko-KR" altLang="en-US" sz="1750" b="0" dirty="0">
              <a:solidFill>
                <a:srgbClr val="C00000"/>
              </a:solidFill>
              <a:latin typeface="맑은 고딕"/>
              <a:ea typeface="맑은 고딕"/>
              <a:cs typeface="맑은 고딕"/>
            </a:endParaRPr>
          </a:p>
        </p:txBody>
      </p:sp>
      <p:sp>
        <p:nvSpPr>
          <p:cNvPr id="15"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우리가 온라인에서 하는 거의 모든 일은 흔적을 남긴다</a:t>
            </a:r>
            <a:endParaRPr lang="ko-KR" altLang="en-US" sz="1750" b="0" dirty="0">
              <a:solidFill>
                <a:srgbClr val="1F2328"/>
              </a:solidFill>
              <a:latin typeface="맑은 고딕"/>
              <a:ea typeface="맑은 고딕"/>
              <a:cs typeface="맑은 고딕"/>
            </a:endParaRPr>
          </a:p>
        </p:txBody>
      </p:sp>
      <p:sp>
        <p:nvSpPr>
          <p:cNvPr id="16"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전문가들은 빅데이터에서 의미 있는 결과를 얻는다</a:t>
            </a:r>
            <a:endParaRPr lang="ko-KR" altLang="en-US" sz="1750" b="0" dirty="0">
              <a:solidFill>
                <a:srgbClr val="1F2328"/>
              </a:solidFill>
              <a:latin typeface="맑은 고딕"/>
              <a:ea typeface="맑은 고딕"/>
              <a:cs typeface="맑은 고딕"/>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단순히 데이터를 수집하는 것만으로도 충분하다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단순히 데이터를 모으는 것만으로는 충분하지 않다('not enough')고 했으므로 충분하다는 ③은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1F2328"/>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a:t>
            </a:r>
            <a:r>
              <a:rPr lang="en-US" altLang="ko-KR" sz="1400" b="0" dirty="0">
                <a:solidFill>
                  <a:srgbClr val="1F2328"/>
                </a:solidFill>
                <a:latin typeface="Calibri"/>
                <a:ea typeface="맑은 고딕"/>
                <a:cs typeface="Calibri"/>
              </a:rPr>
              <a:t>to make decisions or to predict the future</a:t>
            </a:r>
            <a:r>
              <a:rPr lang="en-US" altLang="ko-KR" sz="1400" b="0" dirty="0">
                <a:solidFill>
                  <a:srgbClr val="1F2328"/>
                </a:solidFill>
                <a:latin typeface="Calibri"/>
                <a:ea typeface="맑은 고딕"/>
                <a:cs typeface="Calibri"/>
              </a:rPr>
              <a:t>.</a:t>
            </a:r>
            <a:endParaRPr lang="en-US" altLang="ko-KR" sz="1400" b="0" dirty="0">
              <a:solidFill>
                <a:srgbClr val="1F2328"/>
              </a:solidFill>
              <a:latin typeface="Calibri"/>
              <a:ea typeface="맑은 고딕"/>
              <a:cs typeface="Calibri"/>
            </a:endParaRPr>
          </a:p>
        </p:txBody>
      </p:sp>
      <p:sp>
        <p:nvSpPr>
          <p:cNvPr id="9" name="rv_evidence_card"/>
          <p:cNvSpPr/>
          <p:nvPr/>
        </p:nvSpPr>
        <p:spPr>
          <a:xfrm>
            <a:off x="457200" y="950976"/>
            <a:ext cx="11277295" cy="212343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2123439"/>
          </a:xfrm>
          <a:prstGeom prst="rect">
            <a:avLst/>
          </a:prstGeom>
          <a:noFill/>
        </p:spPr>
        <p:txBody>
          <a:bodyPr wrap="square" lIns="201168" tIns="118872" rIns="201168" bIns="118872" anchor="t" rtlCol="0">
            <a:noAutofit/>
          </a:bodyPr>
          <a:lstStyle/>
          <a:p>
            <a:pPr algn="just">
              <a:lnSpc>
                <a:spcPts val="1820"/>
              </a:lnSpc>
              <a:spcBef>
                <a:spcPts val="0"/>
              </a:spcBef>
              <a:spcAft>
                <a:spcPts val="0"/>
              </a:spcAft>
              <a:buNone/>
            </a:pPr>
            <a:r>
              <a:rPr lang="en-US" altLang="ko-KR" sz="1400" b="0" dirty="0">
                <a:solidFill>
                  <a:srgbClr val="B3BAC6"/>
                </a:solidFill>
                <a:latin typeface="Calibri"/>
                <a:ea typeface="맑은 고딕"/>
                <a:cs typeface="Calibri"/>
              </a:rPr>
              <a:t>Have you ever visited an online bookstore and been surprised by the books that the store recommended for you? Many of them looked interesting to you. So how did the bookstore know what you liked? This is all possible because of big data. Big data is data sets that are very big and complex.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a:t>
            </a:r>
            <a:r>
              <a:rPr lang="en-US" altLang="ko-KR" sz="1400" b="0" dirty="0">
                <a:solidFill>
                  <a:srgbClr val="111111"/>
                </a:solidFill>
                <a:highlight>
                  <a:srgbClr val="FFE45C"/>
                </a:highlight>
                <a:latin typeface="Calibri"/>
                <a:ea typeface="맑은 고딕"/>
                <a:cs typeface="Calibri"/>
              </a:rPr>
              <a:t>to make decisions or to predict the future</a:t>
            </a:r>
            <a:r>
              <a:rPr lang="en-US" altLang="ko-KR" sz="1400" b="0" dirty="0">
                <a:solidFill>
                  <a:srgbClr val="B3BAC6"/>
                </a:solidFill>
                <a:latin typeface="Calibri"/>
                <a:ea typeface="맑은 고딕"/>
                <a:cs typeface="Calibri"/>
              </a:rPr>
              <a:t>.</a:t>
            </a:r>
            <a:endParaRPr lang="en-US" altLang="ko-KR" sz="1400" b="0" dirty="0">
              <a:solidFill>
                <a:srgbClr val="B3BAC6"/>
              </a:solidFill>
              <a:latin typeface="Calibri"/>
              <a:ea typeface="맑은 고딕"/>
              <a:cs typeface="Calibri"/>
            </a:endParaRPr>
          </a:p>
        </p:txBody>
      </p:sp>
      <p:sp>
        <p:nvSpPr>
          <p:cNvPr id="11" name="choice_1"/>
          <p:cNvSpPr txBox="1"/>
          <p:nvPr/>
        </p:nvSpPr>
        <p:spPr>
          <a:xfrm>
            <a:off x="457200" y="3220720"/>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①</a:t>
            </a:r>
            <a:r>
              <a:rPr lang="ko-KR" altLang="en-US" sz="1750" b="0" dirty="0">
                <a:solidFill>
                  <a:srgbClr val="1F2328"/>
                </a:solidFill>
                <a:latin typeface="맑은 고딕"/>
                <a:ea typeface="맑은 고딕"/>
                <a:cs typeface="맑은 고딕"/>
              </a:rPr>
              <a:t>	데이터의 양은 이전보다 점점 줄어들고 있다</a:t>
            </a:r>
            <a:endParaRPr lang="ko-KR" altLang="en-US" sz="1750" b="0" dirty="0">
              <a:solidFill>
                <a:srgbClr val="1F2328"/>
              </a:solidFill>
              <a:latin typeface="맑은 고딕"/>
              <a:ea typeface="맑은 고딕"/>
              <a:cs typeface="맑은 고딕"/>
            </a:endParaRPr>
          </a:p>
        </p:txBody>
      </p:sp>
      <p:sp>
        <p:nvSpPr>
          <p:cNvPr id="12" name="choice_2"/>
          <p:cNvSpPr txBox="1"/>
          <p:nvPr/>
        </p:nvSpPr>
        <p:spPr>
          <a:xfrm>
            <a:off x="457200" y="3617976"/>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②</a:t>
            </a:r>
            <a:r>
              <a:rPr lang="ko-KR" altLang="en-US" sz="1750" b="0" dirty="0">
                <a:solidFill>
                  <a:srgbClr val="1F2328"/>
                </a:solidFill>
                <a:latin typeface="맑은 고딕"/>
                <a:ea typeface="맑은 고딕"/>
                <a:cs typeface="맑은 고딕"/>
              </a:rPr>
              <a:t>	블로그에 올린 사진은 빅데이터에서 제외된다</a:t>
            </a:r>
            <a:endParaRPr lang="ko-KR" altLang="en-US" sz="1750" b="0" dirty="0">
              <a:solidFill>
                <a:srgbClr val="1F2328"/>
              </a:solidFill>
              <a:latin typeface="맑은 고딕"/>
              <a:ea typeface="맑은 고딕"/>
              <a:cs typeface="맑은 고딕"/>
            </a:endParaRPr>
          </a:p>
        </p:txBody>
      </p:sp>
      <p:sp>
        <p:nvSpPr>
          <p:cNvPr id="13" name="choice_3"/>
          <p:cNvSpPr txBox="1"/>
          <p:nvPr/>
        </p:nvSpPr>
        <p:spPr>
          <a:xfrm>
            <a:off x="457200" y="4015232"/>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③</a:t>
            </a:r>
            <a:r>
              <a:rPr lang="ko-KR" altLang="en-US" sz="1750" b="0" dirty="0">
                <a:solidFill>
                  <a:srgbClr val="1F2328"/>
                </a:solidFill>
                <a:latin typeface="맑은 고딕"/>
                <a:ea typeface="맑은 고딕"/>
                <a:cs typeface="맑은 고딕"/>
              </a:rPr>
              <a:t>	빅데이터 분석은 일반 사용자들이 직접 한다</a:t>
            </a:r>
            <a:endParaRPr lang="ko-KR" altLang="en-US" sz="1750" b="0" dirty="0">
              <a:solidFill>
                <a:srgbClr val="1F2328"/>
              </a:solidFill>
              <a:latin typeface="맑은 고딕"/>
              <a:ea typeface="맑은 고딕"/>
              <a:cs typeface="맑은 고딕"/>
            </a:endParaRPr>
          </a:p>
        </p:txBody>
      </p:sp>
      <p:sp>
        <p:nvSpPr>
          <p:cNvPr id="14" name="choice_4"/>
          <p:cNvSpPr txBox="1"/>
          <p:nvPr/>
        </p:nvSpPr>
        <p:spPr>
          <a:xfrm>
            <a:off x="457200" y="4412488"/>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④</a:t>
            </a:r>
            <a:r>
              <a:rPr lang="ko-KR" altLang="en-US" sz="1750" b="0" dirty="0">
                <a:solidFill>
                  <a:srgbClr val="1F2328"/>
                </a:solidFill>
                <a:latin typeface="맑은 고딕"/>
                <a:ea typeface="맑은 고딕"/>
                <a:cs typeface="맑은 고딕"/>
              </a:rPr>
              <a:t>	빅데이터는 단순하고 작은 데이터의 모음이다</a:t>
            </a:r>
            <a:endParaRPr lang="ko-KR" altLang="en-US" sz="1750" b="0" dirty="0">
              <a:solidFill>
                <a:srgbClr val="1F2328"/>
              </a:solidFill>
              <a:latin typeface="맑은 고딕"/>
              <a:ea typeface="맑은 고딕"/>
              <a:cs typeface="맑은 고딕"/>
            </a:endParaRPr>
          </a:p>
        </p:txBody>
      </p:sp>
      <p:sp>
        <p:nvSpPr>
          <p:cNvPr id="15" name="choice_5"/>
          <p:cNvSpPr txBox="1"/>
          <p:nvPr/>
        </p:nvSpPr>
        <p:spPr>
          <a:xfrm>
            <a:off x="457200" y="4809744"/>
            <a:ext cx="11277295" cy="369824"/>
          </a:xfrm>
          <a:prstGeom prst="rect">
            <a:avLst/>
          </a:prstGeom>
          <a:no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1E2A5A"/>
                </a:solidFill>
                <a:latin typeface="맑은 고딕"/>
                <a:ea typeface="맑은 고딕"/>
                <a:cs typeface="맑은 고딕"/>
              </a:rPr>
              <a:t>⑤</a:t>
            </a:r>
            <a:r>
              <a:rPr lang="ko-KR" altLang="en-US" sz="1750" b="0" dirty="0">
                <a:solidFill>
                  <a:srgbClr val="1F2328"/>
                </a:solidFill>
                <a:latin typeface="맑은 고딕"/>
                <a:ea typeface="맑은 고딕"/>
                <a:cs typeface="맑은 고딕"/>
              </a:rPr>
              <a:t>	분석 결과는 미래를 예측하는 데 쓰일 수 있다</a:t>
            </a:r>
            <a:endParaRPr lang="ko-KR" altLang="en-US" sz="1750" b="0" dirty="0">
              <a:solidFill>
                <a:srgbClr val="1F2328"/>
              </a:solidFill>
              <a:latin typeface="맑은 고딕"/>
              <a:ea typeface="맑은 고딕"/>
              <a:cs typeface="맑은 고딕"/>
            </a:endParaRPr>
          </a:p>
        </p:txBody>
      </p:sp>
      <p:sp>
        <p:nvSpPr>
          <p:cNvPr id="16" name="rv_pick"/>
          <p:cNvSpPr txBox="1"/>
          <p:nvPr/>
        </p:nvSpPr>
        <p:spPr>
          <a:xfrm>
            <a:off x="457200" y="4809744"/>
            <a:ext cx="11277295" cy="369824"/>
          </a:xfrm>
          <a:prstGeom prst="rect">
            <a:avLst/>
          </a:prstGeom>
          <a:solidFill>
            <a:srgbClr val="FFF3C4"/>
          </a:solidFill>
        </p:spPr>
        <p:txBody>
          <a:bodyPr wrap="square" lIns="137160" tIns="27432" rIns="137160" bIns="27432" anchor="t" rtlCol="0">
            <a:noAutofit/>
          </a:bodyPr>
          <a:lstStyle/>
          <a:p>
            <a:pPr algn="l" marL="355600" indent="-355600">
              <a:lnSpc>
                <a:spcPts val="2480"/>
              </a:lnSpc>
              <a:spcBef>
                <a:spcPts val="0"/>
              </a:spcBef>
              <a:spcAft>
                <a:spcPts val="0"/>
              </a:spcAft>
              <a:buNone/>
              <a:tabLst>
                <a:tab pos="355600" algn="l"/>
              </a:tabLst>
            </a:pPr>
            <a:r>
              <a:rPr lang="ko-KR" altLang="en-US" sz="1750" b="1" dirty="0">
                <a:solidFill>
                  <a:srgbClr val="C00000"/>
                </a:solidFill>
                <a:latin typeface="맑은 고딕"/>
                <a:ea typeface="맑은 고딕"/>
                <a:cs typeface="맑은 고딕"/>
              </a:rPr>
              <a:t>⑤</a:t>
            </a:r>
            <a:r>
              <a:rPr lang="ko-KR" altLang="en-US" sz="1750" b="0" dirty="0">
                <a:solidFill>
                  <a:srgbClr val="C00000"/>
                </a:solidFill>
                <a:latin typeface="맑은 고딕"/>
                <a:ea typeface="맑은 고딕"/>
                <a:cs typeface="맑은 고딕"/>
              </a:rPr>
              <a:t>	분석 결과는 미래를 예측하는 데 쓰일 수 있다</a:t>
            </a:r>
            <a:endParaRPr lang="ko-KR" altLang="en-US" sz="1750" b="0" dirty="0">
              <a:solidFill>
                <a:srgbClr val="C00000"/>
              </a:solidFill>
              <a:latin typeface="맑은 고딕"/>
              <a:ea typeface="맑은 고딕"/>
              <a:cs typeface="맑은 고딕"/>
            </a:endParaRPr>
          </a:p>
        </p:txBody>
      </p:sp>
      <p:sp>
        <p:nvSpPr>
          <p:cNvPr id="17" name="rv_answer"/>
          <p:cNvSpPr/>
          <p:nvPr/>
        </p:nvSpPr>
        <p:spPr>
          <a:xfrm>
            <a:off x="457200" y="528929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분석 결과는 미래를 예측하는 데 쓰일 수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888228"/>
            <a:ext cx="11277295" cy="53085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분석 결과는 결정을 내리거나 미래를 예측하는 데 쓰일 수 있다고 했으므로 ⑤가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41197"/>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41197"/>
          </a:xfrm>
          <a:prstGeom prst="rect">
            <a:avLst/>
          </a:prstGeom>
          <a:noFill/>
        </p:spPr>
        <p:txBody>
          <a:bodyPr wrap="square" lIns="201168" tIns="100584" rIns="201168" bIns="100584" anchor="t" rtlCol="0">
            <a:noAutofit/>
          </a:bodyPr>
          <a:lstStyle/>
          <a:p>
            <a:pPr algn="l">
              <a:lnSpc>
                <a:spcPts val="1890"/>
              </a:lnSpc>
              <a:spcBef>
                <a:spcPts val="0"/>
              </a:spcBef>
              <a:spcAft>
                <a:spcPts val="0"/>
              </a:spcAft>
              <a:buNone/>
            </a:pPr>
            <a:r>
              <a:rPr lang="en-US" altLang="ko-KR" sz="1450" b="0" dirty="0">
                <a:solidFill>
                  <a:srgbClr val="1F2328"/>
                </a:solidFill>
                <a:latin typeface="Calibri"/>
                <a:ea typeface="맑은 고딕"/>
                <a:cs typeface="Calibri"/>
              </a:rPr>
              <a:t>Have you ever visited an online bookstore and been surprised by the books that the store recommended for you?</a:t>
            </a:r>
            <a:endParaRPr lang="en-US" altLang="ko-KR" sz="1450" b="0" dirty="0">
              <a:solidFill>
                <a:srgbClr val="1F2328"/>
              </a:solidFill>
              <a:latin typeface="Calibri"/>
              <a:ea typeface="맑은 고딕"/>
              <a:cs typeface="Calibri"/>
            </a:endParaRPr>
          </a:p>
        </p:txBody>
      </p:sp>
      <p:sp>
        <p:nvSpPr>
          <p:cNvPr id="9" name="parts_card"/>
          <p:cNvSpPr/>
          <p:nvPr/>
        </p:nvSpPr>
        <p:spPr>
          <a:xfrm>
            <a:off x="457200" y="1520190"/>
            <a:ext cx="11277295" cy="266395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20190"/>
            <a:ext cx="11277295" cy="2663951"/>
          </a:xfrm>
          <a:prstGeom prst="rect">
            <a:avLst/>
          </a:prstGeom>
          <a:noFill/>
        </p:spPr>
        <p:txBody>
          <a:bodyPr wrap="square" lIns="201168" tIns="118872" rIns="201168" bIns="118872" anchor="t" rtlCol="0">
            <a:noAutofit/>
          </a:bodyPr>
          <a:lstStyle/>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(A)</a:t>
            </a:r>
            <a:r>
              <a:rPr lang="en-US" altLang="ko-KR" sz="1450" b="0" dirty="0">
                <a:solidFill>
                  <a:srgbClr val="1F2328"/>
                </a:solidFill>
                <a:latin typeface="Calibri"/>
                <a:ea typeface="맑은 고딕"/>
                <a:cs typeface="Calibri"/>
              </a:rPr>
              <a:t>	Many of them looked interesting to you. So how did the bookstore know what you liked? This is all possible because of big data. Big data is data sets that are very big and complex.</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(B)</a:t>
            </a:r>
            <a:r>
              <a:rPr lang="en-US" altLang="ko-KR" sz="1450" b="0" dirty="0">
                <a:solidFill>
                  <a:srgbClr val="1F2328"/>
                </a:solidFill>
                <a:latin typeface="Calibri"/>
                <a:ea typeface="맑은 고딕"/>
                <a:cs typeface="Calibri"/>
              </a:rPr>
              <a:t>	Big data has to be analyzed, and this is done by big data experts. Using various methods, experts analyze big data and draw meaningful results from it. These results then can be used to make decisions or to predict the future.</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(C)</a:t>
            </a:r>
            <a:r>
              <a:rPr lang="en-US" altLang="ko-KR" sz="145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a:t>
            </a:r>
            <a:endParaRPr lang="en-US" altLang="ko-KR" sz="1450" b="0" dirty="0">
              <a:solidFill>
                <a:srgbClr val="1F2328"/>
              </a:solidFill>
              <a:latin typeface="Calibri"/>
              <a:ea typeface="맑은 고딕"/>
              <a:cs typeface="Calibri"/>
            </a:endParaRPr>
          </a:p>
        </p:txBody>
      </p:sp>
      <p:sp>
        <p:nvSpPr>
          <p:cNvPr id="11" name="options"/>
          <p:cNvSpPr txBox="1"/>
          <p:nvPr/>
        </p:nvSpPr>
        <p:spPr>
          <a:xfrm>
            <a:off x="457200" y="429387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9387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80593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404866"/>
            <a:ext cx="11277295" cy="101422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(A) 'Many of them'은 추천받은 책들을 받고 빅데이터를 정의한다 → (C) 데이터 양이 늘지만 수집만으론 부족하다('however') → (B) 그래서 분석되어야 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41197"/>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41197"/>
          </a:xfrm>
          <a:prstGeom prst="rect">
            <a:avLst/>
          </a:prstGeom>
          <a:noFill/>
        </p:spPr>
        <p:txBody>
          <a:bodyPr wrap="square" lIns="201168" tIns="100584" rIns="201168" bIns="100584" anchor="t" rtlCol="0">
            <a:noAutofit/>
          </a:bodyPr>
          <a:lstStyle/>
          <a:p>
            <a:pPr algn="l">
              <a:lnSpc>
                <a:spcPts val="1890"/>
              </a:lnSpc>
              <a:spcBef>
                <a:spcPts val="0"/>
              </a:spcBef>
              <a:spcAft>
                <a:spcPts val="0"/>
              </a:spcAft>
              <a:buNone/>
            </a:pPr>
            <a:r>
              <a:rPr lang="en-US" altLang="ko-KR" sz="1450" b="0" dirty="0">
                <a:solidFill>
                  <a:srgbClr val="1F2328"/>
                </a:solidFill>
                <a:latin typeface="Calibri"/>
                <a:ea typeface="맑은 고딕"/>
                <a:cs typeface="Calibri"/>
              </a:rPr>
              <a:t>Have you ever visited an online bookstore and been surprised by the books that the store recommended for you?</a:t>
            </a:r>
            <a:endParaRPr lang="en-US" altLang="ko-KR" sz="1450" b="0" dirty="0">
              <a:solidFill>
                <a:srgbClr val="1F2328"/>
              </a:solidFill>
              <a:latin typeface="Calibri"/>
              <a:ea typeface="맑은 고딕"/>
              <a:cs typeface="Calibri"/>
            </a:endParaRPr>
          </a:p>
        </p:txBody>
      </p:sp>
      <p:sp>
        <p:nvSpPr>
          <p:cNvPr id="9" name="parts_card"/>
          <p:cNvSpPr/>
          <p:nvPr/>
        </p:nvSpPr>
        <p:spPr>
          <a:xfrm>
            <a:off x="457200" y="1520190"/>
            <a:ext cx="11277295" cy="2663951"/>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20190"/>
            <a:ext cx="11277295" cy="2663951"/>
          </a:xfrm>
          <a:prstGeom prst="rect">
            <a:avLst/>
          </a:prstGeom>
          <a:noFill/>
        </p:spPr>
        <p:txBody>
          <a:bodyPr wrap="square" lIns="201168" tIns="118872" rIns="201168" bIns="118872" anchor="t" rtlCol="0">
            <a:noAutofit/>
          </a:bodyPr>
          <a:lstStyle/>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(A)</a:t>
            </a:r>
            <a:r>
              <a:rPr lang="en-US" altLang="ko-KR" sz="1450" b="0" dirty="0">
                <a:solidFill>
                  <a:srgbClr val="1F2328"/>
                </a:solidFill>
                <a:latin typeface="Calibri"/>
                <a:ea typeface="맑은 고딕"/>
                <a:cs typeface="Calibri"/>
              </a:rPr>
              <a:t>	Big data has to be analyzed, and this is done by big data experts. Using various methods, experts analyze big data and draw meaningful results from it. These results then can be used to make decisions or to predict the future.</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(B)</a:t>
            </a:r>
            <a:r>
              <a:rPr lang="en-US" altLang="ko-KR" sz="1450" b="0" dirty="0">
                <a:solidFill>
                  <a:srgbClr val="1F2328"/>
                </a:solidFill>
                <a:latin typeface="Calibri"/>
                <a:ea typeface="맑은 고딕"/>
                <a:cs typeface="Calibri"/>
              </a:rPr>
              <a:t>	Many of them looked interesting to you. So how did the bookstore know what you liked? This is all possible because of big data. Big data is data sets that are very big and complex.</a:t>
            </a:r>
            <a:endParaRPr lang="en-US" altLang="ko-KR" sz="1450" b="0" dirty="0">
              <a:solidFill>
                <a:srgbClr val="1F2328"/>
              </a:solidFill>
              <a:latin typeface="Calibri"/>
              <a:ea typeface="맑은 고딕"/>
              <a:cs typeface="Calibri"/>
            </a:endParaRPr>
          </a:p>
          <a:p>
            <a:pPr algn="just" marL="387350" indent="-387350">
              <a:lnSpc>
                <a:spcPts val="1890"/>
              </a:lnSpc>
              <a:spcBef>
                <a:spcPts val="0"/>
              </a:spcBef>
              <a:spcAft>
                <a:spcPts val="650"/>
              </a:spcAft>
              <a:buNone/>
              <a:tabLst>
                <a:tab pos="387350" algn="l"/>
              </a:tabLst>
            </a:pPr>
            <a:r>
              <a:rPr lang="en-US" altLang="ko-KR" sz="1450" b="1" dirty="0">
                <a:solidFill>
                  <a:srgbClr val="1E2A5A"/>
                </a:solidFill>
                <a:latin typeface="Calibri"/>
                <a:ea typeface="맑은 고딕"/>
                <a:cs typeface="Calibri"/>
              </a:rPr>
              <a:t>(C)</a:t>
            </a:r>
            <a:r>
              <a:rPr lang="en-US" altLang="ko-KR" sz="145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a:t>
            </a:r>
            <a:endParaRPr lang="en-US" altLang="ko-KR" sz="1450" b="0" dirty="0">
              <a:solidFill>
                <a:srgbClr val="1F2328"/>
              </a:solidFill>
              <a:latin typeface="Calibri"/>
              <a:ea typeface="맑은 고딕"/>
              <a:cs typeface="Calibri"/>
            </a:endParaRPr>
          </a:p>
        </p:txBody>
      </p:sp>
      <p:sp>
        <p:nvSpPr>
          <p:cNvPr id="11" name="options"/>
          <p:cNvSpPr txBox="1"/>
          <p:nvPr/>
        </p:nvSpPr>
        <p:spPr>
          <a:xfrm>
            <a:off x="457200" y="429387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29387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80593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404866"/>
            <a:ext cx="11277295" cy="101422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 'Many of them'이 추천받은 책들을 가리키며 빅데이터를 정의한다 → (C) 데이터가 늘지만 수집만으론 부족하다 → (A) 'Big data has to be analyzed'로 분석을 설명한다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Many of them looked interesting to you.</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35255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35255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Have you ever visited an online bookstore and been surprised by the books that the store recommended for you?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So how did the bookstore know what you liked?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This is all possible because of big data.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Big data is data sets that are very big and complex.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to make decisions or to predict the future.</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35255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Have you ever visited an online bookstore and been surprised by the books that the store recommended for you?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So how did the bookstore know what you liked?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This is all possible because of big data.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Big data is data sets that are very big and complex.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to make decisions or to predict the future.</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523976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838698"/>
            <a:ext cx="11277295" cy="5803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270"/>
              </a:lnSpc>
              <a:spcBef>
                <a:spcPts val="0"/>
              </a:spcBef>
              <a:spcAft>
                <a:spcPts val="0"/>
              </a:spcAft>
              <a:buNone/>
            </a:pPr>
            <a:r>
              <a:rPr lang="ko-KR" altLang="en-US" sz="1600" b="1" dirty="0">
                <a:solidFill>
                  <a:srgbClr val="1E2A5A"/>
                </a:solidFill>
                <a:latin typeface="맑은 고딕"/>
                <a:ea typeface="맑은 고딕"/>
                <a:cs typeface="맑은 고딕"/>
              </a:rPr>
              <a:t>정답 원리   </a:t>
            </a:r>
            <a:r>
              <a:rPr lang="ko-KR" altLang="en-US" sz="1600" b="0" dirty="0">
                <a:solidFill>
                  <a:srgbClr val="16284A"/>
                </a:solidFill>
                <a:latin typeface="맑은 고딕"/>
                <a:ea typeface="맑은 고딕"/>
                <a:cs typeface="맑은 고딕"/>
              </a:rPr>
              <a:t>주어진 문장의 'them'은 서점이 추천한 책들이다. 추천 도서 이야기 바로 뒤, 'So how did'로 이유를 묻기 전인 ②에 들어가야 한다.</a:t>
            </a:r>
            <a:endParaRPr lang="ko-KR" altLang="en-US" sz="16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So how did the bookstore know what you liked?</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35255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35255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Have you ever visited an online bookstore and been surprised by the books that the store recommended for you?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Many of them looked interesting to you.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This is all possible because of big data.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Big data is data sets that are very big and complex.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to make decisions or to predict the future.</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35255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Have you ever visited an online bookstore and been surprised by the books that the store recommended for you?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Many of them looked interesting to you.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This is all possible because of big data.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Big data is data sets that are very big and complex.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As information and communication technology develops, the amount of data we have is getting much greater than before. This is mainly because almost everything that we do online leaves a trace. For example, the photos you upload on your blog and the records of your purchases at online stores are all part of big data. Simply collecting data, however, is not enough. Big data has to be analyzed, and this is done by big data experts. Using various methods, experts analyze big data and draw meaningful results from it. These results then can be used to make decisions or to predict the future.</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523976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5838698"/>
            <a:ext cx="11277295" cy="58038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'This is all possible'의 This는 서점이 내 취향을 안 일이다. 그 일을 묻는 주어진 문장이 앞에 있어야 하므로 ③이 답이다.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7개)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999735"/>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Have you ever visited an online bookstore and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been surprising</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been surprised</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by the books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that the store recommended</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what the store recommended</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for you?</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Many of them looked interesting to you.</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So how did the bookstore know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what you liked</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that you liked</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This is all possible because of big data.</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Big data is data sets that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are very big</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is very big</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and complex.</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⑥</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As information and communication technology develops, the amount of data we have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are getting</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is getting</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much greater than before.</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⑦</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This is mainly because almost everything that we do online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leave a trace</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leaves a trace</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⑧</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For example, the photos you upload on your blog and the records of your purchases at online stores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are all part</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is all part</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of big data.</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⑨</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Simply collecting data, however, is not enough.</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⑩</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Big data has to be analyzed, and this is done by big data experts.</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⑪</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Using various methods, experts analyze big data and draw meaningful results from it.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⑫</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9" name="rv_g01"/>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C00000"/>
                </a:solidFill>
                <a:highlight>
                  <a:srgbClr val="F3F5F9"/>
                </a:highlight>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0" name="rv_g02"/>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1" name="rv_g03"/>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2" name="rv_g04"/>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3" name="rv_g05"/>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C00000"/>
                </a:solidFill>
                <a:highlight>
                  <a:srgbClr val="F3F5F9"/>
                </a:highlight>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4" name="rv_g06"/>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C00000"/>
                </a:solidFill>
                <a:highlight>
                  <a:srgbClr val="F3F5F9"/>
                </a:highlight>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
        <p:nvSpPr>
          <p:cNvPr id="15" name="rv_g07"/>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been surprising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been surprised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the books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that the store recommended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what the store recommended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looked interesting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what you liked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that you liked</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because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very big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very big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are getting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getting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leave a trace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leaves a trace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are all part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all part</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is not enough.</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be analyzed, and this is done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Using various methods,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be used to make decisions or to predict the future.</a:t>
            </a:r>
            <a:endParaRPr lang="en-US" altLang="ko-KR" sz="17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L7-1</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8개)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999735"/>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solidFill>
                <a:latin typeface="맑은 고딕"/>
                <a:ea typeface="맑은 고딕"/>
                <a:cs typeface="맑은 고딕"/>
              </a:rPr>
              <a:t>①</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Have you ever visited an online bookstore and been surprised by the books that the store recommended for you?</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②</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Many of them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looked interesting</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looked interestingly</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to you.</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③</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So how did the bookstore know what you liked?</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④</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This is all possible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because of big data</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because big data</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⑤</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Big data is data sets that are very big and complex.</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⑥</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⑦</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This is mainly because almost everything that we do online leaves a trace.</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⑧</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⑨</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Simply collecting data, however,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is not enough</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are not enough</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⑩</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Big data has to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be analyzed</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analyze</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and this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is done</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is doing</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by big data experts.</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⑪</a:t>
            </a:r>
            <a:r>
              <a:rPr lang="en-US" altLang="ko-KR" sz="1750" b="0"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Using various methods</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Used various methods</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experts analyze big data and draw meaningful results from it.</a:t>
            </a:r>
            <a:r>
              <a:rPr lang="en-US" altLang="ko-KR" sz="1750" b="0" dirty="0">
                <a:solidFill>
                  <a:srgbClr val="1F2328"/>
                </a:solidFill>
                <a:latin typeface="Calibri"/>
                <a:ea typeface="맑은 고딕"/>
                <a:cs typeface="Calibri"/>
              </a:rPr>
              <a:t>   </a:t>
            </a:r>
            <a:r>
              <a:rPr lang="ko-KR" altLang="en-US" sz="1750" b="1" dirty="0">
                <a:solidFill>
                  <a:srgbClr val="1E2A5A"/>
                </a:solidFill>
                <a:latin typeface="맑은 고딕"/>
                <a:ea typeface="맑은 고딕"/>
                <a:cs typeface="맑은 고딕"/>
              </a:rPr>
              <a:t>⑫</a:t>
            </a:r>
            <a:r>
              <a:rPr lang="en-US" altLang="ko-KR" sz="1750" b="0"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These results then can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be used</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use</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to make decisions or </a:t>
            </a:r>
            <a:r>
              <a:rPr lang="en-US" altLang="ko-KR" sz="1750" b="1" dirty="0">
                <a:solidFill>
                  <a:srgbClr val="1F2328"/>
                </a:solidFill>
                <a:latin typeface="Calibri"/>
                <a:ea typeface="맑은 고딕"/>
                <a:cs typeface="Calibri"/>
              </a:rPr>
              <a:t>[ </a:t>
            </a:r>
            <a:r>
              <a:rPr lang="en-US" altLang="ko-KR" sz="1750" b="1" dirty="0">
                <a:solidFill>
                  <a:srgbClr val="1F2328"/>
                </a:solidFill>
                <a:latin typeface="Calibri"/>
                <a:ea typeface="맑은 고딕"/>
                <a:cs typeface="Calibri"/>
              </a:rPr>
              <a:t>to predict</a:t>
            </a:r>
            <a:r>
              <a:rPr lang="en-US" altLang="ko-KR" sz="1750" b="1" dirty="0">
                <a:solidFill>
                  <a:srgbClr val="1F2328"/>
                </a:solidFill>
                <a:latin typeface="Calibri"/>
                <a:ea typeface="맑은 고딕"/>
                <a:cs typeface="Calibri"/>
              </a:rPr>
              <a:t> / </a:t>
            </a:r>
            <a:r>
              <a:rPr lang="en-US" altLang="ko-KR" sz="1750" b="1" dirty="0">
                <a:solidFill>
                  <a:srgbClr val="1F2328"/>
                </a:solidFill>
                <a:latin typeface="Calibri"/>
                <a:ea typeface="맑은 고딕"/>
                <a:cs typeface="Calibri"/>
              </a:rPr>
              <a:t>predicting</a:t>
            </a:r>
            <a:r>
              <a:rPr lang="en-US" altLang="ko-KR" sz="1750" b="1" dirty="0">
                <a:solidFill>
                  <a:srgbClr val="1F2328"/>
                </a:solidFill>
                <a:latin typeface="Calibri"/>
                <a:ea typeface="맑은 고딕"/>
                <a:cs typeface="Calibri"/>
              </a:rPr>
              <a:t> ]</a:t>
            </a:r>
            <a:r>
              <a:rPr lang="en-US" altLang="ko-KR" sz="1750" b="0" dirty="0">
                <a:solidFill>
                  <a:srgbClr val="1F2328"/>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9" name="rv_g01"/>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0" name="rv_g02"/>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1" name="rv_g03"/>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2" name="rv_g04"/>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3" name="rv_g05"/>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4" name="rv_g06"/>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5" name="rv_g07"/>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
        <p:nvSpPr>
          <p:cNvPr id="16" name="rv_g08"/>
          <p:cNvSpPr txBox="1"/>
          <p:nvPr/>
        </p:nvSpPr>
        <p:spPr>
          <a:xfrm>
            <a:off x="457200" y="950976"/>
            <a:ext cx="11277295" cy="4999735"/>
          </a:xfrm>
          <a:prstGeom prst="rect">
            <a:avLst/>
          </a:prstGeom>
          <a:noFill/>
        </p:spPr>
        <p:txBody>
          <a:bodyPr wrap="square" lIns="228600" tIns="155448" rIns="228600" bIns="155448" anchor="t" rtlCol="0">
            <a:noAutofit/>
          </a:bodyPr>
          <a:lstStyle/>
          <a:p>
            <a:pPr algn="l">
              <a:lnSpc>
                <a:spcPts val="2840"/>
              </a:lnSpc>
              <a:spcBef>
                <a:spcPts val="0"/>
              </a:spcBef>
              <a:spcAft>
                <a:spcPts val="0"/>
              </a:spcAft>
              <a:buNone/>
            </a:pPr>
            <a:r>
              <a:rPr lang="ko-KR" altLang="en-US" sz="1750" b="1" dirty="0">
                <a:solidFill>
                  <a:srgbClr val="1E2A5A">
                    <a:alpha val="0"/>
                  </a:srgbClr>
                </a:solidFill>
                <a:latin typeface="맑은 고딕"/>
                <a:ea typeface="맑은 고딕"/>
                <a:cs typeface="맑은 고딕"/>
              </a:rPr>
              <a:t>①</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Have you ever visited an online bookstore and been surprised by the books that the store recommended for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②</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Many of them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looked interesting</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looked interestingly</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you.</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③</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So how did the bookstore know what you liked?</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④</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all possible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because of big data</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because big data</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⑤</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is data sets that are very big and complex.</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⑥</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As information and communication technology develops, the amount of data we have is getting much greater than before.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⑦</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This is mainly because almost everything that we do online leaves a trace.</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⑧</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For example, the photos you upload on your blog and the records of your purchases at online stores are all part of big data.</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⑨</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Simply collecting data, however,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not enough</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are not enough</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⑩</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Big data has to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analyzed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analyze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and this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is done</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is doing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by big data experts.</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⑪</a:t>
            </a:r>
            <a:r>
              <a:rPr lang="en-US" altLang="ko-KR" sz="1750" b="0"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Using various methods</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Used various methods</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experts analyze big data and draw meaningful results from it.</a:t>
            </a:r>
            <a:r>
              <a:rPr lang="en-US" altLang="ko-KR" sz="1750" b="0" dirty="0">
                <a:solidFill>
                  <a:srgbClr val="1F2328">
                    <a:alpha val="0"/>
                  </a:srgbClr>
                </a:solidFill>
                <a:latin typeface="Calibri"/>
                <a:ea typeface="맑은 고딕"/>
                <a:cs typeface="Calibri"/>
              </a:rPr>
              <a:t>   </a:t>
            </a:r>
            <a:r>
              <a:rPr lang="ko-KR" altLang="en-US" sz="1750" b="1" dirty="0">
                <a:solidFill>
                  <a:srgbClr val="1E2A5A">
                    <a:alpha val="0"/>
                  </a:srgbClr>
                </a:solidFill>
                <a:latin typeface="맑은 고딕"/>
                <a:ea typeface="맑은 고딕"/>
                <a:cs typeface="맑은 고딕"/>
              </a:rPr>
              <a:t>⑫</a:t>
            </a:r>
            <a:r>
              <a:rPr lang="en-US" altLang="ko-KR" sz="1750" b="0"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These results then can </a:t>
            </a:r>
            <a:r>
              <a:rPr lang="en-US" altLang="ko-KR" sz="1750" b="1" dirty="0">
                <a:solidFill>
                  <a:srgbClr val="1F2328">
                    <a:alpha val="0"/>
                  </a:srgbClr>
                </a:solidFill>
                <a:latin typeface="Calibri"/>
                <a:ea typeface="맑은 고딕"/>
                <a:cs typeface="Calibri"/>
              </a:rPr>
              <a:t>[ </a:t>
            </a:r>
            <a:r>
              <a:rPr lang="en-US" altLang="ko-KR" sz="1750" b="1" dirty="0">
                <a:solidFill>
                  <a:srgbClr val="1F2328">
                    <a:alpha val="0"/>
                  </a:srgbClr>
                </a:solidFill>
                <a:latin typeface="Calibri"/>
                <a:ea typeface="맑은 고딕"/>
                <a:cs typeface="Calibri"/>
              </a:rPr>
              <a:t>be used</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use</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to make decisions or </a:t>
            </a:r>
            <a:r>
              <a:rPr lang="en-US" altLang="ko-KR" sz="1750" b="1" dirty="0">
                <a:solidFill>
                  <a:srgbClr val="1F2328">
                    <a:alpha val="0"/>
                  </a:srgbClr>
                </a:solidFill>
                <a:latin typeface="Calibri"/>
                <a:ea typeface="맑은 고딕"/>
                <a:cs typeface="Calibri"/>
              </a:rPr>
              <a:t>[ </a:t>
            </a:r>
            <a:r>
              <a:rPr lang="en-US" altLang="ko-KR" sz="1750" b="1" dirty="0">
                <a:solidFill>
                  <a:srgbClr val="C00000"/>
                </a:solidFill>
                <a:highlight>
                  <a:srgbClr val="F3F5F9"/>
                </a:highlight>
                <a:latin typeface="Calibri"/>
                <a:ea typeface="맑은 고딕"/>
                <a:cs typeface="Calibri"/>
              </a:rPr>
              <a:t>to predict</a:t>
            </a:r>
            <a:r>
              <a:rPr lang="en-US" altLang="ko-KR" sz="1750" b="1" dirty="0">
                <a:solidFill>
                  <a:srgbClr val="1F2328">
                    <a:alpha val="0"/>
                  </a:srgbClr>
                </a:solidFill>
                <a:latin typeface="Calibri"/>
                <a:ea typeface="맑은 고딕"/>
                <a:cs typeface="Calibri"/>
              </a:rPr>
              <a:t> / </a:t>
            </a:r>
            <a:r>
              <a:rPr lang="en-US" altLang="ko-KR" sz="1750" b="1" dirty="0">
                <a:solidFill>
                  <a:srgbClr val="1F2328">
                    <a:alpha val="0"/>
                  </a:srgbClr>
                </a:solidFill>
                <a:latin typeface="Calibri"/>
                <a:ea typeface="맑은 고딕"/>
                <a:cs typeface="Calibri"/>
              </a:rPr>
              <a:t>predicting</a:t>
            </a:r>
            <a:r>
              <a:rPr lang="en-US" altLang="ko-KR" sz="1750" b="1" dirty="0">
                <a:solidFill>
                  <a:srgbClr val="1F2328">
                    <a:alpha val="0"/>
                  </a:srgbClr>
                </a:solidFill>
                <a:latin typeface="Calibri"/>
                <a:ea typeface="맑은 고딕"/>
                <a:cs typeface="Calibri"/>
              </a:rPr>
              <a:t> ]</a:t>
            </a:r>
            <a:r>
              <a:rPr lang="en-US" altLang="ko-KR" sz="1750" b="0" dirty="0">
                <a:solidFill>
                  <a:srgbClr val="1F2328">
                    <a:alpha val="0"/>
                  </a:srgbClr>
                </a:solidFill>
                <a:latin typeface="Calibri"/>
                <a:ea typeface="맑은 고딕"/>
                <a:cs typeface="Calibri"/>
              </a:rPr>
              <a:t> the future.</a:t>
            </a:r>
            <a:endParaRPr lang="en-US" altLang="ko-KR" sz="17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25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a:t>
            </a:r>
            <a:r>
              <a:rPr lang="en-US" altLang="ko-KR" sz="1500" b="0" dirty="0">
                <a:solidFill>
                  <a:srgbClr val="1F2328"/>
                </a:solidFill>
                <a:latin typeface="Calibri"/>
                <a:ea typeface="맑은 고딕"/>
                <a:cs typeface="Calibri"/>
              </a:rPr>
              <a:t> It helps companies understand their customers’ needs better and helps them sell more products. It helps people avoid heavy traffic. </a:t>
            </a:r>
            <a:r>
              <a:rPr lang="en-US" altLang="ko-KR" sz="1500" b="0" dirty="0">
                <a:solidFill>
                  <a:srgbClr val="1F2328"/>
                </a:solidFill>
                <a:latin typeface="Calibri"/>
                <a:ea typeface="맑은 고딕"/>
                <a:cs typeface="Calibri"/>
              </a:rPr>
              <a:t>Its uses are endless, and here are some interesting examples.</a:t>
            </a:r>
            <a:r>
              <a:rPr lang="en-US" altLang="ko-KR" sz="1500" b="0" dirty="0">
                <a:solidFill>
                  <a:srgbClr val="1F2328"/>
                </a:solidFill>
                <a:latin typeface="Calibri"/>
                <a:ea typeface="맑은 고딕"/>
                <a:cs typeface="Calibri"/>
              </a:rPr>
              <a:t> Did you know that health professionals can now forecast a disease just as weather experts forecast the weather?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Big data is influencing almost all parts of our lives.</a:t>
            </a:r>
            <a:r>
              <a:rPr lang="en-US" altLang="ko-KR" sz="1500" b="0" dirty="0">
                <a:solidFill>
                  <a:srgbClr val="B3BAC6"/>
                </a:solidFill>
                <a:latin typeface="Calibri"/>
                <a:ea typeface="맑은 고딕"/>
                <a:cs typeface="Calibri"/>
              </a:rPr>
              <a:t> It helps companies understand their customers’ needs better and helps them sell more products. It helps people avoid heavy traffic. </a:t>
            </a:r>
            <a:r>
              <a:rPr lang="en-US" altLang="ko-KR" sz="1500" b="0" dirty="0">
                <a:solidFill>
                  <a:srgbClr val="111111"/>
                </a:solidFill>
                <a:highlight>
                  <a:srgbClr val="FFE45C"/>
                </a:highlight>
                <a:latin typeface="Calibri"/>
                <a:ea typeface="맑은 고딕"/>
                <a:cs typeface="Calibri"/>
              </a:rPr>
              <a:t>Its uses are endless, and here are some interesting examples.</a:t>
            </a:r>
            <a:r>
              <a:rPr lang="en-US" altLang="ko-KR" sz="1500" b="0" dirty="0">
                <a:solidFill>
                  <a:srgbClr val="B3BAC6"/>
                </a:solidFill>
                <a:latin typeface="Calibri"/>
                <a:ea typeface="맑은 고딕"/>
                <a:cs typeface="Calibri"/>
              </a:rPr>
              <a:t> Did you know that health professionals can now forecast a disease just as weather experts forecast the weather?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reasons people search online about the flu</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various ways big data affects our lives</a:t>
            </a:r>
            <a:endParaRPr lang="en-US" altLang="ko-KR" sz="1800" b="0" dirty="0">
              <a:solidFill>
                <a:srgbClr val="1F2328"/>
              </a:solidFill>
              <a:latin typeface="Calibri"/>
              <a:ea typeface="맑은 고딕"/>
              <a:cs typeface="Calibri"/>
            </a:endParaRPr>
          </a:p>
        </p:txBody>
      </p:sp>
      <p:sp>
        <p:nvSpPr>
          <p:cNvPr id="13" name="rv_pick"/>
          <p:cNvSpPr txBox="1"/>
          <p:nvPr/>
        </p:nvSpPr>
        <p:spPr>
          <a:xfrm>
            <a:off x="457200" y="326491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en-US" altLang="ko-KR" sz="1800" b="0" dirty="0">
                <a:solidFill>
                  <a:srgbClr val="C00000"/>
                </a:solidFill>
                <a:latin typeface="Calibri"/>
                <a:ea typeface="맑은 고딕"/>
                <a:cs typeface="Calibri"/>
              </a:rPr>
              <a:t>	the various ways big data affects our lives</a:t>
            </a:r>
            <a:endParaRPr lang="en-US" altLang="ko-KR" sz="1800" b="0" dirty="0">
              <a:solidFill>
                <a:srgbClr val="C00000"/>
              </a:solidFill>
              <a:latin typeface="Calibri"/>
              <a:ea typeface="맑은 고딕"/>
              <a:cs typeface="Calibri"/>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how weather experts forecast the weather well</a:t>
            </a:r>
            <a:endParaRPr lang="en-US" altLang="ko-KR" sz="1800" b="0" dirty="0">
              <a:solidFill>
                <a:srgbClr val="1F2328"/>
              </a:solidFill>
              <a:latin typeface="Calibri"/>
              <a:ea typeface="맑은 고딕"/>
              <a:cs typeface="Calibri"/>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difficulty of selling more flu medicine</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why heavy traffic happens in big cities</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the various ways big data affects our lives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빅데이터가 삶의 거의 모든 부분에 영향을 주고 쓰임이 끝없다고 했다. 이를 담은 ②가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 It helps companies understand their customers’ needs better and helps them sell more products. It helps people avoid heavy traffic. </a:t>
            </a:r>
            <a:r>
              <a:rPr lang="en-US" altLang="ko-KR" sz="1500" b="0" dirty="0">
                <a:solidFill>
                  <a:srgbClr val="1F2328"/>
                </a:solidFill>
                <a:latin typeface="Calibri"/>
                <a:ea typeface="맑은 고딕"/>
                <a:cs typeface="Calibri"/>
              </a:rPr>
              <a:t>Its uses are endless</a:t>
            </a:r>
            <a:r>
              <a:rPr lang="en-US" altLang="ko-KR" sz="1500" b="0" dirty="0">
                <a:solidFill>
                  <a:srgbClr val="1F2328"/>
                </a:solidFill>
                <a:latin typeface="Calibri"/>
                <a:ea typeface="맑은 고딕"/>
                <a:cs typeface="Calibri"/>
              </a:rPr>
              <a:t>, and here are some interesting examples. Did you know that health professionals can now forecast a disease just as weather experts forecast the weather?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Big data is influencing almost all parts of our lives. It helps companies understand their customers’ needs better and helps them sell more products. It helps people avoid heavy traffic. </a:t>
            </a:r>
            <a:r>
              <a:rPr lang="en-US" altLang="ko-KR" sz="1500" b="0" dirty="0">
                <a:solidFill>
                  <a:srgbClr val="111111"/>
                </a:solidFill>
                <a:highlight>
                  <a:srgbClr val="FFE45C"/>
                </a:highlight>
                <a:latin typeface="Calibri"/>
                <a:ea typeface="맑은 고딕"/>
                <a:cs typeface="Calibri"/>
              </a:rPr>
              <a:t>Its uses are endless</a:t>
            </a:r>
            <a:r>
              <a:rPr lang="en-US" altLang="ko-KR" sz="1500" b="0" dirty="0">
                <a:solidFill>
                  <a:srgbClr val="B3BAC6"/>
                </a:solidFill>
                <a:latin typeface="Calibri"/>
                <a:ea typeface="맑은 고딕"/>
                <a:cs typeface="Calibri"/>
              </a:rPr>
              <a:t>, and here are some interesting examples. Did you know that health professionals can now forecast a disease just as weather experts forecast the weather?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How to Avoid the Flu This Season</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Weather Experts Versus Doctors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Big Data: Endless Uses in Our Lives</a:t>
            </a:r>
            <a:endParaRPr lang="en-US" altLang="ko-KR" sz="1800" b="0" dirty="0">
              <a:solidFill>
                <a:srgbClr val="1F2328"/>
              </a:solidFill>
              <a:latin typeface="Calibri"/>
              <a:ea typeface="맑은 고딕"/>
              <a:cs typeface="Calibri"/>
            </a:endParaRPr>
          </a:p>
        </p:txBody>
      </p:sp>
      <p:sp>
        <p:nvSpPr>
          <p:cNvPr id="14" name="rv_pick"/>
          <p:cNvSpPr txBox="1"/>
          <p:nvPr/>
        </p:nvSpPr>
        <p:spPr>
          <a:xfrm>
            <a:off x="457200" y="367233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en-US" altLang="ko-KR" sz="1800" b="0" dirty="0">
                <a:solidFill>
                  <a:srgbClr val="C00000"/>
                </a:solidFill>
                <a:latin typeface="Calibri"/>
                <a:ea typeface="맑은 고딕"/>
                <a:cs typeface="Calibri"/>
              </a:rPr>
              <a:t>	Big Data: Endless Uses in Our Lives</a:t>
            </a:r>
            <a:endParaRPr lang="en-US" altLang="ko-KR" sz="1800" b="0" dirty="0">
              <a:solidFill>
                <a:srgbClr val="C00000"/>
              </a:solidFill>
              <a:latin typeface="Calibri"/>
              <a:ea typeface="맑은 고딕"/>
              <a:cs typeface="Calibri"/>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Why Companies Sell More Products</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Searching Online Is Never Wise</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Big Data: Endless Uses in Our Lives</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회사, 교통, 질병 예측 등 빅데이터의 다양한 쓰임을 소개하므로 'Endless Uses'를 담은 ③이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people will buy more flu medicine. They will also search online about flu symptoms more. </a:t>
            </a:r>
            <a:r>
              <a:rPr lang="en-US" altLang="ko-KR" sz="1500" b="0" dirty="0">
                <a:solidFill>
                  <a:srgbClr val="1F2328"/>
                </a:solidFill>
                <a:latin typeface="Calibri"/>
                <a:ea typeface="맑은 고딕"/>
                <a:cs typeface="Calibri"/>
              </a:rPr>
              <a:t>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people will buy more flu medicine. They will also search online about flu symptoms more. </a:t>
            </a:r>
            <a:r>
              <a:rPr lang="en-US" altLang="ko-KR" sz="1500" b="0" dirty="0">
                <a:solidFill>
                  <a:srgbClr val="111111"/>
                </a:solidFill>
                <a:highlight>
                  <a:srgbClr val="FFE45C"/>
                </a:highlight>
                <a:latin typeface="Calibri"/>
                <a:ea typeface="맑은 고딕"/>
                <a:cs typeface="Calibri"/>
              </a:rPr>
              <a:t>If this kind of data is analyzed wisely, the spread of the flu can be predicted.</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독감 철에는 독감 약을 미리 넉넉히 구입해 두어야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교통 체증을 피하려면 대중교통을 더 자주 이용해야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건강 전문가들은 날씨 전문가에게 예측 방법을 배워야 한다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빅데이터를 현명하게 분석하면 삶의 여러 문제에 활용된다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07974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빅데이터를 현명하게 분석하면 삶의 여러 문제에 활용된다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온라인에서 증상을 검색하기 전에 먼저 병원에 가야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빅데이터를 현명하게 분석하면 삶의 여러 문제에 활용된다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데이터를 현명하게 분석하면 독감 확산까지 예측할 수 있다고 했다. 이를 일반화한 ④가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a:t>
            </a:r>
            <a:r>
              <a:rPr lang="en-US" altLang="ko-KR" sz="1500" b="0" dirty="0">
                <a:solidFill>
                  <a:srgbClr val="1F2328"/>
                </a:solidFill>
                <a:latin typeface="Calibri"/>
                <a:ea typeface="맑은 고딕"/>
                <a:cs typeface="Calibri"/>
              </a:rPr>
              <a:t> It helps companies understand their customers’ needs better and helps them sell more products. It helps people avoid heavy traffic. Its uses are endless, and here are some interesting examples. </a:t>
            </a:r>
            <a:r>
              <a:rPr lang="en-US" altLang="ko-KR" sz="1500" b="0" dirty="0">
                <a:solidFill>
                  <a:srgbClr val="1F2328"/>
                </a:solidFill>
                <a:latin typeface="Calibri"/>
                <a:ea typeface="맑은 고딕"/>
                <a:cs typeface="Calibri"/>
              </a:rPr>
              <a:t>Did you know that health professionals can now forecast a disease just as weather experts forecast the weather?</a:t>
            </a:r>
            <a:r>
              <a:rPr lang="en-US" altLang="ko-KR" sz="1500" b="0" dirty="0">
                <a:solidFill>
                  <a:srgbClr val="1F2328"/>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Big data is influencing almost all parts of our lives.</a:t>
            </a:r>
            <a:r>
              <a:rPr lang="en-US" altLang="ko-KR" sz="1500" b="0" dirty="0">
                <a:solidFill>
                  <a:srgbClr val="B3BAC6"/>
                </a:solidFill>
                <a:latin typeface="Calibri"/>
                <a:ea typeface="맑은 고딕"/>
                <a:cs typeface="Calibri"/>
              </a:rPr>
              <a:t> It helps companies understand their customers’ needs better and helps them sell more products. It helps people avoid heavy traffic. Its uses are endless, and here are some interesting examples. </a:t>
            </a:r>
            <a:r>
              <a:rPr lang="en-US" altLang="ko-KR" sz="1500" b="0" dirty="0">
                <a:solidFill>
                  <a:srgbClr val="111111"/>
                </a:solidFill>
                <a:highlight>
                  <a:srgbClr val="FFE45C"/>
                </a:highlight>
                <a:latin typeface="Calibri"/>
                <a:ea typeface="맑은 고딕"/>
                <a:cs typeface="Calibri"/>
              </a:rPr>
              <a:t>Did you know that health professionals can now forecast a disease just as weather experts forecast the weather?</a:t>
            </a:r>
            <a:r>
              <a:rPr lang="en-US" altLang="ko-KR" sz="1500" b="0" dirty="0">
                <a:solidFill>
                  <a:srgbClr val="B3BAC6"/>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독감의 확산은 어떤 방법으로도 미리 알 수 없다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회사들은 고객보다 상품 판매에 더 신경을 쓴다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날씨 예측은 질병 예측보다 훨씬 더 정확한 편이다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사람들은 독감 철에 온라인 검색을 점점 덜 하게 된다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빅데이터는 질병 예측 등 삶의 거의 모든 부분에 쓰인다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48716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빅데이터는 질병 예측 등 삶의 거의 모든 부분에 쓰인다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빅데이터는 질병 예측 등 삶의 거의 모든 부분에 쓰인다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빅데이터는 삶의 거의 모든 부분에 영향을 주며 질병까지 예측하게 한다고 했으므로 ⑤가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a:t>
            </a:r>
            <a:r>
              <a:rPr lang="en-US" altLang="ko-KR" sz="1500" b="0" dirty="0">
                <a:solidFill>
                  <a:srgbClr val="1F2328"/>
                </a:solidFill>
                <a:latin typeface="Calibri"/>
                <a:ea typeface="맑은 고딕"/>
                <a:cs typeface="Calibri"/>
              </a:rPr>
              <a:t>people will buy more flu medicine</a:t>
            </a:r>
            <a:r>
              <a:rPr lang="en-US" altLang="ko-KR" sz="1500" b="0" dirty="0">
                <a:solidFill>
                  <a:srgbClr val="1F2328"/>
                </a:solidFill>
                <a:latin typeface="Calibri"/>
                <a:ea typeface="맑은 고딕"/>
                <a:cs typeface="Calibri"/>
              </a:rPr>
              <a:t>. They will also search online about flu symptoms more. 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a:t>
            </a:r>
            <a:r>
              <a:rPr lang="en-US" altLang="ko-KR" sz="1500" b="0" dirty="0">
                <a:solidFill>
                  <a:srgbClr val="111111"/>
                </a:solidFill>
                <a:highlight>
                  <a:srgbClr val="FFE45C"/>
                </a:highlight>
                <a:latin typeface="Calibri"/>
                <a:ea typeface="맑은 고딕"/>
                <a:cs typeface="Calibri"/>
              </a:rPr>
              <a:t>people will buy more flu medicine</a:t>
            </a:r>
            <a:r>
              <a:rPr lang="en-US" altLang="ko-KR" sz="1500" b="0" dirty="0">
                <a:solidFill>
                  <a:srgbClr val="B3BAC6"/>
                </a:solidFill>
                <a:latin typeface="Calibri"/>
                <a:ea typeface="맑은 고딕"/>
                <a:cs typeface="Calibri"/>
              </a:rPr>
              <a:t>. They will also search online about flu symptoms more. If this kind of data is analyzed wisely, the spread of the flu can be predicted.</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빅데이터는 회사가 고객의 요구를 이해하도록 돕는다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빅데이터는 사람들이 교통 체증을 피하도록 돕는다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건강 전문가들은 이제 질병을 예측할 수 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독감 철에 사람들은 독감 약을 덜 구입할 것이다</a:t>
            </a:r>
            <a:endParaRPr lang="ko-KR" altLang="en-US" sz="1800" b="0" dirty="0">
              <a:solidFill>
                <a:srgbClr val="1F2328"/>
              </a:solidFill>
              <a:latin typeface="맑은 고딕"/>
              <a:ea typeface="맑은 고딕"/>
              <a:cs typeface="맑은 고딕"/>
            </a:endParaRPr>
          </a:p>
        </p:txBody>
      </p:sp>
      <p:sp>
        <p:nvSpPr>
          <p:cNvPr id="15" name="rv_pick"/>
          <p:cNvSpPr txBox="1"/>
          <p:nvPr/>
        </p:nvSpPr>
        <p:spPr>
          <a:xfrm>
            <a:off x="457200" y="407974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ko-KR" altLang="en-US" sz="1800" b="0" dirty="0">
                <a:solidFill>
                  <a:srgbClr val="C00000"/>
                </a:solidFill>
                <a:latin typeface="맑은 고딕"/>
                <a:ea typeface="맑은 고딕"/>
                <a:cs typeface="맑은 고딕"/>
              </a:rPr>
              <a:t>	독감 철에 사람들은 독감 약을 덜 구입할 것이다</a:t>
            </a:r>
            <a:endParaRPr lang="ko-KR" altLang="en-US" sz="1800" b="0" dirty="0">
              <a:solidFill>
                <a:srgbClr val="C00000"/>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데이터를 현명하게 분석하면 독감 확산을 예측한다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ko-KR" altLang="en-US" sz="1900" b="1" dirty="0">
                <a:solidFill>
                  <a:srgbClr val="5A4200"/>
                </a:solidFill>
                <a:latin typeface="맑은 고딕"/>
                <a:ea typeface="맑은 고딕"/>
                <a:cs typeface="맑은 고딕"/>
              </a:rPr>
              <a:t>독감 철에 사람들은 독감 약을 덜 구입할 것이다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독감 철에 사람들은 독감 약을 더 많이('more') 살 것이라 했으므로 덜 구입한다는 ④는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people will buy more flu medicine. They will also </a:t>
            </a:r>
            <a:r>
              <a:rPr lang="en-US" altLang="ko-KR" sz="1500" b="0" dirty="0">
                <a:solidFill>
                  <a:srgbClr val="1F2328"/>
                </a:solidFill>
                <a:latin typeface="Calibri"/>
                <a:ea typeface="맑은 고딕"/>
                <a:cs typeface="Calibri"/>
              </a:rPr>
              <a:t>search online about flu symptoms more</a:t>
            </a:r>
            <a:r>
              <a:rPr lang="en-US" altLang="ko-KR" sz="1500" b="0" dirty="0">
                <a:solidFill>
                  <a:srgbClr val="1F2328"/>
                </a:solidFill>
                <a:latin typeface="Calibri"/>
                <a:ea typeface="맑은 고딕"/>
                <a:cs typeface="Calibri"/>
              </a:rPr>
              <a:t>. If this kind of data is analyzed wisely, the spread of the flu can be predicted.</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Big data is influencing almost all parts of our lives. It helps companies understand their customers’ needs better and helps them sell more products. It helps people avoid heavy traffic. Its uses are endless, and here are some interesting examples. Did you know that health professionals can now forecast a disease just as weather experts forecast the weather? This is possible thanks to big data. For example, when the flu season comes, people will buy more flu medicine. They will also </a:t>
            </a:r>
            <a:r>
              <a:rPr lang="en-US" altLang="ko-KR" sz="1500" b="0" dirty="0">
                <a:solidFill>
                  <a:srgbClr val="111111"/>
                </a:solidFill>
                <a:highlight>
                  <a:srgbClr val="FFE45C"/>
                </a:highlight>
                <a:latin typeface="Calibri"/>
                <a:ea typeface="맑은 고딕"/>
                <a:cs typeface="Calibri"/>
              </a:rPr>
              <a:t>search online about flu symptoms more</a:t>
            </a:r>
            <a:r>
              <a:rPr lang="en-US" altLang="ko-KR" sz="1500" b="0" dirty="0">
                <a:solidFill>
                  <a:srgbClr val="B3BAC6"/>
                </a:solidFill>
                <a:latin typeface="Calibri"/>
                <a:ea typeface="맑은 고딕"/>
                <a:cs typeface="Calibri"/>
              </a:rPr>
              <a:t>. If this kind of data is analyzed wisely, the spread of the flu can be predicted.</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독감 철에는 독감 증상 검색이 더 늘어난다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85750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독감 철에는 독감 증상 검색이 더 늘어난다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빅데이터의 쓰임은 몇 가지로 한정되어 있다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날씨 전문가들이 질병을 직접 예측하고 있다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빅데이터는 회사의 판매에 도움이 되지 않는다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독감의 확산은 빅데이터로도 예측할 수 없다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독감 철에는 독감 증상 검색이 더 늘어난다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사람들이 온라인에서 독감 증상을 더 많이 검색할 것이라 했으므로 ①이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Big data is influencing almost all parts of our lives.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79476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79476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Did you know that health professionals can now forecast a disease just as weather experts forecast the weather? This is possible thanks to big data. For example, when the flu season comes, people will buy more flu medicine.</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It helps companies understand their customers’ needs better and helps them sell more products. It helps people avoid heavy traffic. Its uses are endless, and here are some interesting examples.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② </a:t>
            </a:r>
            <a:r>
              <a:rPr lang="en-US" altLang="ko-KR" sz="1800" b="0" dirty="0">
                <a:solidFill>
                  <a:srgbClr val="C00000"/>
                </a:solidFill>
                <a:highlight>
                  <a:srgbClr val="FFFFFF"/>
                </a:highlight>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97738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en-US" altLang="ko-KR" sz="1900" b="1" dirty="0">
                <a:solidFill>
                  <a:srgbClr val="5A4200"/>
                </a:solidFill>
                <a:latin typeface="Calibri"/>
                <a:ea typeface="맑은 고딕"/>
                <a:cs typeface="Calibri"/>
              </a:rPr>
              <a:t>(B) - (A) - (C)</a:t>
            </a:r>
            <a:endParaRPr lang="en-US" altLang="ko-KR" sz="1900" b="1" dirty="0">
              <a:solidFill>
                <a:srgbClr val="5A4200"/>
              </a:solidFill>
              <a:latin typeface="Calibri"/>
              <a:ea typeface="맑은 고딕"/>
              <a:cs typeface="Calibri"/>
            </a:endParaRPr>
          </a:p>
        </p:txBody>
      </p:sp>
      <p:sp>
        <p:nvSpPr>
          <p:cNvPr id="14" name="rv_why"/>
          <p:cNvSpPr/>
          <p:nvPr/>
        </p:nvSpPr>
        <p:spPr>
          <a:xfrm>
            <a:off x="457200" y="5576316"/>
            <a:ext cx="11277295" cy="84277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 'It'은 빅데이터로, 회사와 교통에 쓰이며 흥미로운 예를 예고한다 → (A) 질병 예측과 독감 약 구매 예시 → (C) 'They'가 그 사람들을 받아 검색과 확산 예측으로 맺는다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Big data is influencing almost all parts of our lives.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79476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79476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Did you know that health professionals can now forecast a disease just as weather experts forecast the weather? This is possible thanks to big data. For example, when the flu season comes, people will buy more flu medicine.</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It helps companies understand their customers’ needs better and helps them sell more products. It helps people avoid heavy traffic. Its uses are endless, and here are some interesting examples.</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46532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97738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576316"/>
            <a:ext cx="11277295" cy="84277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(C) 'It'은 빅데이터로, 쓰임이 끝없다며 예를 예고한다 → (A) 질병 예측과 독감 약을 사는 사람들 → (B) 'They will also'가 그 사람들의 검색을 덧붙이고 확산 예측으로 맺는다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It helps people avoid heavy traffic.</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Big data is influencing almost all parts of our lives.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It helps companies understand their customers’ needs better and helps them sell more products.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Its uses are endless, and here are some interesting examples.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Did you know that health professionals can now forecast a disease just as weather experts forecast the weather?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Big data is influencing almost all parts of our lives.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It helps companies understand their customers’ needs better and helps them sell more products. </a:t>
            </a:r>
            <a:r>
              <a:rPr lang="ko-KR" altLang="en-US" sz="1800" b="1" dirty="0">
                <a:solidFill>
                  <a:srgbClr val="C00000"/>
                </a:solidFill>
                <a:highlight>
                  <a:srgbClr val="F3F5F9"/>
                </a:highlight>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Its uses are endless, and here are some interesting examples.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Did you know that health professionals can now forecast a disease just as weather experts forecast the weather?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문장은 'It helps'로 빅데이터의 쓰임을 하나 더 든다. 같은 구조인 회사 예시 뒤, 'Its uses are endless'로 정리하기 전인 ③에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Its uses are endless, and here are some interesting examples.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Big data is influencing almost all parts of our lives.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It helps companies understand their customers’ needs better and helps them sell more products.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It helps people avoid heavy traffic.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Did you know that health professionals can now forecast a disease just as weather experts forecast the weather?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Big data is influencing almost all parts of our lives.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It helps companies understand their customers’ needs better and helps them sell more products.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It helps people avoid heavy traffic.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Did you know that health professionals can now forecast a disease just as weather experts forecast the weather?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This is possible thanks to big data. For example, when the flu season comes, people will buy more flu medicine. They will also search online about flu symptoms more. If this kind of data is analyzed wisely, the spread of the flu can be predicted.</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'here are some interesting examples'가 뒤의 질병 예측 사례를 예고한다. 쓰임 나열이 끝나고 'Did you know'가 시작되는 ④가 자리다.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0606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solidFill>
                <a:latin typeface="맑은 고딕"/>
                <a:ea typeface="맑은 고딕"/>
                <a:cs typeface="맑은 고딕"/>
              </a:rPr>
              <a:t>①</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Big data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is influenced</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is influencing</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almost all parts of our lives.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②</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 helps companies understand their customers’ needs better and helps them sell more products.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③</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 helps people avoid heavy traffic.</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④</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Its uses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are endless</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is endless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and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here are some</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here is some</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interesting examples.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⑤</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Did you know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that health professionals</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what health professionals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can now forecast a disease just as weather experts forecast the weather?</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⑥</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This is possible thanks to big data.</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⑦</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For example, when the flu season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will come</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comes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people will buy more flu medicine.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⑧</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They will also search online about flu symptoms more.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⑨</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
        <p:nvSpPr>
          <p:cNvPr id="9" name="rv_g01"/>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influenced</a:t>
            </a:r>
            <a:r>
              <a:rPr lang="en-US" altLang="ko-KR" sz="2100" b="1" dirty="0">
                <a:solidFill>
                  <a:srgbClr val="1F2328">
                    <a:alpha val="0"/>
                  </a:srgbClr>
                </a:solidFill>
                <a:latin typeface="Calibri"/>
                <a:ea typeface="맑은 고딕"/>
                <a:cs typeface="Calibri"/>
              </a:rPr>
              <a:t> / </a:t>
            </a:r>
            <a:r>
              <a:rPr lang="en-US" altLang="ko-KR" sz="2100" b="1" dirty="0">
                <a:solidFill>
                  <a:srgbClr val="C00000"/>
                </a:solidFill>
                <a:highlight>
                  <a:srgbClr val="F3F5F9"/>
                </a:highlight>
                <a:latin typeface="Calibri"/>
                <a:ea typeface="맑은 고딕"/>
                <a:cs typeface="Calibri"/>
              </a:rPr>
              <a:t>is influencing</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helps them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avoid heavy traffic.</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endless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endless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here are some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here is some</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that health professionals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what health professionals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can now forecast a disease just as weather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will come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comes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
        <p:nvSpPr>
          <p:cNvPr id="10" name="rv_g02"/>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influenced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influencing</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helps them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avoid heavy traffic.</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are endless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endless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here are some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here is some</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that health professionals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what health professionals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can now forecast a disease just as weather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will come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comes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
        <p:nvSpPr>
          <p:cNvPr id="11" name="rv_g03"/>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influenced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influencing</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helps them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avoid heavy traffic.</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endless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endless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and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here are some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here is some</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that health professionals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what health professionals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can now forecast a disease just as weather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will come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comes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
        <p:nvSpPr>
          <p:cNvPr id="12" name="rv_g04"/>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influenced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influencing</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helps them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avoid heavy traffic.</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endless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endless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here are some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here is some</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that health professionals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what health professionals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can now forecast a disease just as weather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will come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comes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
        <p:nvSpPr>
          <p:cNvPr id="13" name="rv_g05"/>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influenced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influencing</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helps them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avoid heavy traffic.</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are endless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is endless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here are some</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here is some</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that health professionals</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what health professionals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can now forecast a disease just as weather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will come</a:t>
            </a:r>
            <a:r>
              <a:rPr lang="en-US" altLang="ko-KR" sz="2100" b="1" dirty="0">
                <a:solidFill>
                  <a:srgbClr val="1F2328">
                    <a:alpha val="0"/>
                  </a:srgbClr>
                </a:solidFill>
                <a:latin typeface="Calibri"/>
                <a:ea typeface="맑은 고딕"/>
                <a:cs typeface="Calibri"/>
              </a:rPr>
              <a:t> / </a:t>
            </a:r>
            <a:r>
              <a:rPr lang="en-US" altLang="ko-KR" sz="2100" b="1" dirty="0">
                <a:solidFill>
                  <a:srgbClr val="C00000"/>
                </a:solidFill>
                <a:highlight>
                  <a:srgbClr val="F3F5F9"/>
                </a:highlight>
                <a:latin typeface="Calibri"/>
                <a:ea typeface="맑은 고딕"/>
                <a:cs typeface="Calibri"/>
              </a:rPr>
              <a:t>comes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is analyzed wisely, the spread of the flu can be predicted.</a:t>
            </a:r>
            <a:endParaRPr lang="en-US" altLang="ko-KR" sz="21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L7-2</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5개)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0606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solidFill>
                <a:latin typeface="맑은 고딕"/>
                <a:ea typeface="맑은 고딕"/>
                <a:cs typeface="맑은 고딕"/>
              </a:rPr>
              <a:t>①</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Big data is influencing almost all parts of our lives.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②</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 helps companies understand their customers’ needs better and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helps them</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helps themselves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sell more products.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③</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 helps people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avoid heavy traffic</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avoiding heavy traffic</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④</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Its uses are endless, and here are some interesting examples.</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⑤</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Did you know that health professionals can now forecast a disease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just as weather</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just like weather</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experts forecast the weather?</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⑥</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This is possible thanks to big data.</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⑦</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For example, when the flu season comes, people will buy more flu medicine.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⑧</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They will also search online about flu symptoms more.</a:t>
            </a:r>
            <a:r>
              <a:rPr lang="en-US" altLang="ko-KR" sz="2100" b="0" dirty="0">
                <a:solidFill>
                  <a:srgbClr val="1F2328"/>
                </a:solidFill>
                <a:latin typeface="Calibri"/>
                <a:ea typeface="맑은 고딕"/>
                <a:cs typeface="Calibri"/>
              </a:rPr>
              <a:t>   </a:t>
            </a:r>
            <a:r>
              <a:rPr lang="ko-KR" altLang="en-US" sz="2100" b="1" dirty="0">
                <a:solidFill>
                  <a:srgbClr val="1E2A5A"/>
                </a:solidFill>
                <a:latin typeface="맑은 고딕"/>
                <a:ea typeface="맑은 고딕"/>
                <a:cs typeface="맑은 고딕"/>
              </a:rPr>
              <a:t>⑨</a:t>
            </a:r>
            <a:r>
              <a:rPr lang="en-US" altLang="ko-KR" sz="2100" b="0"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If this kind of data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is analyzed</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analyzes</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 wisely, the spread of the flu </a:t>
            </a:r>
            <a:r>
              <a:rPr lang="en-US" altLang="ko-KR" sz="2100" b="1" dirty="0">
                <a:solidFill>
                  <a:srgbClr val="1F2328"/>
                </a:solidFill>
                <a:latin typeface="Calibri"/>
                <a:ea typeface="맑은 고딕"/>
                <a:cs typeface="Calibri"/>
              </a:rPr>
              <a:t>[ </a:t>
            </a:r>
            <a:r>
              <a:rPr lang="en-US" altLang="ko-KR" sz="2100" b="1" dirty="0">
                <a:solidFill>
                  <a:srgbClr val="1F2328"/>
                </a:solidFill>
                <a:latin typeface="Calibri"/>
                <a:ea typeface="맑은 고딕"/>
                <a:cs typeface="Calibri"/>
              </a:rPr>
              <a:t>can be predicted</a:t>
            </a:r>
            <a:r>
              <a:rPr lang="en-US" altLang="ko-KR" sz="2100" b="1" dirty="0">
                <a:solidFill>
                  <a:srgbClr val="1F2328"/>
                </a:solidFill>
                <a:latin typeface="Calibri"/>
                <a:ea typeface="맑은 고딕"/>
                <a:cs typeface="Calibri"/>
              </a:rPr>
              <a:t> / </a:t>
            </a:r>
            <a:r>
              <a:rPr lang="en-US" altLang="ko-KR" sz="2100" b="1" dirty="0">
                <a:solidFill>
                  <a:srgbClr val="1F2328"/>
                </a:solidFill>
                <a:latin typeface="Calibri"/>
                <a:ea typeface="맑은 고딕"/>
                <a:cs typeface="Calibri"/>
              </a:rPr>
              <a:t>can predict</a:t>
            </a:r>
            <a:r>
              <a:rPr lang="en-US" altLang="ko-KR" sz="2100" b="1" dirty="0">
                <a:solidFill>
                  <a:srgbClr val="1F2328"/>
                </a:solidFill>
                <a:latin typeface="Calibri"/>
                <a:ea typeface="맑은 고딕"/>
                <a:cs typeface="Calibri"/>
              </a:rPr>
              <a:t> ]</a:t>
            </a:r>
            <a:r>
              <a:rPr lang="en-US" altLang="ko-KR" sz="2100" b="0" dirty="0">
                <a:solidFill>
                  <a:srgbClr val="1F2328"/>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
        <p:nvSpPr>
          <p:cNvPr id="9" name="rv_g01"/>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is influencing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helps them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helps themselves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avoid heavy traffic</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avoiding heavy traffic</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are endless, and here are some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that health professionals can now forecast a disease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just as weather</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just like weather</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comes,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analyzed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analyzes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wisely, the spread of the flu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can be predicted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can predict</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
        <p:nvSpPr>
          <p:cNvPr id="10" name="rv_g02"/>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is influencing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helps them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helps themselves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avoid heavy traffic</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avoiding heavy traffic</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are endless, and here are some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that health professionals can now forecast a disease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just as weather</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just like weather</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comes,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analyzed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analyzes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wisely, the spread of the flu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can be predicted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can predict</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
        <p:nvSpPr>
          <p:cNvPr id="11" name="rv_g03"/>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is influencing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helps them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helps themselves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avoid heavy traffic</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avoiding heavy traffic</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are endless, and here are some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that health professionals can now forecast a disease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just as weather</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just like weather</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comes,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analyzed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analyzes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wisely, the spread of the flu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can be predicted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can predict</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
        <p:nvSpPr>
          <p:cNvPr id="12" name="rv_g04"/>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is influencing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helps them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helps themselves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avoid heavy traffic</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avoiding heavy traffic</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are endless, and here are some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that health professionals can now forecast a disease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just as weather</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just like weather</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comes,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is analyzed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analyzes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wisely, the spread of the flu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can be predicted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can predict</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
        <p:nvSpPr>
          <p:cNvPr id="13" name="rv_g05"/>
          <p:cNvSpPr txBox="1"/>
          <p:nvPr/>
        </p:nvSpPr>
        <p:spPr>
          <a:xfrm>
            <a:off x="457200" y="950976"/>
            <a:ext cx="11277295" cy="5060696"/>
          </a:xfrm>
          <a:prstGeom prst="rect">
            <a:avLst/>
          </a:prstGeom>
          <a:noFill/>
        </p:spPr>
        <p:txBody>
          <a:bodyPr wrap="square" lIns="228600" tIns="155448" rIns="228600" bIns="155448" anchor="t" rtlCol="0">
            <a:noAutofit/>
          </a:bodyPr>
          <a:lstStyle/>
          <a:p>
            <a:pPr algn="l">
              <a:lnSpc>
                <a:spcPts val="3400"/>
              </a:lnSpc>
              <a:spcBef>
                <a:spcPts val="0"/>
              </a:spcBef>
              <a:spcAft>
                <a:spcPts val="0"/>
              </a:spcAft>
              <a:buNone/>
            </a:pPr>
            <a:r>
              <a:rPr lang="ko-KR" altLang="en-US" sz="2100" b="1" dirty="0">
                <a:solidFill>
                  <a:srgbClr val="1E2A5A">
                    <a:alpha val="0"/>
                  </a:srgbClr>
                </a:solidFill>
                <a:latin typeface="맑은 고딕"/>
                <a:ea typeface="맑은 고딕"/>
                <a:cs typeface="맑은 고딕"/>
              </a:rPr>
              <a:t>①</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Big data is influencing almost all parts of our lives.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②</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companies understand their customers’ needs better and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helps them</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helps themselves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sell more products.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③</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 helps people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avoid heavy traffic</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avoiding heavy traffic</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④</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Its uses are endless, and here are some interesting examples.</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⑤</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Did you know that health professionals can now forecast a disease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just as weather</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just like weather</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experts forecast the weather?</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⑥</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This is possible thanks to big data.</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⑦</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For example, when the flu season comes, people will buy more flu medicine.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⑧</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They will also search online about flu symptoms more.</a:t>
            </a:r>
            <a:r>
              <a:rPr lang="en-US" altLang="ko-KR" sz="2100" b="0" dirty="0">
                <a:solidFill>
                  <a:srgbClr val="1F2328">
                    <a:alpha val="0"/>
                  </a:srgbClr>
                </a:solidFill>
                <a:latin typeface="Calibri"/>
                <a:ea typeface="맑은 고딕"/>
                <a:cs typeface="Calibri"/>
              </a:rPr>
              <a:t>   </a:t>
            </a:r>
            <a:r>
              <a:rPr lang="ko-KR" altLang="en-US" sz="2100" b="1" dirty="0">
                <a:solidFill>
                  <a:srgbClr val="1E2A5A">
                    <a:alpha val="0"/>
                  </a:srgbClr>
                </a:solidFill>
                <a:latin typeface="맑은 고딕"/>
                <a:ea typeface="맑은 고딕"/>
                <a:cs typeface="맑은 고딕"/>
              </a:rPr>
              <a:t>⑨</a:t>
            </a:r>
            <a:r>
              <a:rPr lang="en-US" altLang="ko-KR" sz="2100" b="0"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If this kind of data </a:t>
            </a:r>
            <a:r>
              <a:rPr lang="en-US" altLang="ko-KR" sz="2100" b="1" dirty="0">
                <a:solidFill>
                  <a:srgbClr val="1F2328">
                    <a:alpha val="0"/>
                  </a:srgbClr>
                </a:solidFill>
                <a:latin typeface="Calibri"/>
                <a:ea typeface="맑은 고딕"/>
                <a:cs typeface="Calibri"/>
              </a:rPr>
              <a:t>[ </a:t>
            </a:r>
            <a:r>
              <a:rPr lang="en-US" altLang="ko-KR" sz="2100" b="1" dirty="0">
                <a:solidFill>
                  <a:srgbClr val="1F2328">
                    <a:alpha val="0"/>
                  </a:srgbClr>
                </a:solidFill>
                <a:latin typeface="Calibri"/>
                <a:ea typeface="맑은 고딕"/>
                <a:cs typeface="Calibri"/>
              </a:rPr>
              <a:t>is analyzed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analyzes</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 wisely, the spread of the flu </a:t>
            </a:r>
            <a:r>
              <a:rPr lang="en-US" altLang="ko-KR" sz="2100" b="1" dirty="0">
                <a:solidFill>
                  <a:srgbClr val="1F2328">
                    <a:alpha val="0"/>
                  </a:srgbClr>
                </a:solidFill>
                <a:latin typeface="Calibri"/>
                <a:ea typeface="맑은 고딕"/>
                <a:cs typeface="Calibri"/>
              </a:rPr>
              <a:t>[ </a:t>
            </a:r>
            <a:r>
              <a:rPr lang="en-US" altLang="ko-KR" sz="2100" b="1" dirty="0">
                <a:solidFill>
                  <a:srgbClr val="C00000"/>
                </a:solidFill>
                <a:highlight>
                  <a:srgbClr val="F3F5F9"/>
                </a:highlight>
                <a:latin typeface="Calibri"/>
                <a:ea typeface="맑은 고딕"/>
                <a:cs typeface="Calibri"/>
              </a:rPr>
              <a:t>can be predicted</a:t>
            </a:r>
            <a:r>
              <a:rPr lang="en-US" altLang="ko-KR" sz="2100" b="1" dirty="0">
                <a:solidFill>
                  <a:srgbClr val="1F2328">
                    <a:alpha val="0"/>
                  </a:srgbClr>
                </a:solidFill>
                <a:latin typeface="Calibri"/>
                <a:ea typeface="맑은 고딕"/>
                <a:cs typeface="Calibri"/>
              </a:rPr>
              <a:t> / </a:t>
            </a:r>
            <a:r>
              <a:rPr lang="en-US" altLang="ko-KR" sz="2100" b="1" dirty="0">
                <a:solidFill>
                  <a:srgbClr val="1F2328">
                    <a:alpha val="0"/>
                  </a:srgbClr>
                </a:solidFill>
                <a:latin typeface="Calibri"/>
                <a:ea typeface="맑은 고딕"/>
                <a:cs typeface="Calibri"/>
              </a:rPr>
              <a:t>can predict</a:t>
            </a:r>
            <a:r>
              <a:rPr lang="en-US" altLang="ko-KR" sz="2100" b="1" dirty="0">
                <a:solidFill>
                  <a:srgbClr val="1F2328">
                    <a:alpha val="0"/>
                  </a:srgbClr>
                </a:solidFill>
                <a:latin typeface="Calibri"/>
                <a:ea typeface="맑은 고딕"/>
                <a:cs typeface="Calibri"/>
              </a:rPr>
              <a:t> ]</a:t>
            </a:r>
            <a:r>
              <a:rPr lang="en-US" altLang="ko-KR" sz="2100" b="0" dirty="0">
                <a:solidFill>
                  <a:srgbClr val="1F2328">
                    <a:alpha val="0"/>
                  </a:srgbClr>
                </a:solidFill>
                <a:latin typeface="Calibri"/>
                <a:ea typeface="맑은 고딕"/>
                <a:cs typeface="Calibri"/>
              </a:rPr>
              <a:t>.</a:t>
            </a:r>
            <a:endParaRPr lang="en-US" altLang="ko-KR" sz="21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a:t>
            </a:r>
            <a:r>
              <a:rPr lang="en-US" altLang="ko-KR" sz="1500" b="0" dirty="0">
                <a:solidFill>
                  <a:srgbClr val="1F2328"/>
                </a:solidFill>
                <a:latin typeface="Calibri"/>
                <a:ea typeface="맑은 고딕"/>
                <a:cs typeface="Calibri"/>
              </a:rPr>
              <a:t>Well, big data is improving the performance of players, making sports more exciting.</a:t>
            </a:r>
            <a:r>
              <a:rPr lang="en-US" altLang="ko-KR" sz="1500" b="0" dirty="0">
                <a:solidFill>
                  <a:srgbClr val="1F2328"/>
                </a:solidFill>
                <a:latin typeface="Calibri"/>
                <a:ea typeface="맑은 고딕"/>
                <a:cs typeface="Calibri"/>
              </a:rPr>
              <a:t>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win the 2014 World Cup.</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a:t>
            </a:r>
            <a:r>
              <a:rPr lang="en-US" altLang="ko-KR" sz="1500" b="0" dirty="0">
                <a:solidFill>
                  <a:srgbClr val="111111"/>
                </a:solidFill>
                <a:highlight>
                  <a:srgbClr val="FFE45C"/>
                </a:highlight>
                <a:latin typeface="Calibri"/>
                <a:ea typeface="맑은 고딕"/>
                <a:cs typeface="Calibri"/>
              </a:rPr>
              <a:t>Well, big data is improving the performance of players, making sports more exciting.</a:t>
            </a:r>
            <a:r>
              <a:rPr lang="en-US" altLang="ko-KR" sz="1500" b="0" dirty="0">
                <a:solidFill>
                  <a:srgbClr val="B3BAC6"/>
                </a:solidFill>
                <a:latin typeface="Calibri"/>
                <a:ea typeface="맑은 고딕"/>
                <a:cs typeface="Calibri"/>
              </a:rPr>
              <a:t>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win the 2014 World Cup.</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why soccer is the most popular sport in Germany</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history of the World Cup and its famous teams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how big data improves the performance of players</a:t>
            </a:r>
            <a:endParaRPr lang="en-US" altLang="ko-KR" sz="1800" b="0" dirty="0">
              <a:solidFill>
                <a:srgbClr val="1F2328"/>
              </a:solidFill>
              <a:latin typeface="Calibri"/>
              <a:ea typeface="맑은 고딕"/>
              <a:cs typeface="Calibri"/>
            </a:endParaRPr>
          </a:p>
        </p:txBody>
      </p:sp>
      <p:sp>
        <p:nvSpPr>
          <p:cNvPr id="14" name="rv_pick"/>
          <p:cNvSpPr txBox="1"/>
          <p:nvPr/>
        </p:nvSpPr>
        <p:spPr>
          <a:xfrm>
            <a:off x="457200" y="342468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en-US" altLang="ko-KR" sz="1800" b="0" dirty="0">
                <a:solidFill>
                  <a:srgbClr val="C00000"/>
                </a:solidFill>
                <a:latin typeface="Calibri"/>
                <a:ea typeface="맑은 고딕"/>
                <a:cs typeface="Calibri"/>
              </a:rPr>
              <a:t>	how big data improves the performance of players</a:t>
            </a:r>
            <a:endParaRPr lang="en-US" altLang="ko-KR" sz="1800" b="0" dirty="0">
              <a:solidFill>
                <a:srgbClr val="C00000"/>
              </a:solidFill>
              <a:latin typeface="Calibri"/>
              <a:ea typeface="맑은 고딕"/>
              <a:cs typeface="Calibri"/>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how fans can enjoy watching sports more deeply</a:t>
            </a:r>
            <a:endParaRPr lang="en-US" altLang="ko-KR" sz="1800" b="0" dirty="0">
              <a:solidFill>
                <a:srgbClr val="1F2328"/>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the difficulty of collecting data on soccer players</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how big data improves the performance of players</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빅데이터가 선수들의 경기력을 향상하며 스포츠를 더 흥미롭게 만든다고 했다. 이를 옮긴 ③이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a:t>
            </a:r>
            <a:r>
              <a:rPr lang="en-US" altLang="ko-KR" sz="1500" b="0" dirty="0">
                <a:solidFill>
                  <a:srgbClr val="1F2328"/>
                </a:solidFill>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a:t>
            </a:r>
            <a:r>
              <a:rPr lang="en-US" altLang="ko-KR" sz="1500" b="0" dirty="0">
                <a:solidFill>
                  <a:srgbClr val="111111"/>
                </a:solidFill>
                <a:highlight>
                  <a:srgbClr val="FFE45C"/>
                </a:highlight>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Germany: A Nation of Sports Fans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How Long Should Players Have the Ball?</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The 2014 World Cup Was a Big Surprise</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Big Data Behind a World Cup Victory</a:t>
            </a:r>
            <a:endParaRPr lang="en-US" altLang="ko-KR" sz="1800" b="0" dirty="0">
              <a:solidFill>
                <a:srgbClr val="1F2328"/>
              </a:solidFill>
              <a:latin typeface="Calibri"/>
              <a:ea typeface="맑은 고딕"/>
              <a:cs typeface="Calibri"/>
            </a:endParaRPr>
          </a:p>
        </p:txBody>
      </p:sp>
      <p:sp>
        <p:nvSpPr>
          <p:cNvPr id="15" name="rv_pick"/>
          <p:cNvSpPr txBox="1"/>
          <p:nvPr/>
        </p:nvSpPr>
        <p:spPr>
          <a:xfrm>
            <a:off x="457200" y="383209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en-US" altLang="ko-KR" sz="1800" b="0" dirty="0">
                <a:solidFill>
                  <a:srgbClr val="C00000"/>
                </a:solidFill>
                <a:latin typeface="Calibri"/>
                <a:ea typeface="맑은 고딕"/>
                <a:cs typeface="Calibri"/>
              </a:rPr>
              <a:t>	Big Data Behind a World Cup Victory</a:t>
            </a:r>
            <a:endParaRPr lang="en-US" altLang="ko-KR" sz="1800" b="0" dirty="0">
              <a:solidFill>
                <a:srgbClr val="C00000"/>
              </a:solidFill>
              <a:latin typeface="Calibri"/>
              <a:ea typeface="맑은 고딕"/>
              <a:cs typeface="Calibri"/>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Building a Database Is Not Easy at All</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Big Data Behind a World Cup Victory</a:t>
            </a:r>
            <a:endParaRPr lang="en-US" altLang="ko-KR" sz="1900" b="1" dirty="0">
              <a:solidFill>
                <a:srgbClr val="5A4200"/>
              </a:solidFill>
              <a:latin typeface="Calibri"/>
              <a:ea typeface="맑은 고딕"/>
              <a:cs typeface="Calibri"/>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데이터베이스의 도움으로 독일 축구팀이 2014 월드컵에서 우승했다고 했으므로 ④가 제목으로 알맞다.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Well, big data is improving the performance of players, making sports more exciting. A famous example is Germany’s national soccer team. </a:t>
            </a:r>
            <a:r>
              <a:rPr lang="en-US" altLang="ko-KR" sz="1500" b="0" dirty="0">
                <a:solidFill>
                  <a:srgbClr val="1F2328"/>
                </a:solidFill>
                <a:latin typeface="Calibri"/>
                <a:ea typeface="맑은 고딕"/>
                <a:cs typeface="Calibri"/>
              </a:rPr>
              <a:t>The team built a database by collecting and analyzing a huge amount of data on players.</a:t>
            </a:r>
            <a:r>
              <a:rPr lang="en-US" altLang="ko-KR" sz="1500" b="0" dirty="0">
                <a:solidFill>
                  <a:srgbClr val="1F2328"/>
                </a:solidFill>
                <a:latin typeface="Calibri"/>
                <a:ea typeface="맑은 고딕"/>
                <a:cs typeface="Calibri"/>
              </a:rPr>
              <a:t> For example, the data included information about how much each player ran and how long he had the ball. </a:t>
            </a:r>
            <a:r>
              <a:rPr lang="en-US" altLang="ko-KR" sz="1500" b="0" dirty="0">
                <a:solidFill>
                  <a:srgbClr val="1F2328"/>
                </a:solidFill>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Well, big data is improving the performance of players, making sports more exciting. A famous example is Germany’s national soccer team. </a:t>
            </a:r>
            <a:r>
              <a:rPr lang="en-US" altLang="ko-KR" sz="1500" b="0" dirty="0">
                <a:solidFill>
                  <a:srgbClr val="111111"/>
                </a:solidFill>
                <a:highlight>
                  <a:srgbClr val="FFE45C"/>
                </a:highlight>
                <a:latin typeface="Calibri"/>
                <a:ea typeface="맑은 고딕"/>
                <a:cs typeface="Calibri"/>
              </a:rPr>
              <a:t>The team built a database by collecting and analyzing a huge amount of data on players.</a:t>
            </a:r>
            <a:r>
              <a:rPr lang="en-US" altLang="ko-KR" sz="1500" b="0" dirty="0">
                <a:solidFill>
                  <a:srgbClr val="B3BAC6"/>
                </a:solidFill>
                <a:latin typeface="Calibri"/>
                <a:ea typeface="맑은 고딕"/>
                <a:cs typeface="Calibri"/>
              </a:rPr>
              <a:t> For example, the data included information about how much each player ran and how long he had the ball. </a:t>
            </a:r>
            <a:r>
              <a:rPr lang="en-US" altLang="ko-KR" sz="1500" b="0" dirty="0">
                <a:solidFill>
                  <a:srgbClr val="111111"/>
                </a:solidFill>
                <a:highlight>
                  <a:srgbClr val="FFE45C"/>
                </a:highlight>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축구 선수들은 공을 오래 소유하는 연습을 해야 한다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스포츠 팬들은 국가 대표팀을 더 열심히 응원해야 한다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월드컵 우승을 위해서는 더 많이 달리는 훈련이 필요하다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데이터베이스는 전문 업체에 맡겨서 구축하는 것이 좋다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선수 데이터를 분석하면 스포츠의 경기력을 높일 수 있다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선수 데이터를 분석하면 스포츠의 경기력을 높일 수 있다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선수 데이터를 분석하면 스포츠의 경기력을 높일 수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선수 데이터를 모으고 분석한 덕에 경기력을 높이고 우승했다고 했다. 이를 일반화한 ⑤가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a:t>
            </a:r>
            <a:r>
              <a:rPr lang="en-US" altLang="ko-KR" sz="1500" b="0" dirty="0">
                <a:solidFill>
                  <a:srgbClr val="1F2328"/>
                </a:solidFill>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a:t>
            </a:r>
            <a:r>
              <a:rPr lang="en-US" altLang="ko-KR" sz="1500" b="0" dirty="0">
                <a:solidFill>
                  <a:srgbClr val="111111"/>
                </a:solidFill>
                <a:highlight>
                  <a:srgbClr val="FFE45C"/>
                </a:highlight>
                <a:latin typeface="Calibri"/>
                <a:ea typeface="맑은 고딕"/>
                <a:cs typeface="Calibri"/>
              </a:rPr>
              <a:t>With the help of this database, Germany’s national soccer team was able to improve its performance and win the 2014 World Cup.</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 분석이 독일 축구팀의 우승에 크게 기여했다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60985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빅데이터 분석이 독일 축구팀의 우승에 크게 기여했다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독일 축구팀은 데이터 없이도 늘 월드컵에서 우승했다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선수들이 많이 달릴수록 경기 결과는 늘 좋아진다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스포츠 팬들은 데이터보다 경기의 재미를 더 중시한다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선수들에 관한 데이터는 수집하기가 매우 어렵다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빅데이터 분석이 독일 축구팀의 우승에 크게 기여했다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데이터베이스의 도움으로 경기력을 높이고 월드컵에서 우승했다고 했으므로 ①이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a:t>
            </a:r>
            <a:r>
              <a:rPr lang="en-US" altLang="ko-KR" sz="1500" b="0" dirty="0">
                <a:solidFill>
                  <a:srgbClr val="1F2328"/>
                </a:solidFill>
                <a:latin typeface="Calibri"/>
                <a:ea typeface="맑은 고딕"/>
                <a:cs typeface="Calibri"/>
              </a:rPr>
              <a:t>win the 2014 World Cup</a:t>
            </a:r>
            <a:r>
              <a:rPr lang="en-US" altLang="ko-KR" sz="1500" b="0" dirty="0">
                <a:solidFill>
                  <a:srgbClr val="1F2328"/>
                </a:solidFill>
                <a:latin typeface="Calibri"/>
                <a:ea typeface="맑은 고딕"/>
                <a:cs typeface="Calibri"/>
              </a:rPr>
              <a:t>.</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a:t>
            </a:r>
            <a:r>
              <a:rPr lang="en-US" altLang="ko-KR" sz="1500" b="0" dirty="0">
                <a:solidFill>
                  <a:srgbClr val="111111"/>
                </a:solidFill>
                <a:highlight>
                  <a:srgbClr val="FFE45C"/>
                </a:highlight>
                <a:latin typeface="Calibri"/>
                <a:ea typeface="맑은 고딕"/>
                <a:cs typeface="Calibri"/>
              </a:rPr>
              <a:t>win the 2014 World Cup</a:t>
            </a:r>
            <a:r>
              <a:rPr lang="en-US" altLang="ko-KR" sz="1500" b="0" dirty="0">
                <a:solidFill>
                  <a:srgbClr val="B3BAC6"/>
                </a:solidFill>
                <a:latin typeface="Calibri"/>
                <a:ea typeface="맑은 고딕"/>
                <a:cs typeface="Calibri"/>
              </a:rPr>
              <a:t>.</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빅데이터는 선수들의 경기력을 향상하고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독일 국가 대표 축구팀은 데이터베이스를 구축했다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데이터에는 각 선수가 달린 양이 포함되었다</a:t>
            </a:r>
            <a:endParaRPr lang="ko-KR" altLang="en-US" sz="1800" b="0" dirty="0">
              <a:solidFill>
                <a:srgbClr val="1F2328"/>
              </a:solidFill>
              <a:latin typeface="맑은 고딕"/>
              <a:ea typeface="맑은 고딕"/>
              <a:cs typeface="맑은 고딕"/>
            </a:endParaRPr>
          </a:p>
        </p:txBody>
      </p:sp>
      <p:sp>
        <p:nvSpPr>
          <p:cNvPr id="14"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데이터에는 선수가 공을 가진 시간이 포함되었다</a:t>
            </a:r>
            <a:endParaRPr lang="ko-KR" altLang="en-US" sz="1800" b="0" dirty="0">
              <a:solidFill>
                <a:srgbClr val="1F2328"/>
              </a:solidFill>
              <a:latin typeface="맑은 고딕"/>
              <a:ea typeface="맑은 고딕"/>
              <a:cs typeface="맑은 고딕"/>
            </a:endParaRPr>
          </a:p>
        </p:txBody>
      </p:sp>
      <p:sp>
        <p:nvSpPr>
          <p:cNvPr id="15"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독일 축구팀은 2010년 월드컵에서 우승하였다</a:t>
            </a:r>
            <a:endParaRPr lang="ko-KR" altLang="en-US" sz="1800" b="0" dirty="0">
              <a:solidFill>
                <a:srgbClr val="1F2328"/>
              </a:solidFill>
              <a:latin typeface="맑은 고딕"/>
              <a:ea typeface="맑은 고딕"/>
              <a:cs typeface="맑은 고딕"/>
            </a:endParaRPr>
          </a:p>
        </p:txBody>
      </p:sp>
      <p:sp>
        <p:nvSpPr>
          <p:cNvPr id="16" name="rv_pick"/>
          <p:cNvSpPr txBox="1"/>
          <p:nvPr/>
        </p:nvSpPr>
        <p:spPr>
          <a:xfrm>
            <a:off x="457200" y="423951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ko-KR" altLang="en-US" sz="1800" b="0" dirty="0">
                <a:solidFill>
                  <a:srgbClr val="C00000"/>
                </a:solidFill>
                <a:latin typeface="맑은 고딕"/>
                <a:ea typeface="맑은 고딕"/>
                <a:cs typeface="맑은 고딕"/>
              </a:rPr>
              <a:t>	독일 축구팀은 2010년 월드컵에서 우승하였다</a:t>
            </a:r>
            <a:endParaRPr lang="ko-KR" altLang="en-US" sz="1800" b="0" dirty="0">
              <a:solidFill>
                <a:srgbClr val="C00000"/>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ko-KR" altLang="en-US" sz="1900" b="1" dirty="0">
                <a:solidFill>
                  <a:srgbClr val="5A4200"/>
                </a:solidFill>
                <a:latin typeface="맑은 고딕"/>
                <a:ea typeface="맑은 고딕"/>
                <a:cs typeface="맑은 고딕"/>
              </a:rPr>
              <a:t>독일 축구팀은 2010년 월드컵에서 우승하였다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독일 축구팀은 2014년('the 2014 World Cup') 월드컵에서 우승했으므로 2010년이라는 ⑤는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a:t>
            </a:r>
            <a:r>
              <a:rPr lang="en-US" altLang="ko-KR" sz="1500" b="0" dirty="0">
                <a:solidFill>
                  <a:srgbClr val="1F2328"/>
                </a:solidFill>
                <a:latin typeface="Calibri"/>
                <a:ea typeface="맑은 고딕"/>
                <a:cs typeface="Calibri"/>
              </a:rPr>
              <a:t>win the 2014 World Cup</a:t>
            </a:r>
            <a:r>
              <a:rPr lang="en-US" altLang="ko-KR" sz="1500" b="0" dirty="0">
                <a:solidFill>
                  <a:srgbClr val="1F2328"/>
                </a:solidFill>
                <a:latin typeface="Calibri"/>
                <a:ea typeface="맑은 고딕"/>
                <a:cs typeface="Calibri"/>
              </a:rPr>
              <a:t>.</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51257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512570"/>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Are you a sports fan? Well, big data is improving the performance of players, making sports more exciting. A famous example is Germany’s national soccer team. The team built a database by collecting and analyzing a huge amount of data on players. For example, the data included information about how much each player ran and how long he had the ball. With the help of this database, Germany’s national soccer team was able to improve its performance and </a:t>
            </a:r>
            <a:r>
              <a:rPr lang="en-US" altLang="ko-KR" sz="1500" b="0" dirty="0">
                <a:solidFill>
                  <a:srgbClr val="111111"/>
                </a:solidFill>
                <a:highlight>
                  <a:srgbClr val="FFE45C"/>
                </a:highlight>
                <a:latin typeface="Calibri"/>
                <a:ea typeface="맑은 고딕"/>
                <a:cs typeface="Calibri"/>
              </a:rPr>
              <a:t>win the 2014 World Cup</a:t>
            </a:r>
            <a:r>
              <a:rPr lang="en-US" altLang="ko-KR" sz="1500" b="0" dirty="0">
                <a:solidFill>
                  <a:srgbClr val="B3BAC6"/>
                </a:solidFill>
                <a:latin typeface="Calibri"/>
                <a:ea typeface="맑은 고딕"/>
                <a:cs typeface="Calibri"/>
              </a:rPr>
              <a:t>.</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60985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빅데이터는 스포츠를 더 지루하게 만들고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01726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독일 축구팀은 2014년 월드컵에서 우승하였다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01726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독일 축구팀은 2014년 월드컵에서 우승하였다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42468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독일 축구팀은 소수의 선수 데이터만 모았다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383209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데이터에는 선수들의 식단 정보가 포함되었다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23951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데이터베이스는 경기력 향상에 효과가 없었다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72922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독일 축구팀은 2014년 월드컵에서 우승하였다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328158"/>
            <a:ext cx="11277295" cy="109092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데이터베이스의 도움으로 2014년 월드컵에서 우승했다고 했으므로 ②가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Are you a sports fan?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51409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51409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Well, big data is improving the performance of players, making sports more exciting. A famous example is Germany’s national soccer team.</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The team built a database by collecting and analyzing a huge amount of data on players. For example, the data included information about how much each player ran and how long he had the ball.</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1846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1846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③ </a:t>
            </a:r>
            <a:r>
              <a:rPr lang="en-US" altLang="ko-KR" sz="1800" b="0" dirty="0">
                <a:solidFill>
                  <a:srgbClr val="C00000"/>
                </a:solidFill>
                <a:highlight>
                  <a:srgbClr val="FFFFFF"/>
                </a:highlight>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69671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en-US" altLang="ko-KR" sz="1900" b="1" dirty="0">
                <a:solidFill>
                  <a:srgbClr val="5A4200"/>
                </a:solidFill>
                <a:latin typeface="Calibri"/>
                <a:ea typeface="맑은 고딕"/>
                <a:cs typeface="Calibri"/>
              </a:rPr>
              <a:t>(B) - (C)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295646"/>
            <a:ext cx="11277295" cy="112344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(B) 빅데이터가 경기력을 높이며 독일 축구팀을 예로 든다 → (C) 'The team'이 그 팀을 받아 데이터베이스 구축을 말한다 → (A) 'this database'의 도움으로 우승한다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Are you a sports fan?</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51409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51409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The team built a database by collecting and analyzing a huge amount of data on players. For example, the data included information about how much each player ran and how long he had the ball.</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Well, big data is improving the performance of players, making sports more exciting. A famous example is Germany’s national soccer team.</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41846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418465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⑤ </a:t>
            </a:r>
            <a:r>
              <a:rPr lang="en-US" altLang="ko-KR" sz="1800" b="0" dirty="0">
                <a:solidFill>
                  <a:srgbClr val="C00000"/>
                </a:solidFill>
                <a:highlight>
                  <a:srgbClr val="FFFFFF"/>
                </a:highlight>
                <a:latin typeface="Calibri"/>
                <a:ea typeface="맑은 고딕"/>
                <a:cs typeface="Calibri"/>
              </a:rPr>
              <a:t>(C) - (B) - (A)</a:t>
            </a:r>
            <a:endParaRPr lang="en-US" altLang="ko-KR" sz="1800" b="0" dirty="0">
              <a:solidFill>
                <a:srgbClr val="C00000"/>
              </a:solidFill>
              <a:latin typeface="Calibri"/>
              <a:ea typeface="맑은 고딕"/>
              <a:cs typeface="Calibri"/>
            </a:endParaRPr>
          </a:p>
        </p:txBody>
      </p:sp>
      <p:sp>
        <p:nvSpPr>
          <p:cNvPr id="13" name="rv_answer"/>
          <p:cNvSpPr/>
          <p:nvPr/>
        </p:nvSpPr>
        <p:spPr>
          <a:xfrm>
            <a:off x="457200" y="469671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(C) - (B) - (A)</a:t>
            </a:r>
            <a:endParaRPr lang="en-US" altLang="ko-KR" sz="1900" b="1" dirty="0">
              <a:solidFill>
                <a:srgbClr val="5A4200"/>
              </a:solidFill>
              <a:latin typeface="Calibri"/>
              <a:ea typeface="맑은 고딕"/>
              <a:cs typeface="Calibri"/>
            </a:endParaRPr>
          </a:p>
        </p:txBody>
      </p:sp>
      <p:sp>
        <p:nvSpPr>
          <p:cNvPr id="14" name="rv_why"/>
          <p:cNvSpPr/>
          <p:nvPr/>
        </p:nvSpPr>
        <p:spPr>
          <a:xfrm>
            <a:off x="457200" y="5295646"/>
            <a:ext cx="11277295" cy="112344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(C) 빅데이터가 경기력을 높인 예로 독일 축구팀을 든다 → (B) 'The team'이 데이터베이스를 구축한다 → (A) 'this database'가 그것을 받아 월드컵 우승으로 맺는다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The team built a database by collecting and analyzing a huge amount of data on players.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Are you a sports fan?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Well, big data is improving the performance of players, making sports more exciting.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 famous example is Germany’s national soccer team.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For example, the data included information about how much each player ran and how long he had the ball.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Are you a sports fan?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Well, big data is improving the performance of players, making sports more exciting.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 famous example is Germany’s national soccer team. </a:t>
            </a:r>
            <a:r>
              <a:rPr lang="ko-KR" altLang="en-US" sz="1800" b="1" dirty="0">
                <a:solidFill>
                  <a:srgbClr val="C00000"/>
                </a:solidFill>
                <a:highlight>
                  <a:srgbClr val="F3F5F9"/>
                </a:highlight>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For example, the data included information about how much each player ran and how long he had the ball.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2023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19168"/>
            <a:ext cx="11277295" cy="189991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문장의 'The team'은 독일 축구팀이고, 'the data'와 'this database'가 그 데이터베이스를 가리킨다. 팀 소개와 데이터 예시 사이인 ④가 자리다.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For example, the data included information about how much each player ran and how long he had the ball.</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Are you a sports fan?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Well, big data is improving the performance of players, making sports more exciting.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A famous example is Germany’s national soccer team.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The team built a database by collecting and analyzing a huge amount of data on players.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Are you a sports fan?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Well, big data is improving the performance of players, making sports more exciting.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A famous example is Germany’s national soccer team.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The team built a database by collecting and analyzing a huge amount of data on players. </a:t>
            </a:r>
            <a:r>
              <a:rPr lang="ko-KR" altLang="en-US" sz="1800" b="1" dirty="0">
                <a:solidFill>
                  <a:srgbClr val="C00000"/>
                </a:solidFill>
                <a:highlight>
                  <a:srgbClr val="F3F5F9"/>
                </a:highlight>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With the help of this database, Germany’s national soccer team was able to improve its performance and win the 2014 World Cup.</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2023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19168"/>
            <a:ext cx="11277295" cy="189991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'For example, the data'는 앞에서 모은 선수 데이터의 구체적 예다. 데이터베이스 구축 뒤, 'this database'로 우승을 말하기 전인 ⑤에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Are you a sports fan?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Well, big data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is improved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is improving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the performance of players, making sports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more exciting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more excited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 famous example is Germany’s national soccer team.</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 team built a database by collecting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analyzed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analyzing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a huge amount of data on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the data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included</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was included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information about how much each player ran and how long he had the ball.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With the help of this database, Germany’s national soccer team was able to improve its performance and win the 2014 World Cup.</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improved</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is 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performance of players, making sports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exciting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excited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by collecting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analyzed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analyzing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included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 included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to improve its performance and win the 2014 World Cup.</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improved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performance of players, making sports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more exciting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excited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by collecting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analyzed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analyzing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included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 included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to improve its performance and win the 2014 World Cup.</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improved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performance of players, making sports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exciting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excited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by collecting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analyzed</a:t>
            </a:r>
            <a:r>
              <a:rPr lang="en-US" altLang="ko-KR" sz="2200" b="1" dirty="0">
                <a:solidFill>
                  <a:srgbClr val="1F2328">
                    <a:alpha val="0"/>
                  </a:srgbClr>
                </a:solidFill>
                <a:latin typeface="Calibri"/>
                <a:ea typeface="맑은 고딕"/>
                <a:cs typeface="Calibri"/>
              </a:rPr>
              <a:t> / </a:t>
            </a:r>
            <a:r>
              <a:rPr lang="en-US" altLang="ko-KR" sz="2200" b="1" dirty="0">
                <a:solidFill>
                  <a:srgbClr val="C00000"/>
                </a:solidFill>
                <a:highlight>
                  <a:srgbClr val="F3F5F9"/>
                </a:highlight>
                <a:latin typeface="Calibri"/>
                <a:ea typeface="맑은 고딕"/>
                <a:cs typeface="Calibri"/>
              </a:rPr>
              <a:t>analyzing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included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 included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to improve its performance and win the 2014 World Cup.</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is improved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is 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the performance of players, making sports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more exciting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more excited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by collecting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analyzed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analyzing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included</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was included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to improve its performance and win the 2014 World Cup.</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L7-3</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37997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solidFill>
                <a:latin typeface="맑은 고딕"/>
                <a:ea typeface="맑은 고딕"/>
                <a:cs typeface="맑은 고딕"/>
              </a:rPr>
              <a:t>①</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Are you a sports fan?</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②</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Well, big data is improving the performance of players,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making sports</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made sports</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more exciting.</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③</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A famous example is Germany’s national soccer team.</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④</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The team built a database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by collecting</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by collected</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and analyzing a huge amount of data on players.</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⑤</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For example, the data included information about how much each player ran and how long he had the ball.</a:t>
            </a:r>
            <a:r>
              <a:rPr lang="en-US" altLang="ko-KR" sz="2200" b="0" dirty="0">
                <a:solidFill>
                  <a:srgbClr val="1F2328"/>
                </a:solidFill>
                <a:latin typeface="Calibri"/>
                <a:ea typeface="맑은 고딕"/>
                <a:cs typeface="Calibri"/>
              </a:rPr>
              <a:t>   </a:t>
            </a:r>
            <a:r>
              <a:rPr lang="ko-KR" altLang="en-US" sz="2200" b="1" dirty="0">
                <a:solidFill>
                  <a:srgbClr val="1E2A5A"/>
                </a:solidFill>
                <a:latin typeface="맑은 고딕"/>
                <a:ea typeface="맑은 고딕"/>
                <a:cs typeface="맑은 고딕"/>
              </a:rPr>
              <a:t>⑥</a:t>
            </a:r>
            <a:r>
              <a:rPr lang="en-US" altLang="ko-KR" sz="2200" b="0"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With the help of this database, Germany’s national soccer team was able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to improve</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improving</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its performance and </a:t>
            </a:r>
            <a:r>
              <a:rPr lang="en-US" altLang="ko-KR" sz="2200" b="1" dirty="0">
                <a:solidFill>
                  <a:srgbClr val="1F2328"/>
                </a:solidFill>
                <a:latin typeface="Calibri"/>
                <a:ea typeface="맑은 고딕"/>
                <a:cs typeface="Calibri"/>
              </a:rPr>
              <a:t>[ </a:t>
            </a:r>
            <a:r>
              <a:rPr lang="en-US" altLang="ko-KR" sz="2200" b="1" dirty="0">
                <a:solidFill>
                  <a:srgbClr val="1F2328"/>
                </a:solidFill>
                <a:latin typeface="Calibri"/>
                <a:ea typeface="맑은 고딕"/>
                <a:cs typeface="Calibri"/>
              </a:rPr>
              <a:t>win the 2014</a:t>
            </a:r>
            <a:r>
              <a:rPr lang="en-US" altLang="ko-KR" sz="2200" b="1" dirty="0">
                <a:solidFill>
                  <a:srgbClr val="1F2328"/>
                </a:solidFill>
                <a:latin typeface="Calibri"/>
                <a:ea typeface="맑은 고딕"/>
                <a:cs typeface="Calibri"/>
              </a:rPr>
              <a:t> / </a:t>
            </a:r>
            <a:r>
              <a:rPr lang="en-US" altLang="ko-KR" sz="2200" b="1" dirty="0">
                <a:solidFill>
                  <a:srgbClr val="1F2328"/>
                </a:solidFill>
                <a:latin typeface="Calibri"/>
                <a:ea typeface="맑은 고딕"/>
                <a:cs typeface="Calibri"/>
              </a:rPr>
              <a:t>won the 2014</a:t>
            </a:r>
            <a:r>
              <a:rPr lang="en-US" altLang="ko-KR" sz="2200" b="1" dirty="0">
                <a:solidFill>
                  <a:srgbClr val="1F2328"/>
                </a:solidFill>
                <a:latin typeface="Calibri"/>
                <a:ea typeface="맑은 고딕"/>
                <a:cs typeface="Calibri"/>
              </a:rPr>
              <a:t> ]</a:t>
            </a:r>
            <a:r>
              <a:rPr lang="en-US" altLang="ko-KR" sz="2200" b="0" dirty="0">
                <a:solidFill>
                  <a:srgbClr val="1F2328"/>
                </a:solidFill>
                <a:latin typeface="Calibri"/>
                <a:ea typeface="맑은 고딕"/>
                <a:cs typeface="Calibri"/>
              </a:rPr>
              <a:t> World Cup.</a:t>
            </a:r>
            <a:endParaRPr lang="en-US" altLang="ko-KR" sz="2200" b="0" dirty="0">
              <a:solidFill>
                <a:srgbClr val="1F2328"/>
              </a:solidFill>
              <a:latin typeface="Calibri"/>
              <a:ea typeface="맑은 고딕"/>
              <a:cs typeface="Calibri"/>
            </a:endParaRPr>
          </a:p>
        </p:txBody>
      </p:sp>
      <p:sp>
        <p:nvSpPr>
          <p:cNvPr id="9" name="rv_g01"/>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is improving the performance of players,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making sports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made sports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more exciting.</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by collecting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by collected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analyzing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included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improve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its performance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 the 2014</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won the 2014</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World Cup.</a:t>
            </a:r>
            <a:endParaRPr lang="en-US" altLang="ko-KR" sz="2200" b="0" dirty="0">
              <a:solidFill>
                <a:srgbClr val="1F2328"/>
              </a:solidFill>
              <a:latin typeface="Calibri"/>
              <a:ea typeface="맑은 고딕"/>
              <a:cs typeface="Calibri"/>
            </a:endParaRPr>
          </a:p>
        </p:txBody>
      </p:sp>
      <p:sp>
        <p:nvSpPr>
          <p:cNvPr id="10" name="rv_g02"/>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is improving the performance of players,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making sports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made sports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more exciting.</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by collecting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by collected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analyzing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included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improve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its performance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 the 2014</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won the 2014</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World Cup.</a:t>
            </a:r>
            <a:endParaRPr lang="en-US" altLang="ko-KR" sz="2200" b="0" dirty="0">
              <a:solidFill>
                <a:srgbClr val="1F2328"/>
              </a:solidFill>
              <a:latin typeface="Calibri"/>
              <a:ea typeface="맑은 고딕"/>
              <a:cs typeface="Calibri"/>
            </a:endParaRPr>
          </a:p>
        </p:txBody>
      </p:sp>
      <p:sp>
        <p:nvSpPr>
          <p:cNvPr id="11" name="rv_g03"/>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is improving the performance of players,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making sports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made sports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more exciting.</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by collecting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by collected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analyzing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included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to improve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its performance and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win the 2014</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won the 2014</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World Cup.</a:t>
            </a:r>
            <a:endParaRPr lang="en-US" altLang="ko-KR" sz="2200" b="0" dirty="0">
              <a:solidFill>
                <a:srgbClr val="1F2328"/>
              </a:solidFill>
              <a:latin typeface="Calibri"/>
              <a:ea typeface="맑은 고딕"/>
              <a:cs typeface="Calibri"/>
            </a:endParaRPr>
          </a:p>
        </p:txBody>
      </p:sp>
      <p:sp>
        <p:nvSpPr>
          <p:cNvPr id="12" name="rv_g04"/>
          <p:cNvSpPr txBox="1"/>
          <p:nvPr/>
        </p:nvSpPr>
        <p:spPr>
          <a:xfrm>
            <a:off x="457200" y="950976"/>
            <a:ext cx="11277295" cy="4379976"/>
          </a:xfrm>
          <a:prstGeom prst="rect">
            <a:avLst/>
          </a:prstGeom>
          <a:noFill/>
        </p:spPr>
        <p:txBody>
          <a:bodyPr wrap="square" lIns="228600" tIns="155448" rIns="228600" bIns="155448" anchor="t" rtlCol="0">
            <a:noAutofit/>
          </a:bodyPr>
          <a:lstStyle/>
          <a:p>
            <a:pPr algn="l">
              <a:lnSpc>
                <a:spcPts val="3560"/>
              </a:lnSpc>
              <a:spcBef>
                <a:spcPts val="0"/>
              </a:spcBef>
              <a:spcAft>
                <a:spcPts val="0"/>
              </a:spcAft>
              <a:buNone/>
            </a:pPr>
            <a:r>
              <a:rPr lang="ko-KR" altLang="en-US" sz="2200" b="1" dirty="0">
                <a:solidFill>
                  <a:srgbClr val="1E2A5A">
                    <a:alpha val="0"/>
                  </a:srgbClr>
                </a:solidFill>
                <a:latin typeface="맑은 고딕"/>
                <a:ea typeface="맑은 고딕"/>
                <a:cs typeface="맑은 고딕"/>
              </a:rPr>
              <a:t>①</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Are you a sports fan?</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②</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Well, big data is improving the performance of players,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making sports</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made sports</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more exciting.</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③</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A famous example is Germany’s national soccer team.</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④</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The team built a database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by collecting</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by collected</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and analyzing a huge amount of data on players.</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⑤</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For example, the data included information about how much each player ran and how long he had the ball.</a:t>
            </a:r>
            <a:r>
              <a:rPr lang="en-US" altLang="ko-KR" sz="2200" b="0" dirty="0">
                <a:solidFill>
                  <a:srgbClr val="1F2328">
                    <a:alpha val="0"/>
                  </a:srgbClr>
                </a:solidFill>
                <a:latin typeface="Calibri"/>
                <a:ea typeface="맑은 고딕"/>
                <a:cs typeface="Calibri"/>
              </a:rPr>
              <a:t>   </a:t>
            </a:r>
            <a:r>
              <a:rPr lang="ko-KR" altLang="en-US" sz="2200" b="1" dirty="0">
                <a:solidFill>
                  <a:srgbClr val="1E2A5A">
                    <a:alpha val="0"/>
                  </a:srgbClr>
                </a:solidFill>
                <a:latin typeface="맑은 고딕"/>
                <a:ea typeface="맑은 고딕"/>
                <a:cs typeface="맑은 고딕"/>
              </a:rPr>
              <a:t>⑥</a:t>
            </a:r>
            <a:r>
              <a:rPr lang="en-US" altLang="ko-KR" sz="2200" b="0"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With the help of this database, Germany’s national soccer team was able </a:t>
            </a:r>
            <a:r>
              <a:rPr lang="en-US" altLang="ko-KR" sz="2200" b="1" dirty="0">
                <a:solidFill>
                  <a:srgbClr val="1F2328">
                    <a:alpha val="0"/>
                  </a:srgbClr>
                </a:solidFill>
                <a:latin typeface="Calibri"/>
                <a:ea typeface="맑은 고딕"/>
                <a:cs typeface="Calibri"/>
              </a:rPr>
              <a:t>[ </a:t>
            </a:r>
            <a:r>
              <a:rPr lang="en-US" altLang="ko-KR" sz="2200" b="1" dirty="0">
                <a:solidFill>
                  <a:srgbClr val="1F2328">
                    <a:alpha val="0"/>
                  </a:srgbClr>
                </a:solidFill>
                <a:latin typeface="Calibri"/>
                <a:ea typeface="맑은 고딕"/>
                <a:cs typeface="Calibri"/>
              </a:rPr>
              <a:t>to improve</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improving</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its performance and </a:t>
            </a:r>
            <a:r>
              <a:rPr lang="en-US" altLang="ko-KR" sz="2200" b="1" dirty="0">
                <a:solidFill>
                  <a:srgbClr val="1F2328">
                    <a:alpha val="0"/>
                  </a:srgbClr>
                </a:solidFill>
                <a:latin typeface="Calibri"/>
                <a:ea typeface="맑은 고딕"/>
                <a:cs typeface="Calibri"/>
              </a:rPr>
              <a:t>[ </a:t>
            </a:r>
            <a:r>
              <a:rPr lang="en-US" altLang="ko-KR" sz="2200" b="1" dirty="0">
                <a:solidFill>
                  <a:srgbClr val="C00000"/>
                </a:solidFill>
                <a:highlight>
                  <a:srgbClr val="F3F5F9"/>
                </a:highlight>
                <a:latin typeface="Calibri"/>
                <a:ea typeface="맑은 고딕"/>
                <a:cs typeface="Calibri"/>
              </a:rPr>
              <a:t>win the 2014</a:t>
            </a:r>
            <a:r>
              <a:rPr lang="en-US" altLang="ko-KR" sz="2200" b="1" dirty="0">
                <a:solidFill>
                  <a:srgbClr val="1F2328">
                    <a:alpha val="0"/>
                  </a:srgbClr>
                </a:solidFill>
                <a:latin typeface="Calibri"/>
                <a:ea typeface="맑은 고딕"/>
                <a:cs typeface="Calibri"/>
              </a:rPr>
              <a:t> / </a:t>
            </a:r>
            <a:r>
              <a:rPr lang="en-US" altLang="ko-KR" sz="2200" b="1" dirty="0">
                <a:solidFill>
                  <a:srgbClr val="1F2328">
                    <a:alpha val="0"/>
                  </a:srgbClr>
                </a:solidFill>
                <a:latin typeface="Calibri"/>
                <a:ea typeface="맑은 고딕"/>
                <a:cs typeface="Calibri"/>
              </a:rPr>
              <a:t>won the 2014</a:t>
            </a:r>
            <a:r>
              <a:rPr lang="en-US" altLang="ko-KR" sz="2200" b="1" dirty="0">
                <a:solidFill>
                  <a:srgbClr val="1F2328">
                    <a:alpha val="0"/>
                  </a:srgbClr>
                </a:solidFill>
                <a:latin typeface="Calibri"/>
                <a:ea typeface="맑은 고딕"/>
                <a:cs typeface="Calibri"/>
              </a:rPr>
              <a:t> ]</a:t>
            </a:r>
            <a:r>
              <a:rPr lang="en-US" altLang="ko-KR" sz="2200" b="0" dirty="0">
                <a:solidFill>
                  <a:srgbClr val="1F2328">
                    <a:alpha val="0"/>
                  </a:srgbClr>
                </a:solidFill>
                <a:latin typeface="Calibri"/>
                <a:ea typeface="맑은 고딕"/>
                <a:cs typeface="Calibri"/>
              </a:rPr>
              <a:t> World Cup.</a:t>
            </a:r>
            <a:endParaRPr lang="en-US" altLang="ko-KR" sz="220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다음 글의 주제로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a:t>
            </a:r>
            <a:r>
              <a:rPr lang="en-US" altLang="ko-KR" sz="1500" b="0" dirty="0">
                <a:solidFill>
                  <a:srgbClr val="1F2328"/>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F2328"/>
                </a:solidFill>
                <a:latin typeface="Calibri"/>
                <a:ea typeface="맑은 고딕"/>
                <a:cs typeface="Calibri"/>
              </a:rPr>
              <a:t>Nobody knows for sure,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Thanks to big data, police can now predict crime before it happens.</a:t>
            </a:r>
            <a:r>
              <a:rPr lang="en-US" altLang="ko-KR" sz="1500" b="0" dirty="0">
                <a:solidFill>
                  <a:srgbClr val="B3BAC6"/>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11111"/>
                </a:solidFill>
                <a:highlight>
                  <a:srgbClr val="FFE45C"/>
                </a:highlight>
                <a:latin typeface="Calibri"/>
                <a:ea typeface="맑은 고딕"/>
                <a:cs typeface="Calibri"/>
              </a:rPr>
              <a:t>Nobody knows for sure, but experts agree that big data will play a more and more important role in our lives.</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the reasons crime happens more in some areas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the ways police make maps of their own big cities</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why nobody can know the future of crime maps</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use of big data in crime prevention and its future</a:t>
            </a:r>
            <a:endParaRPr lang="en-US" altLang="ko-KR" sz="1800" b="0" dirty="0">
              <a:solidFill>
                <a:srgbClr val="1F2328"/>
              </a:solidFill>
              <a:latin typeface="Calibri"/>
              <a:ea typeface="맑은 고딕"/>
              <a:cs typeface="Calibri"/>
            </a:endParaRPr>
          </a:p>
        </p:txBody>
      </p:sp>
      <p:sp>
        <p:nvSpPr>
          <p:cNvPr id="15" name="rv_pick"/>
          <p:cNvSpPr txBox="1"/>
          <p:nvPr/>
        </p:nvSpPr>
        <p:spPr>
          <a:xfrm>
            <a:off x="457200" y="4079748"/>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④</a:t>
            </a:r>
            <a:r>
              <a:rPr lang="en-US" altLang="ko-KR" sz="1800" b="0" dirty="0">
                <a:solidFill>
                  <a:srgbClr val="C00000"/>
                </a:solidFill>
                <a:latin typeface="Calibri"/>
                <a:ea typeface="맑은 고딕"/>
                <a:cs typeface="Calibri"/>
              </a:rPr>
              <a:t>	the use of big data in crime prevention and its future</a:t>
            </a:r>
            <a:endParaRPr lang="en-US" altLang="ko-KR" sz="1800" b="0" dirty="0">
              <a:solidFill>
                <a:srgbClr val="C00000"/>
              </a:solidFill>
              <a:latin typeface="Calibri"/>
              <a:ea typeface="맑은 고딕"/>
              <a:cs typeface="Calibri"/>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the dangers of big data for people's privacy</a:t>
            </a:r>
            <a:endParaRPr lang="en-US" altLang="ko-KR" sz="1800" b="0" dirty="0">
              <a:solidFill>
                <a:srgbClr val="1F2328"/>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the use of big data in crime prevention and its future</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빅데이터로 경찰이 범죄를 예측하고, 앞으로 그 역할이 더 중요해진다고 했다. 둘을 담은 ④가 주제다.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5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9" grpId="0" animBg="1"/>
      <p:bldP spid="10" grpId="0" animBg="1"/>
      <p:bldP spid="18"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다음 글의 제목으로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a:t>
            </a:r>
            <a:r>
              <a:rPr lang="en-US" altLang="ko-KR" sz="1500" b="0" dirty="0">
                <a:solidFill>
                  <a:srgbClr val="1F2328"/>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F2328"/>
                </a:solidFill>
                <a:latin typeface="Calibri"/>
                <a:ea typeface="맑은 고딕"/>
                <a:cs typeface="Calibri"/>
              </a:rPr>
              <a:t>Nobody knows for sure,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Thanks to big data, police can now predict crime before it happens.</a:t>
            </a:r>
            <a:r>
              <a:rPr lang="en-US" altLang="ko-KR" sz="1500" b="0" dirty="0">
                <a:solidFill>
                  <a:srgbClr val="B3BAC6"/>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11111"/>
                </a:solidFill>
                <a:highlight>
                  <a:srgbClr val="FFE45C"/>
                </a:highlight>
                <a:latin typeface="Calibri"/>
                <a:ea typeface="맑은 고딕"/>
                <a:cs typeface="Calibri"/>
              </a:rPr>
              <a:t>Nobody knows for sure, but experts agree that big data will play a more and more important role in our lives.</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en-US" altLang="ko-KR" sz="1800" b="0" dirty="0">
                <a:solidFill>
                  <a:srgbClr val="1F2328"/>
                </a:solidFill>
                <a:latin typeface="Calibri"/>
                <a:ea typeface="맑은 고딕"/>
                <a:cs typeface="Calibri"/>
              </a:rPr>
              <a:t>	Crime Maps Make Cities More Dangerous</a:t>
            </a:r>
            <a:endParaRPr lang="en-US" altLang="ko-KR" sz="1800" b="0" dirty="0">
              <a:solidFill>
                <a:srgbClr val="1F2328"/>
              </a:solidFill>
              <a:latin typeface="Calibri"/>
              <a:ea typeface="맑은 고딕"/>
              <a:cs typeface="Calibri"/>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en-US" altLang="ko-KR" sz="1800" b="0" dirty="0">
                <a:solidFill>
                  <a:srgbClr val="1F2328"/>
                </a:solidFill>
                <a:latin typeface="Calibri"/>
                <a:ea typeface="맑은 고딕"/>
                <a:cs typeface="Calibri"/>
              </a:rPr>
              <a:t>	Can Experts Predict Their Own Future?</a:t>
            </a:r>
            <a:endParaRPr lang="en-US" altLang="ko-KR" sz="1800" b="0" dirty="0">
              <a:solidFill>
                <a:srgbClr val="1F2328"/>
              </a:solidFill>
              <a:latin typeface="Calibri"/>
              <a:ea typeface="맑은 고딕"/>
              <a:cs typeface="Calibri"/>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en-US" altLang="ko-KR" sz="1800" b="0" dirty="0">
                <a:solidFill>
                  <a:srgbClr val="1F2328"/>
                </a:solidFill>
                <a:latin typeface="Calibri"/>
                <a:ea typeface="맑은 고딕"/>
                <a:cs typeface="Calibri"/>
              </a:rPr>
              <a:t>	Police Should Work Much Harder at Night</a:t>
            </a:r>
            <a:endParaRPr lang="en-US" altLang="ko-KR" sz="1800" b="0" dirty="0">
              <a:solidFill>
                <a:srgbClr val="1F2328"/>
              </a:solidFill>
              <a:latin typeface="Calibri"/>
              <a:ea typeface="맑은 고딕"/>
              <a:cs typeface="Calibri"/>
            </a:endParaRPr>
          </a:p>
        </p:txBody>
      </p:sp>
      <p:sp>
        <p:nvSpPr>
          <p:cNvPr id="14"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en-US" altLang="ko-KR" sz="1800" b="0" dirty="0">
                <a:solidFill>
                  <a:srgbClr val="1F2328"/>
                </a:solidFill>
                <a:latin typeface="Calibri"/>
                <a:ea typeface="맑은 고딕"/>
                <a:cs typeface="Calibri"/>
              </a:rPr>
              <a:t>	The Big Data Industry Will Soon Disappear</a:t>
            </a:r>
            <a:endParaRPr lang="en-US" altLang="ko-KR" sz="1800" b="0" dirty="0">
              <a:solidFill>
                <a:srgbClr val="1F2328"/>
              </a:solidFill>
              <a:latin typeface="Calibri"/>
              <a:ea typeface="맑은 고딕"/>
              <a:cs typeface="Calibri"/>
            </a:endParaRPr>
          </a:p>
        </p:txBody>
      </p:sp>
      <p:sp>
        <p:nvSpPr>
          <p:cNvPr id="15"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en-US" altLang="ko-KR" sz="1800" b="0" dirty="0">
                <a:solidFill>
                  <a:srgbClr val="1F2328"/>
                </a:solidFill>
                <a:latin typeface="Calibri"/>
                <a:ea typeface="맑은 고딕"/>
                <a:cs typeface="Calibri"/>
              </a:rPr>
              <a:t>	Big Data Fights Crime and Shapes the Future</a:t>
            </a:r>
            <a:endParaRPr lang="en-US" altLang="ko-KR" sz="1800" b="0" dirty="0">
              <a:solidFill>
                <a:srgbClr val="1F2328"/>
              </a:solidFill>
              <a:latin typeface="Calibri"/>
              <a:ea typeface="맑은 고딕"/>
              <a:cs typeface="Calibri"/>
            </a:endParaRPr>
          </a:p>
        </p:txBody>
      </p:sp>
      <p:sp>
        <p:nvSpPr>
          <p:cNvPr id="16" name="rv_pick"/>
          <p:cNvSpPr txBox="1"/>
          <p:nvPr/>
        </p:nvSpPr>
        <p:spPr>
          <a:xfrm>
            <a:off x="457200" y="4487164"/>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⑤</a:t>
            </a:r>
            <a:r>
              <a:rPr lang="en-US" altLang="ko-KR" sz="1800" b="0" dirty="0">
                <a:solidFill>
                  <a:srgbClr val="C00000"/>
                </a:solidFill>
                <a:latin typeface="Calibri"/>
                <a:ea typeface="맑은 고딕"/>
                <a:cs typeface="Calibri"/>
              </a:rPr>
              <a:t>	Big Data Fights Crime and Shapes the Future</a:t>
            </a:r>
            <a:endParaRPr lang="en-US" altLang="ko-KR" sz="1800" b="0" dirty="0">
              <a:solidFill>
                <a:srgbClr val="C00000"/>
              </a:solidFill>
              <a:latin typeface="Calibri"/>
              <a:ea typeface="맑은 고딕"/>
              <a:cs typeface="Calibri"/>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 </a:t>
            </a:r>
            <a:r>
              <a:rPr lang="en-US" altLang="ko-KR" sz="1900" b="1" dirty="0">
                <a:solidFill>
                  <a:srgbClr val="5A4200"/>
                </a:solidFill>
                <a:latin typeface="Calibri"/>
                <a:ea typeface="맑은 고딕"/>
                <a:cs typeface="Calibri"/>
              </a:rPr>
              <a:t>Big Data Fights Crime and Shapes the Future</a:t>
            </a:r>
            <a:endParaRPr lang="en-US" altLang="ko-KR" sz="1900" b="1" dirty="0">
              <a:solidFill>
                <a:srgbClr val="5A4200"/>
              </a:solidFill>
              <a:latin typeface="Calibri"/>
              <a:ea typeface="맑은 고딕"/>
              <a:cs typeface="Calibri"/>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빅데이터가 범죄를 막는 데 쓰이고 미래에 더 큰 역할을 한다고 했으므로 ⑤가 제목이다.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25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9" grpId="0" animBg="1"/>
      <p:bldP spid="10" grpId="0" animBg="1"/>
      <p:bldP spid="18"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다음 글에서 필자가 주장하는 바로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a:t>
            </a:r>
            <a:r>
              <a:rPr lang="en-US" altLang="ko-KR" sz="1500" b="0" dirty="0">
                <a:solidFill>
                  <a:srgbClr val="1F2328"/>
                </a:solidFill>
                <a:latin typeface="Calibri"/>
                <a:ea typeface="맑은 고딕"/>
                <a:cs typeface="Calibri"/>
              </a:rPr>
              <a:t>Police can prevent further crime by focusing on the areas and the times this map predicts.</a:t>
            </a:r>
            <a:r>
              <a:rPr lang="en-US" altLang="ko-KR" sz="1500" b="0" dirty="0">
                <a:solidFill>
                  <a:srgbClr val="1F2328"/>
                </a:solidFill>
                <a:latin typeface="Calibri"/>
                <a:ea typeface="맑은 고딕"/>
                <a:cs typeface="Calibri"/>
              </a:rPr>
              <a:t> Big data has already changed the world greatly. So where will the big data industry go from here? Nobody knows for sure,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a:t>
            </a:r>
            <a:r>
              <a:rPr lang="en-US" altLang="ko-KR" sz="1500" b="0" dirty="0">
                <a:solidFill>
                  <a:srgbClr val="111111"/>
                </a:solidFill>
                <a:highlight>
                  <a:srgbClr val="FFE45C"/>
                </a:highlight>
                <a:latin typeface="Calibri"/>
                <a:ea typeface="맑은 고딕"/>
                <a:cs typeface="Calibri"/>
              </a:rPr>
              <a:t>Police can prevent further crime by focusing on the areas and the times this map predicts.</a:t>
            </a:r>
            <a:r>
              <a:rPr lang="en-US" altLang="ko-KR" sz="1500" b="0" dirty="0">
                <a:solidFill>
                  <a:srgbClr val="B3BAC6"/>
                </a:solidFill>
                <a:latin typeface="Calibri"/>
                <a:ea typeface="맑은 고딕"/>
                <a:cs typeface="Calibri"/>
              </a:rPr>
              <a:t> Big data has already changed the world greatly. So where will the big data industry go from here? Nobody knows for sure, but experts agree that big data will play a more and more important role in our lives.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 분석을 범죄 예방에 적극적으로 활용해야 한다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85750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빅데이터 분석을 범죄 예방에 적극적으로 활용해야 한다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경찰은 범죄 다발 지역에 순찰 인력을 두 배로 늘려야 한다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범죄 지도는 시민들에게 공개하지 않고 비밀로 해야 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빅데이터 산업의 미래는 전문가에게 맡기지 말아야 한다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범죄의 유형보다 장소에 대한 정보를 더 많이 모아야 한다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빅데이터 분석을 범죄 예방에 적극적으로 활용해야 한다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지도가 예측한 지역과 시간에 집중해 추가 범죄를 막을 수 있다고 했다. 이를 옮긴 ①이 주장이다.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다음 글의 요지로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a:t>
            </a:r>
            <a:r>
              <a:rPr lang="en-US" altLang="ko-KR" sz="1500" b="0" dirty="0">
                <a:solidFill>
                  <a:srgbClr val="1F2328"/>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F2328"/>
                </a:solidFill>
                <a:latin typeface="Calibri"/>
                <a:ea typeface="맑은 고딕"/>
                <a:cs typeface="Calibri"/>
              </a:rPr>
              <a:t>Nobody knows for sure,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11111"/>
                </a:solidFill>
                <a:highlight>
                  <a:srgbClr val="FFE45C"/>
                </a:highlight>
                <a:latin typeface="Calibri"/>
                <a:ea typeface="맑은 고딕"/>
                <a:cs typeface="Calibri"/>
              </a:rPr>
              <a:t>Thanks to big data, police can now predict crime before it happens.</a:t>
            </a:r>
            <a:r>
              <a:rPr lang="en-US" altLang="ko-KR" sz="1500" b="0" dirty="0">
                <a:solidFill>
                  <a:srgbClr val="B3BAC6"/>
                </a:solidFill>
                <a:latin typeface="Calibri"/>
                <a:ea typeface="맑은 고딕"/>
                <a:cs typeface="Calibri"/>
              </a:rPr>
              <a:t>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11111"/>
                </a:solidFill>
                <a:highlight>
                  <a:srgbClr val="FFE45C"/>
                </a:highlight>
                <a:latin typeface="Calibri"/>
                <a:ea typeface="맑은 고딕"/>
                <a:cs typeface="Calibri"/>
              </a:rPr>
              <a:t>Nobody knows for sure, but experts agree that big data will play a more and more important role in our lives.</a:t>
            </a:r>
            <a:endParaRPr lang="en-US" altLang="ko-KR" sz="1500" b="0" dirty="0">
              <a:solidFill>
                <a:srgbClr val="111111"/>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범죄는 언제 어디서 일어날지 전혀 예측할 수 없다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빅데이터는 범죄 예측을 돕고 앞으로 더 중요해진다</a:t>
            </a:r>
            <a:endParaRPr lang="ko-KR" altLang="en-US" sz="1800" b="0" dirty="0">
              <a:solidFill>
                <a:srgbClr val="1F2328"/>
              </a:solidFill>
              <a:latin typeface="맑은 고딕"/>
              <a:ea typeface="맑은 고딕"/>
              <a:cs typeface="맑은 고딕"/>
            </a:endParaRPr>
          </a:p>
        </p:txBody>
      </p:sp>
      <p:sp>
        <p:nvSpPr>
          <p:cNvPr id="13" name="rv_pick"/>
          <p:cNvSpPr txBox="1"/>
          <p:nvPr/>
        </p:nvSpPr>
        <p:spPr>
          <a:xfrm>
            <a:off x="457200" y="3264916"/>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②</a:t>
            </a:r>
            <a:r>
              <a:rPr lang="ko-KR" altLang="en-US" sz="1800" b="0" dirty="0">
                <a:solidFill>
                  <a:srgbClr val="C00000"/>
                </a:solidFill>
                <a:latin typeface="맑은 고딕"/>
                <a:ea typeface="맑은 고딕"/>
                <a:cs typeface="맑은 고딕"/>
              </a:rPr>
              <a:t>	빅데이터는 범죄 예측을 돕고 앞으로 더 중요해진다</a:t>
            </a:r>
            <a:endParaRPr lang="ko-KR" altLang="en-US" sz="1800" b="0" dirty="0">
              <a:solidFill>
                <a:srgbClr val="C00000"/>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빅데이터 산업은 이미 그 성장이 거의 끝난 상태다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전문가들은 빅데이터의 역할에 대해 의견이 갈린다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범죄 지도는 경찰의 업무를 더 복잡하게 만든다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 </a:t>
            </a:r>
            <a:r>
              <a:rPr lang="ko-KR" altLang="en-US" sz="1900" b="1" dirty="0">
                <a:solidFill>
                  <a:srgbClr val="5A4200"/>
                </a:solidFill>
                <a:latin typeface="맑은 고딕"/>
                <a:ea typeface="맑은 고딕"/>
                <a:cs typeface="맑은 고딕"/>
              </a:rPr>
              <a:t>빅데이터는 범죄 예측을 돕고 앞으로 더 중요해진다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빅데이터는 범죄 예측을 돕고 우리 삶에서 점점 더 중요한 역할을 할 것이라 했으므로 ②가 요지다.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P spid="9" grpId="0" animBg="1"/>
      <p:bldP spid="10" grpId="0" animBg="1"/>
      <p:bldP spid="18"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5</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5. 다음 글의 내용과 일치하지 않는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F2328"/>
                </a:solidFill>
                <a:latin typeface="Calibri"/>
                <a:ea typeface="맑은 고딕"/>
                <a:cs typeface="Calibri"/>
              </a:rPr>
              <a:t>Nobody knows for sure</a:t>
            </a:r>
            <a:r>
              <a:rPr lang="en-US" altLang="ko-KR" sz="1500" b="0" dirty="0">
                <a:solidFill>
                  <a:srgbClr val="1F2328"/>
                </a:solidFill>
                <a:latin typeface="Calibri"/>
                <a:ea typeface="맑은 고딕"/>
                <a:cs typeface="Calibri"/>
              </a:rPr>
              <a:t>,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Police can prevent further crime by focusing on the areas and the times this map predicts. Big data has already changed the world greatly. So where will the big data industry go from here? </a:t>
            </a:r>
            <a:r>
              <a:rPr lang="en-US" altLang="ko-KR" sz="1500" b="0" dirty="0">
                <a:solidFill>
                  <a:srgbClr val="111111"/>
                </a:solidFill>
                <a:highlight>
                  <a:srgbClr val="FFE45C"/>
                </a:highlight>
                <a:latin typeface="Calibri"/>
                <a:ea typeface="맑은 고딕"/>
                <a:cs typeface="Calibri"/>
              </a:rPr>
              <a:t>Nobody knows for sure</a:t>
            </a:r>
            <a:r>
              <a:rPr lang="en-US" altLang="ko-KR" sz="1500" b="0" dirty="0">
                <a:solidFill>
                  <a:srgbClr val="B3BAC6"/>
                </a:solidFill>
                <a:latin typeface="Calibri"/>
                <a:ea typeface="맑은 고딕"/>
                <a:cs typeface="Calibri"/>
              </a:rPr>
              <a:t>, but experts agree that big data will play a more and more important role in our lives.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빅데이터 산업의 미래는 모두가 확실히 알고 있다</a:t>
            </a:r>
            <a:endParaRPr lang="ko-KR" altLang="en-US" sz="1800" b="0" dirty="0">
              <a:solidFill>
                <a:srgbClr val="1F2328"/>
              </a:solidFill>
              <a:latin typeface="맑은 고딕"/>
              <a:ea typeface="맑은 고딕"/>
              <a:cs typeface="맑은 고딕"/>
            </a:endParaRPr>
          </a:p>
        </p:txBody>
      </p:sp>
      <p:sp>
        <p:nvSpPr>
          <p:cNvPr id="12" name="rv_pick"/>
          <p:cNvSpPr txBox="1"/>
          <p:nvPr/>
        </p:nvSpPr>
        <p:spPr>
          <a:xfrm>
            <a:off x="457200" y="2857500"/>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①</a:t>
            </a:r>
            <a:r>
              <a:rPr lang="ko-KR" altLang="en-US" sz="1800" b="0" dirty="0">
                <a:solidFill>
                  <a:srgbClr val="C00000"/>
                </a:solidFill>
                <a:latin typeface="맑은 고딕"/>
                <a:ea typeface="맑은 고딕"/>
                <a:cs typeface="맑은 고딕"/>
              </a:rPr>
              <a:t>	빅데이터 산업의 미래는 모두가 확실히 알고 있다</a:t>
            </a:r>
            <a:endParaRPr lang="ko-KR" altLang="en-US" sz="1800" b="0" dirty="0">
              <a:solidFill>
                <a:srgbClr val="C00000"/>
              </a:solidFill>
              <a:latin typeface="맑은 고딕"/>
              <a:ea typeface="맑은 고딕"/>
              <a:cs typeface="맑은 고딕"/>
            </a:endParaRPr>
          </a:p>
        </p:txBody>
      </p:sp>
      <p:sp>
        <p:nvSpPr>
          <p:cNvPr id="13"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경찰은 빅데이터로 범죄를 미리 예측할 수 있다</a:t>
            </a:r>
            <a:endParaRPr lang="ko-KR" altLang="en-US" sz="1800" b="0" dirty="0">
              <a:solidFill>
                <a:srgbClr val="1F2328"/>
              </a:solidFill>
              <a:latin typeface="맑은 고딕"/>
              <a:ea typeface="맑은 고딕"/>
              <a:cs typeface="맑은 고딕"/>
            </a:endParaRPr>
          </a:p>
        </p:txBody>
      </p:sp>
      <p:sp>
        <p:nvSpPr>
          <p:cNvPr id="14"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범죄 지도는 범죄의 유형, 시간, 장소를 분석한다</a:t>
            </a:r>
            <a:endParaRPr lang="ko-KR" altLang="en-US" sz="1800" b="0" dirty="0">
              <a:solidFill>
                <a:srgbClr val="1F2328"/>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범죄 지도는 범죄가 일어날 시간과 장소를 보여준다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전문가들은 빅데이터의 역할이 커질 것이라 본다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ko-KR" altLang="en-US" sz="1900" b="1" dirty="0">
                <a:solidFill>
                  <a:srgbClr val="5A4200"/>
                </a:solidFill>
                <a:latin typeface="맑은 고딕"/>
                <a:ea typeface="맑은 고딕"/>
                <a:cs typeface="맑은 고딕"/>
              </a:rPr>
              <a:t>빅데이터 산업의 미래는 모두가 확실히 알고 있다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빅데이터 산업이 어디로 갈지 아무도 확실히 모른다('Nobody knows')고 했으므로 ①은 틀리다.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9" grpId="0" animBg="1"/>
      <p:bldP spid="10" grpId="0" animBg="1"/>
      <p:bldP spid="18"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1 · 6</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6. 다음 글의 내용과 일치하는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본문 근거 형광 + 정답 원리</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1F2328"/>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Police can prevent further crime </a:t>
            </a:r>
            <a:r>
              <a:rPr lang="en-US" altLang="ko-KR" sz="1500" b="0" dirty="0">
                <a:solidFill>
                  <a:srgbClr val="1F2328"/>
                </a:solidFill>
                <a:latin typeface="Calibri"/>
                <a:ea typeface="맑은 고딕"/>
                <a:cs typeface="Calibri"/>
              </a:rPr>
              <a:t>by focusing on the areas and the times</a:t>
            </a:r>
            <a:r>
              <a:rPr lang="en-US" altLang="ko-KR" sz="1500" b="0" dirty="0">
                <a:solidFill>
                  <a:srgbClr val="1F2328"/>
                </a:solidFill>
                <a:latin typeface="Calibri"/>
                <a:ea typeface="맑은 고딕"/>
                <a:cs typeface="Calibri"/>
              </a:rPr>
              <a:t> this map predicts. Big data has already changed the world greatly. So where will the big data industry go from here? Nobody knows for sure, but experts agree that big data will play a more and more important role in our lives.</a:t>
            </a:r>
            <a:endParaRPr lang="en-US" altLang="ko-KR" sz="1500" b="0" dirty="0">
              <a:solidFill>
                <a:srgbClr val="1F2328"/>
              </a:solidFill>
              <a:latin typeface="Calibri"/>
              <a:ea typeface="맑은 고딕"/>
              <a:cs typeface="Calibri"/>
            </a:endParaRPr>
          </a:p>
        </p:txBody>
      </p:sp>
      <p:sp>
        <p:nvSpPr>
          <p:cNvPr id="9" name="rv_evidence_card"/>
          <p:cNvSpPr/>
          <p:nvPr/>
        </p:nvSpPr>
        <p:spPr>
          <a:xfrm>
            <a:off x="457200" y="950976"/>
            <a:ext cx="11277295" cy="17602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rv_evidence"/>
          <p:cNvSpPr txBox="1"/>
          <p:nvPr/>
        </p:nvSpPr>
        <p:spPr>
          <a:xfrm>
            <a:off x="457200" y="950976"/>
            <a:ext cx="11277295" cy="1760219"/>
          </a:xfrm>
          <a:prstGeom prst="rect">
            <a:avLst/>
          </a:prstGeom>
          <a:noFill/>
        </p:spPr>
        <p:txBody>
          <a:bodyPr wrap="square" lIns="201168" tIns="118872" rIns="201168" bIns="118872" anchor="t" rtlCol="0">
            <a:noAutofit/>
          </a:bodyPr>
          <a:lstStyle/>
          <a:p>
            <a:pPr algn="just">
              <a:lnSpc>
                <a:spcPts val="1950"/>
              </a:lnSpc>
              <a:spcBef>
                <a:spcPts val="0"/>
              </a:spcBef>
              <a:spcAft>
                <a:spcPts val="0"/>
              </a:spcAft>
              <a:buNone/>
            </a:pPr>
            <a:r>
              <a:rPr lang="en-US" altLang="ko-KR" sz="1500" b="0" dirty="0">
                <a:solidFill>
                  <a:srgbClr val="B3BAC6"/>
                </a:solidFill>
                <a:latin typeface="Calibri"/>
                <a:ea typeface="맑은 고딕"/>
                <a:cs typeface="Calibri"/>
              </a:rPr>
              <a:t>Thanks to big data, police can now predict crime before it happens. Through the analysis of big data about the type, time and place of crime, police can make a map of crime hot spots. This map identifies when and where crime is most likely to happen. Police can prevent further crime </a:t>
            </a:r>
            <a:r>
              <a:rPr lang="en-US" altLang="ko-KR" sz="1500" b="0" dirty="0">
                <a:solidFill>
                  <a:srgbClr val="111111"/>
                </a:solidFill>
                <a:highlight>
                  <a:srgbClr val="FFE45C"/>
                </a:highlight>
                <a:latin typeface="Calibri"/>
                <a:ea typeface="맑은 고딕"/>
                <a:cs typeface="Calibri"/>
              </a:rPr>
              <a:t>by focusing on the areas and the times</a:t>
            </a:r>
            <a:r>
              <a:rPr lang="en-US" altLang="ko-KR" sz="1500" b="0" dirty="0">
                <a:solidFill>
                  <a:srgbClr val="B3BAC6"/>
                </a:solidFill>
                <a:latin typeface="Calibri"/>
                <a:ea typeface="맑은 고딕"/>
                <a:cs typeface="Calibri"/>
              </a:rPr>
              <a:t> this map predicts. Big data has already changed the world greatly. So where will the big data industry go from here? Nobody knows for sure, but experts agree that big data will play a more and more important role in our lives.</a:t>
            </a:r>
            <a:endParaRPr lang="en-US" altLang="ko-KR" sz="1500" b="0" dirty="0">
              <a:solidFill>
                <a:srgbClr val="B3BAC6"/>
              </a:solidFill>
              <a:latin typeface="Calibri"/>
              <a:ea typeface="맑은 고딕"/>
              <a:cs typeface="Calibri"/>
            </a:endParaRPr>
          </a:p>
        </p:txBody>
      </p:sp>
      <p:sp>
        <p:nvSpPr>
          <p:cNvPr id="11" name="choice_1"/>
          <p:cNvSpPr txBox="1"/>
          <p:nvPr/>
        </p:nvSpPr>
        <p:spPr>
          <a:xfrm>
            <a:off x="457200" y="2857500"/>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①</a:t>
            </a:r>
            <a:r>
              <a:rPr lang="ko-KR" altLang="en-US" sz="1800" b="0" dirty="0">
                <a:solidFill>
                  <a:srgbClr val="1F2328"/>
                </a:solidFill>
                <a:latin typeface="맑은 고딕"/>
                <a:ea typeface="맑은 고딕"/>
                <a:cs typeface="맑은 고딕"/>
              </a:rPr>
              <a:t>	경찰은 범죄가 일어난 후에만 대응할 수 있다</a:t>
            </a:r>
            <a:endParaRPr lang="ko-KR" altLang="en-US" sz="1800" b="0" dirty="0">
              <a:solidFill>
                <a:srgbClr val="1F2328"/>
              </a:solidFill>
              <a:latin typeface="맑은 고딕"/>
              <a:ea typeface="맑은 고딕"/>
              <a:cs typeface="맑은 고딕"/>
            </a:endParaRPr>
          </a:p>
        </p:txBody>
      </p:sp>
      <p:sp>
        <p:nvSpPr>
          <p:cNvPr id="12" name="choice_2"/>
          <p:cNvSpPr txBox="1"/>
          <p:nvPr/>
        </p:nvSpPr>
        <p:spPr>
          <a:xfrm>
            <a:off x="457200" y="3264916"/>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②</a:t>
            </a:r>
            <a:r>
              <a:rPr lang="ko-KR" altLang="en-US" sz="1800" b="0" dirty="0">
                <a:solidFill>
                  <a:srgbClr val="1F2328"/>
                </a:solidFill>
                <a:latin typeface="맑은 고딕"/>
                <a:ea typeface="맑은 고딕"/>
                <a:cs typeface="맑은 고딕"/>
              </a:rPr>
              <a:t>	범죄 지도는 범죄 피해자의 정보를 담고 있다</a:t>
            </a:r>
            <a:endParaRPr lang="ko-KR" altLang="en-US" sz="1800" b="0" dirty="0">
              <a:solidFill>
                <a:srgbClr val="1F2328"/>
              </a:solidFill>
              <a:latin typeface="맑은 고딕"/>
              <a:ea typeface="맑은 고딕"/>
              <a:cs typeface="맑은 고딕"/>
            </a:endParaRPr>
          </a:p>
        </p:txBody>
      </p:sp>
      <p:sp>
        <p:nvSpPr>
          <p:cNvPr id="13" name="choice_3"/>
          <p:cNvSpPr txBox="1"/>
          <p:nvPr/>
        </p:nvSpPr>
        <p:spPr>
          <a:xfrm>
            <a:off x="457200" y="3672332"/>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③</a:t>
            </a:r>
            <a:r>
              <a:rPr lang="ko-KR" altLang="en-US" sz="1800" b="0" dirty="0">
                <a:solidFill>
                  <a:srgbClr val="1F2328"/>
                </a:solidFill>
                <a:latin typeface="맑은 고딕"/>
                <a:ea typeface="맑은 고딕"/>
                <a:cs typeface="맑은 고딕"/>
              </a:rPr>
              <a:t>	경찰은 지도가 예측한 곳에 집중해 범죄를 막는다</a:t>
            </a:r>
            <a:endParaRPr lang="ko-KR" altLang="en-US" sz="1800" b="0" dirty="0">
              <a:solidFill>
                <a:srgbClr val="1F2328"/>
              </a:solidFill>
              <a:latin typeface="맑은 고딕"/>
              <a:ea typeface="맑은 고딕"/>
              <a:cs typeface="맑은 고딕"/>
            </a:endParaRPr>
          </a:p>
        </p:txBody>
      </p:sp>
      <p:sp>
        <p:nvSpPr>
          <p:cNvPr id="14" name="rv_pick"/>
          <p:cNvSpPr txBox="1"/>
          <p:nvPr/>
        </p:nvSpPr>
        <p:spPr>
          <a:xfrm>
            <a:off x="457200" y="3672332"/>
            <a:ext cx="11277295" cy="379984"/>
          </a:xfrm>
          <a:prstGeom prst="rect">
            <a:avLst/>
          </a:prstGeom>
          <a:solidFill>
            <a:srgbClr val="FFF3C4"/>
          </a:solid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C00000"/>
                </a:solidFill>
                <a:latin typeface="맑은 고딕"/>
                <a:ea typeface="맑은 고딕"/>
                <a:cs typeface="맑은 고딕"/>
              </a:rPr>
              <a:t>③</a:t>
            </a:r>
            <a:r>
              <a:rPr lang="ko-KR" altLang="en-US" sz="1800" b="0" dirty="0">
                <a:solidFill>
                  <a:srgbClr val="C00000"/>
                </a:solidFill>
                <a:latin typeface="맑은 고딕"/>
                <a:ea typeface="맑은 고딕"/>
                <a:cs typeface="맑은 고딕"/>
              </a:rPr>
              <a:t>	경찰은 지도가 예측한 곳에 집중해 범죄를 막는다</a:t>
            </a:r>
            <a:endParaRPr lang="ko-KR" altLang="en-US" sz="1800" b="0" dirty="0">
              <a:solidFill>
                <a:srgbClr val="C00000"/>
              </a:solidFill>
              <a:latin typeface="맑은 고딕"/>
              <a:ea typeface="맑은 고딕"/>
              <a:cs typeface="맑은 고딕"/>
            </a:endParaRPr>
          </a:p>
        </p:txBody>
      </p:sp>
      <p:sp>
        <p:nvSpPr>
          <p:cNvPr id="15" name="choice_4"/>
          <p:cNvSpPr txBox="1"/>
          <p:nvPr/>
        </p:nvSpPr>
        <p:spPr>
          <a:xfrm>
            <a:off x="457200" y="4079748"/>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④</a:t>
            </a:r>
            <a:r>
              <a:rPr lang="ko-KR" altLang="en-US" sz="1800" b="0" dirty="0">
                <a:solidFill>
                  <a:srgbClr val="1F2328"/>
                </a:solidFill>
                <a:latin typeface="맑은 고딕"/>
                <a:ea typeface="맑은 고딕"/>
                <a:cs typeface="맑은 고딕"/>
              </a:rPr>
              <a:t>	빅데이터는 아직 세상을 거의 바꾸지 못했다</a:t>
            </a:r>
            <a:endParaRPr lang="ko-KR" altLang="en-US" sz="1800" b="0" dirty="0">
              <a:solidFill>
                <a:srgbClr val="1F2328"/>
              </a:solidFill>
              <a:latin typeface="맑은 고딕"/>
              <a:ea typeface="맑은 고딕"/>
              <a:cs typeface="맑은 고딕"/>
            </a:endParaRPr>
          </a:p>
        </p:txBody>
      </p:sp>
      <p:sp>
        <p:nvSpPr>
          <p:cNvPr id="16" name="choice_5"/>
          <p:cNvSpPr txBox="1"/>
          <p:nvPr/>
        </p:nvSpPr>
        <p:spPr>
          <a:xfrm>
            <a:off x="457200" y="4487164"/>
            <a:ext cx="11277295" cy="379984"/>
          </a:xfrm>
          <a:prstGeom prst="rect">
            <a:avLst/>
          </a:prstGeom>
          <a:noFill/>
        </p:spPr>
        <p:txBody>
          <a:bodyPr wrap="square" lIns="137160" tIns="27432" rIns="137160" bIns="27432" anchor="t" rtlCol="0">
            <a:noAutofit/>
          </a:bodyPr>
          <a:lstStyle/>
          <a:p>
            <a:pPr algn="l" marL="365760" indent="-365760">
              <a:lnSpc>
                <a:spcPts val="2560"/>
              </a:lnSpc>
              <a:spcBef>
                <a:spcPts val="0"/>
              </a:spcBef>
              <a:spcAft>
                <a:spcPts val="0"/>
              </a:spcAft>
              <a:buNone/>
              <a:tabLst>
                <a:tab pos="365760" algn="l"/>
              </a:tabLst>
            </a:pPr>
            <a:r>
              <a:rPr lang="ko-KR" altLang="en-US" sz="1800" b="1" dirty="0">
                <a:solidFill>
                  <a:srgbClr val="1E2A5A"/>
                </a:solidFill>
                <a:latin typeface="맑은 고딕"/>
                <a:ea typeface="맑은 고딕"/>
                <a:cs typeface="맑은 고딕"/>
              </a:rPr>
              <a:t>⑤</a:t>
            </a:r>
            <a:r>
              <a:rPr lang="ko-KR" altLang="en-US" sz="1800" b="0" dirty="0">
                <a:solidFill>
                  <a:srgbClr val="1F2328"/>
                </a:solidFill>
                <a:latin typeface="맑은 고딕"/>
                <a:ea typeface="맑은 고딕"/>
                <a:cs typeface="맑은 고딕"/>
              </a:rPr>
              <a:t>	전문가들은 빅데이터의 역할이 줄 것이라 본다</a:t>
            </a:r>
            <a:endParaRPr lang="ko-KR" altLang="en-US" sz="1800" b="0" dirty="0">
              <a:solidFill>
                <a:srgbClr val="1F2328"/>
              </a:solidFill>
              <a:latin typeface="맑은 고딕"/>
              <a:ea typeface="맑은 고딕"/>
              <a:cs typeface="맑은 고딕"/>
            </a:endParaRPr>
          </a:p>
        </p:txBody>
      </p:sp>
      <p:sp>
        <p:nvSpPr>
          <p:cNvPr id="17" name="rv_answer"/>
          <p:cNvSpPr/>
          <p:nvPr/>
        </p:nvSpPr>
        <p:spPr>
          <a:xfrm>
            <a:off x="457200" y="497687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③ </a:t>
            </a:r>
            <a:r>
              <a:rPr lang="ko-KR" altLang="en-US" sz="1900" b="1" dirty="0">
                <a:solidFill>
                  <a:srgbClr val="5A4200"/>
                </a:solidFill>
                <a:latin typeface="맑은 고딕"/>
                <a:ea typeface="맑은 고딕"/>
                <a:cs typeface="맑은 고딕"/>
              </a:rPr>
              <a:t>경찰은 지도가 예측한 곳에 집중해 범죄를 막는다</a:t>
            </a:r>
            <a:endParaRPr lang="ko-KR" altLang="en-US" sz="1900" b="1" dirty="0">
              <a:solidFill>
                <a:srgbClr val="5A4200"/>
              </a:solidFill>
              <a:latin typeface="맑은 고딕"/>
              <a:ea typeface="맑은 고딕"/>
              <a:cs typeface="맑은 고딕"/>
            </a:endParaRPr>
          </a:p>
        </p:txBody>
      </p:sp>
      <p:sp>
        <p:nvSpPr>
          <p:cNvPr id="18" name="rv_why"/>
          <p:cNvSpPr/>
          <p:nvPr/>
        </p:nvSpPr>
        <p:spPr>
          <a:xfrm>
            <a:off x="457200" y="5575808"/>
            <a:ext cx="11277295" cy="84327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경찰은 지도가 예측한 지역과 시간에 집중해 추가 범죄를 막는다고 했으므로 ③이 일치한다.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5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5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5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9" grpId="0" animBg="1"/>
      <p:bldP spid="10" grpId="0" animBg="1"/>
      <p:bldP spid="18"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1</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1.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Thanks to big data, police can now predict crime before it happens.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Police can prevent further crime by focusing on the areas and the times this map predicts. Big data has already changed the world greatly.</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Through the analysis of big data about the type, time and place of crime, police can make a map of crime hot spots. This map identifies when and where crime is most likely to happen.</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alpha val="0"/>
                  </a:srgbClr>
                </a:solidFill>
                <a:latin typeface="맑은 고딕"/>
                <a:ea typeface="맑은 고딕"/>
                <a:cs typeface="맑은 고딕"/>
              </a:rPr>
              <a:t>① </a:t>
            </a:r>
            <a:r>
              <a:rPr lang="en-US" altLang="ko-KR" sz="1800" b="0" dirty="0">
                <a:solidFill>
                  <a:srgbClr val="1F2328">
                    <a:alpha val="0"/>
                  </a:srgbClr>
                </a:solidFill>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C00000"/>
                </a:solidFill>
                <a:highlight>
                  <a:srgbClr val="FFFFFF"/>
                </a:highlight>
                <a:latin typeface="맑은 고딕"/>
                <a:ea typeface="맑은 고딕"/>
                <a:cs typeface="맑은 고딕"/>
              </a:rPr>
              <a:t>④ </a:t>
            </a:r>
            <a:r>
              <a:rPr lang="en-US" altLang="ko-KR" sz="1800" b="0" dirty="0">
                <a:solidFill>
                  <a:srgbClr val="C00000"/>
                </a:solidFill>
                <a:highlight>
                  <a:srgbClr val="FFFFFF"/>
                </a:highlight>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④ </a:t>
            </a:r>
            <a:r>
              <a:rPr lang="en-US" altLang="ko-KR" sz="1900" b="1" dirty="0">
                <a:solidFill>
                  <a:srgbClr val="5A4200"/>
                </a:solidFill>
                <a:latin typeface="Calibri"/>
                <a:ea typeface="맑은 고딕"/>
                <a:cs typeface="Calibri"/>
              </a:rPr>
              <a:t>(C) - (A)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(C) 빅데이터 분석으로 범죄 지도를 만든다 → (A) 'this map'이 예측한 곳에 집중해 범죄를 막고 세상이 바뀌었다 → (B) 'So'로 산업의 미래를 묻고 맺는다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2</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2. 주어진 글 다음에 이어질 글의 순서로 가장 적절한 것은?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4818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481838"/>
          </a:xfrm>
          <a:prstGeom prst="rect">
            <a:avLst/>
          </a:prstGeom>
          <a:noFill/>
        </p:spPr>
        <p:txBody>
          <a:bodyPr wrap="square" lIns="201168" tIns="100584" rIns="201168" bIns="100584" anchor="t" rtlCol="0">
            <a:noAutofit/>
          </a:bodyPr>
          <a:lstStyle/>
          <a:p>
            <a:pPr algn="l">
              <a:lnSpc>
                <a:spcPts val="2210"/>
              </a:lnSpc>
              <a:spcBef>
                <a:spcPts val="0"/>
              </a:spcBef>
              <a:spcAft>
                <a:spcPts val="0"/>
              </a:spcAft>
              <a:buNone/>
            </a:pPr>
            <a:r>
              <a:rPr lang="en-US" altLang="ko-KR" sz="1700" b="0" dirty="0">
                <a:solidFill>
                  <a:srgbClr val="1F2328"/>
                </a:solidFill>
                <a:latin typeface="Calibri"/>
                <a:ea typeface="맑은 고딕"/>
                <a:cs typeface="Calibri"/>
              </a:rPr>
              <a:t>Thanks to big data, police can now predict crime before it happens.</a:t>
            </a:r>
            <a:endParaRPr lang="en-US" altLang="ko-KR" sz="1700" b="0" dirty="0">
              <a:solidFill>
                <a:srgbClr val="1F2328"/>
              </a:solidFill>
              <a:latin typeface="Calibri"/>
              <a:ea typeface="맑은 고딕"/>
              <a:cs typeface="Calibri"/>
            </a:endParaRPr>
          </a:p>
        </p:txBody>
      </p:sp>
      <p:sp>
        <p:nvSpPr>
          <p:cNvPr id="9" name="parts_card"/>
          <p:cNvSpPr/>
          <p:nvPr/>
        </p:nvSpPr>
        <p:spPr>
          <a:xfrm>
            <a:off x="457200" y="1560830"/>
            <a:ext cx="11277295" cy="2233422"/>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rts"/>
          <p:cNvSpPr txBox="1"/>
          <p:nvPr/>
        </p:nvSpPr>
        <p:spPr>
          <a:xfrm>
            <a:off x="457200" y="1560830"/>
            <a:ext cx="11277295" cy="2233422"/>
          </a:xfrm>
          <a:prstGeom prst="rect">
            <a:avLst/>
          </a:prstGeom>
          <a:noFill/>
        </p:spPr>
        <p:txBody>
          <a:bodyPr wrap="square" lIns="201168" tIns="118872" rIns="201168" bIns="118872" anchor="t" rtlCol="0">
            <a:noAutofit/>
          </a:bodyPr>
          <a:lstStyle/>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(A)</a:t>
            </a:r>
            <a:r>
              <a:rPr lang="en-US" altLang="ko-KR" sz="1700" b="0" dirty="0">
                <a:solidFill>
                  <a:srgbClr val="1F2328"/>
                </a:solidFill>
                <a:latin typeface="Calibri"/>
                <a:ea typeface="맑은 고딕"/>
                <a:cs typeface="Calibri"/>
              </a:rPr>
              <a:t>	Through the analysis of big data about the type, time and place of crime, police can make a map of crime hot spots. This map identifies when and where crime is most likely to happen.</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(B)</a:t>
            </a:r>
            <a:r>
              <a:rPr lang="en-US" altLang="ko-KR" sz="1700" b="0" dirty="0">
                <a:solidFill>
                  <a:srgbClr val="1F2328"/>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a:p>
            <a:pPr algn="just" marL="453390" indent="-453390">
              <a:lnSpc>
                <a:spcPts val="2210"/>
              </a:lnSpc>
              <a:spcBef>
                <a:spcPts val="0"/>
              </a:spcBef>
              <a:spcAft>
                <a:spcPts val="770"/>
              </a:spcAft>
              <a:buNone/>
              <a:tabLst>
                <a:tab pos="453390" algn="l"/>
              </a:tabLst>
            </a:pPr>
            <a:r>
              <a:rPr lang="en-US" altLang="ko-KR" sz="1700" b="1" dirty="0">
                <a:solidFill>
                  <a:srgbClr val="1E2A5A"/>
                </a:solidFill>
                <a:latin typeface="Calibri"/>
                <a:ea typeface="맑은 고딕"/>
                <a:cs typeface="Calibri"/>
              </a:rPr>
              <a:t>(C)</a:t>
            </a:r>
            <a:r>
              <a:rPr lang="en-US" altLang="ko-KR" sz="1700" b="0" dirty="0">
                <a:solidFill>
                  <a:srgbClr val="1F2328"/>
                </a:solidFill>
                <a:latin typeface="Calibri"/>
                <a:ea typeface="맑은 고딕"/>
                <a:cs typeface="Calibri"/>
              </a:rPr>
              <a:t>	Police can prevent further crime by focusing on the areas and the times this map predicts. Big data has already changed the world greatly.</a:t>
            </a:r>
            <a:endParaRPr lang="en-US" altLang="ko-KR" sz="1700" b="0" dirty="0">
              <a:solidFill>
                <a:srgbClr val="1F2328"/>
              </a:solidFill>
              <a:latin typeface="Calibri"/>
              <a:ea typeface="맑은 고딕"/>
              <a:cs typeface="Calibri"/>
            </a:endParaRPr>
          </a:p>
        </p:txBody>
      </p:sp>
      <p:sp>
        <p:nvSpPr>
          <p:cNvPr id="11" name="options"/>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1E2A5A"/>
                </a:solidFill>
                <a:latin typeface="맑은 고딕"/>
                <a:ea typeface="맑은 고딕"/>
                <a:cs typeface="맑은 고딕"/>
              </a:rPr>
              <a:t>① </a:t>
            </a:r>
            <a:r>
              <a:rPr lang="en-US" altLang="ko-KR" sz="1800" b="0" dirty="0">
                <a:solidFill>
                  <a:srgbClr val="1F2328"/>
                </a:solidFill>
                <a:latin typeface="Calibri"/>
                <a:ea typeface="맑은 고딕"/>
                <a:cs typeface="Calibri"/>
              </a:rPr>
              <a:t>(A) - (C)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② </a:t>
            </a:r>
            <a:r>
              <a:rPr lang="en-US" altLang="ko-KR" sz="1800" b="0" dirty="0">
                <a:solidFill>
                  <a:srgbClr val="1F2328"/>
                </a:solidFill>
                <a:latin typeface="Calibri"/>
                <a:ea typeface="맑은 고딕"/>
                <a:cs typeface="Calibri"/>
              </a:rPr>
              <a:t>(B) - (A) - (C)</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③ </a:t>
            </a:r>
            <a:r>
              <a:rPr lang="en-US" altLang="ko-KR" sz="1800" b="0" dirty="0">
                <a:solidFill>
                  <a:srgbClr val="1F2328"/>
                </a:solidFill>
                <a:latin typeface="Calibri"/>
                <a:ea typeface="맑은 고딕"/>
                <a:cs typeface="Calibri"/>
              </a:rPr>
              <a:t>(B) - (C) - (A)</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④ </a:t>
            </a:r>
            <a:r>
              <a:rPr lang="en-US" altLang="ko-KR" sz="1800" b="0" dirty="0">
                <a:solidFill>
                  <a:srgbClr val="1F2328"/>
                </a:solidFill>
                <a:latin typeface="Calibri"/>
                <a:ea typeface="맑은 고딕"/>
                <a:cs typeface="Calibri"/>
              </a:rPr>
              <a:t>(C) - (A) - (B)</a:t>
            </a:r>
            <a:r>
              <a:rPr lang="en-US" altLang="ko-KR" sz="1800" b="0" dirty="0">
                <a:solidFill>
                  <a:srgbClr val="1F2328"/>
                </a:solidFill>
                <a:latin typeface="Calibri"/>
                <a:ea typeface="맑은 고딕"/>
                <a:cs typeface="Calibri"/>
              </a:rPr>
              <a:t>       </a:t>
            </a:r>
            <a:r>
              <a:rPr lang="ko-KR" altLang="en-US" sz="1800" b="1" dirty="0">
                <a:solidFill>
                  <a:srgbClr val="1E2A5A"/>
                </a:solidFill>
                <a:latin typeface="맑은 고딕"/>
                <a:ea typeface="맑은 고딕"/>
                <a:cs typeface="맑은 고딕"/>
              </a:rPr>
              <a:t>⑤ </a:t>
            </a:r>
            <a:r>
              <a:rPr lang="en-US" altLang="ko-KR" sz="1800" b="0" dirty="0">
                <a:solidFill>
                  <a:srgbClr val="1F2328"/>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2" name="rv_pick"/>
          <p:cNvSpPr txBox="1"/>
          <p:nvPr/>
        </p:nvSpPr>
        <p:spPr>
          <a:xfrm>
            <a:off x="457200" y="3903980"/>
            <a:ext cx="11277295" cy="420624"/>
          </a:xfrm>
          <a:prstGeom prst="rect">
            <a:avLst/>
          </a:prstGeom>
          <a:noFill/>
        </p:spPr>
        <p:txBody>
          <a:bodyPr wrap="square" lIns="91440" tIns="18288" rIns="91440" bIns="18288" anchor="ctr" rtlCol="0">
            <a:noAutofit/>
          </a:bodyPr>
          <a:lstStyle/>
          <a:p>
            <a:pPr algn="ctr">
              <a:lnSpc>
                <a:spcPts val="2560"/>
              </a:lnSpc>
              <a:spcBef>
                <a:spcPts val="0"/>
              </a:spcBef>
              <a:spcAft>
                <a:spcPts val="0"/>
              </a:spcAft>
              <a:buNone/>
            </a:pPr>
            <a:r>
              <a:rPr lang="ko-KR" altLang="en-US" sz="1800" b="1" dirty="0">
                <a:solidFill>
                  <a:srgbClr val="C00000"/>
                </a:solidFill>
                <a:highlight>
                  <a:srgbClr val="FFFFFF"/>
                </a:highlight>
                <a:latin typeface="맑은 고딕"/>
                <a:ea typeface="맑은 고딕"/>
                <a:cs typeface="맑은 고딕"/>
              </a:rPr>
              <a:t>① </a:t>
            </a:r>
            <a:r>
              <a:rPr lang="en-US" altLang="ko-KR" sz="1800" b="0" dirty="0">
                <a:solidFill>
                  <a:srgbClr val="C00000"/>
                </a:solidFill>
                <a:highlight>
                  <a:srgbClr val="FFFFFF"/>
                </a:highlight>
                <a:latin typeface="Calibri"/>
                <a:ea typeface="맑은 고딕"/>
                <a:cs typeface="Calibri"/>
              </a:rPr>
              <a:t>(A) - (C)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② </a:t>
            </a:r>
            <a:r>
              <a:rPr lang="en-US" altLang="ko-KR" sz="1800" b="0" dirty="0">
                <a:solidFill>
                  <a:srgbClr val="1F2328">
                    <a:alpha val="0"/>
                  </a:srgbClr>
                </a:solidFill>
                <a:latin typeface="Calibri"/>
                <a:ea typeface="맑은 고딕"/>
                <a:cs typeface="Calibri"/>
              </a:rPr>
              <a:t>(B) - (A) - (C)</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③ </a:t>
            </a:r>
            <a:r>
              <a:rPr lang="en-US" altLang="ko-KR" sz="1800" b="0" dirty="0">
                <a:solidFill>
                  <a:srgbClr val="1F2328">
                    <a:alpha val="0"/>
                  </a:srgbClr>
                </a:solidFill>
                <a:latin typeface="Calibri"/>
                <a:ea typeface="맑은 고딕"/>
                <a:cs typeface="Calibri"/>
              </a:rPr>
              <a:t>(B) - (C) - (A)</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④ </a:t>
            </a:r>
            <a:r>
              <a:rPr lang="en-US" altLang="ko-KR" sz="1800" b="0" dirty="0">
                <a:solidFill>
                  <a:srgbClr val="1F2328">
                    <a:alpha val="0"/>
                  </a:srgbClr>
                </a:solidFill>
                <a:latin typeface="Calibri"/>
                <a:ea typeface="맑은 고딕"/>
                <a:cs typeface="Calibri"/>
              </a:rPr>
              <a:t>(C) - (A) - (B)</a:t>
            </a:r>
            <a:r>
              <a:rPr lang="en-US" altLang="ko-KR" sz="1800" b="0" dirty="0">
                <a:solidFill>
                  <a:srgbClr val="1F2328">
                    <a:alpha val="0"/>
                  </a:srgbClr>
                </a:solidFill>
                <a:latin typeface="Calibri"/>
                <a:ea typeface="맑은 고딕"/>
                <a:cs typeface="Calibri"/>
              </a:rPr>
              <a:t>       </a:t>
            </a:r>
            <a:r>
              <a:rPr lang="ko-KR" altLang="en-US" sz="1800" b="1" dirty="0">
                <a:solidFill>
                  <a:srgbClr val="1E2A5A">
                    <a:alpha val="0"/>
                  </a:srgbClr>
                </a:solidFill>
                <a:latin typeface="맑은 고딕"/>
                <a:ea typeface="맑은 고딕"/>
                <a:cs typeface="맑은 고딕"/>
              </a:rPr>
              <a:t>⑤ </a:t>
            </a:r>
            <a:r>
              <a:rPr lang="en-US" altLang="ko-KR" sz="1800" b="0" dirty="0">
                <a:solidFill>
                  <a:srgbClr val="1F2328">
                    <a:alpha val="0"/>
                  </a:srgbClr>
                </a:solidFill>
                <a:latin typeface="Calibri"/>
                <a:ea typeface="맑은 고딕"/>
                <a:cs typeface="Calibri"/>
              </a:rPr>
              <a:t>(C) - (B) - (A)</a:t>
            </a:r>
            <a:endParaRPr lang="en-US" altLang="ko-KR" sz="1800" b="0" dirty="0">
              <a:solidFill>
                <a:srgbClr val="1F2328"/>
              </a:solidFill>
              <a:latin typeface="Calibri"/>
              <a:ea typeface="맑은 고딕"/>
              <a:cs typeface="Calibri"/>
            </a:endParaRPr>
          </a:p>
        </p:txBody>
      </p:sp>
      <p:sp>
        <p:nvSpPr>
          <p:cNvPr id="13" name="rv_answer"/>
          <p:cNvSpPr/>
          <p:nvPr/>
        </p:nvSpPr>
        <p:spPr>
          <a:xfrm>
            <a:off x="457200" y="4416044"/>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① </a:t>
            </a:r>
            <a:r>
              <a:rPr lang="en-US" altLang="ko-KR" sz="1900" b="1" dirty="0">
                <a:solidFill>
                  <a:srgbClr val="5A4200"/>
                </a:solidFill>
                <a:latin typeface="Calibri"/>
                <a:ea typeface="맑은 고딕"/>
                <a:cs typeface="Calibri"/>
              </a:rPr>
              <a:t>(A) - (C) - (B)</a:t>
            </a:r>
            <a:endParaRPr lang="en-US" altLang="ko-KR" sz="1900" b="1" dirty="0">
              <a:solidFill>
                <a:srgbClr val="5A4200"/>
              </a:solidFill>
              <a:latin typeface="Calibri"/>
              <a:ea typeface="맑은 고딕"/>
              <a:cs typeface="Calibri"/>
            </a:endParaRPr>
          </a:p>
        </p:txBody>
      </p:sp>
      <p:sp>
        <p:nvSpPr>
          <p:cNvPr id="14" name="rv_why"/>
          <p:cNvSpPr/>
          <p:nvPr/>
        </p:nvSpPr>
        <p:spPr>
          <a:xfrm>
            <a:off x="457200" y="5014976"/>
            <a:ext cx="11277295" cy="1404111"/>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(A) 빅데이터 분석으로 범죄 지도를 만든다 → (C) 'this map'이 예측한 곳에 집중해 범죄를 막는다 → (B) 'So where will'로 산업의 미래를 묻고 맺는다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3</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3.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50723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50723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Big data has already changed the world greatly.</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604518"/>
            <a:ext cx="11277295" cy="2225040"/>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Thanks to big data, police can now predict crime before it happens.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Through the analysis of big data about the type, time and place of crime, police can make a map of crime hot spots.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This map identifies when and where crime is most likely to happen.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Police can prevent further crime by focusing on the areas and the times this map predicts.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604518"/>
            <a:ext cx="11277295" cy="2225040"/>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Thanks to big data, police can now predict crime before it happens. </a:t>
            </a:r>
            <a:r>
              <a:rPr lang="ko-KR" altLang="en-US" sz="1800" b="1" dirty="0">
                <a:solidFill>
                  <a:srgbClr val="1E2A5A">
                    <a:alpha val="0"/>
                  </a:srgbClr>
                </a:solidFill>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Through the analysis of big data about the type, time and place of crime, police can make a map of crime hot spots.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This map identifies when and where crime is most likely to happen.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Police can prevent further crime by focusing on the areas and the times this map predicts. </a:t>
            </a:r>
            <a:r>
              <a:rPr lang="ko-KR" altLang="en-US" sz="1800" b="1" dirty="0">
                <a:solidFill>
                  <a:srgbClr val="C00000"/>
                </a:solidFill>
                <a:highlight>
                  <a:srgbClr val="F3F5F9"/>
                </a:highlight>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39286"/>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⑤</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38218"/>
            <a:ext cx="11277295" cy="188086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주어진 문장은 범죄 사례를 세상의 변화로 넓힌다. 'So where will'은 그 변화를 받아 산업의 미래를 물으므로 주어진 문장은 ⑤에 들어간다.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2 · 4</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4. 글의 흐름으로 보아, 주어진 문장이 들어가기에 가장 적절한 곳은?</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 ① 정답 공개   →   클릭 ② 정답 원리</a:t>
            </a:r>
            <a:endParaRPr lang="ko-KR" altLang="en-US" sz="1000" b="0" dirty="0">
              <a:solidFill>
                <a:srgbClr val="7A808C"/>
              </a:solidFill>
              <a:latin typeface="맑은 고딕"/>
              <a:ea typeface="맑은 고딕"/>
              <a:cs typeface="맑은 고딕"/>
            </a:endParaRPr>
          </a:p>
        </p:txBody>
      </p:sp>
      <p:sp>
        <p:nvSpPr>
          <p:cNvPr id="7" name="given_card"/>
          <p:cNvSpPr/>
          <p:nvPr/>
        </p:nvSpPr>
        <p:spPr>
          <a:xfrm>
            <a:off x="457200" y="950976"/>
            <a:ext cx="11277295" cy="813308"/>
          </a:xfrm>
          <a:prstGeom prst="roundRect">
            <a:avLst>
              <a:gd name="adj" fmla="val 6000"/>
            </a:avLst>
          </a:prstGeom>
          <a:solidFill>
            <a:srgbClr val="FFFFFF"/>
          </a:solidFill>
          <a:ln w="15875">
            <a:solidFill>
              <a:srgbClr val="1E2A5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given"/>
          <p:cNvSpPr txBox="1"/>
          <p:nvPr/>
        </p:nvSpPr>
        <p:spPr>
          <a:xfrm>
            <a:off x="457200" y="950976"/>
            <a:ext cx="11277295" cy="813308"/>
          </a:xfrm>
          <a:prstGeom prst="rect">
            <a:avLst/>
          </a:prstGeom>
          <a:noFill/>
        </p:spPr>
        <p:txBody>
          <a:bodyPr wrap="square" lIns="201168" tIns="100584" rIns="201168" bIns="100584"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주어진 문장</a:t>
            </a:r>
            <a:r>
              <a:rPr lang="en-US" altLang="ko-KR" sz="1700" b="0" dirty="0">
                <a:solidFill>
                  <a:srgbClr val="1F2328"/>
                </a:solidFill>
                <a:latin typeface="Calibri"/>
                <a:ea typeface="맑은 고딕"/>
                <a:cs typeface="Calibri"/>
              </a:rPr>
              <a:t>   Through the analysis of big data about the type, time and place of crime, police can make a map of crime hot spots.</a:t>
            </a:r>
            <a:endParaRPr lang="en-US" altLang="ko-KR" sz="1700" b="0" dirty="0">
              <a:solidFill>
                <a:srgbClr val="1F2328"/>
              </a:solidFill>
              <a:latin typeface="Calibri"/>
              <a:ea typeface="맑은 고딕"/>
              <a:cs typeface="Calibri"/>
            </a:endParaRPr>
          </a:p>
        </p:txBody>
      </p:sp>
      <p:sp>
        <p:nvSpPr>
          <p:cNvPr id="9" name="passage_card"/>
          <p:cNvSpPr/>
          <p:nvPr/>
        </p:nvSpPr>
        <p:spPr>
          <a:xfrm>
            <a:off x="457200" y="1910587"/>
            <a:ext cx="11277295" cy="1899919"/>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10" name="passage"/>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solidFill>
                <a:latin typeface="Calibri"/>
                <a:ea typeface="맑은 고딕"/>
                <a:cs typeface="Calibri"/>
              </a:rPr>
              <a:t>Thanks to big data, police can now predict crime before it happens. </a:t>
            </a:r>
            <a:r>
              <a:rPr lang="ko-KR" altLang="en-US" sz="1800" b="1" dirty="0">
                <a:solidFill>
                  <a:srgbClr val="1E2A5A"/>
                </a:solidFill>
                <a:latin typeface="맑은 고딕"/>
                <a:ea typeface="맑은 고딕"/>
                <a:cs typeface="맑은 고딕"/>
              </a:rPr>
              <a:t>②</a:t>
            </a:r>
            <a:r>
              <a:rPr lang="en-US" altLang="ko-KR" sz="1700" b="0" dirty="0">
                <a:solidFill>
                  <a:srgbClr val="1F2328"/>
                </a:solidFill>
                <a:latin typeface="Calibri"/>
                <a:ea typeface="맑은 고딕"/>
                <a:cs typeface="Calibri"/>
              </a:rPr>
              <a:t> This map identifies when and where crime is most likely to happen. </a:t>
            </a:r>
            <a:r>
              <a:rPr lang="ko-KR" altLang="en-US" sz="1800" b="1" dirty="0">
                <a:solidFill>
                  <a:srgbClr val="1E2A5A"/>
                </a:solidFill>
                <a:latin typeface="맑은 고딕"/>
                <a:ea typeface="맑은 고딕"/>
                <a:cs typeface="맑은 고딕"/>
              </a:rPr>
              <a:t>③</a:t>
            </a:r>
            <a:r>
              <a:rPr lang="en-US" altLang="ko-KR" sz="1700" b="0" dirty="0">
                <a:solidFill>
                  <a:srgbClr val="1F2328"/>
                </a:solidFill>
                <a:latin typeface="Calibri"/>
                <a:ea typeface="맑은 고딕"/>
                <a:cs typeface="Calibri"/>
              </a:rPr>
              <a:t> Police can prevent further crime by focusing on the areas and the times this map predicts. </a:t>
            </a:r>
            <a:r>
              <a:rPr lang="ko-KR" altLang="en-US" sz="1800" b="1" dirty="0">
                <a:solidFill>
                  <a:srgbClr val="1E2A5A"/>
                </a:solidFill>
                <a:latin typeface="맑은 고딕"/>
                <a:ea typeface="맑은 고딕"/>
                <a:cs typeface="맑은 고딕"/>
              </a:rPr>
              <a:t>④</a:t>
            </a:r>
            <a:r>
              <a:rPr lang="en-US" altLang="ko-KR" sz="1700" b="0" dirty="0">
                <a:solidFill>
                  <a:srgbClr val="1F2328"/>
                </a:solidFill>
                <a:latin typeface="Calibri"/>
                <a:ea typeface="맑은 고딕"/>
                <a:cs typeface="Calibri"/>
              </a:rPr>
              <a:t> Big data has already changed the world greatly. </a:t>
            </a:r>
            <a:r>
              <a:rPr lang="ko-KR" altLang="en-US" sz="1800" b="1" dirty="0">
                <a:solidFill>
                  <a:srgbClr val="1E2A5A"/>
                </a:solidFill>
                <a:latin typeface="맑은 고딕"/>
                <a:ea typeface="맑은 고딕"/>
                <a:cs typeface="맑은 고딕"/>
              </a:rPr>
              <a:t>⑤</a:t>
            </a:r>
            <a:r>
              <a:rPr lang="en-US" altLang="ko-KR" sz="1700" b="0" dirty="0">
                <a:solidFill>
                  <a:srgbClr val="1F2328"/>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p:txBody>
      </p:sp>
      <p:sp>
        <p:nvSpPr>
          <p:cNvPr id="11" name="rv_pick"/>
          <p:cNvSpPr txBox="1"/>
          <p:nvPr/>
        </p:nvSpPr>
        <p:spPr>
          <a:xfrm>
            <a:off x="457200" y="1910587"/>
            <a:ext cx="11277295" cy="1899919"/>
          </a:xfrm>
          <a:prstGeom prst="rect">
            <a:avLst/>
          </a:prstGeom>
          <a:noFill/>
        </p:spPr>
        <p:txBody>
          <a:bodyPr wrap="square" lIns="201168" tIns="118872" rIns="201168" bIns="118872" anchor="t" rtlCol="0">
            <a:noAutofit/>
          </a:bodyPr>
          <a:lstStyle/>
          <a:p>
            <a:pPr algn="just">
              <a:lnSpc>
                <a:spcPts val="2560"/>
              </a:lnSpc>
              <a:spcBef>
                <a:spcPts val="0"/>
              </a:spcBef>
              <a:spcAft>
                <a:spcPts val="0"/>
              </a:spcAft>
              <a:buNone/>
            </a:pPr>
            <a:r>
              <a:rPr lang="en-US" altLang="ko-KR" sz="1700" b="0" dirty="0">
                <a:solidFill>
                  <a:srgbClr val="1F2328">
                    <a:alpha val="0"/>
                  </a:srgbClr>
                </a:solidFill>
                <a:latin typeface="Calibri"/>
                <a:ea typeface="맑은 고딕"/>
                <a:cs typeface="Calibri"/>
              </a:rPr>
              <a:t>Thanks to big data, police can now predict crime before it happens. </a:t>
            </a:r>
            <a:r>
              <a:rPr lang="ko-KR" altLang="en-US" sz="1800" b="1" dirty="0">
                <a:solidFill>
                  <a:srgbClr val="C00000"/>
                </a:solidFill>
                <a:highlight>
                  <a:srgbClr val="F3F5F9"/>
                </a:highlight>
                <a:latin typeface="맑은 고딕"/>
                <a:ea typeface="맑은 고딕"/>
                <a:cs typeface="맑은 고딕"/>
              </a:rPr>
              <a:t>②</a:t>
            </a:r>
            <a:r>
              <a:rPr lang="en-US" altLang="ko-KR" sz="1700" b="0" dirty="0">
                <a:solidFill>
                  <a:srgbClr val="1F2328">
                    <a:alpha val="0"/>
                  </a:srgbClr>
                </a:solidFill>
                <a:latin typeface="Calibri"/>
                <a:ea typeface="맑은 고딕"/>
                <a:cs typeface="Calibri"/>
              </a:rPr>
              <a:t> This map identifies when and where crime is most likely to happen. </a:t>
            </a:r>
            <a:r>
              <a:rPr lang="ko-KR" altLang="en-US" sz="1800" b="1" dirty="0">
                <a:solidFill>
                  <a:srgbClr val="1E2A5A">
                    <a:alpha val="0"/>
                  </a:srgbClr>
                </a:solidFill>
                <a:latin typeface="맑은 고딕"/>
                <a:ea typeface="맑은 고딕"/>
                <a:cs typeface="맑은 고딕"/>
              </a:rPr>
              <a:t>③</a:t>
            </a:r>
            <a:r>
              <a:rPr lang="en-US" altLang="ko-KR" sz="1700" b="0" dirty="0">
                <a:solidFill>
                  <a:srgbClr val="1F2328">
                    <a:alpha val="0"/>
                  </a:srgbClr>
                </a:solidFill>
                <a:latin typeface="Calibri"/>
                <a:ea typeface="맑은 고딕"/>
                <a:cs typeface="Calibri"/>
              </a:rPr>
              <a:t> Police can prevent further crime by focusing on the areas and the times this map predicts. </a:t>
            </a:r>
            <a:r>
              <a:rPr lang="ko-KR" altLang="en-US" sz="1800" b="1" dirty="0">
                <a:solidFill>
                  <a:srgbClr val="1E2A5A">
                    <a:alpha val="0"/>
                  </a:srgbClr>
                </a:solidFill>
                <a:latin typeface="맑은 고딕"/>
                <a:ea typeface="맑은 고딕"/>
                <a:cs typeface="맑은 고딕"/>
              </a:rPr>
              <a:t>④</a:t>
            </a:r>
            <a:r>
              <a:rPr lang="en-US" altLang="ko-KR" sz="1700" b="0" dirty="0">
                <a:solidFill>
                  <a:srgbClr val="1F2328">
                    <a:alpha val="0"/>
                  </a:srgbClr>
                </a:solidFill>
                <a:latin typeface="Calibri"/>
                <a:ea typeface="맑은 고딕"/>
                <a:cs typeface="Calibri"/>
              </a:rPr>
              <a:t> Big data has already changed the world greatly. </a:t>
            </a:r>
            <a:r>
              <a:rPr lang="ko-KR" altLang="en-US" sz="1800" b="1" dirty="0">
                <a:solidFill>
                  <a:srgbClr val="1E2A5A">
                    <a:alpha val="0"/>
                  </a:srgbClr>
                </a:solidFill>
                <a:latin typeface="맑은 고딕"/>
                <a:ea typeface="맑은 고딕"/>
                <a:cs typeface="맑은 고딕"/>
              </a:rPr>
              <a:t>⑤</a:t>
            </a:r>
            <a:r>
              <a:rPr lang="en-US" altLang="ko-KR" sz="1700" b="0" dirty="0">
                <a:solidFill>
                  <a:srgbClr val="1F2328">
                    <a:alpha val="0"/>
                  </a:srgbClr>
                </a:solidFill>
                <a:latin typeface="Calibri"/>
                <a:ea typeface="맑은 고딕"/>
                <a:cs typeface="Calibri"/>
              </a:rPr>
              <a:t> So where will the big data industry go from here? Nobody knows for sure, but experts agree that big data will play a more and more important role in our lives.</a:t>
            </a:r>
            <a:endParaRPr lang="en-US" altLang="ko-KR" sz="1700" b="0" dirty="0">
              <a:solidFill>
                <a:srgbClr val="1F2328"/>
              </a:solidFill>
              <a:latin typeface="Calibri"/>
              <a:ea typeface="맑은 고딕"/>
              <a:cs typeface="Calibri"/>
            </a:endParaRPr>
          </a:p>
        </p:txBody>
      </p:sp>
      <p:sp>
        <p:nvSpPr>
          <p:cNvPr id="12" name="rv_answer"/>
          <p:cNvSpPr/>
          <p:nvPr/>
        </p:nvSpPr>
        <p:spPr>
          <a:xfrm>
            <a:off x="457200" y="3920235"/>
            <a:ext cx="11277295" cy="507491"/>
          </a:xfrm>
          <a:prstGeom prst="roundRect">
            <a:avLst>
              <a:gd name="adj" fmla="val 12000"/>
            </a:avLst>
          </a:prstGeom>
          <a:solidFill>
            <a:srgbClr val="FFE98A"/>
          </a:solidFill>
          <a:ln w="15875">
            <a:solidFill>
              <a:srgbClr val="E0B400"/>
            </a:solidFill>
          </a:ln>
        </p:spPr>
        <p:txBody>
          <a:bodyPr wrap="square" lIns="228600" tIns="54864" rIns="228600" bIns="54864" anchor="ctr" rtlCol="0">
            <a:noAutofit/>
          </a:bodyPr>
          <a:lstStyle/>
          <a:p>
            <a:pPr algn="ctr">
              <a:lnSpc>
                <a:spcPts val="2700"/>
              </a:lnSpc>
              <a:spcBef>
                <a:spcPts val="0"/>
              </a:spcBef>
              <a:spcAft>
                <a:spcPts val="0"/>
              </a:spcAft>
              <a:buNone/>
            </a:pPr>
            <a:r>
              <a:rPr lang="ko-KR" altLang="en-US" sz="1900" b="1" dirty="0">
                <a:solidFill>
                  <a:srgbClr val="5A4200"/>
                </a:solidFill>
                <a:latin typeface="맑은 고딕"/>
                <a:ea typeface="맑은 고딕"/>
                <a:cs typeface="맑은 고딕"/>
              </a:rPr>
              <a:t>정답   </a:t>
            </a:r>
            <a:r>
              <a:rPr lang="ko-KR" altLang="en-US" sz="1900" b="1" dirty="0">
                <a:solidFill>
                  <a:srgbClr val="5A4200"/>
                </a:solidFill>
                <a:latin typeface="맑은 고딕"/>
                <a:ea typeface="맑은 고딕"/>
                <a:cs typeface="맑은 고딕"/>
              </a:rPr>
              <a:t>②</a:t>
            </a:r>
            <a:endParaRPr lang="ko-KR" altLang="en-US" sz="1900" b="1" dirty="0">
              <a:solidFill>
                <a:srgbClr val="5A4200"/>
              </a:solidFill>
              <a:latin typeface="맑은 고딕"/>
              <a:ea typeface="맑은 고딕"/>
              <a:cs typeface="맑은 고딕"/>
            </a:endParaRPr>
          </a:p>
        </p:txBody>
      </p:sp>
      <p:sp>
        <p:nvSpPr>
          <p:cNvPr id="13" name="rv_why"/>
          <p:cNvSpPr/>
          <p:nvPr/>
        </p:nvSpPr>
        <p:spPr>
          <a:xfrm>
            <a:off x="457200" y="4519168"/>
            <a:ext cx="11277295" cy="1899919"/>
          </a:xfrm>
          <a:prstGeom prst="roundRect">
            <a:avLst>
              <a:gd name="adj" fmla="val 8000"/>
            </a:avLst>
          </a:prstGeom>
          <a:solidFill>
            <a:srgbClr val="E8F1FC"/>
          </a:solidFill>
          <a:ln w="12700">
            <a:solidFill>
              <a:srgbClr val="7A9CCB"/>
            </a:solidFill>
          </a:ln>
        </p:spPr>
        <p:txBody>
          <a:bodyPr wrap="square" lIns="228600" tIns="91440" rIns="228600" bIns="73152" anchor="t" rtlCol="0">
            <a:noAutofit/>
          </a:bodyPr>
          <a:lstStyle/>
          <a:p>
            <a:pPr algn="l">
              <a:lnSpc>
                <a:spcPts val="2410"/>
              </a:lnSpc>
              <a:spcBef>
                <a:spcPts val="0"/>
              </a:spcBef>
              <a:spcAft>
                <a:spcPts val="0"/>
              </a:spcAft>
              <a:buNone/>
            </a:pPr>
            <a:r>
              <a:rPr lang="ko-KR" altLang="en-US" sz="1700" b="1" dirty="0">
                <a:solidFill>
                  <a:srgbClr val="1E2A5A"/>
                </a:solidFill>
                <a:latin typeface="맑은 고딕"/>
                <a:ea typeface="맑은 고딕"/>
                <a:cs typeface="맑은 고딕"/>
              </a:rPr>
              <a:t>정답 원리   </a:t>
            </a:r>
            <a:r>
              <a:rPr lang="ko-KR" altLang="en-US" sz="1700" b="0" dirty="0">
                <a:solidFill>
                  <a:srgbClr val="16284A"/>
                </a:solidFill>
                <a:latin typeface="맑은 고딕"/>
                <a:ea typeface="맑은 고딕"/>
                <a:cs typeface="맑은 고딕"/>
              </a:rPr>
              <a:t>'This map'이 가리킬 지도가 앞에 없다. 범죄 지도를 처음 소개하는 주어진 문장이 'This map' 앞인 ②에 들어가야 한다.</a:t>
            </a:r>
            <a:endParaRPr lang="ko-KR" altLang="en-US" sz="1700" b="0" dirty="0">
              <a:solidFill>
                <a:srgbClr val="16284A"/>
              </a:solidFill>
              <a:latin typeface="맑은 고딕"/>
              <a:ea typeface="맑은 고딕"/>
              <a:cs typeface="맑은 고딕"/>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5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①</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473049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473049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solidFill>
                <a:latin typeface="맑은 고딕"/>
                <a:ea typeface="맑은 고딕"/>
                <a:cs typeface="맑은 고딕"/>
              </a:rPr>
              <a:t>①</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Thanks to big data, police can now predict crime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before it will happen</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before it happens</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②</a:t>
            </a:r>
            <a:r>
              <a:rPr lang="en-US" altLang="ko-KR" sz="2150" b="0"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Through the analysis</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Though the analysis</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of big data about the type, time and place of crime, police can make a map of crime hot spots.</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③</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This map identifies when and where crime is most likely to happen.</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④</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Police can prevent further crime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by focused</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by focusing</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on the areas and the times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this map predicts</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this map predict</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⑤</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Big data has already changed the world greatly.</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⑥</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So where will the big data industry go from here?</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⑦</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Nobody knows for sure, but experts agree that big data will play a more and more important role in our lives.</a:t>
            </a:r>
            <a:endParaRPr lang="en-US" altLang="ko-KR" sz="2150" b="0" dirty="0">
              <a:solidFill>
                <a:srgbClr val="1F2328"/>
              </a:solidFill>
              <a:latin typeface="Calibri"/>
              <a:ea typeface="맑은 고딕"/>
              <a:cs typeface="Calibri"/>
            </a:endParaRPr>
          </a:p>
        </p:txBody>
      </p:sp>
      <p:sp>
        <p:nvSpPr>
          <p:cNvPr id="9" name="rv_g01"/>
          <p:cNvSpPr txBox="1"/>
          <p:nvPr/>
        </p:nvSpPr>
        <p:spPr>
          <a:xfrm>
            <a:off x="457200" y="950976"/>
            <a:ext cx="11277295" cy="473049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can now predict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before it will happen</a:t>
            </a:r>
            <a:r>
              <a:rPr lang="en-US" altLang="ko-KR" sz="2150" b="1" dirty="0">
                <a:solidFill>
                  <a:srgbClr val="1F2328">
                    <a:alpha val="0"/>
                  </a:srgbClr>
                </a:solidFill>
                <a:latin typeface="Calibri"/>
                <a:ea typeface="맑은 고딕"/>
                <a:cs typeface="Calibri"/>
              </a:rPr>
              <a:t> / </a:t>
            </a:r>
            <a:r>
              <a:rPr lang="en-US" altLang="ko-KR" sz="2150" b="1" dirty="0">
                <a:solidFill>
                  <a:srgbClr val="C00000"/>
                </a:solidFill>
                <a:highlight>
                  <a:srgbClr val="F3F5F9"/>
                </a:highlight>
                <a:latin typeface="Calibri"/>
                <a:ea typeface="맑은 고딕"/>
                <a:cs typeface="Calibri"/>
              </a:rPr>
              <a:t>before it happens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Through the analysis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Though the analysis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by focused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by focusing</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on the areas and the times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this map predicts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this map predict</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has already changed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that big data will play a more and more important role in our lives.</a:t>
            </a:r>
            <a:endParaRPr lang="en-US" altLang="ko-KR" sz="2150" b="0" dirty="0">
              <a:solidFill>
                <a:srgbClr val="1F2328"/>
              </a:solidFill>
              <a:latin typeface="Calibri"/>
              <a:ea typeface="맑은 고딕"/>
              <a:cs typeface="Calibri"/>
            </a:endParaRPr>
          </a:p>
        </p:txBody>
      </p:sp>
      <p:sp>
        <p:nvSpPr>
          <p:cNvPr id="10" name="rv_g02"/>
          <p:cNvSpPr txBox="1"/>
          <p:nvPr/>
        </p:nvSpPr>
        <p:spPr>
          <a:xfrm>
            <a:off x="457200" y="950976"/>
            <a:ext cx="11277295" cy="473049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can now predict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before it will happen</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before it happens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Through the analysis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Though the analysis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by focused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by focusing</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on the areas and the times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this map predicts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this map predict</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has already changed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that big data will play a more and more important role in our lives.</a:t>
            </a:r>
            <a:endParaRPr lang="en-US" altLang="ko-KR" sz="2150" b="0" dirty="0">
              <a:solidFill>
                <a:srgbClr val="1F2328"/>
              </a:solidFill>
              <a:latin typeface="Calibri"/>
              <a:ea typeface="맑은 고딕"/>
              <a:cs typeface="Calibri"/>
            </a:endParaRPr>
          </a:p>
        </p:txBody>
      </p:sp>
      <p:sp>
        <p:nvSpPr>
          <p:cNvPr id="11" name="rv_g03"/>
          <p:cNvSpPr txBox="1"/>
          <p:nvPr/>
        </p:nvSpPr>
        <p:spPr>
          <a:xfrm>
            <a:off x="457200" y="950976"/>
            <a:ext cx="11277295" cy="473049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can now predict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before it will happen</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before it happens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Through the analysis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Though the analysis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by focused</a:t>
            </a:r>
            <a:r>
              <a:rPr lang="en-US" altLang="ko-KR" sz="2150" b="1" dirty="0">
                <a:solidFill>
                  <a:srgbClr val="1F2328">
                    <a:alpha val="0"/>
                  </a:srgbClr>
                </a:solidFill>
                <a:latin typeface="Calibri"/>
                <a:ea typeface="맑은 고딕"/>
                <a:cs typeface="Calibri"/>
              </a:rPr>
              <a:t> / </a:t>
            </a:r>
            <a:r>
              <a:rPr lang="en-US" altLang="ko-KR" sz="2150" b="1" dirty="0">
                <a:solidFill>
                  <a:srgbClr val="C00000"/>
                </a:solidFill>
                <a:highlight>
                  <a:srgbClr val="F3F5F9"/>
                </a:highlight>
                <a:latin typeface="Calibri"/>
                <a:ea typeface="맑은 고딕"/>
                <a:cs typeface="Calibri"/>
              </a:rPr>
              <a:t>by focusing</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on the areas and the times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this map predicts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this map predict</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has already changed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that big data will play a more and more important role in our lives.</a:t>
            </a:r>
            <a:endParaRPr lang="en-US" altLang="ko-KR" sz="2150" b="0" dirty="0">
              <a:solidFill>
                <a:srgbClr val="1F2328"/>
              </a:solidFill>
              <a:latin typeface="Calibri"/>
              <a:ea typeface="맑은 고딕"/>
              <a:cs typeface="Calibri"/>
            </a:endParaRPr>
          </a:p>
        </p:txBody>
      </p:sp>
      <p:sp>
        <p:nvSpPr>
          <p:cNvPr id="12" name="rv_g04"/>
          <p:cNvSpPr txBox="1"/>
          <p:nvPr/>
        </p:nvSpPr>
        <p:spPr>
          <a:xfrm>
            <a:off x="457200" y="950976"/>
            <a:ext cx="11277295" cy="473049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can now predict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before it will happen</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before it happens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Through the analysis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Though the analysis</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by focused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by focusing</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on the areas and the times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this map predicts</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this map predict</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has already changed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that big data will play a more and more important role in our lives.</a:t>
            </a:r>
            <a:endParaRPr lang="en-US" altLang="ko-KR" sz="21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_badge"/>
          <p:cNvSpPr/>
          <p:nvPr/>
        </p:nvSpPr>
        <p:spPr>
          <a:xfrm>
            <a:off x="457200" y="274320"/>
            <a:ext cx="1188720" cy="493776"/>
          </a:xfrm>
          <a:prstGeom prst="roundRect">
            <a:avLst>
              <a:gd name="adj" fmla="val 18000"/>
            </a:avLst>
          </a:prstGeom>
          <a:solidFill>
            <a:srgbClr val="1E2A5A"/>
          </a:solidFill>
          <a:ln>
            <a:noFill/>
          </a:ln>
        </p:spPr>
        <p:txBody>
          <a:bodyPr wrap="square" lIns="36576" tIns="18288" rIns="36576" bIns="18288" anchor="ctr" rtlCol="0">
            <a:noAutofit/>
          </a:bodyPr>
          <a:lstStyle/>
          <a:p>
            <a:pPr algn="ctr">
              <a:lnSpc>
                <a:spcPts val="2210"/>
              </a:lnSpc>
              <a:spcBef>
                <a:spcPts val="0"/>
              </a:spcBef>
              <a:spcAft>
                <a:spcPts val="0"/>
              </a:spcAft>
              <a:buNone/>
            </a:pPr>
            <a:r>
              <a:rPr lang="en-US" altLang="ko-KR" sz="1700" b="1" dirty="0">
                <a:solidFill>
                  <a:srgbClr val="FFFFFF"/>
                </a:solidFill>
                <a:latin typeface="Calibri"/>
                <a:ea typeface="맑은 고딕"/>
                <a:cs typeface="Calibri"/>
              </a:rPr>
              <a:t>L7-4</a:t>
            </a:r>
            <a:endParaRPr lang="en-US" altLang="ko-KR" sz="1700" b="1" dirty="0">
              <a:solidFill>
                <a:srgbClr val="FFFFFF"/>
              </a:solidFill>
              <a:latin typeface="Calibri"/>
              <a:ea typeface="맑은 고딕"/>
              <a:cs typeface="Calibri"/>
            </a:endParaRPr>
          </a:p>
        </p:txBody>
      </p:sp>
      <p:sp>
        <p:nvSpPr>
          <p:cNvPr id="3" name="hdr_chip"/>
          <p:cNvSpPr/>
          <p:nvPr/>
        </p:nvSpPr>
        <p:spPr>
          <a:xfrm>
            <a:off x="1755648" y="274320"/>
            <a:ext cx="1371600" cy="493776"/>
          </a:xfrm>
          <a:prstGeom prst="roundRect">
            <a:avLst>
              <a:gd name="adj" fmla="val 18000"/>
            </a:avLst>
          </a:prstGeom>
          <a:solidFill>
            <a:srgbClr val="E6EAF4"/>
          </a:solidFill>
          <a:ln>
            <a:noFill/>
          </a:ln>
        </p:spPr>
        <p:txBody>
          <a:bodyPr wrap="square" lIns="36576" tIns="18288" rIns="36576" bIns="18288" anchor="ctr" rtlCol="0">
            <a:noAutofit/>
          </a:bodyPr>
          <a:lstStyle/>
          <a:p>
            <a:pPr algn="ctr">
              <a:lnSpc>
                <a:spcPts val="1990"/>
              </a:lnSpc>
              <a:spcBef>
                <a:spcPts val="0"/>
              </a:spcBef>
              <a:spcAft>
                <a:spcPts val="0"/>
              </a:spcAft>
              <a:buNone/>
            </a:pPr>
            <a:r>
              <a:rPr lang="ko-KR" altLang="en-US" sz="1400" b="1" dirty="0">
                <a:solidFill>
                  <a:srgbClr val="1E2A5A"/>
                </a:solidFill>
                <a:latin typeface="맑은 고딕"/>
                <a:ea typeface="맑은 고딕"/>
                <a:cs typeface="맑은 고딕"/>
              </a:rPr>
              <a:t>PART 3 · ②</a:t>
            </a:r>
            <a:endParaRPr lang="ko-KR" altLang="en-US" sz="1400" b="1" dirty="0">
              <a:solidFill>
                <a:srgbClr val="1E2A5A"/>
              </a:solidFill>
              <a:latin typeface="맑은 고딕"/>
              <a:ea typeface="맑은 고딕"/>
              <a:cs typeface="맑은 고딕"/>
            </a:endParaRPr>
          </a:p>
        </p:txBody>
      </p:sp>
      <p:sp>
        <p:nvSpPr>
          <p:cNvPr id="4" name="hdr_q"/>
          <p:cNvSpPr txBox="1"/>
          <p:nvPr/>
        </p:nvSpPr>
        <p:spPr>
          <a:xfrm>
            <a:off x="3246120" y="246888"/>
            <a:ext cx="8488375" cy="548640"/>
          </a:xfrm>
          <a:prstGeom prst="rect">
            <a:avLst/>
          </a:prstGeom>
          <a:noFill/>
        </p:spPr>
        <p:txBody>
          <a:bodyPr wrap="square" lIns="54864" tIns="0" rIns="54864" bIns="0" anchor="ctr" rtlCol="0">
            <a:noAutofit/>
          </a:bodyPr>
          <a:lstStyle/>
          <a:p>
            <a:pPr algn="l">
              <a:lnSpc>
                <a:spcPts val="2980"/>
              </a:lnSpc>
              <a:spcBef>
                <a:spcPts val="0"/>
              </a:spcBef>
              <a:spcAft>
                <a:spcPts val="0"/>
              </a:spcAft>
              <a:buNone/>
            </a:pPr>
            <a:r>
              <a:rPr lang="ko-KR" altLang="en-US" sz="2100" b="1" dirty="0">
                <a:solidFill>
                  <a:srgbClr val="1F2328"/>
                </a:solidFill>
                <a:latin typeface="맑은 고딕"/>
                <a:ea typeface="맑은 고딕"/>
                <a:cs typeface="맑은 고딕"/>
              </a:rPr>
              <a:t>다음 글의 각 [  ] 안에서 문맥상 알맞은 것을 고르시오.</a:t>
            </a:r>
            <a:endParaRPr lang="ko-KR" altLang="en-US" sz="2100" b="1" dirty="0">
              <a:solidFill>
                <a:srgbClr val="1F2328"/>
              </a:solidFill>
              <a:latin typeface="맑은 고딕"/>
              <a:ea typeface="맑은 고딕"/>
              <a:cs typeface="맑은 고딕"/>
            </a:endParaRPr>
          </a:p>
        </p:txBody>
      </p:sp>
      <p:sp>
        <p:nvSpPr>
          <p:cNvPr id="5" name="ftr_exam"/>
          <p:cNvSpPr txBox="1"/>
          <p:nvPr/>
        </p:nvSpPr>
        <p:spPr>
          <a:xfrm>
            <a:off x="457200" y="6519672"/>
            <a:ext cx="5669280" cy="256032"/>
          </a:xfrm>
          <a:prstGeom prst="rect">
            <a:avLst/>
          </a:prstGeom>
          <a:noFill/>
        </p:spPr>
        <p:txBody>
          <a:bodyPr wrap="square" lIns="18288" tIns="0" rIns="18288" bIns="0" anchor="ctr" rtlCol="0">
            <a:noAutofit/>
          </a:bodyPr>
          <a:lstStyle/>
          <a:p>
            <a:pPr algn="l">
              <a:lnSpc>
                <a:spcPts val="1420"/>
              </a:lnSpc>
              <a:spcBef>
                <a:spcPts val="0"/>
              </a:spcBef>
              <a:spcAft>
                <a:spcPts val="0"/>
              </a:spcAft>
              <a:buNone/>
            </a:pPr>
            <a:r>
              <a:rPr lang="ko-KR" altLang="en-US" sz="1000" b="0" dirty="0">
                <a:solidFill>
                  <a:srgbClr val="7A808C"/>
                </a:solidFill>
                <a:latin typeface="맑은 고딕"/>
                <a:ea typeface="맑은 고딕"/>
                <a:cs typeface="맑은 고딕"/>
              </a:rPr>
              <a:t>src</a:t>
            </a:r>
            <a:endParaRPr lang="ko-KR" altLang="en-US" sz="1000" b="0" dirty="0">
              <a:solidFill>
                <a:srgbClr val="7A808C"/>
              </a:solidFill>
              <a:latin typeface="맑은 고딕"/>
              <a:ea typeface="맑은 고딕"/>
              <a:cs typeface="맑은 고딕"/>
            </a:endParaRPr>
          </a:p>
        </p:txBody>
      </p:sp>
      <p:sp>
        <p:nvSpPr>
          <p:cNvPr id="6" name="ftr_hint"/>
          <p:cNvSpPr txBox="1"/>
          <p:nvPr/>
        </p:nvSpPr>
        <p:spPr>
          <a:xfrm>
            <a:off x="5973775" y="6519672"/>
            <a:ext cx="5760720" cy="256032"/>
          </a:xfrm>
          <a:prstGeom prst="rect">
            <a:avLst/>
          </a:prstGeom>
          <a:noFill/>
        </p:spPr>
        <p:txBody>
          <a:bodyPr wrap="square" lIns="18288" tIns="0" rIns="18288" bIns="0" anchor="ctr" rtlCol="0">
            <a:noAutofit/>
          </a:bodyPr>
          <a:lstStyle/>
          <a:p>
            <a:pPr algn="r">
              <a:lnSpc>
                <a:spcPts val="1420"/>
              </a:lnSpc>
              <a:spcBef>
                <a:spcPts val="0"/>
              </a:spcBef>
              <a:spcAft>
                <a:spcPts val="0"/>
              </a:spcAft>
              <a:buNone/>
            </a:pPr>
            <a:r>
              <a:rPr lang="ko-KR" altLang="en-US" sz="1000" b="0" dirty="0">
                <a:solidFill>
                  <a:srgbClr val="7A808C"/>
                </a:solidFill>
                <a:latin typeface="맑은 고딕"/>
                <a:ea typeface="맑은 고딕"/>
                <a:cs typeface="맑은 고딕"/>
              </a:rPr>
              <a:t>클릭할 때마다 괄호 속 정답이 앞에서부터 하나씩 빨간색으로 나타납니다 (총 4개)</a:t>
            </a:r>
            <a:endParaRPr lang="ko-KR" altLang="en-US" sz="1000" b="0" dirty="0">
              <a:solidFill>
                <a:srgbClr val="7A808C"/>
              </a:solidFill>
              <a:latin typeface="맑은 고딕"/>
              <a:ea typeface="맑은 고딕"/>
              <a:cs typeface="맑은 고딕"/>
            </a:endParaRPr>
          </a:p>
        </p:txBody>
      </p:sp>
      <p:sp>
        <p:nvSpPr>
          <p:cNvPr id="7" name="passage_card"/>
          <p:cNvSpPr/>
          <p:nvPr/>
        </p:nvSpPr>
        <p:spPr>
          <a:xfrm>
            <a:off x="457200" y="950976"/>
            <a:ext cx="11277295" cy="5172456"/>
          </a:xfrm>
          <a:prstGeom prst="roundRect">
            <a:avLst>
              <a:gd name="adj" fmla="val 3000"/>
            </a:avLst>
          </a:prstGeom>
          <a:solidFill>
            <a:srgbClr val="F3F5F9"/>
          </a:solidFill>
          <a:ln w="9525">
            <a:solidFill>
              <a:srgbClr val="D9DFEA"/>
            </a:solidFill>
          </a:ln>
        </p:spPr>
        <p:txBody>
          <a:bodyPr wrap="square" lIns="91440" tIns="45720" rIns="91440" bIns="45720" anchor="t" rtlCol="0">
            <a:noAutofit/>
          </a:bodyPr>
          <a:lstStyle/>
          <a:p>
            <a:pPr algn="l">
              <a:lnSpc>
                <a:spcPts val="1300"/>
              </a:lnSpc>
              <a:spcBef>
                <a:spcPts val="0"/>
              </a:spcBef>
              <a:spcAft>
                <a:spcPts val="0"/>
              </a:spcAft>
              <a:buNone/>
            </a:pPr>
            <a:endParaRPr lang="en-US" altLang="ko-KR" sz="1000" b="0" dirty="0">
              <a:solidFill>
                <a:srgbClr val="1F2328"/>
              </a:solidFill>
              <a:latin typeface="Calibri"/>
              <a:ea typeface="맑은 고딕"/>
              <a:cs typeface="Calibri"/>
            </a:endParaRPr>
          </a:p>
        </p:txBody>
      </p:sp>
      <p:sp>
        <p:nvSpPr>
          <p:cNvPr id="8" name="passage"/>
          <p:cNvSpPr txBox="1"/>
          <p:nvPr/>
        </p:nvSpPr>
        <p:spPr>
          <a:xfrm>
            <a:off x="457200" y="950976"/>
            <a:ext cx="11277295" cy="517245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solidFill>
                <a:latin typeface="맑은 고딕"/>
                <a:ea typeface="맑은 고딕"/>
                <a:cs typeface="맑은 고딕"/>
              </a:rPr>
              <a:t>①</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Thanks to big data, police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can now predict</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can now be predicted</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crime before it happens.</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②</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Through the analysis of big data about the type, time and place of crime, police can make a map of crime hot spots.</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③</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This map identifies when and where crime is most likely to happen.</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④</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Police can prevent further crime by focusing on the areas and the times this map predicts.</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⑤</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Big data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has already changed</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has already been changed</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the world greatly.</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⑥</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So where will the big data industry go from here?</a:t>
            </a:r>
            <a:r>
              <a:rPr lang="en-US" altLang="ko-KR" sz="2150" b="0" dirty="0">
                <a:solidFill>
                  <a:srgbClr val="1F2328"/>
                </a:solidFill>
                <a:latin typeface="Calibri"/>
                <a:ea typeface="맑은 고딕"/>
                <a:cs typeface="Calibri"/>
              </a:rPr>
              <a:t>   </a:t>
            </a:r>
            <a:r>
              <a:rPr lang="ko-KR" altLang="en-US" sz="2150" b="1" dirty="0">
                <a:solidFill>
                  <a:srgbClr val="1E2A5A"/>
                </a:solidFill>
                <a:latin typeface="맑은 고딕"/>
                <a:ea typeface="맑은 고딕"/>
                <a:cs typeface="맑은 고딕"/>
              </a:rPr>
              <a:t>⑦</a:t>
            </a:r>
            <a:r>
              <a:rPr lang="en-US" altLang="ko-KR" sz="2150" b="0"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Nobody knows for sure, but experts agree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that big data</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what big data</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will play a </a:t>
            </a:r>
            <a:r>
              <a:rPr lang="en-US" altLang="ko-KR" sz="2150" b="1" dirty="0">
                <a:solidFill>
                  <a:srgbClr val="1F2328"/>
                </a:solidFill>
                <a:latin typeface="Calibri"/>
                <a:ea typeface="맑은 고딕"/>
                <a:cs typeface="Calibri"/>
              </a:rPr>
              <a:t>[ </a:t>
            </a:r>
            <a:r>
              <a:rPr lang="en-US" altLang="ko-KR" sz="2150" b="1" dirty="0">
                <a:solidFill>
                  <a:srgbClr val="1F2328"/>
                </a:solidFill>
                <a:latin typeface="Calibri"/>
                <a:ea typeface="맑은 고딕"/>
                <a:cs typeface="Calibri"/>
              </a:rPr>
              <a:t>more and more important</a:t>
            </a:r>
            <a:r>
              <a:rPr lang="en-US" altLang="ko-KR" sz="2150" b="1" dirty="0">
                <a:solidFill>
                  <a:srgbClr val="1F2328"/>
                </a:solidFill>
                <a:latin typeface="Calibri"/>
                <a:ea typeface="맑은 고딕"/>
                <a:cs typeface="Calibri"/>
              </a:rPr>
              <a:t> / </a:t>
            </a:r>
            <a:r>
              <a:rPr lang="en-US" altLang="ko-KR" sz="2150" b="1" dirty="0">
                <a:solidFill>
                  <a:srgbClr val="1F2328"/>
                </a:solidFill>
                <a:latin typeface="Calibri"/>
                <a:ea typeface="맑은 고딕"/>
                <a:cs typeface="Calibri"/>
              </a:rPr>
              <a:t>more and more importantly</a:t>
            </a:r>
            <a:r>
              <a:rPr lang="en-US" altLang="ko-KR" sz="2150" b="1" dirty="0">
                <a:solidFill>
                  <a:srgbClr val="1F2328"/>
                </a:solidFill>
                <a:latin typeface="Calibri"/>
                <a:ea typeface="맑은 고딕"/>
                <a:cs typeface="Calibri"/>
              </a:rPr>
              <a:t> ]</a:t>
            </a:r>
            <a:r>
              <a:rPr lang="en-US" altLang="ko-KR" sz="2150" b="0" dirty="0">
                <a:solidFill>
                  <a:srgbClr val="1F2328"/>
                </a:solidFill>
                <a:latin typeface="Calibri"/>
                <a:ea typeface="맑은 고딕"/>
                <a:cs typeface="Calibri"/>
              </a:rPr>
              <a:t> role in our lives.</a:t>
            </a:r>
            <a:endParaRPr lang="en-US" altLang="ko-KR" sz="2150" b="0" dirty="0">
              <a:solidFill>
                <a:srgbClr val="1F2328"/>
              </a:solidFill>
              <a:latin typeface="Calibri"/>
              <a:ea typeface="맑은 고딕"/>
              <a:cs typeface="Calibri"/>
            </a:endParaRPr>
          </a:p>
        </p:txBody>
      </p:sp>
      <p:sp>
        <p:nvSpPr>
          <p:cNvPr id="9" name="rv_g01"/>
          <p:cNvSpPr txBox="1"/>
          <p:nvPr/>
        </p:nvSpPr>
        <p:spPr>
          <a:xfrm>
            <a:off x="457200" y="950976"/>
            <a:ext cx="11277295" cy="517245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can now predict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can now be predicted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crime before it happens.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Through the analysis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by focusing on the areas and the times this map predicts.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has already changed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has already been changed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that big data</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what big data</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will play 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more and more important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more and more importantly</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role in our lives.</a:t>
            </a:r>
            <a:endParaRPr lang="en-US" altLang="ko-KR" sz="2150" b="0" dirty="0">
              <a:solidFill>
                <a:srgbClr val="1F2328"/>
              </a:solidFill>
              <a:latin typeface="Calibri"/>
              <a:ea typeface="맑은 고딕"/>
              <a:cs typeface="Calibri"/>
            </a:endParaRPr>
          </a:p>
        </p:txBody>
      </p:sp>
      <p:sp>
        <p:nvSpPr>
          <p:cNvPr id="10" name="rv_g02"/>
          <p:cNvSpPr txBox="1"/>
          <p:nvPr/>
        </p:nvSpPr>
        <p:spPr>
          <a:xfrm>
            <a:off x="457200" y="950976"/>
            <a:ext cx="11277295" cy="517245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can now predict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can now be predicted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crime before it happens.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Through the analysis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by focusing on the areas and the times this map predicts.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has already changed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has already been changed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that big data</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what big data</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will play 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more and more important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more and more importantly</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role in our lives.</a:t>
            </a:r>
            <a:endParaRPr lang="en-US" altLang="ko-KR" sz="2150" b="0" dirty="0">
              <a:solidFill>
                <a:srgbClr val="1F2328"/>
              </a:solidFill>
              <a:latin typeface="Calibri"/>
              <a:ea typeface="맑은 고딕"/>
              <a:cs typeface="Calibri"/>
            </a:endParaRPr>
          </a:p>
        </p:txBody>
      </p:sp>
      <p:sp>
        <p:nvSpPr>
          <p:cNvPr id="11" name="rv_g03"/>
          <p:cNvSpPr txBox="1"/>
          <p:nvPr/>
        </p:nvSpPr>
        <p:spPr>
          <a:xfrm>
            <a:off x="457200" y="950976"/>
            <a:ext cx="11277295" cy="517245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can now predict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can now be predicted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crime before it happens.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Through the analysis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by focusing on the areas and the times this map predicts.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has already changed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has already been changed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that big data</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what big data</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will play 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more and more important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more and more importantly</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role in our lives.</a:t>
            </a:r>
            <a:endParaRPr lang="en-US" altLang="ko-KR" sz="2150" b="0" dirty="0">
              <a:solidFill>
                <a:srgbClr val="1F2328"/>
              </a:solidFill>
              <a:latin typeface="Calibri"/>
              <a:ea typeface="맑은 고딕"/>
              <a:cs typeface="Calibri"/>
            </a:endParaRPr>
          </a:p>
        </p:txBody>
      </p:sp>
      <p:sp>
        <p:nvSpPr>
          <p:cNvPr id="12" name="rv_g04"/>
          <p:cNvSpPr txBox="1"/>
          <p:nvPr/>
        </p:nvSpPr>
        <p:spPr>
          <a:xfrm>
            <a:off x="457200" y="950976"/>
            <a:ext cx="11277295" cy="5172456"/>
          </a:xfrm>
          <a:prstGeom prst="rect">
            <a:avLst/>
          </a:prstGeom>
          <a:noFill/>
        </p:spPr>
        <p:txBody>
          <a:bodyPr wrap="square" lIns="228600" tIns="155448" rIns="228600" bIns="155448" anchor="t" rtlCol="0">
            <a:noAutofit/>
          </a:bodyPr>
          <a:lstStyle/>
          <a:p>
            <a:pPr algn="l">
              <a:lnSpc>
                <a:spcPts val="3480"/>
              </a:lnSpc>
              <a:spcBef>
                <a:spcPts val="0"/>
              </a:spcBef>
              <a:spcAft>
                <a:spcPts val="0"/>
              </a:spcAft>
              <a:buNone/>
            </a:pPr>
            <a:r>
              <a:rPr lang="ko-KR" altLang="en-US" sz="2150" b="1" dirty="0">
                <a:solidFill>
                  <a:srgbClr val="1E2A5A">
                    <a:alpha val="0"/>
                  </a:srgbClr>
                </a:solidFill>
                <a:latin typeface="맑은 고딕"/>
                <a:ea typeface="맑은 고딕"/>
                <a:cs typeface="맑은 고딕"/>
              </a:rPr>
              <a:t>①</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Thanks to big data, police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can now predict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can now be predicted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crime before it happens.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②</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Through the analysis of big data about the type, time and place of crime, police can make a map of crime hot spots.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③</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This map identifies when and where crime is most likely to happen.</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④</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Police can prevent further crime by focusing on the areas and the times this map predicts.</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⑤</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Big data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has already changed</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has already been changed</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the world greatly.</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⑥</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So where will the big data industry go from here?</a:t>
            </a:r>
            <a:r>
              <a:rPr lang="en-US" altLang="ko-KR" sz="2150" b="0" dirty="0">
                <a:solidFill>
                  <a:srgbClr val="1F2328">
                    <a:alpha val="0"/>
                  </a:srgbClr>
                </a:solidFill>
                <a:latin typeface="Calibri"/>
                <a:ea typeface="맑은 고딕"/>
                <a:cs typeface="Calibri"/>
              </a:rPr>
              <a:t>   </a:t>
            </a:r>
            <a:r>
              <a:rPr lang="ko-KR" altLang="en-US" sz="2150" b="1" dirty="0">
                <a:solidFill>
                  <a:srgbClr val="1E2A5A">
                    <a:alpha val="0"/>
                  </a:srgbClr>
                </a:solidFill>
                <a:latin typeface="맑은 고딕"/>
                <a:ea typeface="맑은 고딕"/>
                <a:cs typeface="맑은 고딕"/>
              </a:rPr>
              <a:t>⑦</a:t>
            </a:r>
            <a:r>
              <a:rPr lang="en-US" altLang="ko-KR" sz="2150" b="0"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Nobody knows for sure, but experts agree </a:t>
            </a:r>
            <a:r>
              <a:rPr lang="en-US" altLang="ko-KR" sz="2150" b="1" dirty="0">
                <a:solidFill>
                  <a:srgbClr val="1F2328">
                    <a:alpha val="0"/>
                  </a:srgbClr>
                </a:solidFill>
                <a:latin typeface="Calibri"/>
                <a:ea typeface="맑은 고딕"/>
                <a:cs typeface="Calibri"/>
              </a:rPr>
              <a:t>[ </a:t>
            </a:r>
            <a:r>
              <a:rPr lang="en-US" altLang="ko-KR" sz="2150" b="1" dirty="0">
                <a:solidFill>
                  <a:srgbClr val="1F2328">
                    <a:alpha val="0"/>
                  </a:srgbClr>
                </a:solidFill>
                <a:latin typeface="Calibri"/>
                <a:ea typeface="맑은 고딕"/>
                <a:cs typeface="Calibri"/>
              </a:rPr>
              <a:t>that big data</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what big data</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will play a </a:t>
            </a:r>
            <a:r>
              <a:rPr lang="en-US" altLang="ko-KR" sz="2150" b="1" dirty="0">
                <a:solidFill>
                  <a:srgbClr val="1F2328">
                    <a:alpha val="0"/>
                  </a:srgbClr>
                </a:solidFill>
                <a:latin typeface="Calibri"/>
                <a:ea typeface="맑은 고딕"/>
                <a:cs typeface="Calibri"/>
              </a:rPr>
              <a:t>[ </a:t>
            </a:r>
            <a:r>
              <a:rPr lang="en-US" altLang="ko-KR" sz="2150" b="1" dirty="0">
                <a:solidFill>
                  <a:srgbClr val="C00000"/>
                </a:solidFill>
                <a:highlight>
                  <a:srgbClr val="F3F5F9"/>
                </a:highlight>
                <a:latin typeface="Calibri"/>
                <a:ea typeface="맑은 고딕"/>
                <a:cs typeface="Calibri"/>
              </a:rPr>
              <a:t>more and more important</a:t>
            </a:r>
            <a:r>
              <a:rPr lang="en-US" altLang="ko-KR" sz="2150" b="1" dirty="0">
                <a:solidFill>
                  <a:srgbClr val="1F2328">
                    <a:alpha val="0"/>
                  </a:srgbClr>
                </a:solidFill>
                <a:latin typeface="Calibri"/>
                <a:ea typeface="맑은 고딕"/>
                <a:cs typeface="Calibri"/>
              </a:rPr>
              <a:t> / </a:t>
            </a:r>
            <a:r>
              <a:rPr lang="en-US" altLang="ko-KR" sz="2150" b="1" dirty="0">
                <a:solidFill>
                  <a:srgbClr val="1F2328">
                    <a:alpha val="0"/>
                  </a:srgbClr>
                </a:solidFill>
                <a:latin typeface="Calibri"/>
                <a:ea typeface="맑은 고딕"/>
                <a:cs typeface="Calibri"/>
              </a:rPr>
              <a:t>more and more importantly</a:t>
            </a:r>
            <a:r>
              <a:rPr lang="en-US" altLang="ko-KR" sz="2150" b="1" dirty="0">
                <a:solidFill>
                  <a:srgbClr val="1F2328">
                    <a:alpha val="0"/>
                  </a:srgbClr>
                </a:solidFill>
                <a:latin typeface="Calibri"/>
                <a:ea typeface="맑은 고딕"/>
                <a:cs typeface="Calibri"/>
              </a:rPr>
              <a:t> ]</a:t>
            </a:r>
            <a:r>
              <a:rPr lang="en-US" altLang="ko-KR" sz="2150" b="0" dirty="0">
                <a:solidFill>
                  <a:srgbClr val="1F2328">
                    <a:alpha val="0"/>
                  </a:srgbClr>
                </a:solidFill>
                <a:latin typeface="Calibri"/>
                <a:ea typeface="맑은 고딕"/>
                <a:cs typeface="Calibri"/>
              </a:rPr>
              <a:t> role in our lives.</a:t>
            </a:r>
            <a:endParaRPr lang="en-US" altLang="ko-KR" sz="2150" b="0" dirty="0">
              <a:solidFill>
                <a:srgbClr val="1F2328"/>
              </a:solidFill>
              <a:latin typeface="Calibri"/>
              <a:ea typeface="맑은 고딕"/>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