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src</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L8-1  ·  L8-2  ·  L8-3</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a:t>
            </a:r>
            <a:r>
              <a:rPr lang="en-US" altLang="ko-KR" sz="1500" b="0" dirty="0">
                <a:solidFill>
                  <a:srgbClr val="1F2328"/>
                </a:solidFill>
                <a:latin typeface="Calibri"/>
                <a:ea typeface="맑은 고딕"/>
                <a:cs typeface="Calibri"/>
              </a:rPr>
              <a:t>This kind of painting is called Munjado, and it is a type of folk painting that was popular in the late Joseon dynasty.</a:t>
            </a:r>
            <a:r>
              <a:rPr lang="en-US" altLang="ko-KR" sz="1500" b="0" dirty="0">
                <a:solidFill>
                  <a:srgbClr val="1F2328"/>
                </a:solidFill>
                <a:latin typeface="Calibri"/>
                <a:ea typeface="맑은 고딕"/>
                <a:cs typeface="Calibri"/>
              </a:rPr>
              <a:t>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a:t>
            </a:r>
            <a:r>
              <a:rPr lang="en-US" altLang="ko-KR" sz="1500" b="0" dirty="0">
                <a:solidFill>
                  <a:srgbClr val="1F2328"/>
                </a:solidFill>
                <a:latin typeface="Calibri"/>
                <a:ea typeface="맑은 고딕"/>
                <a:cs typeface="Calibri"/>
              </a:rPr>
              <a:t> that were important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a:t>
            </a:r>
            <a:r>
              <a:rPr lang="en-US" altLang="ko-KR" sz="1500" b="0" dirty="0">
                <a:solidFill>
                  <a:srgbClr val="111111"/>
                </a:solidFill>
                <a:highlight>
                  <a:srgbClr val="FFE45C"/>
                </a:highlight>
                <a:latin typeface="Calibri"/>
                <a:ea typeface="맑은 고딕"/>
                <a:cs typeface="Calibri"/>
              </a:rPr>
              <a:t>This kind of painting is called Munjado, and it is a type of folk painting that was popular in the late Joseon dynasty.</a:t>
            </a:r>
            <a:r>
              <a:rPr lang="en-US" altLang="ko-KR" sz="1500" b="0" dirty="0">
                <a:solidFill>
                  <a:srgbClr val="B3BAC6"/>
                </a:solidFill>
                <a:latin typeface="Calibri"/>
                <a:ea typeface="맑은 고딕"/>
                <a:cs typeface="Calibri"/>
              </a:rPr>
              <a:t>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a:t>
            </a:r>
            <a:r>
              <a:rPr lang="en-US" altLang="ko-KR" sz="1500" b="0" dirty="0">
                <a:solidFill>
                  <a:srgbClr val="B3BAC6"/>
                </a:solidFill>
                <a:latin typeface="Calibri"/>
                <a:ea typeface="맑은 고딕"/>
                <a:cs typeface="Calibri"/>
              </a:rPr>
              <a:t> that were important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history of Chinese characters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tools used to make folk art</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life of painters in Joseon</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reasons fans were popular</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meaning and features of Munjado</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3538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the meaning and features of Munjado</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the meaning and features of Munjado</a:t>
            </a:r>
            <a:endParaRPr lang="en-US" altLang="ko-KR" sz="1900" b="1" dirty="0">
              <a:solidFill>
                <a:srgbClr val="5A4200"/>
              </a:solidFill>
              <a:latin typeface="Calibri"/>
              <a:ea typeface="맑은 고딕"/>
              <a:cs typeface="Calibri"/>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문자도가 어떤 그림이며 그 속 한자가 조선 사람들의 가치를 나타낸다고 설명한다. 정답은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Munjado: Characters with Values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7241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Munjado: Characters with Values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to Write Chinese Characters</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Famous Painters of Joseon</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Animals Loved by Joseon People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Folk Music in the Late Joseon</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Munjado: Characters with Values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한자는 조선 사람들에게 중요했던 가치('the values')를 나타낸다. 이를 담은 ①이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한자를 정확하게 쓰는 법부터 익혀야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 담긴 가치의 의미를 살펴보아야 한다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131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문자도에 담긴 가치의 의미를 살펴보아야 한다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민화보다 궁중 회화를 먼저 감상해야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그림 속 동물의 생김새를 자세히 그려야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조선 시대의 악기 연주법을 배워 보아야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문자도에 담긴 가치의 의미를 살펴보아야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 속 한자가 조선 사람들이 중시한 가치를 나타낸다고 했으니 그 의미를 살펴보자는 ②가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문자도는 조선 왕실만 즐기던 그림이었다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문자도에는 한자가 전혀 등장하지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사람의 가치를 한자로 담았다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5389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문자도는 조선 사람의 가치를 한자로 담았다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문자도는 현대에 새로 만들어진 그림이다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문자도는 동물만 그린 조선의 민화이다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문자도는 조선 사람의 가치를 한자로 담았다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여덟 한자가 조선 사람들에게 중요했던 가치를 나타낸다고 했다. 이를 정리한 ③이 요지이다.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a:t>
            </a:r>
            <a:r>
              <a:rPr lang="en-US" altLang="ko-KR" sz="1500" b="0" dirty="0">
                <a:solidFill>
                  <a:srgbClr val="1F2328"/>
                </a:solidFill>
                <a:latin typeface="Calibri"/>
                <a:ea typeface="맑은 고딕"/>
                <a:cs typeface="Calibri"/>
              </a:rPr>
              <a:t>One of eight Chinese characters</a:t>
            </a:r>
            <a:r>
              <a:rPr lang="en-US" altLang="ko-KR" sz="1500" b="0" dirty="0">
                <a:solidFill>
                  <a:srgbClr val="1F2328"/>
                </a:solidFill>
                <a:latin typeface="Calibri"/>
                <a:ea typeface="맑은 고딕"/>
                <a:cs typeface="Calibri"/>
              </a:rPr>
              <a:t> appears in Munjado. They are hyo (孝), je (悌), chung (忠), sin (信), ye (禮), ui (義), yeom (廉), and chi (恥), and they represent the values that were important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a:t>
            </a:r>
            <a:r>
              <a:rPr lang="en-US" altLang="ko-KR" sz="1500" b="0" dirty="0">
                <a:solidFill>
                  <a:srgbClr val="111111"/>
                </a:solidFill>
                <a:highlight>
                  <a:srgbClr val="FFE45C"/>
                </a:highlight>
                <a:latin typeface="Calibri"/>
                <a:ea typeface="맑은 고딕"/>
                <a:cs typeface="Calibri"/>
              </a:rPr>
              <a:t>One of eight Chinese characters</a:t>
            </a:r>
            <a:r>
              <a:rPr lang="en-US" altLang="ko-KR" sz="1500" b="0" dirty="0">
                <a:solidFill>
                  <a:srgbClr val="B3BAC6"/>
                </a:solidFill>
                <a:latin typeface="Calibri"/>
                <a:ea typeface="맑은 고딕"/>
                <a:cs typeface="Calibri"/>
              </a:rPr>
              <a:t> appears in Munjado. They are hyo (孝), je (悌), chung (忠), sin (信), ye (禮), ui (義), yeom (廉), and chi (恥), and they represent the values that were important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문자도는 민화의 한 종류이다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문자도에는 한자 열 개가 함께 나온다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131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문자도에는 한자 열 개가 함께 나온다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후기에 인기가 있었다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문자도에는 보통 한자가 하나 나온다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문자도에는 동물이나 사물도 함께 나온다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문자도에는 한자 열 개가 함께 나온다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문자도에는 여덟 개의 한자 중 하나('One of eight')가 나온다. 한자 열 개가 함께 나온다는 ②는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효(孝) 그림에는 호랑이가 그려져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문자도의 한자는 모두 열두 개이다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초기에만 그려졌다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여덟 한자는 조선 사람의 가치를 나타낸다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3946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여덟 한자는 조선 사람의 가치를 나타낸다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문자도에는 동물이 등장하지 않는다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여덟 한자는 조선 사람의 가치를 나타낸다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여덟 한자는 조선 시대 사람들에게 중요했던 가치를 나타낸다고 했으므로 ④가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Look at the painting on the right.</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6156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615692"/>
          </a:xfrm>
          <a:prstGeom prst="rect">
            <a:avLst/>
          </a:prstGeom>
          <a:noFill/>
        </p:spPr>
        <p:txBody>
          <a:bodyPr wrap="square" lIns="201168" tIns="118872" rIns="201168" bIns="118872" anchor="t" rtlCol="0">
            <a:noAutofit/>
          </a:bodyPr>
          <a:lstStyle/>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Do you see the Chinese character, hyo (孝)? Do you also see a carp, a geomungo, and a fan?</a:t>
            </a:r>
            <a:endParaRPr lang="en-US" altLang="ko-KR" sz="1700" b="0" dirty="0">
              <a:solidFill>
                <a:srgbClr val="1F2328"/>
              </a:solidFill>
              <a:latin typeface="Calibri"/>
              <a:ea typeface="맑은 고딕"/>
              <a:cs typeface="Calibri"/>
            </a:endParaRPr>
          </a:p>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In Munjado, there is usually a Chinese character with some animals or objects.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983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397246"/>
            <a:ext cx="11277295" cy="10218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그림을 보라는 말 → (A) 그림 속 효(孝)와 잉어·부채를 묻는다 → (C) 'This kind of painting'으로 문자도를 소개한다 → (B) 'Munjado'에 나오는 여덟 한자를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Look at the painting on the right.</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6156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615692"/>
          </a:xfrm>
          <a:prstGeom prst="rect">
            <a:avLst/>
          </a:prstGeom>
          <a:noFill/>
        </p:spPr>
        <p:txBody>
          <a:bodyPr wrap="square" lIns="201168" tIns="118872" rIns="201168" bIns="118872" anchor="t" rtlCol="0">
            <a:noAutofit/>
          </a:bodyPr>
          <a:lstStyle/>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Do you see the Chinese character, hyo (孝)? Do you also see a carp, a geomungo, and a fan?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In Munjado, there is usually a Chinese character with some animals or objects.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983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397246"/>
            <a:ext cx="11277295" cy="10218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그림을 보라는 말 → (B) 그림 속 효(孝)와 사물을 묻는다 → (C) 'This kind of painting'이 앞의 그림을 받아 문자도라 부른다 → (A) 문자도의 여덟 한자로 이어진다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Do you see the Chinese character, hyo (孝)?</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Look at the painting on the right.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Do you also see a carp, a geomungo, and a fan?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In Munjado, there is usually a Chinese character with some animals or objects.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Look at the painting on the right.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Do you also see a carp, a geomungo, and a fan?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In Munjado, there is usually a Chinese character with some animals or objects.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문장이 그림 속 한자 효(孝)를 먼저 묻고, ② 뒤 문장이 'also'로 잉어·거문고·부채를 덧붙인다. 따라서 ②가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Do you also see a carp, a geomungo, and a fan?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Look at the painting on the right.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Do you see the Chinese character, hyo (孝)?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In Munjado, there is usually a Chinese character with some animals or objects.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Look at the painting on the right.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Do you see the Chinese character, hyo (孝)?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In Munjado, there is usually a Chinese character with some animals or objects.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② 앞에서 효(孝)를 묻고, 주어진 문장이 'also'로 잉어·거문고·부채를 더 묻는다. ③ 뒤 'This kind of painting'이 이 그림을 받으므로 ③이다.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Look at the painting on the right.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see the Chinese character, hyo (孝)?</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also see a carp, a geomungo, and a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This kind of painting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 called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calls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Munjado, and it is a type of folk painting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that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was popular in the late Joseon dynasty.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Munjado, there is usually a Chinese character with some animals or objects.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One of eight Chinese characters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appear</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appears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Munjado.</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were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3개)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Look at the painting on the right.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see the Chinese character, hyo (孝)?</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also see a carp, a geomungo, and a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This kind of painting is called Munjado, and it is a type of folk painting that was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popular</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popularly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the late Joseon dynasty.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Munjado, there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are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usually a Chinese character with some animals or objects.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One of eight Chinese characters appears in Munjado.</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are hyo (孝), je (悌), chung (忠), sin (信), ye (禮), ui (義), yeom (廉), and chi (恥), and they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represent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represents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carp became a sign of respect for parents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05181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how carp became a sign of respect for parents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why carp live in very cold frozen rivers</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ways to cook fresh fish for sick people</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 ice melts fast in the winter</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how Joseon men learned to catch fish</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how carp became a sign of respect for parents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효 그림 속 잉어가 옛이야기 때문에 부모님에 대한 공경('respect for parents')을 상징한다고 한다. 정답은 ①이다.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Fishing Tips for Cold Winter Days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Carp: A Symbol of Filial Respect</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45922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Carp: A Symbol of Filial Respect</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to Cook Carp for Your Family</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Rivers Freeze in Early Winter</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Decorations That Joseon People Loved</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Carp: A Symbol of Filial Respect</a:t>
            </a:r>
            <a:endParaRPr lang="en-US" altLang="ko-KR" sz="1900" b="1" dirty="0">
              <a:solidFill>
                <a:srgbClr val="5A4200"/>
              </a:solidFill>
              <a:latin typeface="Calibri"/>
              <a:ea typeface="맑은 고딕"/>
              <a:cs typeface="Calibri"/>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잉어가 한 옛이야기로 인해 부모 공경을 상징한다는 것이 중심 내용이므로 ②가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a:t>
            </a:r>
            <a:r>
              <a:rPr lang="en-US" altLang="ko-KR" sz="1450" b="0" dirty="0">
                <a:solidFill>
                  <a:srgbClr val="1F2328"/>
                </a:solidFill>
                <a:latin typeface="Calibri"/>
                <a:ea typeface="맑은 고딕"/>
                <a:cs typeface="Calibri"/>
              </a:rPr>
              <a:t> </a:t>
            </a:r>
            <a:r>
              <a:rPr lang="en-US" altLang="ko-KR" sz="1450" b="0" dirty="0">
                <a:solidFill>
                  <a:srgbClr val="1F2328"/>
                </a:solidFill>
                <a:latin typeface="Calibri"/>
                <a:ea typeface="맑은 고딕"/>
                <a:cs typeface="Calibri"/>
              </a:rPr>
              <a:t>They often are symbolic.</a:t>
            </a:r>
            <a:r>
              <a:rPr lang="en-US" altLang="ko-KR" sz="1450" b="0" dirty="0">
                <a:solidFill>
                  <a:srgbClr val="1F2328"/>
                </a:solidFill>
                <a:latin typeface="Calibri"/>
                <a:ea typeface="맑은 고딕"/>
                <a:cs typeface="Calibri"/>
              </a:rPr>
              <a:t>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11111"/>
                </a:solidFill>
                <a:highlight>
                  <a:srgbClr val="FFE45C"/>
                </a:highlight>
                <a:latin typeface="Calibri"/>
                <a:ea typeface="맑은 고딕"/>
                <a:cs typeface="Calibri"/>
              </a:rPr>
              <a:t>The animals or objects in Munjado are not just decorations.</a:t>
            </a:r>
            <a:r>
              <a:rPr lang="en-US" altLang="ko-KR" sz="1450" b="0" dirty="0">
                <a:solidFill>
                  <a:srgbClr val="B3BAC6"/>
                </a:solidFill>
                <a:latin typeface="Calibri"/>
                <a:ea typeface="맑은 고딕"/>
                <a:cs typeface="Calibri"/>
              </a:rPr>
              <a:t> </a:t>
            </a:r>
            <a:r>
              <a:rPr lang="en-US" altLang="ko-KR" sz="1450" b="0" dirty="0">
                <a:solidFill>
                  <a:srgbClr val="111111"/>
                </a:solidFill>
                <a:highlight>
                  <a:srgbClr val="FFE45C"/>
                </a:highlight>
                <a:latin typeface="Calibri"/>
                <a:ea typeface="맑은 고딕"/>
                <a:cs typeface="Calibri"/>
              </a:rPr>
              <a:t>They often are symbolic.</a:t>
            </a:r>
            <a:r>
              <a:rPr lang="en-US" altLang="ko-KR" sz="1450" b="0" dirty="0">
                <a:solidFill>
                  <a:srgbClr val="B3BAC6"/>
                </a:solidFill>
                <a:latin typeface="Calibri"/>
                <a:ea typeface="맑은 고딕"/>
                <a:cs typeface="Calibri"/>
              </a:rPr>
              <a:t>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추운 날에는 강에 나가지 말아야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아플 때는 신선한 생선을 먹어야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그림 속 사물의 상징적 의미를 읽어야 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86664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그림 속 사물의 상징적 의미를 읽어야 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민화의 장식은 화려하게 그려야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옛이야기는 사실 여부를 따져 읽어야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그림 속 사물의 상징적 의미를 읽어야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동물과 사물은 단순한 장식이 아니라 상징적이라고 했으므로 그 의미를 읽자는 ③이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 속 사물은 단순한 장식에 불과하다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잉어는 겨울철 귀한 보양식으로 쓰였다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얼음 낚시는 조선의 대표적 풍습이었다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효 그림의 잉어는 옛이야기로 효를 상징한다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27405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효 그림의 잉어는 옛이야기로 효를 상징한다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잉어는 강물이 녹을 때만 잡을 수 있었다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효 그림의 잉어는 옛이야기로 효를 상징한다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잉어가 옛이야기 때문에 부모님에 대한 공경을 상징한다고 했다. 이를 정리한 ④가 요지이다.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a:t>
            </a:r>
            <a:r>
              <a:rPr lang="en-US" altLang="ko-KR" sz="1450" b="0" dirty="0">
                <a:solidFill>
                  <a:srgbClr val="1F2328"/>
                </a:solidFill>
                <a:latin typeface="Calibri"/>
                <a:ea typeface="맑은 고딕"/>
                <a:cs typeface="Calibri"/>
              </a:rPr>
              <a:t>impossible for him to catch any fish</a:t>
            </a:r>
            <a:r>
              <a:rPr lang="en-US" altLang="ko-KR" sz="1450" b="0" dirty="0">
                <a:solidFill>
                  <a:srgbClr val="1F2328"/>
                </a:solidFill>
                <a:latin typeface="Calibri"/>
                <a:ea typeface="맑은 고딕"/>
                <a:cs typeface="Calibri"/>
              </a:rPr>
              <a:t>. The man was so disappointed that he cried out to the sky, “What should I do? Please help me.” Then the ice melted, and </a:t>
            </a:r>
            <a:r>
              <a:rPr lang="en-US" altLang="ko-KR" sz="1450" b="0" dirty="0">
                <a:solidFill>
                  <a:srgbClr val="1F2328"/>
                </a:solidFill>
                <a:latin typeface="Calibri"/>
                <a:ea typeface="맑은 고딕"/>
                <a:cs typeface="Calibri"/>
              </a:rPr>
              <a:t>three carp suddenly came out of the water</a:t>
            </a:r>
            <a:r>
              <a:rPr lang="en-US" altLang="ko-KR" sz="1450" b="0" dirty="0">
                <a:solidFill>
                  <a:srgbClr val="1F2328"/>
                </a:solidFill>
                <a:latin typeface="Calibri"/>
                <a:ea typeface="맑은 고딕"/>
                <a:cs typeface="Calibri"/>
              </a:rPr>
              <a:t>.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a:t>
            </a:r>
            <a:r>
              <a:rPr lang="en-US" altLang="ko-KR" sz="1450" b="0" dirty="0">
                <a:solidFill>
                  <a:srgbClr val="111111"/>
                </a:solidFill>
                <a:highlight>
                  <a:srgbClr val="FFE45C"/>
                </a:highlight>
                <a:latin typeface="Calibri"/>
                <a:ea typeface="맑은 고딕"/>
                <a:cs typeface="Calibri"/>
              </a:rPr>
              <a:t>impossible for him to catch any fish</a:t>
            </a:r>
            <a:r>
              <a:rPr lang="en-US" altLang="ko-KR" sz="1450" b="0" dirty="0">
                <a:solidFill>
                  <a:srgbClr val="B3BAC6"/>
                </a:solidFill>
                <a:latin typeface="Calibri"/>
                <a:ea typeface="맑은 고딕"/>
                <a:cs typeface="Calibri"/>
              </a:rPr>
              <a:t>. The man was so disappointed that he cried out to the sky, “What should I do? Please help me.” Then the ice melted, and </a:t>
            </a:r>
            <a:r>
              <a:rPr lang="en-US" altLang="ko-KR" sz="1450" b="0" dirty="0">
                <a:solidFill>
                  <a:srgbClr val="111111"/>
                </a:solidFill>
                <a:highlight>
                  <a:srgbClr val="FFE45C"/>
                </a:highlight>
                <a:latin typeface="Calibri"/>
                <a:ea typeface="맑은 고딕"/>
                <a:cs typeface="Calibri"/>
              </a:rPr>
              <a:t>three carp suddenly came out of the water</a:t>
            </a:r>
            <a:r>
              <a:rPr lang="en-US" altLang="ko-KR" sz="1450" b="0" dirty="0">
                <a:solidFill>
                  <a:srgbClr val="B3BAC6"/>
                </a:solidFill>
                <a:latin typeface="Calibri"/>
                <a:ea typeface="맑은 고딕"/>
                <a:cs typeface="Calibri"/>
              </a:rPr>
              <a:t>.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남자는 나이 든 어머니와 함께 살았다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어머니는 어느 겨울에 병이 들었다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남자는 강에서 잉어 다섯 마리를 잡았다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86664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남자는 강에서 잉어 다섯 마리를 잡았다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어머니는 신선한 물고기를 먹고 싶어 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남자가 갔을 때 강은 완전히 얼어 있었다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남자는 강에서 잉어 다섯 마리를 잡았다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남자는 언 강에서 물고기를 잡을 수 없었고 잉어 세 마리가 물 밖으로 나왔다. 다섯 마리를 잡았다는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a:t>
            </a:r>
            <a:r>
              <a:rPr lang="en-US" altLang="ko-KR" sz="1450" b="0" dirty="0">
                <a:solidFill>
                  <a:srgbClr val="1F2328"/>
                </a:solidFill>
                <a:latin typeface="Calibri"/>
                <a:ea typeface="맑은 고딕"/>
                <a:cs typeface="Calibri"/>
              </a:rPr>
              <a:t>Then the ice melted, and three carp suddenly came out of the water.</a:t>
            </a:r>
            <a:r>
              <a:rPr lang="en-US" altLang="ko-KR" sz="1450" b="0" dirty="0">
                <a:solidFill>
                  <a:srgbClr val="1F2328"/>
                </a:solidFill>
                <a:latin typeface="Calibri"/>
                <a:ea typeface="맑은 고딕"/>
                <a:cs typeface="Calibri"/>
              </a:rPr>
              <a:t>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a:t>
            </a:r>
            <a:r>
              <a:rPr lang="en-US" altLang="ko-KR" sz="1450" b="0" dirty="0">
                <a:solidFill>
                  <a:srgbClr val="111111"/>
                </a:solidFill>
                <a:highlight>
                  <a:srgbClr val="FFE45C"/>
                </a:highlight>
                <a:latin typeface="Calibri"/>
                <a:ea typeface="맑은 고딕"/>
                <a:cs typeface="Calibri"/>
              </a:rPr>
              <a:t>Then the ice melted, and three carp suddenly came out of the water.</a:t>
            </a:r>
            <a:r>
              <a:rPr lang="en-US" altLang="ko-KR" sz="1450" b="0" dirty="0">
                <a:solidFill>
                  <a:srgbClr val="B3BAC6"/>
                </a:solidFill>
                <a:latin typeface="Calibri"/>
                <a:ea typeface="맑은 고딕"/>
                <a:cs typeface="Calibri"/>
              </a:rPr>
              <a:t>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문자도의 사물은 단지 장식일 뿐이다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남자는 따뜻한 봄날에 강으로 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어머니는 물고기를 먹고도 낫지 않았다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남자는 시장에서 물고기를 사 왔다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얼음이 녹은 뒤 잉어 세 마리가 나왔다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68147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얼음이 녹은 뒤 잉어 세 마리가 나왔다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얼음이 녹은 뒤 잉어 세 마리가 나왔다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얼음이 녹고 잉어 세 마리가 갑자기 물 밖으로 나왔다고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577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57708"/>
          </a:xfrm>
          <a:prstGeom prst="rect">
            <a:avLst/>
          </a:prstGeom>
          <a:noFill/>
        </p:spPr>
        <p:txBody>
          <a:bodyPr wrap="square" lIns="201168" tIns="100584" rIns="201168" bIns="100584" anchor="t" rtlCol="0">
            <a:noAutofit/>
          </a:bodyPr>
          <a:lstStyle/>
          <a:p>
            <a:pPr algn="l">
              <a:lnSpc>
                <a:spcPts val="2020"/>
              </a:lnSpc>
              <a:spcBef>
                <a:spcPts val="0"/>
              </a:spcBef>
              <a:spcAft>
                <a:spcPts val="0"/>
              </a:spcAft>
              <a:buNone/>
            </a:pPr>
            <a:r>
              <a:rPr lang="en-US" altLang="ko-KR" sz="1550" b="0" dirty="0">
                <a:solidFill>
                  <a:srgbClr val="1F2328"/>
                </a:solidFill>
                <a:latin typeface="Calibri"/>
                <a:ea typeface="맑은 고딕"/>
                <a:cs typeface="Calibri"/>
              </a:rPr>
              <a:t>The animals or objects in Munjado are not just decorations.</a:t>
            </a:r>
            <a:endParaRPr lang="en-US" altLang="ko-KR" sz="1550" b="0" dirty="0">
              <a:solidFill>
                <a:srgbClr val="1F2328"/>
              </a:solidFill>
              <a:latin typeface="Calibri"/>
              <a:ea typeface="맑은 고딕"/>
              <a:cs typeface="Calibri"/>
            </a:endParaRPr>
          </a:p>
        </p:txBody>
      </p:sp>
      <p:sp>
        <p:nvSpPr>
          <p:cNvPr id="9" name="parts_card"/>
          <p:cNvSpPr/>
          <p:nvPr/>
        </p:nvSpPr>
        <p:spPr>
          <a:xfrm>
            <a:off x="457200" y="1536700"/>
            <a:ext cx="11277295" cy="25750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36700"/>
            <a:ext cx="11277295" cy="2575051"/>
          </a:xfrm>
          <a:prstGeom prst="rect">
            <a:avLst/>
          </a:prstGeom>
          <a:noFill/>
        </p:spPr>
        <p:txBody>
          <a:bodyPr wrap="square" lIns="201168" tIns="118872" rIns="201168" bIns="118872" anchor="t" rtlCol="0">
            <a:noAutofit/>
          </a:bodyPr>
          <a:lstStyle/>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(A)</a:t>
            </a:r>
            <a:r>
              <a:rPr lang="en-US" altLang="ko-KR" sz="155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(B)</a:t>
            </a:r>
            <a:r>
              <a:rPr lang="en-US" altLang="ko-KR" sz="1550" b="0" dirty="0">
                <a:solidFill>
                  <a:srgbClr val="1F2328"/>
                </a:solidFill>
                <a:latin typeface="Calibri"/>
                <a:ea typeface="맑은 고딕"/>
                <a:cs typeface="Calibri"/>
              </a:rPr>
              <a:t>	They often are symbolic. For example, carp in the paintings of hyo symbolize respect for parents because of an old story. The story goes as follows. Once upon a time, a man lived with his old mother.</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(C)</a:t>
            </a:r>
            <a:r>
              <a:rPr lang="en-US" altLang="ko-KR" sz="1550" b="0" dirty="0">
                <a:solidFill>
                  <a:srgbClr val="1F2328"/>
                </a:solidFill>
                <a:latin typeface="Calibri"/>
                <a:ea typeface="맑은 고딕"/>
                <a:cs typeface="Calibri"/>
              </a:rPr>
              <a:t>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550" b="0" dirty="0">
              <a:solidFill>
                <a:srgbClr val="1F2328"/>
              </a:solidFill>
              <a:latin typeface="Calibri"/>
              <a:ea typeface="맑은 고딕"/>
              <a:cs typeface="Calibri"/>
            </a:endParaRPr>
          </a:p>
        </p:txBody>
      </p:sp>
      <p:sp>
        <p:nvSpPr>
          <p:cNvPr id="11" name="options"/>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33543"/>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332475"/>
            <a:ext cx="11277295" cy="1086612"/>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사물은 장식이 아니라는 말 → (B) 'They often are symbolic'과 잉어 이야기 예고 → (A) 'One winter' 어머니가 병들고 강이 얼었다 → (C) 'The man'이 낙담해 외치자 잉어가 나왔다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577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57708"/>
          </a:xfrm>
          <a:prstGeom prst="rect">
            <a:avLst/>
          </a:prstGeom>
          <a:noFill/>
        </p:spPr>
        <p:txBody>
          <a:bodyPr wrap="square" lIns="201168" tIns="100584" rIns="201168" bIns="100584" anchor="t" rtlCol="0">
            <a:noAutofit/>
          </a:bodyPr>
          <a:lstStyle/>
          <a:p>
            <a:pPr algn="l">
              <a:lnSpc>
                <a:spcPts val="2020"/>
              </a:lnSpc>
              <a:spcBef>
                <a:spcPts val="0"/>
              </a:spcBef>
              <a:spcAft>
                <a:spcPts val="0"/>
              </a:spcAft>
              <a:buNone/>
            </a:pPr>
            <a:r>
              <a:rPr lang="en-US" altLang="ko-KR" sz="1550" b="0" dirty="0">
                <a:solidFill>
                  <a:srgbClr val="1F2328"/>
                </a:solidFill>
                <a:latin typeface="Calibri"/>
                <a:ea typeface="맑은 고딕"/>
                <a:cs typeface="Calibri"/>
              </a:rPr>
              <a:t>The animals or objects in Munjado are not just decorations.</a:t>
            </a:r>
            <a:endParaRPr lang="en-US" altLang="ko-KR" sz="1550" b="0" dirty="0">
              <a:solidFill>
                <a:srgbClr val="1F2328"/>
              </a:solidFill>
              <a:latin typeface="Calibri"/>
              <a:ea typeface="맑은 고딕"/>
              <a:cs typeface="Calibri"/>
            </a:endParaRPr>
          </a:p>
        </p:txBody>
      </p:sp>
      <p:sp>
        <p:nvSpPr>
          <p:cNvPr id="9" name="parts_card"/>
          <p:cNvSpPr/>
          <p:nvPr/>
        </p:nvSpPr>
        <p:spPr>
          <a:xfrm>
            <a:off x="457200" y="1536700"/>
            <a:ext cx="11277295" cy="25750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36700"/>
            <a:ext cx="11277295" cy="2575051"/>
          </a:xfrm>
          <a:prstGeom prst="rect">
            <a:avLst/>
          </a:prstGeom>
          <a:noFill/>
        </p:spPr>
        <p:txBody>
          <a:bodyPr wrap="square" lIns="201168" tIns="118872" rIns="201168" bIns="118872" anchor="t" rtlCol="0">
            <a:noAutofit/>
          </a:bodyPr>
          <a:lstStyle/>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(A)</a:t>
            </a:r>
            <a:r>
              <a:rPr lang="en-US" altLang="ko-KR" sz="155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(B)</a:t>
            </a:r>
            <a:r>
              <a:rPr lang="en-US" altLang="ko-KR" sz="1550" b="0" dirty="0">
                <a:solidFill>
                  <a:srgbClr val="1F2328"/>
                </a:solidFill>
                <a:latin typeface="Calibri"/>
                <a:ea typeface="맑은 고딕"/>
                <a:cs typeface="Calibri"/>
              </a:rPr>
              <a:t>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(C)</a:t>
            </a:r>
            <a:r>
              <a:rPr lang="en-US" altLang="ko-KR" sz="1550" b="0" dirty="0">
                <a:solidFill>
                  <a:srgbClr val="1F2328"/>
                </a:solidFill>
                <a:latin typeface="Calibri"/>
                <a:ea typeface="맑은 고딕"/>
                <a:cs typeface="Calibri"/>
              </a:rPr>
              <a:t>	They often are symbolic. For example, carp in the paintings of hyo symbolize respect for parents because of an old story. The story goes as follows. Once upon a time, a man lived with his old mother.</a:t>
            </a:r>
            <a:endParaRPr lang="en-US" altLang="ko-KR" sz="1550" b="0" dirty="0">
              <a:solidFill>
                <a:srgbClr val="1F2328"/>
              </a:solidFill>
              <a:latin typeface="Calibri"/>
              <a:ea typeface="맑은 고딕"/>
              <a:cs typeface="Calibri"/>
            </a:endParaRPr>
          </a:p>
        </p:txBody>
      </p:sp>
      <p:sp>
        <p:nvSpPr>
          <p:cNvPr id="11" name="options"/>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33543"/>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332475"/>
            <a:ext cx="11277295" cy="1086612"/>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사물은 장식이 아니라는 말 → (C) 'They'가 그 사물을 받아 상징적이라 하고 이야기를 예고한다 → (A) 'One winter' 어머니가 병든다 → (B) 낙담한 남자에게 잉어가 나타난다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carp in the paintings of hyo symbolize respect for parents because of an old story.</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animals or objects in Munjado are not just decorations.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often are symbolic.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 story goes as follows.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Once upon a time, a man lived with his old mother.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animals or objects in Munjado are not just decorations.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often are symbolic.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 story goes as follows.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Once upon a time, a man lived with his old mother.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8955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94528"/>
            <a:ext cx="11277295" cy="9245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문장이 잉어가 'an old story' 때문에 효를 상징한다고 한다. ③ 뒤 'The story goes as follows'의 The story가 이 옛이야기를 받으므로 ③이다.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story goes as follows.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20040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20040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animals or objects in Munjado are not just decorations.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often are symbolic.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For example, carp in the paintings of hyo symbolize respect for parents because of an old story.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Once upon a time, a man lived with his old mother.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20040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animals or objects in Munjado are not just decorations.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often are symbolic.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For example, carp in the paintings of hyo symbolize respect for parents because of an old story.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Once upon a time, a man lived with his old mother.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9146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513578"/>
            <a:ext cx="11277295" cy="9055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앞 문장이 'an old story'를 언급하고, 주어진 문장 'The story goes as follows'가 그 이야기를 받아 ④ 뒤의 'Once upon a time'을 연다. 정답은 ④이다.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1267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solidFill>
                <a:latin typeface="맑은 고딕"/>
                <a:ea typeface="맑은 고딕"/>
                <a:cs typeface="맑은 고딕"/>
              </a:rPr>
              <a:t>①</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animals or objects in Munjado are not just decorations.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②</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They often are symbolic.</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③</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For example, carp in the paintings of hyo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symbolizes</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symbolize</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respect for parents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because of</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because</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 old story.</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④</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story goes as follows.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⑤</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Once upon a time, a man lived with his old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⑥</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One winter, the man’s mother became ill and couldn’t eat anything.</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⑦</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 one very cold day, the mother said to the man, “It would be wonderful if I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can</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could</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eat fresh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⑧</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out to the river, but it was completely frozen.</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⑨</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It was impossible for him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to catch</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catching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any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⑩</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was so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disappointed</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disappointing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that he cried out to the sky, “What should I do? Please help me.”</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⑪</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the ice melted, and three carp suddenly came out of the water.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⑫</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back home and cooked the fish for his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⑬</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9" name="rv_g01"/>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C00000"/>
                </a:solidFill>
                <a:highlight>
                  <a:srgbClr val="F3F5F9"/>
                </a:highlight>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0" name="rv_g02"/>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1" name="rv_g03"/>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C00000"/>
                </a:solidFill>
                <a:highlight>
                  <a:srgbClr val="F3F5F9"/>
                </a:highlight>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2" name="rv_g04"/>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3" name="rv_g05"/>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7254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solidFill>
                <a:latin typeface="맑은 고딕"/>
                <a:ea typeface="맑은 고딕"/>
                <a:cs typeface="맑은 고딕"/>
              </a:rPr>
              <a:t>①</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animals or objects in Munjado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are not</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is not</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just decorations.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②</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They often are symbolic.</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③</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For example, carp in the paintings of hyo symbolize respect for parents because of an old story.</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④</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story goes as follows.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⑤</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Once upon a time, a man lived with his old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⑥</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One winter, the man’s mother became ill and couldn’t eat anything.</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⑦</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 one very cold day, the mother said to the man, “It would be wonderful if I could eat fresh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⑧</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out to the river, but it was completely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frozen</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freezing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⑨</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It was impossible for him to catch any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⑩</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was so disappointed that he cried out to the sky, “What should I do? Please help me.”</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⑪</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the ice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melted</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was melted</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and three carp suddenly came out of the water.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⑫</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back home and cooked the fish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for his mother</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to his mother</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⑬</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9" name="rv_g01"/>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0" name="rv_g02"/>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1" name="rv_g03"/>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2" name="rv_g04"/>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a:t>
            </a:r>
            <a:r>
              <a:rPr lang="en-US" altLang="ko-KR" sz="145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11111"/>
                </a:solidFill>
                <a:highlight>
                  <a:srgbClr val="FFE45C"/>
                </a:highlight>
                <a:latin typeface="Calibri"/>
                <a:ea typeface="맑은 고딕"/>
                <a:cs typeface="Calibri"/>
              </a:rPr>
              <a:t>There are other examples of symbolic objects in Munjado.</a:t>
            </a:r>
            <a:r>
              <a:rPr lang="en-US" altLang="ko-KR" sz="1450" b="0" dirty="0">
                <a:solidFill>
                  <a:srgbClr val="B3BAC6"/>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the best ways to grow bamboo at home</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the meanings of symbols and roles of Munjado</a:t>
            </a:r>
            <a:endParaRPr lang="en-US" altLang="ko-KR" sz="1750" b="0" dirty="0">
              <a:solidFill>
                <a:srgbClr val="1F2328"/>
              </a:solidFill>
              <a:latin typeface="Calibri"/>
              <a:ea typeface="맑은 고딕"/>
              <a:cs typeface="Calibri"/>
            </a:endParaRPr>
          </a:p>
        </p:txBody>
      </p:sp>
      <p:sp>
        <p:nvSpPr>
          <p:cNvPr id="13" name="rv_pick"/>
          <p:cNvSpPr txBox="1"/>
          <p:nvPr/>
        </p:nvSpPr>
        <p:spPr>
          <a:xfrm>
            <a:off x="457200" y="3600196"/>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②</a:t>
            </a:r>
            <a:r>
              <a:rPr lang="en-US" altLang="ko-KR" sz="1750" b="0" dirty="0">
                <a:solidFill>
                  <a:srgbClr val="C00000"/>
                </a:solidFill>
                <a:latin typeface="Calibri"/>
                <a:ea typeface="맑은 고딕"/>
                <a:cs typeface="Calibri"/>
              </a:rPr>
              <a:t>	the meanings of symbols and roles of Munjado</a:t>
            </a:r>
            <a:endParaRPr lang="en-US" altLang="ko-KR" sz="1750" b="0" dirty="0">
              <a:solidFill>
                <a:srgbClr val="C00000"/>
              </a:solidFill>
              <a:latin typeface="Calibri"/>
              <a:ea typeface="맑은 고딕"/>
              <a:cs typeface="Calibri"/>
            </a:endParaRPr>
          </a:p>
        </p:txBody>
      </p:sp>
      <p:sp>
        <p:nvSpPr>
          <p:cNvPr id="14"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the history of muddy ponds in Korea</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the reasons lotus flowers bloom in summer</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how children drew pictures in Joseon</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meanings of symbols and roles of Munjado</a:t>
            </a:r>
            <a:endParaRPr lang="en-US" altLang="ko-KR" sz="1900" b="1" dirty="0">
              <a:solidFill>
                <a:srgbClr val="5A4200"/>
              </a:solidFill>
              <a:latin typeface="Calibri"/>
              <a:ea typeface="맑은 고딕"/>
              <a:cs typeface="Calibri"/>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 속 상징물의 예를 들고 문자도가 중요한 가치를 상기시켰다고 한다. 상징의 의미와 역할을 다룬 ②가 주제이다.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a:t>
            </a:r>
            <a:r>
              <a:rPr lang="en-US" altLang="ko-KR" sz="1450" b="0" dirty="0">
                <a:solidFill>
                  <a:srgbClr val="1F2328"/>
                </a:solidFill>
                <a:latin typeface="Calibri"/>
                <a:ea typeface="맑은 고딕"/>
                <a:cs typeface="Calibri"/>
              </a:rPr>
              <a:t>In particular, for children, Munjado was a study tool.</a:t>
            </a:r>
            <a:r>
              <a:rPr lang="en-US" altLang="ko-KR" sz="1450" b="0" dirty="0">
                <a:solidFill>
                  <a:srgbClr val="1F2328"/>
                </a:solidFill>
                <a:latin typeface="Calibri"/>
                <a:ea typeface="맑은 고딕"/>
                <a:cs typeface="Calibri"/>
              </a:rPr>
              <a:t>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a:t>
            </a:r>
            <a:r>
              <a:rPr lang="en-US" altLang="ko-KR" sz="1450" b="0" dirty="0">
                <a:solidFill>
                  <a:srgbClr val="111111"/>
                </a:solidFill>
                <a:highlight>
                  <a:srgbClr val="FFE45C"/>
                </a:highlight>
                <a:latin typeface="Calibri"/>
                <a:ea typeface="맑은 고딕"/>
                <a:cs typeface="Calibri"/>
              </a:rPr>
              <a:t>In particular, for children, Munjado was a study tool.</a:t>
            </a:r>
            <a:r>
              <a:rPr lang="en-US" altLang="ko-KR" sz="1450" b="0" dirty="0">
                <a:solidFill>
                  <a:srgbClr val="B3BAC6"/>
                </a:solidFill>
                <a:latin typeface="Calibri"/>
                <a:ea typeface="맑은 고딕"/>
                <a:cs typeface="Calibri"/>
              </a:rPr>
              <a:t>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Growing Lotus Flowers in Muddy Ponds</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Why Bamboo Stays Green All Year</a:t>
            </a:r>
            <a:endParaRPr lang="en-US" altLang="ko-KR" sz="1750" b="0" dirty="0">
              <a:solidFill>
                <a:srgbClr val="1F2328"/>
              </a:solidFill>
              <a:latin typeface="Calibri"/>
              <a:ea typeface="맑은 고딕"/>
              <a:cs typeface="Calibri"/>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Munjado: Symbols That Taught Values</a:t>
            </a:r>
            <a:endParaRPr lang="en-US" altLang="ko-KR" sz="1750" b="0" dirty="0">
              <a:solidFill>
                <a:srgbClr val="1F2328"/>
              </a:solidFill>
              <a:latin typeface="Calibri"/>
              <a:ea typeface="맑은 고딕"/>
              <a:cs typeface="Calibri"/>
            </a:endParaRPr>
          </a:p>
        </p:txBody>
      </p:sp>
      <p:sp>
        <p:nvSpPr>
          <p:cNvPr id="14" name="rv_pick"/>
          <p:cNvSpPr txBox="1"/>
          <p:nvPr/>
        </p:nvSpPr>
        <p:spPr>
          <a:xfrm>
            <a:off x="457200" y="399745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en-US" altLang="ko-KR" sz="1750" b="0" dirty="0">
                <a:solidFill>
                  <a:srgbClr val="C00000"/>
                </a:solidFill>
                <a:latin typeface="Calibri"/>
                <a:ea typeface="맑은 고딕"/>
                <a:cs typeface="Calibri"/>
              </a:rPr>
              <a:t>	Munjado: Symbols That Taught Values</a:t>
            </a:r>
            <a:endParaRPr lang="en-US" altLang="ko-KR" sz="1750" b="0" dirty="0">
              <a:solidFill>
                <a:srgbClr val="C00000"/>
              </a:solidFill>
              <a:latin typeface="Calibri"/>
              <a:ea typeface="맑은 고딕"/>
              <a:cs typeface="Calibri"/>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Kings and Their Loyal Servants</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Games Children Played in Joseon</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Munjado: Symbols That Taught Values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문자도는 중요한 가치를 상기시키고 아이들에게는 학습 도구였다. 이를 담은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a:t>
            </a:r>
            <a:r>
              <a:rPr lang="en-US" altLang="ko-KR" sz="1450" b="0" dirty="0">
                <a:solidFill>
                  <a:srgbClr val="1F2328"/>
                </a:solidFill>
                <a:latin typeface="Calibri"/>
                <a:ea typeface="맑은 고딕"/>
                <a:cs typeface="Calibri"/>
              </a:rPr>
              <a:t>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a:t>
            </a:r>
            <a:r>
              <a:rPr lang="en-US" altLang="ko-KR" sz="1450" b="0" dirty="0">
                <a:solidFill>
                  <a:srgbClr val="111111"/>
                </a:solidFill>
                <a:highlight>
                  <a:srgbClr val="FFE45C"/>
                </a:highlight>
                <a:latin typeface="Calibri"/>
                <a:ea typeface="맑은 고딕"/>
                <a:cs typeface="Calibri"/>
              </a:rPr>
              <a:t>Through it, children in the Joseon dynasty could learn the importance of harmony in family and society.</a:t>
            </a:r>
            <a:endParaRPr lang="en-US" altLang="ko-KR" sz="1450" b="0" dirty="0">
              <a:solidFill>
                <a:srgbClr val="111111"/>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대나무는 날씨에 따라 다르게 심어야 한다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연꽃은 맑은 연못에서만 길러야 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왕에 대한 충성심을 최우선으로 삼아야 한다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문자도의 상징에 담긴 가치를 배워야 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39470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문자도의 상징에 담긴 가치를 배워야 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아이들은 그림보다 글을 먼저 익혀야 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문자도의 상징에 담긴 가치를 배워야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상징이 중요한 가치를 일깨우고 아이들이 조화의 중요성을 배웠다고 했으므로 ④가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대나무와 연꽃은 조선에서 귀한 식물이었다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연꽃은 진흙 연못에서 자라지 못하는 꽃이다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문자도는 아이들이 싫어하던 그림이었다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대나무는 날씨가 추우면 색이 쉽게 변한다</a:t>
            </a:r>
            <a:endParaRPr lang="ko-KR" altLang="en-US" sz="1750" b="0" dirty="0">
              <a:solidFill>
                <a:srgbClr val="1F2328"/>
              </a:solidFill>
              <a:latin typeface="맑은 고딕"/>
              <a:ea typeface="맑은 고딕"/>
              <a:cs typeface="맑은 고딕"/>
            </a:endParaRPr>
          </a:p>
        </p:txBody>
      </p:sp>
      <p:sp>
        <p:nvSpPr>
          <p:cNvPr id="15"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문자도의 상징은 사람들에게 가치를 일깨웠다</a:t>
            </a:r>
            <a:endParaRPr lang="ko-KR" altLang="en-US" sz="1750" b="0" dirty="0">
              <a:solidFill>
                <a:srgbClr val="1F2328"/>
              </a:solidFill>
              <a:latin typeface="맑은 고딕"/>
              <a:ea typeface="맑은 고딕"/>
              <a:cs typeface="맑은 고딕"/>
            </a:endParaRPr>
          </a:p>
        </p:txBody>
      </p:sp>
      <p:sp>
        <p:nvSpPr>
          <p:cNvPr id="16" name="rv_pick"/>
          <p:cNvSpPr txBox="1"/>
          <p:nvPr/>
        </p:nvSpPr>
        <p:spPr>
          <a:xfrm>
            <a:off x="457200" y="4791964"/>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⑤</a:t>
            </a:r>
            <a:r>
              <a:rPr lang="ko-KR" altLang="en-US" sz="1750" b="0" dirty="0">
                <a:solidFill>
                  <a:srgbClr val="C00000"/>
                </a:solidFill>
                <a:latin typeface="맑은 고딕"/>
                <a:ea typeface="맑은 고딕"/>
                <a:cs typeface="맑은 고딕"/>
              </a:rPr>
              <a:t>	문자도의 상징은 사람들에게 가치를 일깨웠다</a:t>
            </a:r>
            <a:endParaRPr lang="ko-KR" altLang="en-US" sz="1750" b="0" dirty="0">
              <a:solidFill>
                <a:srgbClr val="C00000"/>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문자도의 상징은 사람들에게 가치를 일깨웠다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문자도가 사람들의 행동과 태도에 영향을 준 중요한 가치를 상기시켰다고 했다. 정답은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t>
            </a:r>
            <a:r>
              <a:rPr lang="en-US" altLang="ko-KR" sz="1450" b="0" dirty="0">
                <a:solidFill>
                  <a:srgbClr val="1F2328"/>
                </a:solidFill>
                <a:latin typeface="Calibri"/>
                <a:ea typeface="맑은 고딕"/>
                <a:cs typeface="Calibri"/>
              </a:rPr>
              <a:t>a person’s will to fight for justice</a:t>
            </a:r>
            <a:r>
              <a:rPr lang="en-US" altLang="ko-KR" sz="1450" b="0" dirty="0">
                <a:solidFill>
                  <a:srgbClr val="1F2328"/>
                </a:solidFill>
                <a:latin typeface="Calibri"/>
                <a:ea typeface="맑은 고딕"/>
                <a:cs typeface="Calibri"/>
              </a:rPr>
              <a:t>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t>
            </a:r>
            <a:r>
              <a:rPr lang="en-US" altLang="ko-KR" sz="1450" b="0" dirty="0">
                <a:solidFill>
                  <a:srgbClr val="111111"/>
                </a:solidFill>
                <a:highlight>
                  <a:srgbClr val="FFE45C"/>
                </a:highlight>
                <a:latin typeface="Calibri"/>
                <a:ea typeface="맑은 고딕"/>
                <a:cs typeface="Calibri"/>
              </a:rPr>
              <a:t>a person’s will to fight for justice</a:t>
            </a:r>
            <a:r>
              <a:rPr lang="en-US" altLang="ko-KR" sz="1450" b="0" dirty="0">
                <a:solidFill>
                  <a:srgbClr val="B3BAC6"/>
                </a:solidFill>
                <a:latin typeface="Calibri"/>
                <a:ea typeface="맑은 고딕"/>
                <a:cs typeface="Calibri"/>
              </a:rPr>
              <a:t>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충 그림에는 대나무가 그려져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대나무는 어떤 날씨에도 푸르름을 유지한다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연꽃은 진흙투성이 연못에서 자란다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연꽃은 아이들의 학습 의지를 상징한다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39470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연꽃은 아이들의 학습 의지를 상징한다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대나무는 왕에 대한 충성심을 상징한다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연꽃은 아이들의 학습 의지를 상징한다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연꽃은 정의를 위해 싸우려는 한 사람의 의지를 상징한다. 아이들의 학습 의지를 상징한다는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a:t>
            </a:r>
            <a:r>
              <a:rPr lang="en-US" altLang="ko-KR" sz="1450" b="0" dirty="0">
                <a:solidFill>
                  <a:srgbClr val="1F2328"/>
                </a:solidFill>
                <a:latin typeface="Calibri"/>
                <a:ea typeface="맑은 고딕"/>
                <a:cs typeface="Calibri"/>
              </a:rPr>
              <a:t>In particular, for children, Munjado was a study tool.</a:t>
            </a:r>
            <a:r>
              <a:rPr lang="en-US" altLang="ko-KR" sz="1450" b="0" dirty="0">
                <a:solidFill>
                  <a:srgbClr val="1F2328"/>
                </a:solidFill>
                <a:latin typeface="Calibri"/>
                <a:ea typeface="맑은 고딕"/>
                <a:cs typeface="Calibri"/>
              </a:rPr>
              <a:t>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a:t>
            </a:r>
            <a:r>
              <a:rPr lang="en-US" altLang="ko-KR" sz="1450" b="0" dirty="0">
                <a:solidFill>
                  <a:srgbClr val="111111"/>
                </a:solidFill>
                <a:highlight>
                  <a:srgbClr val="FFE45C"/>
                </a:highlight>
                <a:latin typeface="Calibri"/>
                <a:ea typeface="맑은 고딕"/>
                <a:cs typeface="Calibri"/>
              </a:rPr>
              <a:t>In particular, for children, Munjado was a study tool.</a:t>
            </a:r>
            <a:r>
              <a:rPr lang="en-US" altLang="ko-KR" sz="1450" b="0" dirty="0">
                <a:solidFill>
                  <a:srgbClr val="B3BAC6"/>
                </a:solidFill>
                <a:latin typeface="Calibri"/>
                <a:ea typeface="맑은 고딕"/>
                <a:cs typeface="Calibri"/>
              </a:rPr>
              <a:t>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문자도는 아이들의 학습 도구였다</a:t>
            </a:r>
            <a:endParaRPr lang="ko-KR" altLang="en-US" sz="1750" b="0" dirty="0">
              <a:solidFill>
                <a:srgbClr val="1F2328"/>
              </a:solidFill>
              <a:latin typeface="맑은 고딕"/>
              <a:ea typeface="맑은 고딕"/>
              <a:cs typeface="맑은 고딕"/>
            </a:endParaRPr>
          </a:p>
        </p:txBody>
      </p:sp>
      <p:sp>
        <p:nvSpPr>
          <p:cNvPr id="12" name="rv_pick"/>
          <p:cNvSpPr txBox="1"/>
          <p:nvPr/>
        </p:nvSpPr>
        <p:spPr>
          <a:xfrm>
            <a:off x="457200" y="3202940"/>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①</a:t>
            </a:r>
            <a:r>
              <a:rPr lang="ko-KR" altLang="en-US" sz="1750" b="0" dirty="0">
                <a:solidFill>
                  <a:srgbClr val="C00000"/>
                </a:solidFill>
                <a:latin typeface="맑은 고딕"/>
                <a:ea typeface="맑은 고딕"/>
                <a:cs typeface="맑은 고딕"/>
              </a:rPr>
              <a:t>	문자도는 아이들의 학습 도구였다</a:t>
            </a:r>
            <a:endParaRPr lang="ko-KR" altLang="en-US" sz="1750" b="0" dirty="0">
              <a:solidFill>
                <a:srgbClr val="C00000"/>
              </a:solidFill>
              <a:latin typeface="맑은 고딕"/>
              <a:ea typeface="맑은 고딕"/>
              <a:cs typeface="맑은 고딕"/>
            </a:endParaRPr>
          </a:p>
        </p:txBody>
      </p:sp>
      <p:sp>
        <p:nvSpPr>
          <p:cNvPr id="13"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의 그림에는 대나무가 그려져 있다</a:t>
            </a:r>
            <a:endParaRPr lang="ko-KR" altLang="en-US" sz="1750" b="0" dirty="0">
              <a:solidFill>
                <a:srgbClr val="1F2328"/>
              </a:solidFill>
              <a:latin typeface="맑은 고딕"/>
              <a:ea typeface="맑은 고딕"/>
              <a:cs typeface="맑은 고딕"/>
            </a:endParaRPr>
          </a:p>
        </p:txBody>
      </p:sp>
      <p:sp>
        <p:nvSpPr>
          <p:cNvPr id="14"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대나무는 바람이 불면 쉽게 구부러진다</a:t>
            </a:r>
            <a:endParaRPr lang="ko-KR" altLang="en-US" sz="1750" b="0" dirty="0">
              <a:solidFill>
                <a:srgbClr val="1F2328"/>
              </a:solidFill>
              <a:latin typeface="맑은 고딕"/>
              <a:ea typeface="맑은 고딕"/>
              <a:cs typeface="맑은 고딕"/>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연꽃은 맑은 연못에서만 꽃을 피운다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문자도는 어른만 보던 그림이었다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문자도는 아이들의 학습 도구였다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특히 아이들에게 문자도는 학습 도구('a study tool')였다고 했으므로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881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8818"/>
          </a:xfrm>
          <a:prstGeom prst="rect">
            <a:avLst/>
          </a:prstGeom>
          <a:noFill/>
        </p:spPr>
        <p:txBody>
          <a:bodyPr wrap="square" lIns="201168" tIns="100584" rIns="201168" bIns="100584" anchor="t" rtlCol="0">
            <a:noAutofit/>
          </a:bodyPr>
          <a:lstStyle/>
          <a:p>
            <a:pPr algn="l">
              <a:lnSpc>
                <a:spcPts val="1950"/>
              </a:lnSpc>
              <a:spcBef>
                <a:spcPts val="0"/>
              </a:spcBef>
              <a:spcAft>
                <a:spcPts val="0"/>
              </a:spcAft>
              <a:buNone/>
            </a:pPr>
            <a:r>
              <a:rPr lang="en-US" altLang="ko-KR" sz="1500" b="0" dirty="0">
                <a:solidFill>
                  <a:srgbClr val="1F2328"/>
                </a:solidFill>
                <a:latin typeface="Calibri"/>
                <a:ea typeface="맑은 고딕"/>
                <a:cs typeface="Calibri"/>
              </a:rPr>
              <a:t>There are other examples of symbolic objects in Munjado.</a:t>
            </a:r>
            <a:endParaRPr lang="en-US" altLang="ko-KR" sz="1500" b="0" dirty="0">
              <a:solidFill>
                <a:srgbClr val="1F2328"/>
              </a:solidFill>
              <a:latin typeface="Calibri"/>
              <a:ea typeface="맑은 고딕"/>
              <a:cs typeface="Calibri"/>
            </a:endParaRPr>
          </a:p>
        </p:txBody>
      </p:sp>
      <p:sp>
        <p:nvSpPr>
          <p:cNvPr id="9" name="parts_card"/>
          <p:cNvSpPr/>
          <p:nvPr/>
        </p:nvSpPr>
        <p:spPr>
          <a:xfrm>
            <a:off x="457200" y="1527810"/>
            <a:ext cx="11277295" cy="281254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7810"/>
            <a:ext cx="11277295" cy="2812542"/>
          </a:xfrm>
          <a:prstGeom prst="rect">
            <a:avLst/>
          </a:prstGeom>
          <a:noFill/>
        </p:spPr>
        <p:txBody>
          <a:bodyPr wrap="square" lIns="201168" tIns="118872" rIns="201168" bIns="118872" anchor="t" rtlCol="0">
            <a:noAutofit/>
          </a:bodyPr>
          <a:lstStyle/>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(A)</a:t>
            </a:r>
            <a:r>
              <a:rPr lang="en-US" altLang="ko-KR" sz="1500" b="0" dirty="0">
                <a:solidFill>
                  <a:srgbClr val="1F2328"/>
                </a:solidFill>
                <a:latin typeface="Calibri"/>
                <a:ea typeface="맑은 고딕"/>
                <a:cs typeface="Calibri"/>
              </a:rPr>
              <a:t>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500" b="0" dirty="0">
              <a:solidFill>
                <a:srgbClr val="1F2328"/>
              </a:solidFill>
              <a:latin typeface="Calibri"/>
              <a:ea typeface="맑은 고딕"/>
              <a:cs typeface="Calibri"/>
            </a:endParaRPr>
          </a:p>
          <a:p>
            <a:pPr algn="just" marL="400050" indent="-400050">
              <a:lnSpc>
                <a:spcPts val="213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(B)</a:t>
            </a:r>
            <a:r>
              <a:rPr lang="en-US" altLang="ko-KR" sz="150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a:t>
            </a:r>
            <a:endParaRPr lang="en-US" altLang="ko-KR" sz="1500" b="0" dirty="0">
              <a:solidFill>
                <a:srgbClr val="1F2328"/>
              </a:solidFill>
              <a:latin typeface="Calibri"/>
              <a:ea typeface="맑은 고딕"/>
              <a:cs typeface="Calibri"/>
            </a:endParaRPr>
          </a:p>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(C)</a:t>
            </a:r>
            <a:r>
              <a:rPr lang="en-US" altLang="ko-KR" sz="15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a:t>
            </a:r>
            <a:endParaRPr lang="en-US" altLang="ko-KR" sz="1500" b="0" dirty="0">
              <a:solidFill>
                <a:srgbClr val="1F2328"/>
              </a:solidFill>
              <a:latin typeface="Calibri"/>
              <a:ea typeface="맑은 고딕"/>
              <a:cs typeface="Calibri"/>
            </a:endParaRPr>
          </a:p>
        </p:txBody>
      </p:sp>
      <p:sp>
        <p:nvSpPr>
          <p:cNvPr id="11" name="options"/>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621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561076"/>
            <a:ext cx="11277295" cy="8580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상징적 사물의 다른 예 → (B) 'They'가 대나무와 연꽃을 가리키고 대나무를 설명한다 → (C) 'In the case of lotus flowers'로 연꽃 설명 → (A) 'It'이 문자도를 받아 가치를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881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8818"/>
          </a:xfrm>
          <a:prstGeom prst="rect">
            <a:avLst/>
          </a:prstGeom>
          <a:noFill/>
        </p:spPr>
        <p:txBody>
          <a:bodyPr wrap="square" lIns="201168" tIns="100584" rIns="201168" bIns="100584" anchor="t" rtlCol="0">
            <a:noAutofit/>
          </a:bodyPr>
          <a:lstStyle/>
          <a:p>
            <a:pPr algn="l">
              <a:lnSpc>
                <a:spcPts val="1950"/>
              </a:lnSpc>
              <a:spcBef>
                <a:spcPts val="0"/>
              </a:spcBef>
              <a:spcAft>
                <a:spcPts val="0"/>
              </a:spcAft>
              <a:buNone/>
            </a:pPr>
            <a:r>
              <a:rPr lang="en-US" altLang="ko-KR" sz="1500" b="0" dirty="0">
                <a:solidFill>
                  <a:srgbClr val="1F2328"/>
                </a:solidFill>
                <a:latin typeface="Calibri"/>
                <a:ea typeface="맑은 고딕"/>
                <a:cs typeface="Calibri"/>
              </a:rPr>
              <a:t>There are other examples of symbolic objects in Munjado.</a:t>
            </a:r>
            <a:endParaRPr lang="en-US" altLang="ko-KR" sz="1500" b="0" dirty="0">
              <a:solidFill>
                <a:srgbClr val="1F2328"/>
              </a:solidFill>
              <a:latin typeface="Calibri"/>
              <a:ea typeface="맑은 고딕"/>
              <a:cs typeface="Calibri"/>
            </a:endParaRPr>
          </a:p>
        </p:txBody>
      </p:sp>
      <p:sp>
        <p:nvSpPr>
          <p:cNvPr id="9" name="parts_card"/>
          <p:cNvSpPr/>
          <p:nvPr/>
        </p:nvSpPr>
        <p:spPr>
          <a:xfrm>
            <a:off x="457200" y="1527810"/>
            <a:ext cx="11277295" cy="281254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7810"/>
            <a:ext cx="11277295" cy="2812542"/>
          </a:xfrm>
          <a:prstGeom prst="rect">
            <a:avLst/>
          </a:prstGeom>
          <a:noFill/>
        </p:spPr>
        <p:txBody>
          <a:bodyPr wrap="square" lIns="201168" tIns="118872" rIns="201168" bIns="118872" anchor="t" rtlCol="0">
            <a:noAutofit/>
          </a:bodyPr>
          <a:lstStyle/>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(A)</a:t>
            </a:r>
            <a:r>
              <a:rPr lang="en-US" altLang="ko-KR" sz="1500" b="0" dirty="0">
                <a:solidFill>
                  <a:srgbClr val="1F2328"/>
                </a:solidFill>
                <a:latin typeface="Calibri"/>
                <a:ea typeface="맑은 고딕"/>
                <a:cs typeface="Calibri"/>
              </a:rPr>
              <a:t>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500" b="0" dirty="0">
              <a:solidFill>
                <a:srgbClr val="1F2328"/>
              </a:solidFill>
              <a:latin typeface="Calibri"/>
              <a:ea typeface="맑은 고딕"/>
              <a:cs typeface="Calibri"/>
            </a:endParaRPr>
          </a:p>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(B)</a:t>
            </a:r>
            <a:r>
              <a:rPr lang="en-US" altLang="ko-KR" sz="15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a:t>
            </a:r>
            <a:endParaRPr lang="en-US" altLang="ko-KR" sz="1500" b="0" dirty="0">
              <a:solidFill>
                <a:srgbClr val="1F2328"/>
              </a:solidFill>
              <a:latin typeface="Calibri"/>
              <a:ea typeface="맑은 고딕"/>
              <a:cs typeface="Calibri"/>
            </a:endParaRPr>
          </a:p>
          <a:p>
            <a:pPr algn="just" marL="400050" indent="-400050">
              <a:lnSpc>
                <a:spcPts val="213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(C)</a:t>
            </a:r>
            <a:r>
              <a:rPr lang="en-US" altLang="ko-KR" sz="150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a:t>
            </a:r>
            <a:endParaRPr lang="en-US" altLang="ko-KR" sz="1500" b="0" dirty="0">
              <a:solidFill>
                <a:srgbClr val="1F2328"/>
              </a:solidFill>
              <a:latin typeface="Calibri"/>
              <a:ea typeface="맑은 고딕"/>
              <a:cs typeface="Calibri"/>
            </a:endParaRPr>
          </a:p>
        </p:txBody>
      </p:sp>
      <p:sp>
        <p:nvSpPr>
          <p:cNvPr id="11" name="options"/>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9621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561076"/>
            <a:ext cx="11277295" cy="8580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상징적 사물의 다른 예 → (C) 'They are bamboo'로 두 예를 밝히고 대나무를 먼저 설명한다 → (B) 연꽃의 경우를 이어서 말한다 → (A) 문자도가 일깨운 가치로 마무리한다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 stays green in all kinds of weather.</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There are other examples of symbolic objects in Munjado.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are bamboo in the paintings of the character chung (忠) and lotus flowers in the paintings of ui (義).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Bamboo does not bend.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For these reasons, bamboo came to symbolize loyalty to the king.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There are other examples of symbolic objects in Munjado.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are bamboo in the paintings of the character chung (忠) and lotus flowers in the paintings of ui (義).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Bamboo does not bend.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For these reasons, bamboo came to symbolize loyalty to the king.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앞 'does not bend'에 이어 주어진 문장이 늘 푸르다는 이유를 더한다. ④ 뒤 'For these reasons'가 두 이유를 받으므로 ④이다.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these reasons, bamboo came to symbolize loyalty to the king.</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There are other examples of symbolic objects in Munjado.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are bamboo in the paintings of the character chung (忠) and lotus flowers in the paintings of ui (義).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Bamboo does not bend.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It stays green in all kinds of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There are other examples of symbolic objects in Munjado.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are bamboo in the paintings of the character chung (忠) and lotus flowers in the paintings of ui (義).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Bamboo does not bend.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It stays green in all kinds of weather.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'For these reasons'는 ④ 앞의 구부러지지 않고 늘 푸르다는 두 이유를 받는다. ⑤ 뒤는 연꽃 이야기이므로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3705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There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are</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is</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other examples of symbolic objects in Munjado.</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are bamboo in the paintings of the character chung (忠) and lotus flowers in the paintings of ui (義).</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Bamboo does not bend.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stays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greenly</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green</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in all kinds of weather.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For these reasons, bamboo came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symbolizing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to symbolize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loyalty to the king.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the case of lotus flowers, they grow in muddy ponds but still bloom beautifully.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thus became a symbol of a person’s will to fight for justice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despite</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although</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difficulties.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Munjado was much more than a painting to people of the Joseon dynasty.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reminded them of important values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that</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what</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greatly influenced their behaviors and attitudes.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particular, for children, Munjado was a study tool.</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3" name="rv_g05"/>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3705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There are other examples of symbolic objects in Munjado.</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are bamboo in the paintings of the character chung (忠) and lotus flowers in the paintings of ui (義).</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Bamboo does not bend.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stays green in all kinds of weather.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For these reasons, bamboo came to symbolize loyalty to the king.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the case of lotus flowers, they grow in muddy ponds but still bloom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beautifully</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beautiful</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thus became a symbol of a person’s will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to fight</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fighting</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for justice despite difficulties.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Munjado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much</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very</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more than a painting to people of the Joseon dynasty.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reminded them of important values that greatly influenced their behaviors and attitudes.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particular, for children, Munjado was a study tool.</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Through it, children in the Joseon dynasty could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learn</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learned</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