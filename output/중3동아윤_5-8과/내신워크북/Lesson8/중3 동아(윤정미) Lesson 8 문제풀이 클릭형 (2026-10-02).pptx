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A5A"/>
        </a:solidFill>
        <a:effectLst/>
      </p:bgPr>
    </p:bg>
    <p:spTree>
      <p:nvGrpSpPr>
        <p:cNvPr id="1" name=""/>
        <p:cNvGrpSpPr/>
        <p:nvPr/>
      </p:nvGrpSpPr>
      <p:grpSpPr/>
      <p:sp>
        <p:nvSpPr>
          <p:cNvPr id="2" name="cv_title"/>
          <p:cNvSpPr txBox="1"/>
          <p:nvPr/>
        </p:nvSpPr>
        <p:spPr>
          <a:xfrm>
            <a:off x="822960" y="1371600"/>
            <a:ext cx="10515600" cy="868680"/>
          </a:xfrm>
          <a:prstGeom prst="rect">
            <a:avLst/>
          </a:prstGeom>
          <a:noFill/>
        </p:spPr>
        <p:txBody>
          <a:bodyPr wrap="square" lIns="91440" tIns="45720" rIns="91440" bIns="45720" anchor="t" rtlCol="0">
            <a:noAutofit/>
          </a:bodyPr>
          <a:lstStyle/>
          <a:p>
            <a:pPr algn="l">
              <a:lnSpc>
                <a:spcPts val="5680"/>
              </a:lnSpc>
              <a:spcBef>
                <a:spcPts val="0"/>
              </a:spcBef>
              <a:spcAft>
                <a:spcPts val="0"/>
              </a:spcAft>
              <a:buNone/>
            </a:pPr>
            <a:r>
              <a:rPr lang="ko-KR" altLang="en-US" sz="4000" b="1" dirty="0">
                <a:solidFill>
                  <a:srgbClr val="FFFFFF"/>
                </a:solidFill>
                <a:latin typeface="맑은 고딕"/>
                <a:ea typeface="맑은 고딕"/>
                <a:cs typeface="맑은 고딕"/>
              </a:rPr>
              <a:t>문제 풀이 · 정답 확인</a:t>
            </a:r>
            <a:endParaRPr lang="ko-KR" altLang="en-US" sz="4000" b="1" dirty="0">
              <a:solidFill>
                <a:srgbClr val="FFFFFF"/>
              </a:solidFill>
              <a:latin typeface="맑은 고딕"/>
              <a:ea typeface="맑은 고딕"/>
              <a:cs typeface="맑은 고딕"/>
            </a:endParaRPr>
          </a:p>
        </p:txBody>
      </p:sp>
      <p:sp>
        <p:nvSpPr>
          <p:cNvPr id="3" name="cv_exam"/>
          <p:cNvSpPr txBox="1"/>
          <p:nvPr/>
        </p:nvSpPr>
        <p:spPr>
          <a:xfrm>
            <a:off x="822960" y="2240280"/>
            <a:ext cx="10515600" cy="502920"/>
          </a:xfrm>
          <a:prstGeom prst="rect">
            <a:avLst/>
          </a:prstGeom>
          <a:noFill/>
        </p:spPr>
        <p:txBody>
          <a:bodyPr wrap="square" lIns="91440" tIns="45720" rIns="91440" bIns="45720" anchor="t" rtlCol="0">
            <a:noAutofit/>
          </a:bodyPr>
          <a:lstStyle/>
          <a:p>
            <a:pPr algn="l">
              <a:lnSpc>
                <a:spcPts val="2840"/>
              </a:lnSpc>
              <a:spcBef>
                <a:spcPts val="0"/>
              </a:spcBef>
              <a:spcAft>
                <a:spcPts val="0"/>
              </a:spcAft>
              <a:buNone/>
            </a:pPr>
            <a:r>
              <a:rPr lang="ko-KR" altLang="en-US" sz="2000" b="0" dirty="0">
                <a:solidFill>
                  <a:srgbClr val="CFD8E8"/>
                </a:solidFill>
                <a:latin typeface="맑은 고딕"/>
                <a:ea typeface="맑은 고딕"/>
                <a:cs typeface="맑은 고딕"/>
              </a:rPr>
              <a:t>중3 동아(윤정미) Lesson 8</a:t>
            </a:r>
            <a:endParaRPr lang="ko-KR" altLang="en-US" sz="2000" b="0" dirty="0">
              <a:solidFill>
                <a:srgbClr val="CFD8E8"/>
              </a:solidFill>
              <a:latin typeface="맑은 고딕"/>
              <a:ea typeface="맑은 고딕"/>
              <a:cs typeface="맑은 고딕"/>
            </a:endParaRPr>
          </a:p>
        </p:txBody>
      </p:sp>
      <p:sp>
        <p:nvSpPr>
          <p:cNvPr id="4" name="cv_ids"/>
          <p:cNvSpPr txBox="1"/>
          <p:nvPr/>
        </p:nvSpPr>
        <p:spPr>
          <a:xfrm>
            <a:off x="822960" y="2788920"/>
            <a:ext cx="10515600" cy="457200"/>
          </a:xfrm>
          <a:prstGeom prst="rect">
            <a:avLst/>
          </a:prstGeom>
          <a:noFill/>
        </p:spPr>
        <p:txBody>
          <a:bodyPr wrap="square" lIns="91440" tIns="45720" rIns="91440" bIns="45720" anchor="t" rtlCol="0">
            <a:noAutofit/>
          </a:bodyPr>
          <a:lstStyle/>
          <a:p>
            <a:pPr algn="l">
              <a:lnSpc>
                <a:spcPts val="2340"/>
              </a:lnSpc>
              <a:spcBef>
                <a:spcPts val="0"/>
              </a:spcBef>
              <a:spcAft>
                <a:spcPts val="0"/>
              </a:spcAft>
              <a:buNone/>
            </a:pPr>
            <a:r>
              <a:rPr lang="en-US" altLang="ko-KR" sz="1800" b="1" dirty="0">
                <a:solidFill>
                  <a:srgbClr val="AEBBD0"/>
                </a:solidFill>
                <a:latin typeface="Calibri"/>
                <a:ea typeface="맑은 고딕"/>
                <a:cs typeface="Calibri"/>
              </a:rPr>
              <a:t>L8-1  ·  L8-2  ·  L8-3</a:t>
            </a:r>
            <a:endParaRPr lang="en-US" altLang="ko-KR" sz="1800" b="1" dirty="0">
              <a:solidFill>
                <a:srgbClr val="AEBBD0"/>
              </a:solidFill>
              <a:latin typeface="Calibri"/>
              <a:ea typeface="맑은 고딕"/>
              <a:cs typeface="Calibri"/>
            </a:endParaRPr>
          </a:p>
        </p:txBody>
      </p:sp>
      <p:sp>
        <p:nvSpPr>
          <p:cNvPr id="5" name="cv_legend"/>
          <p:cNvSpPr/>
          <p:nvPr/>
        </p:nvSpPr>
        <p:spPr>
          <a:xfrm>
            <a:off x="822960" y="3977639"/>
            <a:ext cx="10515600" cy="1645920"/>
          </a:xfrm>
          <a:prstGeom prst="roundRect">
            <a:avLst>
              <a:gd name="adj" fmla="val 6000"/>
            </a:avLst>
          </a:prstGeom>
          <a:solidFill>
            <a:srgbClr val="27356E"/>
          </a:solidFill>
          <a:ln>
            <a:noFill/>
          </a:ln>
        </p:spPr>
        <p:txBody>
          <a:bodyPr wrap="square" lIns="320040" tIns="201168" rIns="320040" bIns="182880" anchor="t" rtlCol="0">
            <a:noAutofit/>
          </a:bodyPr>
          <a:lstStyle/>
          <a:p>
            <a:pPr algn="l">
              <a:lnSpc>
                <a:spcPts val="2270"/>
              </a:lnSpc>
              <a:spcBef>
                <a:spcPts val="0"/>
              </a:spcBef>
              <a:spcAft>
                <a:spcPts val="800"/>
              </a:spcAft>
              <a:buNone/>
            </a:pPr>
            <a:r>
              <a:rPr lang="ko-KR" altLang="en-US" sz="1600" b="1" dirty="0">
                <a:solidFill>
                  <a:srgbClr val="FFE98A"/>
                </a:solidFill>
                <a:latin typeface="맑은 고딕"/>
                <a:ea typeface="맑은 고딕"/>
                <a:cs typeface="맑은 고딕"/>
              </a:rPr>
              <a:t>PART 1  5지선다     </a:t>
            </a:r>
            <a:r>
              <a:rPr lang="ko-KR" altLang="en-US" sz="1600" b="0" dirty="0">
                <a:solidFill>
                  <a:srgbClr val="FFFFFF"/>
                </a:solidFill>
                <a:latin typeface="맑은 고딕"/>
                <a:ea typeface="맑은 고딕"/>
                <a:cs typeface="맑은 고딕"/>
              </a:rPr>
              <a:t>클릭 ① 정답  →  클릭 ② 본문 근거 형광 + 정답 원리</a:t>
            </a:r>
            <a:endParaRPr lang="ko-KR" altLang="en-US" sz="1600" b="0" dirty="0">
              <a:solidFill>
                <a:srgbClr val="FFFFFF"/>
              </a:solidFill>
              <a:latin typeface="맑은 고딕"/>
              <a:ea typeface="맑은 고딕"/>
              <a:cs typeface="맑은 고딕"/>
            </a:endParaRPr>
          </a:p>
          <a:p>
            <a:pPr algn="l">
              <a:lnSpc>
                <a:spcPts val="2270"/>
              </a:lnSpc>
              <a:spcBef>
                <a:spcPts val="0"/>
              </a:spcBef>
              <a:spcAft>
                <a:spcPts val="800"/>
              </a:spcAft>
              <a:buNone/>
            </a:pPr>
            <a:r>
              <a:rPr lang="ko-KR" altLang="en-US" sz="1600" b="1" dirty="0">
                <a:solidFill>
                  <a:srgbClr val="FFE98A"/>
                </a:solidFill>
                <a:latin typeface="맑은 고딕"/>
                <a:ea typeface="맑은 고딕"/>
                <a:cs typeface="맑은 고딕"/>
              </a:rPr>
              <a:t>PART 2  순서·위치     </a:t>
            </a:r>
            <a:r>
              <a:rPr lang="ko-KR" altLang="en-US" sz="1600" b="0" dirty="0">
                <a:solidFill>
                  <a:srgbClr val="FFFFFF"/>
                </a:solidFill>
                <a:latin typeface="맑은 고딕"/>
                <a:ea typeface="맑은 고딕"/>
                <a:cs typeface="맑은 고딕"/>
              </a:rPr>
              <a:t>클릭 ① 정답  →  클릭 ② 정답 원리</a:t>
            </a:r>
            <a:endParaRPr lang="ko-KR" altLang="en-US" sz="1600" b="0" dirty="0">
              <a:solidFill>
                <a:srgbClr val="FFFFFF"/>
              </a:solidFill>
              <a:latin typeface="맑은 고딕"/>
              <a:ea typeface="맑은 고딕"/>
              <a:cs typeface="맑은 고딕"/>
            </a:endParaRPr>
          </a:p>
          <a:p>
            <a:pPr algn="l">
              <a:lnSpc>
                <a:spcPts val="2270"/>
              </a:lnSpc>
              <a:spcBef>
                <a:spcPts val="0"/>
              </a:spcBef>
              <a:spcAft>
                <a:spcPts val="800"/>
              </a:spcAft>
              <a:buNone/>
            </a:pPr>
            <a:r>
              <a:rPr lang="ko-KR" altLang="en-US" sz="1600" b="1" dirty="0">
                <a:solidFill>
                  <a:srgbClr val="FFE98A"/>
                </a:solidFill>
                <a:latin typeface="맑은 고딕"/>
                <a:ea typeface="맑은 고딕"/>
                <a:cs typeface="맑은 고딕"/>
              </a:rPr>
              <a:t>PART 3  어법·어휘     </a:t>
            </a:r>
            <a:r>
              <a:rPr lang="ko-KR" altLang="en-US" sz="1600" b="0" dirty="0">
                <a:solidFill>
                  <a:srgbClr val="FFFFFF"/>
                </a:solidFill>
                <a:latin typeface="맑은 고딕"/>
                <a:ea typeface="맑은 고딕"/>
                <a:cs typeface="맑은 고딕"/>
              </a:rPr>
              <a:t>본문 속 괄호마다, 클릭할 때마다 정답이 빨간색으로</a:t>
            </a:r>
            <a:endParaRPr lang="ko-KR" altLang="en-US" sz="1600" b="0" dirty="0">
              <a:solidFill>
                <a:srgbClr val="FFFFFF"/>
              </a:solidFill>
              <a:latin typeface="맑은 고딕"/>
              <a:ea typeface="맑은 고딕"/>
              <a:cs typeface="맑은 고딕"/>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다음 글의 주제로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626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626870"/>
          </a:xfrm>
          <a:prstGeom prst="rect">
            <a:avLst/>
          </a:prstGeom>
          <a:noFill/>
        </p:spPr>
        <p:txBody>
          <a:bodyPr wrap="square" lIns="201168" tIns="118872" rIns="201168" bIns="118872" anchor="t" rtlCol="0">
            <a:noAutofit/>
          </a:bodyPr>
          <a:lstStyle/>
          <a:p>
            <a:pPr algn="just">
              <a:lnSpc>
                <a:spcPts val="2130"/>
              </a:lnSpc>
              <a:spcBef>
                <a:spcPts val="0"/>
              </a:spcBef>
              <a:spcAft>
                <a:spcPts val="0"/>
              </a:spcAft>
              <a:buNone/>
            </a:pPr>
            <a:r>
              <a:rPr lang="en-US" altLang="ko-KR" sz="1500" b="0" dirty="0">
                <a:solidFill>
                  <a:srgbClr val="1F2328"/>
                </a:solidFill>
                <a:latin typeface="Calibri"/>
                <a:ea typeface="맑은 고딕"/>
                <a:cs typeface="Calibri"/>
              </a:rPr>
              <a:t>Look at the painting on the right. Do you see the Chinese character, hyo (孝)? Do you also see a carp, a geomungo, and a fan? </a:t>
            </a:r>
            <a:r>
              <a:rPr lang="en-US" altLang="ko-KR" sz="1500" b="0" dirty="0">
                <a:solidFill>
                  <a:srgbClr val="1F2328"/>
                </a:solidFill>
                <a:latin typeface="Calibri"/>
                <a:ea typeface="맑은 고딕"/>
                <a:cs typeface="Calibri"/>
              </a:rPr>
              <a:t>This kind of painting is called Munjado, and it is a type of folk painting that was popular in the late Joseon dynasty.</a:t>
            </a:r>
            <a:r>
              <a:rPr lang="en-US" altLang="ko-KR" sz="1500" b="0" dirty="0">
                <a:solidFill>
                  <a:srgbClr val="1F2328"/>
                </a:solidFill>
                <a:latin typeface="Calibri"/>
                <a:ea typeface="맑은 고딕"/>
                <a:cs typeface="Calibri"/>
              </a:rPr>
              <a:t> In Munjado, there is usually a Chinese character with some animals or objects. One of eight Chinese characters appears in Munjado. They are hyo (孝), je (悌), chung (忠), sin (信), ye (禮), ui (義), yeom (廉), and chi (恥), and </a:t>
            </a:r>
            <a:r>
              <a:rPr lang="en-US" altLang="ko-KR" sz="1500" b="0" dirty="0">
                <a:solidFill>
                  <a:srgbClr val="1F2328"/>
                </a:solidFill>
                <a:latin typeface="Calibri"/>
                <a:ea typeface="맑은 고딕"/>
                <a:cs typeface="Calibri"/>
              </a:rPr>
              <a:t>they represent the values</a:t>
            </a:r>
            <a:r>
              <a:rPr lang="en-US" altLang="ko-KR" sz="1500" b="0" dirty="0">
                <a:solidFill>
                  <a:srgbClr val="1F2328"/>
                </a:solidFill>
                <a:latin typeface="Calibri"/>
                <a:ea typeface="맑은 고딕"/>
                <a:cs typeface="Calibri"/>
              </a:rPr>
              <a:t> that were important to people of the Joseon dynasty.</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626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626870"/>
          </a:xfrm>
          <a:prstGeom prst="rect">
            <a:avLst/>
          </a:prstGeom>
          <a:noFill/>
        </p:spPr>
        <p:txBody>
          <a:bodyPr wrap="square" lIns="201168" tIns="118872" rIns="201168" bIns="118872" anchor="t" rtlCol="0">
            <a:noAutofit/>
          </a:bodyPr>
          <a:lstStyle/>
          <a:p>
            <a:pPr algn="just">
              <a:lnSpc>
                <a:spcPts val="2130"/>
              </a:lnSpc>
              <a:spcBef>
                <a:spcPts val="0"/>
              </a:spcBef>
              <a:spcAft>
                <a:spcPts val="0"/>
              </a:spcAft>
              <a:buNone/>
            </a:pPr>
            <a:r>
              <a:rPr lang="en-US" altLang="ko-KR" sz="1500" b="0" dirty="0">
                <a:solidFill>
                  <a:srgbClr val="B3BAC6"/>
                </a:solidFill>
                <a:latin typeface="Calibri"/>
                <a:ea typeface="맑은 고딕"/>
                <a:cs typeface="Calibri"/>
              </a:rPr>
              <a:t>Look at the painting on the right. Do you see the Chinese character, hyo (孝)? Do you also see a carp, a geomungo, and a fan? </a:t>
            </a:r>
            <a:r>
              <a:rPr lang="en-US" altLang="ko-KR" sz="1500" b="0" dirty="0">
                <a:solidFill>
                  <a:srgbClr val="111111"/>
                </a:solidFill>
                <a:highlight>
                  <a:srgbClr val="FFE45C"/>
                </a:highlight>
                <a:latin typeface="Calibri"/>
                <a:ea typeface="맑은 고딕"/>
                <a:cs typeface="Calibri"/>
              </a:rPr>
              <a:t>This kind of painting is called Munjado, and it is a type of folk painting that was popular in the late Joseon dynasty.</a:t>
            </a:r>
            <a:r>
              <a:rPr lang="en-US" altLang="ko-KR" sz="1500" b="0" dirty="0">
                <a:solidFill>
                  <a:srgbClr val="B3BAC6"/>
                </a:solidFill>
                <a:latin typeface="Calibri"/>
                <a:ea typeface="맑은 고딕"/>
                <a:cs typeface="Calibri"/>
              </a:rPr>
              <a:t> In Munjado, there is usually a Chinese character with some animals or objects. One of eight Chinese characters appears in Munjado. They are hyo (孝), je (悌), chung (忠), sin (信), ye (禮), ui (義), yeom (廉), and chi (恥), and </a:t>
            </a:r>
            <a:r>
              <a:rPr lang="en-US" altLang="ko-KR" sz="1500" b="0" dirty="0">
                <a:solidFill>
                  <a:srgbClr val="111111"/>
                </a:solidFill>
                <a:highlight>
                  <a:srgbClr val="FFE45C"/>
                </a:highlight>
                <a:latin typeface="Calibri"/>
                <a:ea typeface="맑은 고딕"/>
                <a:cs typeface="Calibri"/>
              </a:rPr>
              <a:t>they represent the values</a:t>
            </a:r>
            <a:r>
              <a:rPr lang="en-US" altLang="ko-KR" sz="1500" b="0" dirty="0">
                <a:solidFill>
                  <a:srgbClr val="B3BAC6"/>
                </a:solidFill>
                <a:latin typeface="Calibri"/>
                <a:ea typeface="맑은 고딕"/>
                <a:cs typeface="Calibri"/>
              </a:rPr>
              <a:t> that were important to people of the Joseon dynasty.</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7241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en-US" altLang="ko-KR" sz="1800" b="0" dirty="0">
                <a:solidFill>
                  <a:srgbClr val="1F2328"/>
                </a:solidFill>
                <a:latin typeface="Calibri"/>
                <a:ea typeface="맑은 고딕"/>
                <a:cs typeface="Calibri"/>
              </a:rPr>
              <a:t>	the history of Chinese characters</a:t>
            </a:r>
            <a:endParaRPr lang="en-US" altLang="ko-KR" sz="1800" b="0" dirty="0">
              <a:solidFill>
                <a:srgbClr val="1F2328"/>
              </a:solidFill>
              <a:latin typeface="Calibri"/>
              <a:ea typeface="맑은 고딕"/>
              <a:cs typeface="Calibri"/>
            </a:endParaRPr>
          </a:p>
        </p:txBody>
      </p:sp>
      <p:sp>
        <p:nvSpPr>
          <p:cNvPr id="12" name="choice_2"/>
          <p:cNvSpPr txBox="1"/>
          <p:nvPr/>
        </p:nvSpPr>
        <p:spPr>
          <a:xfrm>
            <a:off x="457200" y="31315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en-US" altLang="ko-KR" sz="1800" b="0" dirty="0">
                <a:solidFill>
                  <a:srgbClr val="1F2328"/>
                </a:solidFill>
                <a:latin typeface="Calibri"/>
                <a:ea typeface="맑은 고딕"/>
                <a:cs typeface="Calibri"/>
              </a:rPr>
              <a:t>	the tools used to make folk art</a:t>
            </a:r>
            <a:endParaRPr lang="en-US" altLang="ko-KR" sz="1800" b="0" dirty="0">
              <a:solidFill>
                <a:srgbClr val="1F2328"/>
              </a:solidFill>
              <a:latin typeface="Calibri"/>
              <a:ea typeface="맑은 고딕"/>
              <a:cs typeface="Calibri"/>
            </a:endParaRPr>
          </a:p>
        </p:txBody>
      </p:sp>
      <p:sp>
        <p:nvSpPr>
          <p:cNvPr id="13" name="choice_3"/>
          <p:cNvSpPr txBox="1"/>
          <p:nvPr/>
        </p:nvSpPr>
        <p:spPr>
          <a:xfrm>
            <a:off x="457200" y="35389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en-US" altLang="ko-KR" sz="1800" b="0" dirty="0">
                <a:solidFill>
                  <a:srgbClr val="1F2328"/>
                </a:solidFill>
                <a:latin typeface="Calibri"/>
                <a:ea typeface="맑은 고딕"/>
                <a:cs typeface="Calibri"/>
              </a:rPr>
              <a:t>	the life of painters in Joseon</a:t>
            </a:r>
            <a:endParaRPr lang="en-US" altLang="ko-KR" sz="1800" b="0" dirty="0">
              <a:solidFill>
                <a:srgbClr val="1F2328"/>
              </a:solidFill>
              <a:latin typeface="Calibri"/>
              <a:ea typeface="맑은 고딕"/>
              <a:cs typeface="Calibri"/>
            </a:endParaRPr>
          </a:p>
        </p:txBody>
      </p:sp>
      <p:sp>
        <p:nvSpPr>
          <p:cNvPr id="14" name="choice_4"/>
          <p:cNvSpPr txBox="1"/>
          <p:nvPr/>
        </p:nvSpPr>
        <p:spPr>
          <a:xfrm>
            <a:off x="457200" y="39463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en-US" altLang="ko-KR" sz="1800" b="0" dirty="0">
                <a:solidFill>
                  <a:srgbClr val="1F2328"/>
                </a:solidFill>
                <a:latin typeface="Calibri"/>
                <a:ea typeface="맑은 고딕"/>
                <a:cs typeface="Calibri"/>
              </a:rPr>
              <a:t>	the reasons fans were popular</a:t>
            </a:r>
            <a:endParaRPr lang="en-US" altLang="ko-KR" sz="1800" b="0" dirty="0">
              <a:solidFill>
                <a:srgbClr val="1F2328"/>
              </a:solidFill>
              <a:latin typeface="Calibri"/>
              <a:ea typeface="맑은 고딕"/>
              <a:cs typeface="Calibri"/>
            </a:endParaRPr>
          </a:p>
        </p:txBody>
      </p:sp>
      <p:sp>
        <p:nvSpPr>
          <p:cNvPr id="15" name="choice_5"/>
          <p:cNvSpPr txBox="1"/>
          <p:nvPr/>
        </p:nvSpPr>
        <p:spPr>
          <a:xfrm>
            <a:off x="457200" y="43538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en-US" altLang="ko-KR" sz="1800" b="0" dirty="0">
                <a:solidFill>
                  <a:srgbClr val="1F2328"/>
                </a:solidFill>
                <a:latin typeface="Calibri"/>
                <a:ea typeface="맑은 고딕"/>
                <a:cs typeface="Calibri"/>
              </a:rPr>
              <a:t>	the meaning and features of Munjado</a:t>
            </a:r>
            <a:endParaRPr lang="en-US" altLang="ko-KR" sz="1800" b="0" dirty="0">
              <a:solidFill>
                <a:srgbClr val="1F2328"/>
              </a:solidFill>
              <a:latin typeface="Calibri"/>
              <a:ea typeface="맑은 고딕"/>
              <a:cs typeface="Calibri"/>
            </a:endParaRPr>
          </a:p>
        </p:txBody>
      </p:sp>
      <p:sp>
        <p:nvSpPr>
          <p:cNvPr id="16" name="rv_pick"/>
          <p:cNvSpPr txBox="1"/>
          <p:nvPr/>
        </p:nvSpPr>
        <p:spPr>
          <a:xfrm>
            <a:off x="457200" y="4353814"/>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⑤</a:t>
            </a:r>
            <a:r>
              <a:rPr lang="en-US" altLang="ko-KR" sz="1800" b="0" dirty="0">
                <a:solidFill>
                  <a:srgbClr val="C00000"/>
                </a:solidFill>
                <a:latin typeface="Calibri"/>
                <a:ea typeface="맑은 고딕"/>
                <a:cs typeface="Calibri"/>
              </a:rPr>
              <a:t>	the meaning and features of Munjado</a:t>
            </a:r>
            <a:endParaRPr lang="en-US" altLang="ko-KR" sz="1800" b="0" dirty="0">
              <a:solidFill>
                <a:srgbClr val="C00000"/>
              </a:solidFill>
              <a:latin typeface="Calibri"/>
              <a:ea typeface="맑은 고딕"/>
              <a:cs typeface="Calibri"/>
            </a:endParaRPr>
          </a:p>
        </p:txBody>
      </p:sp>
      <p:sp>
        <p:nvSpPr>
          <p:cNvPr id="17" name="rv_answer"/>
          <p:cNvSpPr/>
          <p:nvPr/>
        </p:nvSpPr>
        <p:spPr>
          <a:xfrm>
            <a:off x="457200" y="48435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 </a:t>
            </a:r>
            <a:r>
              <a:rPr lang="en-US" altLang="ko-KR" sz="1900" b="1" dirty="0">
                <a:solidFill>
                  <a:srgbClr val="5A4200"/>
                </a:solidFill>
                <a:latin typeface="Calibri"/>
                <a:ea typeface="맑은 고딕"/>
                <a:cs typeface="Calibri"/>
              </a:rPr>
              <a:t>the meaning and features of Munjado</a:t>
            </a:r>
            <a:endParaRPr lang="en-US" altLang="ko-KR" sz="1900" b="1" dirty="0">
              <a:solidFill>
                <a:srgbClr val="5A4200"/>
              </a:solidFill>
              <a:latin typeface="Calibri"/>
              <a:ea typeface="맑은 고딕"/>
              <a:cs typeface="Calibri"/>
            </a:endParaRPr>
          </a:p>
        </p:txBody>
      </p:sp>
      <p:sp>
        <p:nvSpPr>
          <p:cNvPr id="18" name="rv_why"/>
          <p:cNvSpPr/>
          <p:nvPr/>
        </p:nvSpPr>
        <p:spPr>
          <a:xfrm>
            <a:off x="457200" y="5442458"/>
            <a:ext cx="11277295" cy="9766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문자도가 어떤 그림이며 그 속 한자가 조선 사람들의 가치를 나타낸다고 설명한다. 정답은 ⑤이다.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25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9" grpId="0" animBg="1"/>
      <p:bldP spid="10" grpId="0" animBg="1"/>
      <p:bldP spid="18"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다음 글의 제목으로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626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626870"/>
          </a:xfrm>
          <a:prstGeom prst="rect">
            <a:avLst/>
          </a:prstGeom>
          <a:noFill/>
        </p:spPr>
        <p:txBody>
          <a:bodyPr wrap="square" lIns="201168" tIns="118872" rIns="201168" bIns="118872" anchor="t" rtlCol="0">
            <a:noAutofit/>
          </a:bodyPr>
          <a:lstStyle/>
          <a:p>
            <a:pPr algn="just">
              <a:lnSpc>
                <a:spcPts val="2130"/>
              </a:lnSpc>
              <a:spcBef>
                <a:spcPts val="0"/>
              </a:spcBef>
              <a:spcAft>
                <a:spcPts val="0"/>
              </a:spcAft>
              <a:buNone/>
            </a:pPr>
            <a:r>
              <a:rPr lang="en-US" altLang="ko-KR" sz="1500" b="0" dirty="0">
                <a:solidFill>
                  <a:srgbClr val="1F2328"/>
                </a:solidFill>
                <a:latin typeface="Calibri"/>
                <a:ea typeface="맑은 고딕"/>
                <a:cs typeface="Calibri"/>
              </a:rPr>
              <a:t>Look at the painting on the right. Do you see the Chinese character, hyo (孝)? Do you also see a carp, a geomungo, and a fan? This kind of painting is called Munjado, and it is a type of folk painting that was popular in the late Joseon dynasty. In Munjado, there is usually a Chinese character with some animals or objects. One of eight Chinese characters appears in Munjado. They are hyo (孝), je (悌), chung (忠), sin (信), ye (禮), ui (義), yeom (廉), and chi (恥), and </a:t>
            </a:r>
            <a:r>
              <a:rPr lang="en-US" altLang="ko-KR" sz="1500" b="0" dirty="0">
                <a:solidFill>
                  <a:srgbClr val="1F2328"/>
                </a:solidFill>
                <a:latin typeface="Calibri"/>
                <a:ea typeface="맑은 고딕"/>
                <a:cs typeface="Calibri"/>
              </a:rPr>
              <a:t>they represent the values that were important</a:t>
            </a:r>
            <a:r>
              <a:rPr lang="en-US" altLang="ko-KR" sz="1500" b="0" dirty="0">
                <a:solidFill>
                  <a:srgbClr val="1F2328"/>
                </a:solidFill>
                <a:latin typeface="Calibri"/>
                <a:ea typeface="맑은 고딕"/>
                <a:cs typeface="Calibri"/>
              </a:rPr>
              <a:t> to people of the Joseon dynasty.</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626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626870"/>
          </a:xfrm>
          <a:prstGeom prst="rect">
            <a:avLst/>
          </a:prstGeom>
          <a:noFill/>
        </p:spPr>
        <p:txBody>
          <a:bodyPr wrap="square" lIns="201168" tIns="118872" rIns="201168" bIns="118872" anchor="t" rtlCol="0">
            <a:noAutofit/>
          </a:bodyPr>
          <a:lstStyle/>
          <a:p>
            <a:pPr algn="just">
              <a:lnSpc>
                <a:spcPts val="2130"/>
              </a:lnSpc>
              <a:spcBef>
                <a:spcPts val="0"/>
              </a:spcBef>
              <a:spcAft>
                <a:spcPts val="0"/>
              </a:spcAft>
              <a:buNone/>
            </a:pPr>
            <a:r>
              <a:rPr lang="en-US" altLang="ko-KR" sz="1500" b="0" dirty="0">
                <a:solidFill>
                  <a:srgbClr val="B3BAC6"/>
                </a:solidFill>
                <a:latin typeface="Calibri"/>
                <a:ea typeface="맑은 고딕"/>
                <a:cs typeface="Calibri"/>
              </a:rPr>
              <a:t>Look at the painting on the right. Do you see the Chinese character, hyo (孝)? Do you also see a carp, a geomungo, and a fan? This kind of painting is called Munjado, and it is a type of folk painting that was popular in the late Joseon dynasty. In Munjado, there is usually a Chinese character with some animals or objects. One of eight Chinese characters appears in Munjado. They are hyo (孝), je (悌), chung (忠), sin (信), ye (禮), ui (義), yeom (廉), and chi (恥), and </a:t>
            </a:r>
            <a:r>
              <a:rPr lang="en-US" altLang="ko-KR" sz="1500" b="0" dirty="0">
                <a:solidFill>
                  <a:srgbClr val="111111"/>
                </a:solidFill>
                <a:highlight>
                  <a:srgbClr val="FFE45C"/>
                </a:highlight>
                <a:latin typeface="Calibri"/>
                <a:ea typeface="맑은 고딕"/>
                <a:cs typeface="Calibri"/>
              </a:rPr>
              <a:t>they represent the values that were important</a:t>
            </a:r>
            <a:r>
              <a:rPr lang="en-US" altLang="ko-KR" sz="1500" b="0" dirty="0">
                <a:solidFill>
                  <a:srgbClr val="B3BAC6"/>
                </a:solidFill>
                <a:latin typeface="Calibri"/>
                <a:ea typeface="맑은 고딕"/>
                <a:cs typeface="Calibri"/>
              </a:rPr>
              <a:t> to people of the Joseon dynasty.</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7241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en-US" altLang="ko-KR" sz="1800" b="0" dirty="0">
                <a:solidFill>
                  <a:srgbClr val="1F2328"/>
                </a:solidFill>
                <a:latin typeface="Calibri"/>
                <a:ea typeface="맑은 고딕"/>
                <a:cs typeface="Calibri"/>
              </a:rPr>
              <a:t>	Munjado: Characters with Values</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2724150"/>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①</a:t>
            </a:r>
            <a:r>
              <a:rPr lang="en-US" altLang="ko-KR" sz="1800" b="0" dirty="0">
                <a:solidFill>
                  <a:srgbClr val="C00000"/>
                </a:solidFill>
                <a:latin typeface="Calibri"/>
                <a:ea typeface="맑은 고딕"/>
                <a:cs typeface="Calibri"/>
              </a:rPr>
              <a:t>	Munjado: Characters with Values</a:t>
            </a:r>
            <a:endParaRPr lang="en-US" altLang="ko-KR" sz="1800" b="0" dirty="0">
              <a:solidFill>
                <a:srgbClr val="C00000"/>
              </a:solidFill>
              <a:latin typeface="Calibri"/>
              <a:ea typeface="맑은 고딕"/>
              <a:cs typeface="Calibri"/>
            </a:endParaRPr>
          </a:p>
        </p:txBody>
      </p:sp>
      <p:sp>
        <p:nvSpPr>
          <p:cNvPr id="13" name="choice_2"/>
          <p:cNvSpPr txBox="1"/>
          <p:nvPr/>
        </p:nvSpPr>
        <p:spPr>
          <a:xfrm>
            <a:off x="457200" y="31315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en-US" altLang="ko-KR" sz="1800" b="0" dirty="0">
                <a:solidFill>
                  <a:srgbClr val="1F2328"/>
                </a:solidFill>
                <a:latin typeface="Calibri"/>
                <a:ea typeface="맑은 고딕"/>
                <a:cs typeface="Calibri"/>
              </a:rPr>
              <a:t>	How to Write Chinese Characters</a:t>
            </a:r>
            <a:endParaRPr lang="en-US" altLang="ko-KR" sz="1800" b="0" dirty="0">
              <a:solidFill>
                <a:srgbClr val="1F2328"/>
              </a:solidFill>
              <a:latin typeface="Calibri"/>
              <a:ea typeface="맑은 고딕"/>
              <a:cs typeface="Calibri"/>
            </a:endParaRPr>
          </a:p>
        </p:txBody>
      </p:sp>
      <p:sp>
        <p:nvSpPr>
          <p:cNvPr id="14" name="choice_3"/>
          <p:cNvSpPr txBox="1"/>
          <p:nvPr/>
        </p:nvSpPr>
        <p:spPr>
          <a:xfrm>
            <a:off x="457200" y="35389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en-US" altLang="ko-KR" sz="1800" b="0" dirty="0">
                <a:solidFill>
                  <a:srgbClr val="1F2328"/>
                </a:solidFill>
                <a:latin typeface="Calibri"/>
                <a:ea typeface="맑은 고딕"/>
                <a:cs typeface="Calibri"/>
              </a:rPr>
              <a:t>	Famous Painters of Joseon</a:t>
            </a:r>
            <a:endParaRPr lang="en-US" altLang="ko-KR" sz="1800" b="0" dirty="0">
              <a:solidFill>
                <a:srgbClr val="1F2328"/>
              </a:solidFill>
              <a:latin typeface="Calibri"/>
              <a:ea typeface="맑은 고딕"/>
              <a:cs typeface="Calibri"/>
            </a:endParaRPr>
          </a:p>
        </p:txBody>
      </p:sp>
      <p:sp>
        <p:nvSpPr>
          <p:cNvPr id="15" name="choice_4"/>
          <p:cNvSpPr txBox="1"/>
          <p:nvPr/>
        </p:nvSpPr>
        <p:spPr>
          <a:xfrm>
            <a:off x="457200" y="39463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en-US" altLang="ko-KR" sz="1800" b="0" dirty="0">
                <a:solidFill>
                  <a:srgbClr val="1F2328"/>
                </a:solidFill>
                <a:latin typeface="Calibri"/>
                <a:ea typeface="맑은 고딕"/>
                <a:cs typeface="Calibri"/>
              </a:rPr>
              <a:t>	Animals Loved by Joseon People</a:t>
            </a:r>
            <a:endParaRPr lang="en-US" altLang="ko-KR" sz="1800" b="0" dirty="0">
              <a:solidFill>
                <a:srgbClr val="1F2328"/>
              </a:solidFill>
              <a:latin typeface="Calibri"/>
              <a:ea typeface="맑은 고딕"/>
              <a:cs typeface="Calibri"/>
            </a:endParaRPr>
          </a:p>
        </p:txBody>
      </p:sp>
      <p:sp>
        <p:nvSpPr>
          <p:cNvPr id="16" name="choice_5"/>
          <p:cNvSpPr txBox="1"/>
          <p:nvPr/>
        </p:nvSpPr>
        <p:spPr>
          <a:xfrm>
            <a:off x="457200" y="43538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en-US" altLang="ko-KR" sz="1800" b="0" dirty="0">
                <a:solidFill>
                  <a:srgbClr val="1F2328"/>
                </a:solidFill>
                <a:latin typeface="Calibri"/>
                <a:ea typeface="맑은 고딕"/>
                <a:cs typeface="Calibri"/>
              </a:rPr>
              <a:t>	Folk Music in the Late Joseon</a:t>
            </a:r>
            <a:endParaRPr lang="en-US" altLang="ko-KR" sz="1800" b="0" dirty="0">
              <a:solidFill>
                <a:srgbClr val="1F2328"/>
              </a:solidFill>
              <a:latin typeface="Calibri"/>
              <a:ea typeface="맑은 고딕"/>
              <a:cs typeface="Calibri"/>
            </a:endParaRPr>
          </a:p>
        </p:txBody>
      </p:sp>
      <p:sp>
        <p:nvSpPr>
          <p:cNvPr id="17" name="rv_answer"/>
          <p:cNvSpPr/>
          <p:nvPr/>
        </p:nvSpPr>
        <p:spPr>
          <a:xfrm>
            <a:off x="457200" y="48435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① </a:t>
            </a:r>
            <a:r>
              <a:rPr lang="en-US" altLang="ko-KR" sz="1900" b="1" dirty="0">
                <a:solidFill>
                  <a:srgbClr val="5A4200"/>
                </a:solidFill>
                <a:latin typeface="Calibri"/>
                <a:ea typeface="맑은 고딕"/>
                <a:cs typeface="Calibri"/>
              </a:rPr>
              <a:t>Munjado: Characters with Values</a:t>
            </a:r>
            <a:endParaRPr lang="en-US" altLang="ko-KR" sz="1900" b="1" dirty="0">
              <a:solidFill>
                <a:srgbClr val="5A4200"/>
              </a:solidFill>
              <a:latin typeface="Calibri"/>
              <a:ea typeface="맑은 고딕"/>
              <a:cs typeface="Calibri"/>
            </a:endParaRPr>
          </a:p>
        </p:txBody>
      </p:sp>
      <p:sp>
        <p:nvSpPr>
          <p:cNvPr id="18" name="rv_why"/>
          <p:cNvSpPr/>
          <p:nvPr/>
        </p:nvSpPr>
        <p:spPr>
          <a:xfrm>
            <a:off x="457200" y="5442458"/>
            <a:ext cx="11277295" cy="9766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문자도의 한자는 조선 사람들에게 중요했던 가치('the values')를 나타낸다. 이를 담은 ①이 제목이다.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9" grpId="0" animBg="1"/>
      <p:bldP spid="10" grpId="0" animBg="1"/>
      <p:bldP spid="18"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다음 글에서 필자가 주장하는 바로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626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626870"/>
          </a:xfrm>
          <a:prstGeom prst="rect">
            <a:avLst/>
          </a:prstGeom>
          <a:noFill/>
        </p:spPr>
        <p:txBody>
          <a:bodyPr wrap="square" lIns="201168" tIns="118872" rIns="201168" bIns="118872" anchor="t" rtlCol="0">
            <a:noAutofit/>
          </a:bodyPr>
          <a:lstStyle/>
          <a:p>
            <a:pPr algn="just">
              <a:lnSpc>
                <a:spcPts val="2130"/>
              </a:lnSpc>
              <a:spcBef>
                <a:spcPts val="0"/>
              </a:spcBef>
              <a:spcAft>
                <a:spcPts val="0"/>
              </a:spcAft>
              <a:buNone/>
            </a:pPr>
            <a:r>
              <a:rPr lang="en-US" altLang="ko-KR" sz="1500" b="0" dirty="0">
                <a:solidFill>
                  <a:srgbClr val="1F2328"/>
                </a:solidFill>
                <a:latin typeface="Calibri"/>
                <a:ea typeface="맑은 고딕"/>
                <a:cs typeface="Calibri"/>
              </a:rPr>
              <a:t>Look at the painting on the right. Do you see the Chinese character, hyo (孝)? Do you also see a carp, a geomungo, and a fan? This kind of painting is called Munjado, and it is a type of folk painting that was popular in the late Joseon dynasty. In Munjado, there is usually a Chinese character with some animals or objects. One of eight Chinese characters appears in Munjado. They are hyo (孝), je (悌), chung (忠), sin (信), ye (禮), ui (義), yeom (廉), and chi (恥), and </a:t>
            </a:r>
            <a:r>
              <a:rPr lang="en-US" altLang="ko-KR" sz="1500" b="0" dirty="0">
                <a:solidFill>
                  <a:srgbClr val="1F2328"/>
                </a:solidFill>
                <a:latin typeface="Calibri"/>
                <a:ea typeface="맑은 고딕"/>
                <a:cs typeface="Calibri"/>
              </a:rPr>
              <a:t>they represent the values that were important</a:t>
            </a:r>
            <a:r>
              <a:rPr lang="en-US" altLang="ko-KR" sz="1500" b="0" dirty="0">
                <a:solidFill>
                  <a:srgbClr val="1F2328"/>
                </a:solidFill>
                <a:latin typeface="Calibri"/>
                <a:ea typeface="맑은 고딕"/>
                <a:cs typeface="Calibri"/>
              </a:rPr>
              <a:t> to people of the Joseon dynasty.</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626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626870"/>
          </a:xfrm>
          <a:prstGeom prst="rect">
            <a:avLst/>
          </a:prstGeom>
          <a:noFill/>
        </p:spPr>
        <p:txBody>
          <a:bodyPr wrap="square" lIns="201168" tIns="118872" rIns="201168" bIns="118872" anchor="t" rtlCol="0">
            <a:noAutofit/>
          </a:bodyPr>
          <a:lstStyle/>
          <a:p>
            <a:pPr algn="just">
              <a:lnSpc>
                <a:spcPts val="2130"/>
              </a:lnSpc>
              <a:spcBef>
                <a:spcPts val="0"/>
              </a:spcBef>
              <a:spcAft>
                <a:spcPts val="0"/>
              </a:spcAft>
              <a:buNone/>
            </a:pPr>
            <a:r>
              <a:rPr lang="en-US" altLang="ko-KR" sz="1500" b="0" dirty="0">
                <a:solidFill>
                  <a:srgbClr val="B3BAC6"/>
                </a:solidFill>
                <a:latin typeface="Calibri"/>
                <a:ea typeface="맑은 고딕"/>
                <a:cs typeface="Calibri"/>
              </a:rPr>
              <a:t>Look at the painting on the right. Do you see the Chinese character, hyo (孝)? Do you also see a carp, a geomungo, and a fan? This kind of painting is called Munjado, and it is a type of folk painting that was popular in the late Joseon dynasty. In Munjado, there is usually a Chinese character with some animals or objects. One of eight Chinese characters appears in Munjado. They are hyo (孝), je (悌), chung (忠), sin (信), ye (禮), ui (義), yeom (廉), and chi (恥), and </a:t>
            </a:r>
            <a:r>
              <a:rPr lang="en-US" altLang="ko-KR" sz="1500" b="0" dirty="0">
                <a:solidFill>
                  <a:srgbClr val="111111"/>
                </a:solidFill>
                <a:highlight>
                  <a:srgbClr val="FFE45C"/>
                </a:highlight>
                <a:latin typeface="Calibri"/>
                <a:ea typeface="맑은 고딕"/>
                <a:cs typeface="Calibri"/>
              </a:rPr>
              <a:t>they represent the values that were important</a:t>
            </a:r>
            <a:r>
              <a:rPr lang="en-US" altLang="ko-KR" sz="1500" b="0" dirty="0">
                <a:solidFill>
                  <a:srgbClr val="B3BAC6"/>
                </a:solidFill>
                <a:latin typeface="Calibri"/>
                <a:ea typeface="맑은 고딕"/>
                <a:cs typeface="Calibri"/>
              </a:rPr>
              <a:t> to people of the Joseon dynasty.</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7241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한자를 정확하게 쓰는 법부터 익혀야 한다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1315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문자도에 담긴 가치의 의미를 살펴보아야 한다</a:t>
            </a:r>
            <a:endParaRPr lang="ko-KR" altLang="en-US" sz="1800" b="0" dirty="0">
              <a:solidFill>
                <a:srgbClr val="1F2328"/>
              </a:solidFill>
              <a:latin typeface="맑은 고딕"/>
              <a:ea typeface="맑은 고딕"/>
              <a:cs typeface="맑은 고딕"/>
            </a:endParaRPr>
          </a:p>
        </p:txBody>
      </p:sp>
      <p:sp>
        <p:nvSpPr>
          <p:cNvPr id="13" name="rv_pick"/>
          <p:cNvSpPr txBox="1"/>
          <p:nvPr/>
        </p:nvSpPr>
        <p:spPr>
          <a:xfrm>
            <a:off x="457200" y="3131566"/>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②</a:t>
            </a:r>
            <a:r>
              <a:rPr lang="ko-KR" altLang="en-US" sz="1800" b="0" dirty="0">
                <a:solidFill>
                  <a:srgbClr val="C00000"/>
                </a:solidFill>
                <a:latin typeface="맑은 고딕"/>
                <a:ea typeface="맑은 고딕"/>
                <a:cs typeface="맑은 고딕"/>
              </a:rPr>
              <a:t>	문자도에 담긴 가치의 의미를 살펴보아야 한다</a:t>
            </a:r>
            <a:endParaRPr lang="ko-KR" altLang="en-US" sz="1800" b="0" dirty="0">
              <a:solidFill>
                <a:srgbClr val="C00000"/>
              </a:solidFill>
              <a:latin typeface="맑은 고딕"/>
              <a:ea typeface="맑은 고딕"/>
              <a:cs typeface="맑은 고딕"/>
            </a:endParaRPr>
          </a:p>
        </p:txBody>
      </p:sp>
      <p:sp>
        <p:nvSpPr>
          <p:cNvPr id="14" name="choice_3"/>
          <p:cNvSpPr txBox="1"/>
          <p:nvPr/>
        </p:nvSpPr>
        <p:spPr>
          <a:xfrm>
            <a:off x="457200" y="35389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민화보다 궁중 회화를 먼저 감상해야 한다</a:t>
            </a:r>
            <a:endParaRPr lang="ko-KR" altLang="en-US" sz="1800" b="0" dirty="0">
              <a:solidFill>
                <a:srgbClr val="1F2328"/>
              </a:solidFill>
              <a:latin typeface="맑은 고딕"/>
              <a:ea typeface="맑은 고딕"/>
              <a:cs typeface="맑은 고딕"/>
            </a:endParaRPr>
          </a:p>
        </p:txBody>
      </p:sp>
      <p:sp>
        <p:nvSpPr>
          <p:cNvPr id="15" name="choice_4"/>
          <p:cNvSpPr txBox="1"/>
          <p:nvPr/>
        </p:nvSpPr>
        <p:spPr>
          <a:xfrm>
            <a:off x="457200" y="39463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그림 속 동물의 생김새를 자세히 그려야 한다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3538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조선 시대의 악기 연주법을 배워 보아야 한다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8435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 </a:t>
            </a:r>
            <a:r>
              <a:rPr lang="ko-KR" altLang="en-US" sz="1900" b="1" dirty="0">
                <a:solidFill>
                  <a:srgbClr val="5A4200"/>
                </a:solidFill>
                <a:latin typeface="맑은 고딕"/>
                <a:ea typeface="맑은 고딕"/>
                <a:cs typeface="맑은 고딕"/>
              </a:rPr>
              <a:t>문자도에 담긴 가치의 의미를 살펴보아야 한다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442458"/>
            <a:ext cx="11277295" cy="9766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문자도 속 한자가 조선 사람들이 중시한 가치를 나타낸다고 했으니 그 의미를 살펴보자는 ②가 알맞다.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25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7" grpId="0" animBg="1"/>
      <p:bldP spid="9" grpId="0" animBg="1"/>
      <p:bldP spid="10" grpId="0" animBg="1"/>
      <p:bldP spid="1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다음 글의 요지로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626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626870"/>
          </a:xfrm>
          <a:prstGeom prst="rect">
            <a:avLst/>
          </a:prstGeom>
          <a:noFill/>
        </p:spPr>
        <p:txBody>
          <a:bodyPr wrap="square" lIns="201168" tIns="118872" rIns="201168" bIns="118872" anchor="t" rtlCol="0">
            <a:noAutofit/>
          </a:bodyPr>
          <a:lstStyle/>
          <a:p>
            <a:pPr algn="just">
              <a:lnSpc>
                <a:spcPts val="2130"/>
              </a:lnSpc>
              <a:spcBef>
                <a:spcPts val="0"/>
              </a:spcBef>
              <a:spcAft>
                <a:spcPts val="0"/>
              </a:spcAft>
              <a:buNone/>
            </a:pPr>
            <a:r>
              <a:rPr lang="en-US" altLang="ko-KR" sz="1500" b="0" dirty="0">
                <a:solidFill>
                  <a:srgbClr val="1F2328"/>
                </a:solidFill>
                <a:latin typeface="Calibri"/>
                <a:ea typeface="맑은 고딕"/>
                <a:cs typeface="Calibri"/>
              </a:rPr>
              <a:t>Look at the painting on the right. Do you see the Chinese character, hyo (孝)? Do you also see a carp, a geomungo, and a fan? This kind of painting is called Munjado, and it is a type of folk painting that was popular in the late Joseon dynasty. In Munjado, there is usually a Chinese character with some animals or objects. One of eight Chinese characters appears in Munjado. They are hyo (孝), je (悌), chung (忠), sin (信), ye (禮), ui (義), yeom (廉), and chi (恥), and </a:t>
            </a:r>
            <a:r>
              <a:rPr lang="en-US" altLang="ko-KR" sz="1500" b="0" dirty="0">
                <a:solidFill>
                  <a:srgbClr val="1F2328"/>
                </a:solidFill>
                <a:latin typeface="Calibri"/>
                <a:ea typeface="맑은 고딕"/>
                <a:cs typeface="Calibri"/>
              </a:rPr>
              <a:t>they represent the values that were important</a:t>
            </a:r>
            <a:r>
              <a:rPr lang="en-US" altLang="ko-KR" sz="1500" b="0" dirty="0">
                <a:solidFill>
                  <a:srgbClr val="1F2328"/>
                </a:solidFill>
                <a:latin typeface="Calibri"/>
                <a:ea typeface="맑은 고딕"/>
                <a:cs typeface="Calibri"/>
              </a:rPr>
              <a:t> to people of the Joseon dynasty.</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626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626870"/>
          </a:xfrm>
          <a:prstGeom prst="rect">
            <a:avLst/>
          </a:prstGeom>
          <a:noFill/>
        </p:spPr>
        <p:txBody>
          <a:bodyPr wrap="square" lIns="201168" tIns="118872" rIns="201168" bIns="118872" anchor="t" rtlCol="0">
            <a:noAutofit/>
          </a:bodyPr>
          <a:lstStyle/>
          <a:p>
            <a:pPr algn="just">
              <a:lnSpc>
                <a:spcPts val="2130"/>
              </a:lnSpc>
              <a:spcBef>
                <a:spcPts val="0"/>
              </a:spcBef>
              <a:spcAft>
                <a:spcPts val="0"/>
              </a:spcAft>
              <a:buNone/>
            </a:pPr>
            <a:r>
              <a:rPr lang="en-US" altLang="ko-KR" sz="1500" b="0" dirty="0">
                <a:solidFill>
                  <a:srgbClr val="B3BAC6"/>
                </a:solidFill>
                <a:latin typeface="Calibri"/>
                <a:ea typeface="맑은 고딕"/>
                <a:cs typeface="Calibri"/>
              </a:rPr>
              <a:t>Look at the painting on the right. Do you see the Chinese character, hyo (孝)? Do you also see a carp, a geomungo, and a fan? This kind of painting is called Munjado, and it is a type of folk painting that was popular in the late Joseon dynasty. In Munjado, there is usually a Chinese character with some animals or objects. One of eight Chinese characters appears in Munjado. They are hyo (孝), je (悌), chung (忠), sin (信), ye (禮), ui (義), yeom (廉), and chi (恥), and </a:t>
            </a:r>
            <a:r>
              <a:rPr lang="en-US" altLang="ko-KR" sz="1500" b="0" dirty="0">
                <a:solidFill>
                  <a:srgbClr val="111111"/>
                </a:solidFill>
                <a:highlight>
                  <a:srgbClr val="FFE45C"/>
                </a:highlight>
                <a:latin typeface="Calibri"/>
                <a:ea typeface="맑은 고딕"/>
                <a:cs typeface="Calibri"/>
              </a:rPr>
              <a:t>they represent the values that were important</a:t>
            </a:r>
            <a:r>
              <a:rPr lang="en-US" altLang="ko-KR" sz="1500" b="0" dirty="0">
                <a:solidFill>
                  <a:srgbClr val="B3BAC6"/>
                </a:solidFill>
                <a:latin typeface="Calibri"/>
                <a:ea typeface="맑은 고딕"/>
                <a:cs typeface="Calibri"/>
              </a:rPr>
              <a:t> to people of the Joseon dynasty.</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7241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문자도는 조선 왕실만 즐기던 그림이었다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1315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문자도에는 한자가 전혀 등장하지 않는다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5389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문자도는 조선 사람의 가치를 한자로 담았다</a:t>
            </a:r>
            <a:endParaRPr lang="ko-KR" altLang="en-US" sz="1800" b="0" dirty="0">
              <a:solidFill>
                <a:srgbClr val="1F2328"/>
              </a:solidFill>
              <a:latin typeface="맑은 고딕"/>
              <a:ea typeface="맑은 고딕"/>
              <a:cs typeface="맑은 고딕"/>
            </a:endParaRPr>
          </a:p>
        </p:txBody>
      </p:sp>
      <p:sp>
        <p:nvSpPr>
          <p:cNvPr id="14" name="rv_pick"/>
          <p:cNvSpPr txBox="1"/>
          <p:nvPr/>
        </p:nvSpPr>
        <p:spPr>
          <a:xfrm>
            <a:off x="457200" y="3538982"/>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③</a:t>
            </a:r>
            <a:r>
              <a:rPr lang="ko-KR" altLang="en-US" sz="1800" b="0" dirty="0">
                <a:solidFill>
                  <a:srgbClr val="C00000"/>
                </a:solidFill>
                <a:latin typeface="맑은 고딕"/>
                <a:ea typeface="맑은 고딕"/>
                <a:cs typeface="맑은 고딕"/>
              </a:rPr>
              <a:t>	문자도는 조선 사람의 가치를 한자로 담았다</a:t>
            </a:r>
            <a:endParaRPr lang="ko-KR" altLang="en-US" sz="1800" b="0" dirty="0">
              <a:solidFill>
                <a:srgbClr val="C00000"/>
              </a:solidFill>
              <a:latin typeface="맑은 고딕"/>
              <a:ea typeface="맑은 고딕"/>
              <a:cs typeface="맑은 고딕"/>
            </a:endParaRPr>
          </a:p>
        </p:txBody>
      </p:sp>
      <p:sp>
        <p:nvSpPr>
          <p:cNvPr id="15" name="choice_4"/>
          <p:cNvSpPr txBox="1"/>
          <p:nvPr/>
        </p:nvSpPr>
        <p:spPr>
          <a:xfrm>
            <a:off x="457200" y="39463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문자도는 현대에 새로 만들어진 그림이다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3538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문자도는 동물만 그린 조선의 민화이다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8435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ko-KR" altLang="en-US" sz="1900" b="1" dirty="0">
                <a:solidFill>
                  <a:srgbClr val="5A4200"/>
                </a:solidFill>
                <a:latin typeface="맑은 고딕"/>
                <a:ea typeface="맑은 고딕"/>
                <a:cs typeface="맑은 고딕"/>
              </a:rPr>
              <a:t>문자도는 조선 사람의 가치를 한자로 담았다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442458"/>
            <a:ext cx="11277295" cy="9766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여덟 한자가 조선 사람들에게 중요했던 가치를 나타낸다고 했다. 이를 정리한 ③이 요지이다.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7" grpId="0" animBg="1"/>
      <p:bldP spid="9" grpId="0" animBg="1"/>
      <p:bldP spid="10" grpId="0" animBg="1"/>
      <p:bldP spid="18"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5</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5. 다음 글의 내용과 일치하지 않는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626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626870"/>
          </a:xfrm>
          <a:prstGeom prst="rect">
            <a:avLst/>
          </a:prstGeom>
          <a:noFill/>
        </p:spPr>
        <p:txBody>
          <a:bodyPr wrap="square" lIns="201168" tIns="118872" rIns="201168" bIns="118872" anchor="t" rtlCol="0">
            <a:noAutofit/>
          </a:bodyPr>
          <a:lstStyle/>
          <a:p>
            <a:pPr algn="just">
              <a:lnSpc>
                <a:spcPts val="2130"/>
              </a:lnSpc>
              <a:spcBef>
                <a:spcPts val="0"/>
              </a:spcBef>
              <a:spcAft>
                <a:spcPts val="0"/>
              </a:spcAft>
              <a:buNone/>
            </a:pPr>
            <a:r>
              <a:rPr lang="en-US" altLang="ko-KR" sz="1500" b="0" dirty="0">
                <a:solidFill>
                  <a:srgbClr val="1F2328"/>
                </a:solidFill>
                <a:latin typeface="Calibri"/>
                <a:ea typeface="맑은 고딕"/>
                <a:cs typeface="Calibri"/>
              </a:rPr>
              <a:t>Look at the painting on the right. Do you see the Chinese character, hyo (孝)? Do you also see a carp, a geomungo, and a fan? This kind of painting is called Munjado, and it is a type of folk painting that was popular in the late Joseon dynasty. In Munjado, there is usually a Chinese character with some animals or objects. </a:t>
            </a:r>
            <a:r>
              <a:rPr lang="en-US" altLang="ko-KR" sz="1500" b="0" dirty="0">
                <a:solidFill>
                  <a:srgbClr val="1F2328"/>
                </a:solidFill>
                <a:latin typeface="Calibri"/>
                <a:ea typeface="맑은 고딕"/>
                <a:cs typeface="Calibri"/>
              </a:rPr>
              <a:t>One of eight Chinese characters</a:t>
            </a:r>
            <a:r>
              <a:rPr lang="en-US" altLang="ko-KR" sz="1500" b="0" dirty="0">
                <a:solidFill>
                  <a:srgbClr val="1F2328"/>
                </a:solidFill>
                <a:latin typeface="Calibri"/>
                <a:ea typeface="맑은 고딕"/>
                <a:cs typeface="Calibri"/>
              </a:rPr>
              <a:t> appears in Munjado. They are hyo (孝), je (悌), chung (忠), sin (信), ye (禮), ui (義), yeom (廉), and chi (恥), and they represent the values that were important to people of the Joseon dynasty.</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626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626870"/>
          </a:xfrm>
          <a:prstGeom prst="rect">
            <a:avLst/>
          </a:prstGeom>
          <a:noFill/>
        </p:spPr>
        <p:txBody>
          <a:bodyPr wrap="square" lIns="201168" tIns="118872" rIns="201168" bIns="118872" anchor="t" rtlCol="0">
            <a:noAutofit/>
          </a:bodyPr>
          <a:lstStyle/>
          <a:p>
            <a:pPr algn="just">
              <a:lnSpc>
                <a:spcPts val="2130"/>
              </a:lnSpc>
              <a:spcBef>
                <a:spcPts val="0"/>
              </a:spcBef>
              <a:spcAft>
                <a:spcPts val="0"/>
              </a:spcAft>
              <a:buNone/>
            </a:pPr>
            <a:r>
              <a:rPr lang="en-US" altLang="ko-KR" sz="1500" b="0" dirty="0">
                <a:solidFill>
                  <a:srgbClr val="B3BAC6"/>
                </a:solidFill>
                <a:latin typeface="Calibri"/>
                <a:ea typeface="맑은 고딕"/>
                <a:cs typeface="Calibri"/>
              </a:rPr>
              <a:t>Look at the painting on the right. Do you see the Chinese character, hyo (孝)? Do you also see a carp, a geomungo, and a fan? This kind of painting is called Munjado, and it is a type of folk painting that was popular in the late Joseon dynasty. In Munjado, there is usually a Chinese character with some animals or objects. </a:t>
            </a:r>
            <a:r>
              <a:rPr lang="en-US" altLang="ko-KR" sz="1500" b="0" dirty="0">
                <a:solidFill>
                  <a:srgbClr val="111111"/>
                </a:solidFill>
                <a:highlight>
                  <a:srgbClr val="FFE45C"/>
                </a:highlight>
                <a:latin typeface="Calibri"/>
                <a:ea typeface="맑은 고딕"/>
                <a:cs typeface="Calibri"/>
              </a:rPr>
              <a:t>One of eight Chinese characters</a:t>
            </a:r>
            <a:r>
              <a:rPr lang="en-US" altLang="ko-KR" sz="1500" b="0" dirty="0">
                <a:solidFill>
                  <a:srgbClr val="B3BAC6"/>
                </a:solidFill>
                <a:latin typeface="Calibri"/>
                <a:ea typeface="맑은 고딕"/>
                <a:cs typeface="Calibri"/>
              </a:rPr>
              <a:t> appears in Munjado. They are hyo (孝), je (悌), chung (忠), sin (信), ye (禮), ui (義), yeom (廉), and chi (恥), and they represent the values that were important to people of the Joseon dynasty.</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7241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문자도는 민화의 한 종류이다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1315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문자도에는 한자 열 개가 함께 나온다</a:t>
            </a:r>
            <a:endParaRPr lang="ko-KR" altLang="en-US" sz="1800" b="0" dirty="0">
              <a:solidFill>
                <a:srgbClr val="1F2328"/>
              </a:solidFill>
              <a:latin typeface="맑은 고딕"/>
              <a:ea typeface="맑은 고딕"/>
              <a:cs typeface="맑은 고딕"/>
            </a:endParaRPr>
          </a:p>
        </p:txBody>
      </p:sp>
      <p:sp>
        <p:nvSpPr>
          <p:cNvPr id="13" name="rv_pick"/>
          <p:cNvSpPr txBox="1"/>
          <p:nvPr/>
        </p:nvSpPr>
        <p:spPr>
          <a:xfrm>
            <a:off x="457200" y="3131566"/>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②</a:t>
            </a:r>
            <a:r>
              <a:rPr lang="ko-KR" altLang="en-US" sz="1800" b="0" dirty="0">
                <a:solidFill>
                  <a:srgbClr val="C00000"/>
                </a:solidFill>
                <a:latin typeface="맑은 고딕"/>
                <a:ea typeface="맑은 고딕"/>
                <a:cs typeface="맑은 고딕"/>
              </a:rPr>
              <a:t>	문자도에는 한자 열 개가 함께 나온다</a:t>
            </a:r>
            <a:endParaRPr lang="ko-KR" altLang="en-US" sz="1800" b="0" dirty="0">
              <a:solidFill>
                <a:srgbClr val="C00000"/>
              </a:solidFill>
              <a:latin typeface="맑은 고딕"/>
              <a:ea typeface="맑은 고딕"/>
              <a:cs typeface="맑은 고딕"/>
            </a:endParaRPr>
          </a:p>
        </p:txBody>
      </p:sp>
      <p:sp>
        <p:nvSpPr>
          <p:cNvPr id="14" name="choice_3"/>
          <p:cNvSpPr txBox="1"/>
          <p:nvPr/>
        </p:nvSpPr>
        <p:spPr>
          <a:xfrm>
            <a:off x="457200" y="35389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문자도는 조선 후기에 인기가 있었다</a:t>
            </a:r>
            <a:endParaRPr lang="ko-KR" altLang="en-US" sz="1800" b="0" dirty="0">
              <a:solidFill>
                <a:srgbClr val="1F2328"/>
              </a:solidFill>
              <a:latin typeface="맑은 고딕"/>
              <a:ea typeface="맑은 고딕"/>
              <a:cs typeface="맑은 고딕"/>
            </a:endParaRPr>
          </a:p>
        </p:txBody>
      </p:sp>
      <p:sp>
        <p:nvSpPr>
          <p:cNvPr id="15" name="choice_4"/>
          <p:cNvSpPr txBox="1"/>
          <p:nvPr/>
        </p:nvSpPr>
        <p:spPr>
          <a:xfrm>
            <a:off x="457200" y="39463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문자도에는 보통 한자가 하나 나온다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3538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문자도에는 동물이나 사물도 함께 나온다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8435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 </a:t>
            </a:r>
            <a:r>
              <a:rPr lang="ko-KR" altLang="en-US" sz="1900" b="1" dirty="0">
                <a:solidFill>
                  <a:srgbClr val="5A4200"/>
                </a:solidFill>
                <a:latin typeface="맑은 고딕"/>
                <a:ea typeface="맑은 고딕"/>
                <a:cs typeface="맑은 고딕"/>
              </a:rPr>
              <a:t>문자도에는 한자 열 개가 함께 나온다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442458"/>
            <a:ext cx="11277295" cy="9766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문자도에는 여덟 개의 한자 중 하나('One of eight')가 나온다. 한자 열 개가 함께 나온다는 ②는 틀리다.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25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7" grpId="0" animBg="1"/>
      <p:bldP spid="9" grpId="0" animBg="1"/>
      <p:bldP spid="10" grpId="0" animBg="1"/>
      <p:bldP spid="18"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6</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6. 다음 글의 내용과 일치하는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626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626870"/>
          </a:xfrm>
          <a:prstGeom prst="rect">
            <a:avLst/>
          </a:prstGeom>
          <a:noFill/>
        </p:spPr>
        <p:txBody>
          <a:bodyPr wrap="square" lIns="201168" tIns="118872" rIns="201168" bIns="118872" anchor="t" rtlCol="0">
            <a:noAutofit/>
          </a:bodyPr>
          <a:lstStyle/>
          <a:p>
            <a:pPr algn="just">
              <a:lnSpc>
                <a:spcPts val="2130"/>
              </a:lnSpc>
              <a:spcBef>
                <a:spcPts val="0"/>
              </a:spcBef>
              <a:spcAft>
                <a:spcPts val="0"/>
              </a:spcAft>
              <a:buNone/>
            </a:pPr>
            <a:r>
              <a:rPr lang="en-US" altLang="ko-KR" sz="1500" b="0" dirty="0">
                <a:solidFill>
                  <a:srgbClr val="1F2328"/>
                </a:solidFill>
                <a:latin typeface="Calibri"/>
                <a:ea typeface="맑은 고딕"/>
                <a:cs typeface="Calibri"/>
              </a:rPr>
              <a:t>Look at the painting on the right. Do you see the Chinese character, hyo (孝)? Do you also see a carp, a geomungo, and a fan? This kind of painting is called Munjado, and it is a type of folk painting that was popular in the late Joseon dynasty. In Munjado, there is usually a Chinese character with some animals or objects. One of eight Chinese characters appears in Munjado. They are hyo (孝), je (悌), chung (忠), sin (信), ye (禮), ui (義), yeom (廉), and chi (恥), and </a:t>
            </a:r>
            <a:r>
              <a:rPr lang="en-US" altLang="ko-KR" sz="1500" b="0" dirty="0">
                <a:solidFill>
                  <a:srgbClr val="1F2328"/>
                </a:solidFill>
                <a:latin typeface="Calibri"/>
                <a:ea typeface="맑은 고딕"/>
                <a:cs typeface="Calibri"/>
              </a:rPr>
              <a:t>they represent the values that were important</a:t>
            </a:r>
            <a:r>
              <a:rPr lang="en-US" altLang="ko-KR" sz="1500" b="0" dirty="0">
                <a:solidFill>
                  <a:srgbClr val="1F2328"/>
                </a:solidFill>
                <a:latin typeface="Calibri"/>
                <a:ea typeface="맑은 고딕"/>
                <a:cs typeface="Calibri"/>
              </a:rPr>
              <a:t> to people of the Joseon dynasty.</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626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626870"/>
          </a:xfrm>
          <a:prstGeom prst="rect">
            <a:avLst/>
          </a:prstGeom>
          <a:noFill/>
        </p:spPr>
        <p:txBody>
          <a:bodyPr wrap="square" lIns="201168" tIns="118872" rIns="201168" bIns="118872" anchor="t" rtlCol="0">
            <a:noAutofit/>
          </a:bodyPr>
          <a:lstStyle/>
          <a:p>
            <a:pPr algn="just">
              <a:lnSpc>
                <a:spcPts val="2130"/>
              </a:lnSpc>
              <a:spcBef>
                <a:spcPts val="0"/>
              </a:spcBef>
              <a:spcAft>
                <a:spcPts val="0"/>
              </a:spcAft>
              <a:buNone/>
            </a:pPr>
            <a:r>
              <a:rPr lang="en-US" altLang="ko-KR" sz="1500" b="0" dirty="0">
                <a:solidFill>
                  <a:srgbClr val="B3BAC6"/>
                </a:solidFill>
                <a:latin typeface="Calibri"/>
                <a:ea typeface="맑은 고딕"/>
                <a:cs typeface="Calibri"/>
              </a:rPr>
              <a:t>Look at the painting on the right. Do you see the Chinese character, hyo (孝)? Do you also see a carp, a geomungo, and a fan? This kind of painting is called Munjado, and it is a type of folk painting that was popular in the late Joseon dynasty. In Munjado, there is usually a Chinese character with some animals or objects. One of eight Chinese characters appears in Munjado. They are hyo (孝), je (悌), chung (忠), sin (信), ye (禮), ui (義), yeom (廉), and chi (恥), and </a:t>
            </a:r>
            <a:r>
              <a:rPr lang="en-US" altLang="ko-KR" sz="1500" b="0" dirty="0">
                <a:solidFill>
                  <a:srgbClr val="111111"/>
                </a:solidFill>
                <a:highlight>
                  <a:srgbClr val="FFE45C"/>
                </a:highlight>
                <a:latin typeface="Calibri"/>
                <a:ea typeface="맑은 고딕"/>
                <a:cs typeface="Calibri"/>
              </a:rPr>
              <a:t>they represent the values that were important</a:t>
            </a:r>
            <a:r>
              <a:rPr lang="en-US" altLang="ko-KR" sz="1500" b="0" dirty="0">
                <a:solidFill>
                  <a:srgbClr val="B3BAC6"/>
                </a:solidFill>
                <a:latin typeface="Calibri"/>
                <a:ea typeface="맑은 고딕"/>
                <a:cs typeface="Calibri"/>
              </a:rPr>
              <a:t> to people of the Joseon dynasty.</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7241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효(孝) 그림에는 호랑이가 그려져 있다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1315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문자도의 한자는 모두 열두 개이다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5389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문자도는 조선 초기에만 그려졌다</a:t>
            </a:r>
            <a:endParaRPr lang="ko-KR" altLang="en-US" sz="1800" b="0" dirty="0">
              <a:solidFill>
                <a:srgbClr val="1F2328"/>
              </a:solidFill>
              <a:latin typeface="맑은 고딕"/>
              <a:ea typeface="맑은 고딕"/>
              <a:cs typeface="맑은 고딕"/>
            </a:endParaRPr>
          </a:p>
        </p:txBody>
      </p:sp>
      <p:sp>
        <p:nvSpPr>
          <p:cNvPr id="14" name="choice_4"/>
          <p:cNvSpPr txBox="1"/>
          <p:nvPr/>
        </p:nvSpPr>
        <p:spPr>
          <a:xfrm>
            <a:off x="457200" y="39463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여덟 한자는 조선 사람의 가치를 나타낸다</a:t>
            </a:r>
            <a:endParaRPr lang="ko-KR" altLang="en-US" sz="1800" b="0" dirty="0">
              <a:solidFill>
                <a:srgbClr val="1F2328"/>
              </a:solidFill>
              <a:latin typeface="맑은 고딕"/>
              <a:ea typeface="맑은 고딕"/>
              <a:cs typeface="맑은 고딕"/>
            </a:endParaRPr>
          </a:p>
        </p:txBody>
      </p:sp>
      <p:sp>
        <p:nvSpPr>
          <p:cNvPr id="15" name="rv_pick"/>
          <p:cNvSpPr txBox="1"/>
          <p:nvPr/>
        </p:nvSpPr>
        <p:spPr>
          <a:xfrm>
            <a:off x="457200" y="3946398"/>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④</a:t>
            </a:r>
            <a:r>
              <a:rPr lang="ko-KR" altLang="en-US" sz="1800" b="0" dirty="0">
                <a:solidFill>
                  <a:srgbClr val="C00000"/>
                </a:solidFill>
                <a:latin typeface="맑은 고딕"/>
                <a:ea typeface="맑은 고딕"/>
                <a:cs typeface="맑은 고딕"/>
              </a:rPr>
              <a:t>	여덟 한자는 조선 사람의 가치를 나타낸다</a:t>
            </a:r>
            <a:endParaRPr lang="ko-KR" altLang="en-US" sz="1800" b="0" dirty="0">
              <a:solidFill>
                <a:srgbClr val="C00000"/>
              </a:solidFill>
              <a:latin typeface="맑은 고딕"/>
              <a:ea typeface="맑은 고딕"/>
              <a:cs typeface="맑은 고딕"/>
            </a:endParaRPr>
          </a:p>
        </p:txBody>
      </p:sp>
      <p:sp>
        <p:nvSpPr>
          <p:cNvPr id="16" name="choice_5"/>
          <p:cNvSpPr txBox="1"/>
          <p:nvPr/>
        </p:nvSpPr>
        <p:spPr>
          <a:xfrm>
            <a:off x="457200" y="43538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문자도에는 동물이 등장하지 않는다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8435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ko-KR" altLang="en-US" sz="1900" b="1" dirty="0">
                <a:solidFill>
                  <a:srgbClr val="5A4200"/>
                </a:solidFill>
                <a:latin typeface="맑은 고딕"/>
                <a:ea typeface="맑은 고딕"/>
                <a:cs typeface="맑은 고딕"/>
              </a:rPr>
              <a:t>여덟 한자는 조선 사람의 가치를 나타낸다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442458"/>
            <a:ext cx="11277295" cy="9766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여덟 한자는 조선 시대 사람들에게 중요했던 가치를 나타낸다고 했으므로 ④가 일치한다.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25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9" grpId="0" animBg="1"/>
      <p:bldP spid="10" grpId="0" animBg="1"/>
      <p:bldP spid="18"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818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81838"/>
          </a:xfrm>
          <a:prstGeom prst="rect">
            <a:avLst/>
          </a:prstGeom>
          <a:noFill/>
        </p:spPr>
        <p:txBody>
          <a:bodyPr wrap="square" lIns="201168" tIns="100584" rIns="201168" bIns="100584" anchor="t" rtlCol="0">
            <a:noAutofit/>
          </a:bodyPr>
          <a:lstStyle/>
          <a:p>
            <a:pPr algn="l">
              <a:lnSpc>
                <a:spcPts val="2210"/>
              </a:lnSpc>
              <a:spcBef>
                <a:spcPts val="0"/>
              </a:spcBef>
              <a:spcAft>
                <a:spcPts val="0"/>
              </a:spcAft>
              <a:buNone/>
            </a:pPr>
            <a:r>
              <a:rPr lang="en-US" altLang="ko-KR" sz="1700" b="0" dirty="0">
                <a:solidFill>
                  <a:srgbClr val="1F2328"/>
                </a:solidFill>
                <a:latin typeface="Calibri"/>
                <a:ea typeface="맑은 고딕"/>
                <a:cs typeface="Calibri"/>
              </a:rPr>
              <a:t>Look at the painting on the right.</a:t>
            </a:r>
            <a:endParaRPr lang="en-US" altLang="ko-KR" sz="1700" b="0" dirty="0">
              <a:solidFill>
                <a:srgbClr val="1F2328"/>
              </a:solidFill>
              <a:latin typeface="Calibri"/>
              <a:ea typeface="맑은 고딕"/>
              <a:cs typeface="Calibri"/>
            </a:endParaRPr>
          </a:p>
        </p:txBody>
      </p:sp>
      <p:sp>
        <p:nvSpPr>
          <p:cNvPr id="9" name="parts_card"/>
          <p:cNvSpPr/>
          <p:nvPr/>
        </p:nvSpPr>
        <p:spPr>
          <a:xfrm>
            <a:off x="457200" y="1560830"/>
            <a:ext cx="11277295" cy="2615692"/>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60830"/>
            <a:ext cx="11277295" cy="2615692"/>
          </a:xfrm>
          <a:prstGeom prst="rect">
            <a:avLst/>
          </a:prstGeom>
          <a:noFill/>
        </p:spPr>
        <p:txBody>
          <a:bodyPr wrap="square" lIns="201168" tIns="118872" rIns="201168" bIns="118872" anchor="t" rtlCol="0">
            <a:noAutofit/>
          </a:bodyPr>
          <a:lstStyle/>
          <a:p>
            <a:pPr algn="just" marL="453390" indent="-453390">
              <a:lnSpc>
                <a:spcPts val="24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(A)</a:t>
            </a:r>
            <a:r>
              <a:rPr lang="en-US" altLang="ko-KR" sz="1700" b="0" dirty="0">
                <a:solidFill>
                  <a:srgbClr val="1F2328"/>
                </a:solidFill>
                <a:latin typeface="Calibri"/>
                <a:ea typeface="맑은 고딕"/>
                <a:cs typeface="Calibri"/>
              </a:rPr>
              <a:t>	Do you see the Chinese character, hyo (孝)? Do you also see a carp, a geomungo, and a fan?</a:t>
            </a:r>
            <a:endParaRPr lang="en-US" altLang="ko-KR" sz="1700" b="0" dirty="0">
              <a:solidFill>
                <a:srgbClr val="1F2328"/>
              </a:solidFill>
              <a:latin typeface="Calibri"/>
              <a:ea typeface="맑은 고딕"/>
              <a:cs typeface="Calibri"/>
            </a:endParaRPr>
          </a:p>
          <a:p>
            <a:pPr algn="just" marL="453390" indent="-453390">
              <a:lnSpc>
                <a:spcPts val="24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(B)</a:t>
            </a:r>
            <a:r>
              <a:rPr lang="en-US" altLang="ko-KR" sz="1700" b="0" dirty="0">
                <a:solidFill>
                  <a:srgbClr val="1F2328"/>
                </a:solidFill>
                <a:latin typeface="Calibri"/>
                <a:ea typeface="맑은 고딕"/>
                <a:cs typeface="Calibri"/>
              </a:rPr>
              <a:t>	One of eight Chinese characters appears in Munjado. They are hyo (孝), je (悌), chung (忠), sin (信), ye (禮), ui (義), yeom (廉), and chi (恥), and they represent the values that were important to people of the Joseon dynasty.</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(C)</a:t>
            </a:r>
            <a:r>
              <a:rPr lang="en-US" altLang="ko-KR" sz="1700" b="0" dirty="0">
                <a:solidFill>
                  <a:srgbClr val="1F2328"/>
                </a:solidFill>
                <a:latin typeface="Calibri"/>
                <a:ea typeface="맑은 고딕"/>
                <a:cs typeface="Calibri"/>
              </a:rPr>
              <a:t>	This kind of painting is called Munjado, and it is a type of folk painting that was popular in the late Joseon dynasty. In Munjado, there is usually a Chinese character with some animals or objects.</a:t>
            </a:r>
            <a:endParaRPr lang="en-US" altLang="ko-KR" sz="1700" b="0" dirty="0">
              <a:solidFill>
                <a:srgbClr val="1F2328"/>
              </a:solidFill>
              <a:latin typeface="Calibri"/>
              <a:ea typeface="맑은 고딕"/>
              <a:cs typeface="Calibri"/>
            </a:endParaRPr>
          </a:p>
        </p:txBody>
      </p:sp>
      <p:sp>
        <p:nvSpPr>
          <p:cNvPr id="11" name="options"/>
          <p:cNvSpPr txBox="1"/>
          <p:nvPr/>
        </p:nvSpPr>
        <p:spPr>
          <a:xfrm>
            <a:off x="457200" y="428625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428625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C00000"/>
                </a:solidFill>
                <a:highlight>
                  <a:srgbClr val="FFFFFF"/>
                </a:highlight>
                <a:latin typeface="맑은 고딕"/>
                <a:ea typeface="맑은 고딕"/>
                <a:cs typeface="맑은 고딕"/>
              </a:rPr>
              <a:t>① </a:t>
            </a:r>
            <a:r>
              <a:rPr lang="en-US" altLang="ko-KR" sz="1800" b="0" dirty="0">
                <a:solidFill>
                  <a:srgbClr val="C00000"/>
                </a:solidFill>
                <a:highlight>
                  <a:srgbClr val="FFFFFF"/>
                </a:highlight>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③ </a:t>
            </a:r>
            <a:r>
              <a:rPr lang="en-US" altLang="ko-KR" sz="1800" b="0" dirty="0">
                <a:solidFill>
                  <a:srgbClr val="1F2328">
                    <a:alpha val="0"/>
                  </a:srgbClr>
                </a:solidFill>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79831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① </a:t>
            </a:r>
            <a:r>
              <a:rPr lang="en-US" altLang="ko-KR" sz="1900" b="1" dirty="0">
                <a:solidFill>
                  <a:srgbClr val="5A4200"/>
                </a:solidFill>
                <a:latin typeface="Calibri"/>
                <a:ea typeface="맑은 고딕"/>
                <a:cs typeface="Calibri"/>
              </a:rPr>
              <a:t>(A) - (C) - (B)</a:t>
            </a:r>
            <a:endParaRPr lang="en-US" altLang="ko-KR" sz="1900" b="1" dirty="0">
              <a:solidFill>
                <a:srgbClr val="5A4200"/>
              </a:solidFill>
              <a:latin typeface="Calibri"/>
              <a:ea typeface="맑은 고딕"/>
              <a:cs typeface="Calibri"/>
            </a:endParaRPr>
          </a:p>
        </p:txBody>
      </p:sp>
      <p:sp>
        <p:nvSpPr>
          <p:cNvPr id="14" name="rv_why"/>
          <p:cNvSpPr/>
          <p:nvPr/>
        </p:nvSpPr>
        <p:spPr>
          <a:xfrm>
            <a:off x="457200" y="5397246"/>
            <a:ext cx="11277295" cy="102184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그림을 보라는 말 → (A) 그림 속 효(孝)와 잉어·부채를 묻는다 → (C) 'This kind of painting'으로 문자도를 소개한다 → (B) 'Munjado'에 나오는 여덟 한자를 설명한다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818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81838"/>
          </a:xfrm>
          <a:prstGeom prst="rect">
            <a:avLst/>
          </a:prstGeom>
          <a:noFill/>
        </p:spPr>
        <p:txBody>
          <a:bodyPr wrap="square" lIns="201168" tIns="100584" rIns="201168" bIns="100584" anchor="t" rtlCol="0">
            <a:noAutofit/>
          </a:bodyPr>
          <a:lstStyle/>
          <a:p>
            <a:pPr algn="l">
              <a:lnSpc>
                <a:spcPts val="2210"/>
              </a:lnSpc>
              <a:spcBef>
                <a:spcPts val="0"/>
              </a:spcBef>
              <a:spcAft>
                <a:spcPts val="0"/>
              </a:spcAft>
              <a:buNone/>
            </a:pPr>
            <a:r>
              <a:rPr lang="en-US" altLang="ko-KR" sz="1700" b="0" dirty="0">
                <a:solidFill>
                  <a:srgbClr val="1F2328"/>
                </a:solidFill>
                <a:latin typeface="Calibri"/>
                <a:ea typeface="맑은 고딕"/>
                <a:cs typeface="Calibri"/>
              </a:rPr>
              <a:t>Look at the painting on the right.</a:t>
            </a:r>
            <a:endParaRPr lang="en-US" altLang="ko-KR" sz="1700" b="0" dirty="0">
              <a:solidFill>
                <a:srgbClr val="1F2328"/>
              </a:solidFill>
              <a:latin typeface="Calibri"/>
              <a:ea typeface="맑은 고딕"/>
              <a:cs typeface="Calibri"/>
            </a:endParaRPr>
          </a:p>
        </p:txBody>
      </p:sp>
      <p:sp>
        <p:nvSpPr>
          <p:cNvPr id="9" name="parts_card"/>
          <p:cNvSpPr/>
          <p:nvPr/>
        </p:nvSpPr>
        <p:spPr>
          <a:xfrm>
            <a:off x="457200" y="1560830"/>
            <a:ext cx="11277295" cy="2615692"/>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60830"/>
            <a:ext cx="11277295" cy="2615692"/>
          </a:xfrm>
          <a:prstGeom prst="rect">
            <a:avLst/>
          </a:prstGeom>
          <a:noFill/>
        </p:spPr>
        <p:txBody>
          <a:bodyPr wrap="square" lIns="201168" tIns="118872" rIns="201168" bIns="118872" anchor="t" rtlCol="0">
            <a:noAutofit/>
          </a:bodyPr>
          <a:lstStyle/>
          <a:p>
            <a:pPr algn="just" marL="453390" indent="-453390">
              <a:lnSpc>
                <a:spcPts val="24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(A)</a:t>
            </a:r>
            <a:r>
              <a:rPr lang="en-US" altLang="ko-KR" sz="1700" b="0" dirty="0">
                <a:solidFill>
                  <a:srgbClr val="1F2328"/>
                </a:solidFill>
                <a:latin typeface="Calibri"/>
                <a:ea typeface="맑은 고딕"/>
                <a:cs typeface="Calibri"/>
              </a:rPr>
              <a:t>	One of eight Chinese characters appears in Munjado. They are hyo (孝), je (悌), chung (忠), sin (信), ye (禮), ui (義), yeom (廉), and chi (恥), and they represent the values that were important to people of the Joseon dynasty.</a:t>
            </a:r>
            <a:endParaRPr lang="en-US" altLang="ko-KR" sz="1700" b="0" dirty="0">
              <a:solidFill>
                <a:srgbClr val="1F2328"/>
              </a:solidFill>
              <a:latin typeface="Calibri"/>
              <a:ea typeface="맑은 고딕"/>
              <a:cs typeface="Calibri"/>
            </a:endParaRPr>
          </a:p>
          <a:p>
            <a:pPr algn="just" marL="453390" indent="-453390">
              <a:lnSpc>
                <a:spcPts val="24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(B)</a:t>
            </a:r>
            <a:r>
              <a:rPr lang="en-US" altLang="ko-KR" sz="1700" b="0" dirty="0">
                <a:solidFill>
                  <a:srgbClr val="1F2328"/>
                </a:solidFill>
                <a:latin typeface="Calibri"/>
                <a:ea typeface="맑은 고딕"/>
                <a:cs typeface="Calibri"/>
              </a:rPr>
              <a:t>	Do you see the Chinese character, hyo (孝)? Do you also see a carp, a geomungo, and a fan?</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(C)</a:t>
            </a:r>
            <a:r>
              <a:rPr lang="en-US" altLang="ko-KR" sz="1700" b="0" dirty="0">
                <a:solidFill>
                  <a:srgbClr val="1F2328"/>
                </a:solidFill>
                <a:latin typeface="Calibri"/>
                <a:ea typeface="맑은 고딕"/>
                <a:cs typeface="Calibri"/>
              </a:rPr>
              <a:t>	This kind of painting is called Munjado, and it is a type of folk painting that was popular in the late Joseon dynasty. In Munjado, there is usually a Chinese character with some animals or objects.</a:t>
            </a:r>
            <a:endParaRPr lang="en-US" altLang="ko-KR" sz="1700" b="0" dirty="0">
              <a:solidFill>
                <a:srgbClr val="1F2328"/>
              </a:solidFill>
              <a:latin typeface="Calibri"/>
              <a:ea typeface="맑은 고딕"/>
              <a:cs typeface="Calibri"/>
            </a:endParaRPr>
          </a:p>
        </p:txBody>
      </p:sp>
      <p:sp>
        <p:nvSpPr>
          <p:cNvPr id="11" name="options"/>
          <p:cNvSpPr txBox="1"/>
          <p:nvPr/>
        </p:nvSpPr>
        <p:spPr>
          <a:xfrm>
            <a:off x="457200" y="428625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428625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③ </a:t>
            </a:r>
            <a:r>
              <a:rPr lang="en-US" altLang="ko-KR" sz="1800" b="0" dirty="0">
                <a:solidFill>
                  <a:srgbClr val="C00000"/>
                </a:solidFill>
                <a:highlight>
                  <a:srgbClr val="FFFFFF"/>
                </a:highlight>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79831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en-US" altLang="ko-KR" sz="1900" b="1" dirty="0">
                <a:solidFill>
                  <a:srgbClr val="5A4200"/>
                </a:solidFill>
                <a:latin typeface="Calibri"/>
                <a:ea typeface="맑은 고딕"/>
                <a:cs typeface="Calibri"/>
              </a:rPr>
              <a:t>(B) - (C) - (A)</a:t>
            </a:r>
            <a:endParaRPr lang="en-US" altLang="ko-KR" sz="1900" b="1" dirty="0">
              <a:solidFill>
                <a:srgbClr val="5A4200"/>
              </a:solidFill>
              <a:latin typeface="Calibri"/>
              <a:ea typeface="맑은 고딕"/>
              <a:cs typeface="Calibri"/>
            </a:endParaRPr>
          </a:p>
        </p:txBody>
      </p:sp>
      <p:sp>
        <p:nvSpPr>
          <p:cNvPr id="14" name="rv_why"/>
          <p:cNvSpPr/>
          <p:nvPr/>
        </p:nvSpPr>
        <p:spPr>
          <a:xfrm>
            <a:off x="457200" y="5397246"/>
            <a:ext cx="11277295" cy="102184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그림을 보라는 말 → (B) 그림 속 효(孝)와 사물을 묻는다 → (C) 'This kind of painting'이 앞의 그림을 받아 문자도라 부른다 → (A) 문자도의 여덟 한자로 이어진다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5072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50723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Do you see the Chinese character, hyo (孝)?</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604518"/>
            <a:ext cx="11277295" cy="222504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604518"/>
            <a:ext cx="11277295" cy="222504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Look at the painting on the right.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Do you also see a carp, a geomungo, and a fan?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This kind of painting is called Munjado, and it is a type of folk painting that was popular in the late Joseon dynasty.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In Munjado, there is usually a Chinese character with some animals or objects.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One of eight Chinese characters appears in Munjado. They are hyo (孝), je (悌), chung (忠), sin (信), ye (禮), ui (義), yeom (廉), and chi (恥), and they represent the values that were important to people of the Joseon dynasty.</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604518"/>
            <a:ext cx="11277295" cy="222504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Look at the painting on the right. </a:t>
            </a:r>
            <a:r>
              <a:rPr lang="ko-KR" altLang="en-US" sz="1800" b="1" dirty="0">
                <a:solidFill>
                  <a:srgbClr val="C00000"/>
                </a:solidFill>
                <a:highlight>
                  <a:srgbClr val="F3F5F9"/>
                </a:highlight>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Do you also see a carp, a geomungo, and a fan? </a:t>
            </a:r>
            <a:r>
              <a:rPr lang="ko-KR" altLang="en-US" sz="18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This kind of painting is called Munjado, and it is a type of folk painting that was popular in the late Joseon dynasty. </a:t>
            </a:r>
            <a:r>
              <a:rPr lang="ko-KR" altLang="en-US" sz="18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In Munjado, there is usually a Chinese character with some animals or objects. </a:t>
            </a:r>
            <a:r>
              <a:rPr lang="ko-KR" altLang="en-US" sz="18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One of eight Chinese characters appears in Munjado. They are hyo (孝), je (悌), chung (忠), sin (信), ye (禮), ui (義), yeom (廉), and chi (恥), and they represent the values that were important to people of the Joseon dynasty.</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393928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4538218"/>
            <a:ext cx="11277295" cy="188086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주어진 문장이 그림 속 한자 효(孝)를 먼저 묻고, ② 뒤 문장이 'also'로 잉어·거문고·부채를 덧붙인다. 따라서 ②가 알맞다.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5072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50723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Do you also see a carp, a geomungo, and a fan?</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604518"/>
            <a:ext cx="11277295" cy="222504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604518"/>
            <a:ext cx="11277295" cy="222504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Look at the painting on the right.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Do you see the Chinese character, hyo (孝)?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This kind of painting is called Munjado, and it is a type of folk painting that was popular in the late Joseon dynasty.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In Munjado, there is usually a Chinese character with some animals or objects.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One of eight Chinese characters appears in Munjado. They are hyo (孝), je (悌), chung (忠), sin (信), ye (禮), ui (義), yeom (廉), and chi (恥), and they represent the values that were important to people of the Joseon dynasty.</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604518"/>
            <a:ext cx="11277295" cy="222504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Look at the painting on the right. </a:t>
            </a:r>
            <a:r>
              <a:rPr lang="ko-KR" altLang="en-US" sz="18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Do you see the Chinese character, hyo (孝)? </a:t>
            </a:r>
            <a:r>
              <a:rPr lang="ko-KR" altLang="en-US" sz="1800" b="1" dirty="0">
                <a:solidFill>
                  <a:srgbClr val="C00000"/>
                </a:solidFill>
                <a:highlight>
                  <a:srgbClr val="F3F5F9"/>
                </a:highlight>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This kind of painting is called Munjado, and it is a type of folk painting that was popular in the late Joseon dynasty. </a:t>
            </a:r>
            <a:r>
              <a:rPr lang="ko-KR" altLang="en-US" sz="18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In Munjado, there is usually a Chinese character with some animals or objects. </a:t>
            </a:r>
            <a:r>
              <a:rPr lang="ko-KR" altLang="en-US" sz="18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One of eight Chinese characters appears in Munjado. They are hyo (孝), je (悌), chung (忠), sin (信), ye (禮), ui (義), yeom (廉), and chi (恥), and they represent the values that were important to people of the Joseon dynasty.</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393928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4538218"/>
            <a:ext cx="11277295" cy="188086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② 앞에서 효(孝)를 묻고, 주어진 문장이 'also'로 잉어·거문고·부채를 더 묻는다. ③ 뒤 'This kind of painting'이 이 그림을 받으므로 ③이다.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①</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4개)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437997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solidFill>
                <a:latin typeface="맑은 고딕"/>
                <a:ea typeface="맑은 고딕"/>
                <a:cs typeface="맑은 고딕"/>
              </a:rPr>
              <a:t>①</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Look at the painting on the right.</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②</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Do you see the Chinese character, hyo (孝)?</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③</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Do you also see a carp, a geomungo, and a fan?</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④</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This kind of painting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is called</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calls</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Munjado, and it is a type of folk painting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what</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that</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was popular in the late Joseon dynasty.</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⑤</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In Munjado, there is usually a Chinese character with some animals or objects.</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⑥</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One of eight Chinese characters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appear</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appears</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in Munjado.</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⑦</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They are hyo (孝), je (悌), chung (忠), sin (信), ye (禮), ui (義), yeom (廉), and chi (恥), and they represent the values that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were</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was</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important to people of the Joseon dynasty.</a:t>
            </a:r>
            <a:endParaRPr lang="en-US" altLang="ko-KR" sz="2200" b="0" dirty="0">
              <a:solidFill>
                <a:srgbClr val="1F2328"/>
              </a:solidFill>
              <a:latin typeface="Calibri"/>
              <a:ea typeface="맑은 고딕"/>
              <a:cs typeface="Calibri"/>
            </a:endParaRPr>
          </a:p>
        </p:txBody>
      </p:sp>
      <p:sp>
        <p:nvSpPr>
          <p:cNvPr id="9" name="rv_g01"/>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Look at the painting on the right.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Do you see the Chinese character, hyo (孝)?</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Do you also see a carp, a geomungo, and a fan?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This kind of painting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is called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calls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Munjado, and it is a type of folk painting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what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that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was popular in the late Joseon dynasty.</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Munjado, there is usually a Chinese character with some animals or objects.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One of eight Chinese characters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appear</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appears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Munjado.</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are hyo (孝), je (悌), chung (忠), sin (信), ye (禮), ui (義), yeom (廉), and chi (恥), and they represent the values that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were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was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important to people of the Joseon dynasty.</a:t>
            </a:r>
            <a:endParaRPr lang="en-US" altLang="ko-KR" sz="2200" b="0" dirty="0">
              <a:solidFill>
                <a:srgbClr val="1F2328"/>
              </a:solidFill>
              <a:latin typeface="Calibri"/>
              <a:ea typeface="맑은 고딕"/>
              <a:cs typeface="Calibri"/>
            </a:endParaRPr>
          </a:p>
        </p:txBody>
      </p:sp>
      <p:sp>
        <p:nvSpPr>
          <p:cNvPr id="10" name="rv_g02"/>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Look at the painting on the right.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Do you see the Chinese character, hyo (孝)?</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Do you also see a carp, a geomungo, and a fan?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This kind of painting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is called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calls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Munjado, and it is a type of folk painting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what</a:t>
            </a:r>
            <a:r>
              <a:rPr lang="en-US" altLang="ko-KR" sz="2200" b="1" dirty="0">
                <a:solidFill>
                  <a:srgbClr val="1F2328">
                    <a:alpha val="0"/>
                  </a:srgbClr>
                </a:solidFill>
                <a:latin typeface="Calibri"/>
                <a:ea typeface="맑은 고딕"/>
                <a:cs typeface="Calibri"/>
              </a:rPr>
              <a:t> / </a:t>
            </a:r>
            <a:r>
              <a:rPr lang="en-US" altLang="ko-KR" sz="2200" b="1" dirty="0">
                <a:solidFill>
                  <a:srgbClr val="C00000"/>
                </a:solidFill>
                <a:highlight>
                  <a:srgbClr val="F3F5F9"/>
                </a:highlight>
                <a:latin typeface="Calibri"/>
                <a:ea typeface="맑은 고딕"/>
                <a:cs typeface="Calibri"/>
              </a:rPr>
              <a:t>that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was popular in the late Joseon dynasty.</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Munjado, there is usually a Chinese character with some animals or objects.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One of eight Chinese characters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appear</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appears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Munjado.</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are hyo (孝), je (悌), chung (忠), sin (信), ye (禮), ui (義), yeom (廉), and chi (恥), and they represent the values that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were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was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important to people of the Joseon dynasty.</a:t>
            </a:r>
            <a:endParaRPr lang="en-US" altLang="ko-KR" sz="2200" b="0" dirty="0">
              <a:solidFill>
                <a:srgbClr val="1F2328"/>
              </a:solidFill>
              <a:latin typeface="Calibri"/>
              <a:ea typeface="맑은 고딕"/>
              <a:cs typeface="Calibri"/>
            </a:endParaRPr>
          </a:p>
        </p:txBody>
      </p:sp>
      <p:sp>
        <p:nvSpPr>
          <p:cNvPr id="11" name="rv_g03"/>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Look at the painting on the right.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Do you see the Chinese character, hyo (孝)?</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Do you also see a carp, a geomungo, and a fan?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This kind of painting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is called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calls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Munjado, and it is a type of folk painting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what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that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was popular in the late Joseon dynasty.</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Munjado, there is usually a Chinese character with some animals or objects.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One of eight Chinese characters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appear</a:t>
            </a:r>
            <a:r>
              <a:rPr lang="en-US" altLang="ko-KR" sz="2200" b="1" dirty="0">
                <a:solidFill>
                  <a:srgbClr val="1F2328">
                    <a:alpha val="0"/>
                  </a:srgbClr>
                </a:solidFill>
                <a:latin typeface="Calibri"/>
                <a:ea typeface="맑은 고딕"/>
                <a:cs typeface="Calibri"/>
              </a:rPr>
              <a:t> / </a:t>
            </a:r>
            <a:r>
              <a:rPr lang="en-US" altLang="ko-KR" sz="2200" b="1" dirty="0">
                <a:solidFill>
                  <a:srgbClr val="C00000"/>
                </a:solidFill>
                <a:highlight>
                  <a:srgbClr val="F3F5F9"/>
                </a:highlight>
                <a:latin typeface="Calibri"/>
                <a:ea typeface="맑은 고딕"/>
                <a:cs typeface="Calibri"/>
              </a:rPr>
              <a:t>appears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Munjado.</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are hyo (孝), je (悌), chung (忠), sin (信), ye (禮), ui (義), yeom (廉), and chi (恥), and they represent the values that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were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was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important to people of the Joseon dynasty.</a:t>
            </a:r>
            <a:endParaRPr lang="en-US" altLang="ko-KR" sz="2200" b="0" dirty="0">
              <a:solidFill>
                <a:srgbClr val="1F2328"/>
              </a:solidFill>
              <a:latin typeface="Calibri"/>
              <a:ea typeface="맑은 고딕"/>
              <a:cs typeface="Calibri"/>
            </a:endParaRPr>
          </a:p>
        </p:txBody>
      </p:sp>
      <p:sp>
        <p:nvSpPr>
          <p:cNvPr id="12" name="rv_g04"/>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Look at the painting on the right.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Do you see the Chinese character, hyo (孝)?</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Do you also see a carp, a geomungo, and a fan?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This kind of painting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is called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calls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Munjado, and it is a type of folk painting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what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that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was popular in the late Joseon dynasty.</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Munjado, there is usually a Chinese character with some animals or objects.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One of eight Chinese characters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appear</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appears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Munjado.</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are hyo (孝), je (悌), chung (忠), sin (信), ye (禮), ui (義), yeom (廉), and chi (恥), and they represent the values that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were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was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important to people of the Joseon dynasty.</a:t>
            </a:r>
            <a:endParaRPr lang="en-US" altLang="ko-KR" sz="220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②</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3개)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437997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solidFill>
                <a:latin typeface="맑은 고딕"/>
                <a:ea typeface="맑은 고딕"/>
                <a:cs typeface="맑은 고딕"/>
              </a:rPr>
              <a:t>①</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Look at the painting on the right.</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②</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Do you see the Chinese character, hyo (孝)?</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③</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Do you also see a carp, a geomungo, and a fan?</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④</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This kind of painting is called Munjado, and it is a type of folk painting that was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popular</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popularly</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in the late Joseon dynasty.</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⑤</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In Munjado, there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is</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are</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usually a Chinese character with some animals or objects.</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⑥</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One of eight Chinese characters appears in Munjado.</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⑦</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They are hyo (孝), je (悌), chung (忠), sin (信), ye (禮), ui (義), yeom (廉), and chi (恥), and they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represent</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represents</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the values that were important to people of the Joseon dynasty.</a:t>
            </a:r>
            <a:endParaRPr lang="en-US" altLang="ko-KR" sz="2200" b="0" dirty="0">
              <a:solidFill>
                <a:srgbClr val="1F2328"/>
              </a:solidFill>
              <a:latin typeface="Calibri"/>
              <a:ea typeface="맑은 고딕"/>
              <a:cs typeface="Calibri"/>
            </a:endParaRPr>
          </a:p>
        </p:txBody>
      </p:sp>
      <p:sp>
        <p:nvSpPr>
          <p:cNvPr id="9" name="rv_g01"/>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Look at the painting on the right.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Do you see the Chinese character, hyo (孝)?</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Do you also see a carp, a geomungo, and a fan?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This kind of painting is called Munjado, and it is a type of folk painting that was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popular</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popularly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the late Joseon dynasty.</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Munjado, there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is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are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usually a Chinese character with some animals or objects.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One of eight Chinese characters appears in Munjado.</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are hyo (孝), je (悌), chung (忠), sin (信), ye (禮), ui (義), yeom (廉), and chi (恥), and they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represent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represents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values that were important to people of the Joseon dynasty.</a:t>
            </a:r>
            <a:endParaRPr lang="en-US" altLang="ko-KR" sz="2200" b="0" dirty="0">
              <a:solidFill>
                <a:srgbClr val="1F2328"/>
              </a:solidFill>
              <a:latin typeface="Calibri"/>
              <a:ea typeface="맑은 고딕"/>
              <a:cs typeface="Calibri"/>
            </a:endParaRPr>
          </a:p>
        </p:txBody>
      </p:sp>
      <p:sp>
        <p:nvSpPr>
          <p:cNvPr id="10" name="rv_g02"/>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Look at the painting on the right.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Do you see the Chinese character, hyo (孝)?</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Do you also see a carp, a geomungo, and a fan?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This kind of painting is called Munjado, and it is a type of folk painting that was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popular</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popularly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the late Joseon dynasty.</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Munjado, there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is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are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usually a Chinese character with some animals or objects.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One of eight Chinese characters appears in Munjado.</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are hyo (孝), je (悌), chung (忠), sin (信), ye (禮), ui (義), yeom (廉), and chi (恥), and they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represent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represents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values that were important to people of the Joseon dynasty.</a:t>
            </a:r>
            <a:endParaRPr lang="en-US" altLang="ko-KR" sz="2200" b="0" dirty="0">
              <a:solidFill>
                <a:srgbClr val="1F2328"/>
              </a:solidFill>
              <a:latin typeface="Calibri"/>
              <a:ea typeface="맑은 고딕"/>
              <a:cs typeface="Calibri"/>
            </a:endParaRPr>
          </a:p>
        </p:txBody>
      </p:sp>
      <p:sp>
        <p:nvSpPr>
          <p:cNvPr id="11" name="rv_g03"/>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Look at the painting on the right.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Do you see the Chinese character, hyo (孝)?</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Do you also see a carp, a geomungo, and a fan?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This kind of painting is called Munjado, and it is a type of folk painting that was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popular</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popularly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the late Joseon dynasty.</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Munjado, there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is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are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usually a Chinese character with some animals or objects.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One of eight Chinese characters appears in Munjado.</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are hyo (孝), je (悌), chung (忠), sin (信), ye (禮), ui (義), yeom (廉), and chi (恥), and they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represent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represents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values that were important to people of the Joseon dynasty.</a:t>
            </a:r>
            <a:endParaRPr lang="en-US" altLang="ko-KR" sz="220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다음 글의 주제로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95452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954529"/>
          </a:xfrm>
          <a:prstGeom prst="rect">
            <a:avLst/>
          </a:prstGeom>
          <a:noFill/>
        </p:spPr>
        <p:txBody>
          <a:bodyPr wrap="square" lIns="201168" tIns="118872" rIns="201168" bIns="118872" anchor="t" rtlCol="0">
            <a:noAutofit/>
          </a:bodyPr>
          <a:lstStyle/>
          <a:p>
            <a:pPr algn="just">
              <a:lnSpc>
                <a:spcPts val="1890"/>
              </a:lnSpc>
              <a:spcBef>
                <a:spcPts val="0"/>
              </a:spcBef>
              <a:spcAft>
                <a:spcPts val="0"/>
              </a:spcAft>
              <a:buNone/>
            </a:pPr>
            <a:r>
              <a:rPr lang="en-US" altLang="ko-KR" sz="1450" b="0" dirty="0">
                <a:solidFill>
                  <a:srgbClr val="1F2328"/>
                </a:solidFill>
                <a:latin typeface="Calibri"/>
                <a:ea typeface="맑은 고딕"/>
                <a:cs typeface="Calibri"/>
              </a:rPr>
              <a:t>The animals or objects in Munjado are not just decorations. They often are symbolic. </a:t>
            </a:r>
            <a:r>
              <a:rPr lang="en-US" altLang="ko-KR" sz="1450" b="0" dirty="0">
                <a:solidFill>
                  <a:srgbClr val="1F2328"/>
                </a:solidFill>
                <a:latin typeface="Calibri"/>
                <a:ea typeface="맑은 고딕"/>
                <a:cs typeface="Calibri"/>
              </a:rPr>
              <a:t>For example, carp in the paintings of hyo symbolize respect for parents because of an old story.</a:t>
            </a:r>
            <a:r>
              <a:rPr lang="en-US" altLang="ko-KR" sz="1450" b="0" dirty="0">
                <a:solidFill>
                  <a:srgbClr val="1F2328"/>
                </a:solidFill>
                <a:latin typeface="Calibri"/>
                <a:ea typeface="맑은 고딕"/>
                <a:cs typeface="Calibri"/>
              </a:rPr>
              <a:t> The story goes as follows. Once upon a time, a man lived with his old mother. One winter, the man’s mother became ill and couldn’t eat anything. On one very cold day, the mother said to the man, “It would be wonderful if I could eat fresh fish.” The man went out to the river, but it was completely frozen. It was impossible for him to catch any fish. The man was so disappointed that he cried out to the sky, “What should I do? Please help me.” Then the ice melted, and three carp suddenly came out of the water. The man went back home and cooked the fish for his mother. Then his mother got well.</a:t>
            </a:r>
            <a:endParaRPr lang="en-US" altLang="ko-KR" sz="1450" b="0" dirty="0">
              <a:solidFill>
                <a:srgbClr val="1F2328"/>
              </a:solidFill>
              <a:latin typeface="Calibri"/>
              <a:ea typeface="맑은 고딕"/>
              <a:cs typeface="Calibri"/>
            </a:endParaRPr>
          </a:p>
        </p:txBody>
      </p:sp>
      <p:sp>
        <p:nvSpPr>
          <p:cNvPr id="9" name="rv_evidence_card"/>
          <p:cNvSpPr/>
          <p:nvPr/>
        </p:nvSpPr>
        <p:spPr>
          <a:xfrm>
            <a:off x="457200" y="950976"/>
            <a:ext cx="11277295" cy="195452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954529"/>
          </a:xfrm>
          <a:prstGeom prst="rect">
            <a:avLst/>
          </a:prstGeom>
          <a:noFill/>
        </p:spPr>
        <p:txBody>
          <a:bodyPr wrap="square" lIns="201168" tIns="118872" rIns="201168" bIns="118872" anchor="t" rtlCol="0">
            <a:noAutofit/>
          </a:bodyPr>
          <a:lstStyle/>
          <a:p>
            <a:pPr algn="just">
              <a:lnSpc>
                <a:spcPts val="1890"/>
              </a:lnSpc>
              <a:spcBef>
                <a:spcPts val="0"/>
              </a:spcBef>
              <a:spcAft>
                <a:spcPts val="0"/>
              </a:spcAft>
              <a:buNone/>
            </a:pPr>
            <a:r>
              <a:rPr lang="en-US" altLang="ko-KR" sz="1450" b="0" dirty="0">
                <a:solidFill>
                  <a:srgbClr val="B3BAC6"/>
                </a:solidFill>
                <a:latin typeface="Calibri"/>
                <a:ea typeface="맑은 고딕"/>
                <a:cs typeface="Calibri"/>
              </a:rPr>
              <a:t>The animals or objects in Munjado are not just decorations. They often are symbolic. </a:t>
            </a:r>
            <a:r>
              <a:rPr lang="en-US" altLang="ko-KR" sz="1450" b="0" dirty="0">
                <a:solidFill>
                  <a:srgbClr val="111111"/>
                </a:solidFill>
                <a:highlight>
                  <a:srgbClr val="FFE45C"/>
                </a:highlight>
                <a:latin typeface="Calibri"/>
                <a:ea typeface="맑은 고딕"/>
                <a:cs typeface="Calibri"/>
              </a:rPr>
              <a:t>For example, carp in the paintings of hyo symbolize respect for parents because of an old story.</a:t>
            </a:r>
            <a:r>
              <a:rPr lang="en-US" altLang="ko-KR" sz="1450" b="0" dirty="0">
                <a:solidFill>
                  <a:srgbClr val="B3BAC6"/>
                </a:solidFill>
                <a:latin typeface="Calibri"/>
                <a:ea typeface="맑은 고딕"/>
                <a:cs typeface="Calibri"/>
              </a:rPr>
              <a:t> The story goes as follows. Once upon a time, a man lived with his old mother. One winter, the man’s mother became ill and couldn’t eat anything. On one very cold day, the mother said to the man, “It would be wonderful if I could eat fresh fish.” The man went out to the river, but it was completely frozen. It was impossible for him to catch any fish. The man was so disappointed that he cried out to the sky, “What should I do? Please help me.” Then the ice melted, and three carp suddenly came out of the water. The man went back home and cooked the fish for his mother. Then his mother got well.</a:t>
            </a:r>
            <a:endParaRPr lang="en-US" altLang="ko-KR" sz="1450" b="0" dirty="0">
              <a:solidFill>
                <a:srgbClr val="B3BAC6"/>
              </a:solidFill>
              <a:latin typeface="Calibri"/>
              <a:ea typeface="맑은 고딕"/>
              <a:cs typeface="Calibri"/>
            </a:endParaRPr>
          </a:p>
        </p:txBody>
      </p:sp>
      <p:sp>
        <p:nvSpPr>
          <p:cNvPr id="11" name="choice_1"/>
          <p:cNvSpPr txBox="1"/>
          <p:nvPr/>
        </p:nvSpPr>
        <p:spPr>
          <a:xfrm>
            <a:off x="457200" y="305181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en-US" altLang="ko-KR" sz="1800" b="0" dirty="0">
                <a:solidFill>
                  <a:srgbClr val="1F2328"/>
                </a:solidFill>
                <a:latin typeface="Calibri"/>
                <a:ea typeface="맑은 고딕"/>
                <a:cs typeface="Calibri"/>
              </a:rPr>
              <a:t>	how carp became a sign of respect for parents</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3051810"/>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①</a:t>
            </a:r>
            <a:r>
              <a:rPr lang="en-US" altLang="ko-KR" sz="1800" b="0" dirty="0">
                <a:solidFill>
                  <a:srgbClr val="C00000"/>
                </a:solidFill>
                <a:latin typeface="Calibri"/>
                <a:ea typeface="맑은 고딕"/>
                <a:cs typeface="Calibri"/>
              </a:rPr>
              <a:t>	how carp became a sign of respect for parents</a:t>
            </a:r>
            <a:endParaRPr lang="en-US" altLang="ko-KR" sz="1800" b="0" dirty="0">
              <a:solidFill>
                <a:srgbClr val="C00000"/>
              </a:solidFill>
              <a:latin typeface="Calibri"/>
              <a:ea typeface="맑은 고딕"/>
              <a:cs typeface="Calibri"/>
            </a:endParaRPr>
          </a:p>
        </p:txBody>
      </p:sp>
      <p:sp>
        <p:nvSpPr>
          <p:cNvPr id="13" name="choice_2"/>
          <p:cNvSpPr txBox="1"/>
          <p:nvPr/>
        </p:nvSpPr>
        <p:spPr>
          <a:xfrm>
            <a:off x="457200" y="345922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en-US" altLang="ko-KR" sz="1800" b="0" dirty="0">
                <a:solidFill>
                  <a:srgbClr val="1F2328"/>
                </a:solidFill>
                <a:latin typeface="Calibri"/>
                <a:ea typeface="맑은 고딕"/>
                <a:cs typeface="Calibri"/>
              </a:rPr>
              <a:t>	why carp live in very cold frozen rivers</a:t>
            </a:r>
            <a:endParaRPr lang="en-US" altLang="ko-KR" sz="1800" b="0" dirty="0">
              <a:solidFill>
                <a:srgbClr val="1F2328"/>
              </a:solidFill>
              <a:latin typeface="Calibri"/>
              <a:ea typeface="맑은 고딕"/>
              <a:cs typeface="Calibri"/>
            </a:endParaRPr>
          </a:p>
        </p:txBody>
      </p:sp>
      <p:sp>
        <p:nvSpPr>
          <p:cNvPr id="14" name="choice_3"/>
          <p:cNvSpPr txBox="1"/>
          <p:nvPr/>
        </p:nvSpPr>
        <p:spPr>
          <a:xfrm>
            <a:off x="457200" y="386664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en-US" altLang="ko-KR" sz="1800" b="0" dirty="0">
                <a:solidFill>
                  <a:srgbClr val="1F2328"/>
                </a:solidFill>
                <a:latin typeface="Calibri"/>
                <a:ea typeface="맑은 고딕"/>
                <a:cs typeface="Calibri"/>
              </a:rPr>
              <a:t>	ways to cook fresh fish for sick people</a:t>
            </a:r>
            <a:endParaRPr lang="en-US" altLang="ko-KR" sz="1800" b="0" dirty="0">
              <a:solidFill>
                <a:srgbClr val="1F2328"/>
              </a:solidFill>
              <a:latin typeface="Calibri"/>
              <a:ea typeface="맑은 고딕"/>
              <a:cs typeface="Calibri"/>
            </a:endParaRPr>
          </a:p>
        </p:txBody>
      </p:sp>
      <p:sp>
        <p:nvSpPr>
          <p:cNvPr id="15" name="choice_4"/>
          <p:cNvSpPr txBox="1"/>
          <p:nvPr/>
        </p:nvSpPr>
        <p:spPr>
          <a:xfrm>
            <a:off x="457200" y="427405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en-US" altLang="ko-KR" sz="1800" b="0" dirty="0">
                <a:solidFill>
                  <a:srgbClr val="1F2328"/>
                </a:solidFill>
                <a:latin typeface="Calibri"/>
                <a:ea typeface="맑은 고딕"/>
                <a:cs typeface="Calibri"/>
              </a:rPr>
              <a:t>	the reason ice melts fast in the winter</a:t>
            </a:r>
            <a:endParaRPr lang="en-US" altLang="ko-KR" sz="1800" b="0" dirty="0">
              <a:solidFill>
                <a:srgbClr val="1F2328"/>
              </a:solidFill>
              <a:latin typeface="Calibri"/>
              <a:ea typeface="맑은 고딕"/>
              <a:cs typeface="Calibri"/>
            </a:endParaRPr>
          </a:p>
        </p:txBody>
      </p:sp>
      <p:sp>
        <p:nvSpPr>
          <p:cNvPr id="16" name="choice_5"/>
          <p:cNvSpPr txBox="1"/>
          <p:nvPr/>
        </p:nvSpPr>
        <p:spPr>
          <a:xfrm>
            <a:off x="457200" y="468147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en-US" altLang="ko-KR" sz="1800" b="0" dirty="0">
                <a:solidFill>
                  <a:srgbClr val="1F2328"/>
                </a:solidFill>
                <a:latin typeface="Calibri"/>
                <a:ea typeface="맑은 고딕"/>
                <a:cs typeface="Calibri"/>
              </a:rPr>
              <a:t>	how Joseon men learned to catch fish</a:t>
            </a:r>
            <a:endParaRPr lang="en-US" altLang="ko-KR" sz="1800" b="0" dirty="0">
              <a:solidFill>
                <a:srgbClr val="1F2328"/>
              </a:solidFill>
              <a:latin typeface="Calibri"/>
              <a:ea typeface="맑은 고딕"/>
              <a:cs typeface="Calibri"/>
            </a:endParaRPr>
          </a:p>
        </p:txBody>
      </p:sp>
      <p:sp>
        <p:nvSpPr>
          <p:cNvPr id="17" name="rv_answer"/>
          <p:cNvSpPr/>
          <p:nvPr/>
        </p:nvSpPr>
        <p:spPr>
          <a:xfrm>
            <a:off x="457200" y="517118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① </a:t>
            </a:r>
            <a:r>
              <a:rPr lang="en-US" altLang="ko-KR" sz="1900" b="1" dirty="0">
                <a:solidFill>
                  <a:srgbClr val="5A4200"/>
                </a:solidFill>
                <a:latin typeface="Calibri"/>
                <a:ea typeface="맑은 고딕"/>
                <a:cs typeface="Calibri"/>
              </a:rPr>
              <a:t>how carp became a sign of respect for parents</a:t>
            </a:r>
            <a:endParaRPr lang="en-US" altLang="ko-KR" sz="1900" b="1" dirty="0">
              <a:solidFill>
                <a:srgbClr val="5A4200"/>
              </a:solidFill>
              <a:latin typeface="Calibri"/>
              <a:ea typeface="맑은 고딕"/>
              <a:cs typeface="Calibri"/>
            </a:endParaRPr>
          </a:p>
        </p:txBody>
      </p:sp>
      <p:sp>
        <p:nvSpPr>
          <p:cNvPr id="18" name="rv_why"/>
          <p:cNvSpPr/>
          <p:nvPr/>
        </p:nvSpPr>
        <p:spPr>
          <a:xfrm>
            <a:off x="457200" y="5770118"/>
            <a:ext cx="11277295" cy="64896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효 그림 속 잉어가 옛이야기 때문에 부모님에 대한 공경('respect for parents')을 상징한다고 한다. 정답은 ①이다.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9" grpId="0" animBg="1"/>
      <p:bldP spid="10" grpId="0" animBg="1"/>
      <p:bldP spid="18"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다음 글의 제목으로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95452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954529"/>
          </a:xfrm>
          <a:prstGeom prst="rect">
            <a:avLst/>
          </a:prstGeom>
          <a:noFill/>
        </p:spPr>
        <p:txBody>
          <a:bodyPr wrap="square" lIns="201168" tIns="118872" rIns="201168" bIns="118872" anchor="t" rtlCol="0">
            <a:noAutofit/>
          </a:bodyPr>
          <a:lstStyle/>
          <a:p>
            <a:pPr algn="just">
              <a:lnSpc>
                <a:spcPts val="1890"/>
              </a:lnSpc>
              <a:spcBef>
                <a:spcPts val="0"/>
              </a:spcBef>
              <a:spcAft>
                <a:spcPts val="0"/>
              </a:spcAft>
              <a:buNone/>
            </a:pPr>
            <a:r>
              <a:rPr lang="en-US" altLang="ko-KR" sz="1450" b="0" dirty="0">
                <a:solidFill>
                  <a:srgbClr val="1F2328"/>
                </a:solidFill>
                <a:latin typeface="Calibri"/>
                <a:ea typeface="맑은 고딕"/>
                <a:cs typeface="Calibri"/>
              </a:rPr>
              <a:t>The animals or objects in Munjado are not just decorations. They often are symbolic. </a:t>
            </a:r>
            <a:r>
              <a:rPr lang="en-US" altLang="ko-KR" sz="1450" b="0" dirty="0">
                <a:solidFill>
                  <a:srgbClr val="1F2328"/>
                </a:solidFill>
                <a:latin typeface="Calibri"/>
                <a:ea typeface="맑은 고딕"/>
                <a:cs typeface="Calibri"/>
              </a:rPr>
              <a:t>For example, carp in the paintings of hyo symbolize respect for parents because of an old story.</a:t>
            </a:r>
            <a:r>
              <a:rPr lang="en-US" altLang="ko-KR" sz="1450" b="0" dirty="0">
                <a:solidFill>
                  <a:srgbClr val="1F2328"/>
                </a:solidFill>
                <a:latin typeface="Calibri"/>
                <a:ea typeface="맑은 고딕"/>
                <a:cs typeface="Calibri"/>
              </a:rPr>
              <a:t> The story goes as follows. Once upon a time, a man lived with his old mother. One winter, the man’s mother became ill and couldn’t eat anything. On one very cold day, the mother said to the man, “It would be wonderful if I could eat fresh fish.” The man went out to the river, but it was completely frozen. It was impossible for him to catch any fish. The man was so disappointed that he cried out to the sky, “What should I do? Please help me.” Then the ice melted, and three carp suddenly came out of the water. The man went back home and cooked the fish for his mother. Then his mother got well.</a:t>
            </a:r>
            <a:endParaRPr lang="en-US" altLang="ko-KR" sz="1450" b="0" dirty="0">
              <a:solidFill>
                <a:srgbClr val="1F2328"/>
              </a:solidFill>
              <a:latin typeface="Calibri"/>
              <a:ea typeface="맑은 고딕"/>
              <a:cs typeface="Calibri"/>
            </a:endParaRPr>
          </a:p>
        </p:txBody>
      </p:sp>
      <p:sp>
        <p:nvSpPr>
          <p:cNvPr id="9" name="rv_evidence_card"/>
          <p:cNvSpPr/>
          <p:nvPr/>
        </p:nvSpPr>
        <p:spPr>
          <a:xfrm>
            <a:off x="457200" y="950976"/>
            <a:ext cx="11277295" cy="195452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954529"/>
          </a:xfrm>
          <a:prstGeom prst="rect">
            <a:avLst/>
          </a:prstGeom>
          <a:noFill/>
        </p:spPr>
        <p:txBody>
          <a:bodyPr wrap="square" lIns="201168" tIns="118872" rIns="201168" bIns="118872" anchor="t" rtlCol="0">
            <a:noAutofit/>
          </a:bodyPr>
          <a:lstStyle/>
          <a:p>
            <a:pPr algn="just">
              <a:lnSpc>
                <a:spcPts val="1890"/>
              </a:lnSpc>
              <a:spcBef>
                <a:spcPts val="0"/>
              </a:spcBef>
              <a:spcAft>
                <a:spcPts val="0"/>
              </a:spcAft>
              <a:buNone/>
            </a:pPr>
            <a:r>
              <a:rPr lang="en-US" altLang="ko-KR" sz="1450" b="0" dirty="0">
                <a:solidFill>
                  <a:srgbClr val="B3BAC6"/>
                </a:solidFill>
                <a:latin typeface="Calibri"/>
                <a:ea typeface="맑은 고딕"/>
                <a:cs typeface="Calibri"/>
              </a:rPr>
              <a:t>The animals or objects in Munjado are not just decorations. They often are symbolic. </a:t>
            </a:r>
            <a:r>
              <a:rPr lang="en-US" altLang="ko-KR" sz="1450" b="0" dirty="0">
                <a:solidFill>
                  <a:srgbClr val="111111"/>
                </a:solidFill>
                <a:highlight>
                  <a:srgbClr val="FFE45C"/>
                </a:highlight>
                <a:latin typeface="Calibri"/>
                <a:ea typeface="맑은 고딕"/>
                <a:cs typeface="Calibri"/>
              </a:rPr>
              <a:t>For example, carp in the paintings of hyo symbolize respect for parents because of an old story.</a:t>
            </a:r>
            <a:r>
              <a:rPr lang="en-US" altLang="ko-KR" sz="1450" b="0" dirty="0">
                <a:solidFill>
                  <a:srgbClr val="B3BAC6"/>
                </a:solidFill>
                <a:latin typeface="Calibri"/>
                <a:ea typeface="맑은 고딕"/>
                <a:cs typeface="Calibri"/>
              </a:rPr>
              <a:t> The story goes as follows. Once upon a time, a man lived with his old mother. One winter, the man’s mother became ill and couldn’t eat anything. On one very cold day, the mother said to the man, “It would be wonderful if I could eat fresh fish.” The man went out to the river, but it was completely frozen. It was impossible for him to catch any fish. The man was so disappointed that he cried out to the sky, “What should I do? Please help me.” Then the ice melted, and three carp suddenly came out of the water. The man went back home and cooked the fish for his mother. Then his mother got well.</a:t>
            </a:r>
            <a:endParaRPr lang="en-US" altLang="ko-KR" sz="1450" b="0" dirty="0">
              <a:solidFill>
                <a:srgbClr val="B3BAC6"/>
              </a:solidFill>
              <a:latin typeface="Calibri"/>
              <a:ea typeface="맑은 고딕"/>
              <a:cs typeface="Calibri"/>
            </a:endParaRPr>
          </a:p>
        </p:txBody>
      </p:sp>
      <p:sp>
        <p:nvSpPr>
          <p:cNvPr id="11" name="choice_1"/>
          <p:cNvSpPr txBox="1"/>
          <p:nvPr/>
        </p:nvSpPr>
        <p:spPr>
          <a:xfrm>
            <a:off x="457200" y="305181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en-US" altLang="ko-KR" sz="1800" b="0" dirty="0">
                <a:solidFill>
                  <a:srgbClr val="1F2328"/>
                </a:solidFill>
                <a:latin typeface="Calibri"/>
                <a:ea typeface="맑은 고딕"/>
                <a:cs typeface="Calibri"/>
              </a:rPr>
              <a:t>	Fishing Tips for Cold Winter Days</a:t>
            </a:r>
            <a:endParaRPr lang="en-US" altLang="ko-KR" sz="1800" b="0" dirty="0">
              <a:solidFill>
                <a:srgbClr val="1F2328"/>
              </a:solidFill>
              <a:latin typeface="Calibri"/>
              <a:ea typeface="맑은 고딕"/>
              <a:cs typeface="Calibri"/>
            </a:endParaRPr>
          </a:p>
        </p:txBody>
      </p:sp>
      <p:sp>
        <p:nvSpPr>
          <p:cNvPr id="12" name="choice_2"/>
          <p:cNvSpPr txBox="1"/>
          <p:nvPr/>
        </p:nvSpPr>
        <p:spPr>
          <a:xfrm>
            <a:off x="457200" y="345922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en-US" altLang="ko-KR" sz="1800" b="0" dirty="0">
                <a:solidFill>
                  <a:srgbClr val="1F2328"/>
                </a:solidFill>
                <a:latin typeface="Calibri"/>
                <a:ea typeface="맑은 고딕"/>
                <a:cs typeface="Calibri"/>
              </a:rPr>
              <a:t>	The Carp: A Symbol of Filial Respect</a:t>
            </a:r>
            <a:endParaRPr lang="en-US" altLang="ko-KR" sz="1800" b="0" dirty="0">
              <a:solidFill>
                <a:srgbClr val="1F2328"/>
              </a:solidFill>
              <a:latin typeface="Calibri"/>
              <a:ea typeface="맑은 고딕"/>
              <a:cs typeface="Calibri"/>
            </a:endParaRPr>
          </a:p>
        </p:txBody>
      </p:sp>
      <p:sp>
        <p:nvSpPr>
          <p:cNvPr id="13" name="rv_pick"/>
          <p:cNvSpPr txBox="1"/>
          <p:nvPr/>
        </p:nvSpPr>
        <p:spPr>
          <a:xfrm>
            <a:off x="457200" y="3459226"/>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②</a:t>
            </a:r>
            <a:r>
              <a:rPr lang="en-US" altLang="ko-KR" sz="1800" b="0" dirty="0">
                <a:solidFill>
                  <a:srgbClr val="C00000"/>
                </a:solidFill>
                <a:latin typeface="Calibri"/>
                <a:ea typeface="맑은 고딕"/>
                <a:cs typeface="Calibri"/>
              </a:rPr>
              <a:t>	The Carp: A Symbol of Filial Respect</a:t>
            </a:r>
            <a:endParaRPr lang="en-US" altLang="ko-KR" sz="1800" b="0" dirty="0">
              <a:solidFill>
                <a:srgbClr val="C00000"/>
              </a:solidFill>
              <a:latin typeface="Calibri"/>
              <a:ea typeface="맑은 고딕"/>
              <a:cs typeface="Calibri"/>
            </a:endParaRPr>
          </a:p>
        </p:txBody>
      </p:sp>
      <p:sp>
        <p:nvSpPr>
          <p:cNvPr id="14" name="choice_3"/>
          <p:cNvSpPr txBox="1"/>
          <p:nvPr/>
        </p:nvSpPr>
        <p:spPr>
          <a:xfrm>
            <a:off x="457200" y="386664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en-US" altLang="ko-KR" sz="1800" b="0" dirty="0">
                <a:solidFill>
                  <a:srgbClr val="1F2328"/>
                </a:solidFill>
                <a:latin typeface="Calibri"/>
                <a:ea typeface="맑은 고딕"/>
                <a:cs typeface="Calibri"/>
              </a:rPr>
              <a:t>	How to Cook Carp for Your Family</a:t>
            </a:r>
            <a:endParaRPr lang="en-US" altLang="ko-KR" sz="1800" b="0" dirty="0">
              <a:solidFill>
                <a:srgbClr val="1F2328"/>
              </a:solidFill>
              <a:latin typeface="Calibri"/>
              <a:ea typeface="맑은 고딕"/>
              <a:cs typeface="Calibri"/>
            </a:endParaRPr>
          </a:p>
        </p:txBody>
      </p:sp>
      <p:sp>
        <p:nvSpPr>
          <p:cNvPr id="15" name="choice_4"/>
          <p:cNvSpPr txBox="1"/>
          <p:nvPr/>
        </p:nvSpPr>
        <p:spPr>
          <a:xfrm>
            <a:off x="457200" y="427405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en-US" altLang="ko-KR" sz="1800" b="0" dirty="0">
                <a:solidFill>
                  <a:srgbClr val="1F2328"/>
                </a:solidFill>
                <a:latin typeface="Calibri"/>
                <a:ea typeface="맑은 고딕"/>
                <a:cs typeface="Calibri"/>
              </a:rPr>
              <a:t>	Why Rivers Freeze in Early Winter</a:t>
            </a:r>
            <a:endParaRPr lang="en-US" altLang="ko-KR" sz="1800" b="0" dirty="0">
              <a:solidFill>
                <a:srgbClr val="1F2328"/>
              </a:solidFill>
              <a:latin typeface="Calibri"/>
              <a:ea typeface="맑은 고딕"/>
              <a:cs typeface="Calibri"/>
            </a:endParaRPr>
          </a:p>
        </p:txBody>
      </p:sp>
      <p:sp>
        <p:nvSpPr>
          <p:cNvPr id="16" name="choice_5"/>
          <p:cNvSpPr txBox="1"/>
          <p:nvPr/>
        </p:nvSpPr>
        <p:spPr>
          <a:xfrm>
            <a:off x="457200" y="468147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en-US" altLang="ko-KR" sz="1800" b="0" dirty="0">
                <a:solidFill>
                  <a:srgbClr val="1F2328"/>
                </a:solidFill>
                <a:latin typeface="Calibri"/>
                <a:ea typeface="맑은 고딕"/>
                <a:cs typeface="Calibri"/>
              </a:rPr>
              <a:t>	Decorations That Joseon People Loved</a:t>
            </a:r>
            <a:endParaRPr lang="en-US" altLang="ko-KR" sz="1800" b="0" dirty="0">
              <a:solidFill>
                <a:srgbClr val="1F2328"/>
              </a:solidFill>
              <a:latin typeface="Calibri"/>
              <a:ea typeface="맑은 고딕"/>
              <a:cs typeface="Calibri"/>
            </a:endParaRPr>
          </a:p>
        </p:txBody>
      </p:sp>
      <p:sp>
        <p:nvSpPr>
          <p:cNvPr id="17" name="rv_answer"/>
          <p:cNvSpPr/>
          <p:nvPr/>
        </p:nvSpPr>
        <p:spPr>
          <a:xfrm>
            <a:off x="457200" y="517118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 </a:t>
            </a:r>
            <a:r>
              <a:rPr lang="en-US" altLang="ko-KR" sz="1900" b="1" dirty="0">
                <a:solidFill>
                  <a:srgbClr val="5A4200"/>
                </a:solidFill>
                <a:latin typeface="Calibri"/>
                <a:ea typeface="맑은 고딕"/>
                <a:cs typeface="Calibri"/>
              </a:rPr>
              <a:t>The Carp: A Symbol of Filial Respect</a:t>
            </a:r>
            <a:endParaRPr lang="en-US" altLang="ko-KR" sz="1900" b="1" dirty="0">
              <a:solidFill>
                <a:srgbClr val="5A4200"/>
              </a:solidFill>
              <a:latin typeface="Calibri"/>
              <a:ea typeface="맑은 고딕"/>
              <a:cs typeface="Calibri"/>
            </a:endParaRPr>
          </a:p>
        </p:txBody>
      </p:sp>
      <p:sp>
        <p:nvSpPr>
          <p:cNvPr id="18" name="rv_why"/>
          <p:cNvSpPr/>
          <p:nvPr/>
        </p:nvSpPr>
        <p:spPr>
          <a:xfrm>
            <a:off x="457200" y="5770118"/>
            <a:ext cx="11277295" cy="64896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잉어가 한 옛이야기로 인해 부모 공경을 상징한다는 것이 중심 내용이므로 ②가 제목으로 알맞다.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25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7" grpId="0" animBg="1"/>
      <p:bldP spid="9" grpId="0" animBg="1"/>
      <p:bldP spid="10" grpId="0" animBg="1"/>
      <p:bldP spid="18"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다음 글에서 필자가 주장하는 바로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95452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954529"/>
          </a:xfrm>
          <a:prstGeom prst="rect">
            <a:avLst/>
          </a:prstGeom>
          <a:noFill/>
        </p:spPr>
        <p:txBody>
          <a:bodyPr wrap="square" lIns="201168" tIns="118872" rIns="201168" bIns="118872" anchor="t" rtlCol="0">
            <a:noAutofit/>
          </a:bodyPr>
          <a:lstStyle/>
          <a:p>
            <a:pPr algn="just">
              <a:lnSpc>
                <a:spcPts val="1890"/>
              </a:lnSpc>
              <a:spcBef>
                <a:spcPts val="0"/>
              </a:spcBef>
              <a:spcAft>
                <a:spcPts val="0"/>
              </a:spcAft>
              <a:buNone/>
            </a:pPr>
            <a:r>
              <a:rPr lang="en-US" altLang="ko-KR" sz="1450" b="0" dirty="0">
                <a:solidFill>
                  <a:srgbClr val="1F2328"/>
                </a:solidFill>
                <a:latin typeface="Calibri"/>
                <a:ea typeface="맑은 고딕"/>
                <a:cs typeface="Calibri"/>
              </a:rPr>
              <a:t>The animals or objects in Munjado are not just decorations.</a:t>
            </a:r>
            <a:r>
              <a:rPr lang="en-US" altLang="ko-KR" sz="1450" b="0" dirty="0">
                <a:solidFill>
                  <a:srgbClr val="1F2328"/>
                </a:solidFill>
                <a:latin typeface="Calibri"/>
                <a:ea typeface="맑은 고딕"/>
                <a:cs typeface="Calibri"/>
              </a:rPr>
              <a:t> </a:t>
            </a:r>
            <a:r>
              <a:rPr lang="en-US" altLang="ko-KR" sz="1450" b="0" dirty="0">
                <a:solidFill>
                  <a:srgbClr val="1F2328"/>
                </a:solidFill>
                <a:latin typeface="Calibri"/>
                <a:ea typeface="맑은 고딕"/>
                <a:cs typeface="Calibri"/>
              </a:rPr>
              <a:t>They often are symbolic.</a:t>
            </a:r>
            <a:r>
              <a:rPr lang="en-US" altLang="ko-KR" sz="1450" b="0" dirty="0">
                <a:solidFill>
                  <a:srgbClr val="1F2328"/>
                </a:solidFill>
                <a:latin typeface="Calibri"/>
                <a:ea typeface="맑은 고딕"/>
                <a:cs typeface="Calibri"/>
              </a:rPr>
              <a:t> For example, carp in the paintings of hyo symbolize respect for parents because of an old story. The story goes as follows. Once upon a time, a man lived with his old mother. One winter, the man’s mother became ill and couldn’t eat anything. On one very cold day, the mother said to the man, “It would be wonderful if I could eat fresh fish.” The man went out to the river, but it was completely frozen. It was impossible for him to catch any fish. The man was so disappointed that he cried out to the sky, “What should I do? Please help me.” Then the ice melted, and three carp suddenly came out of the water. The man went back home and cooked the fish for his mother. Then his mother got well.</a:t>
            </a:r>
            <a:endParaRPr lang="en-US" altLang="ko-KR" sz="1450" b="0" dirty="0">
              <a:solidFill>
                <a:srgbClr val="1F2328"/>
              </a:solidFill>
              <a:latin typeface="Calibri"/>
              <a:ea typeface="맑은 고딕"/>
              <a:cs typeface="Calibri"/>
            </a:endParaRPr>
          </a:p>
        </p:txBody>
      </p:sp>
      <p:sp>
        <p:nvSpPr>
          <p:cNvPr id="9" name="rv_evidence_card"/>
          <p:cNvSpPr/>
          <p:nvPr/>
        </p:nvSpPr>
        <p:spPr>
          <a:xfrm>
            <a:off x="457200" y="950976"/>
            <a:ext cx="11277295" cy="195452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954529"/>
          </a:xfrm>
          <a:prstGeom prst="rect">
            <a:avLst/>
          </a:prstGeom>
          <a:noFill/>
        </p:spPr>
        <p:txBody>
          <a:bodyPr wrap="square" lIns="201168" tIns="118872" rIns="201168" bIns="118872" anchor="t" rtlCol="0">
            <a:noAutofit/>
          </a:bodyPr>
          <a:lstStyle/>
          <a:p>
            <a:pPr algn="just">
              <a:lnSpc>
                <a:spcPts val="1890"/>
              </a:lnSpc>
              <a:spcBef>
                <a:spcPts val="0"/>
              </a:spcBef>
              <a:spcAft>
                <a:spcPts val="0"/>
              </a:spcAft>
              <a:buNone/>
            </a:pPr>
            <a:r>
              <a:rPr lang="en-US" altLang="ko-KR" sz="1450" b="0" dirty="0">
                <a:solidFill>
                  <a:srgbClr val="111111"/>
                </a:solidFill>
                <a:highlight>
                  <a:srgbClr val="FFE45C"/>
                </a:highlight>
                <a:latin typeface="Calibri"/>
                <a:ea typeface="맑은 고딕"/>
                <a:cs typeface="Calibri"/>
              </a:rPr>
              <a:t>The animals or objects in Munjado are not just decorations.</a:t>
            </a:r>
            <a:r>
              <a:rPr lang="en-US" altLang="ko-KR" sz="1450" b="0" dirty="0">
                <a:solidFill>
                  <a:srgbClr val="B3BAC6"/>
                </a:solidFill>
                <a:latin typeface="Calibri"/>
                <a:ea typeface="맑은 고딕"/>
                <a:cs typeface="Calibri"/>
              </a:rPr>
              <a:t> </a:t>
            </a:r>
            <a:r>
              <a:rPr lang="en-US" altLang="ko-KR" sz="1450" b="0" dirty="0">
                <a:solidFill>
                  <a:srgbClr val="111111"/>
                </a:solidFill>
                <a:highlight>
                  <a:srgbClr val="FFE45C"/>
                </a:highlight>
                <a:latin typeface="Calibri"/>
                <a:ea typeface="맑은 고딕"/>
                <a:cs typeface="Calibri"/>
              </a:rPr>
              <a:t>They often are symbolic.</a:t>
            </a:r>
            <a:r>
              <a:rPr lang="en-US" altLang="ko-KR" sz="1450" b="0" dirty="0">
                <a:solidFill>
                  <a:srgbClr val="B3BAC6"/>
                </a:solidFill>
                <a:latin typeface="Calibri"/>
                <a:ea typeface="맑은 고딕"/>
                <a:cs typeface="Calibri"/>
              </a:rPr>
              <a:t> For example, carp in the paintings of hyo symbolize respect for parents because of an old story. The story goes as follows. Once upon a time, a man lived with his old mother. One winter, the man’s mother became ill and couldn’t eat anything. On one very cold day, the mother said to the man, “It would be wonderful if I could eat fresh fish.” The man went out to the river, but it was completely frozen. It was impossible for him to catch any fish. The man was so disappointed that he cried out to the sky, “What should I do? Please help me.” Then the ice melted, and three carp suddenly came out of the water. The man went back home and cooked the fish for his mother. Then his mother got well.</a:t>
            </a:r>
            <a:endParaRPr lang="en-US" altLang="ko-KR" sz="1450" b="0" dirty="0">
              <a:solidFill>
                <a:srgbClr val="B3BAC6"/>
              </a:solidFill>
              <a:latin typeface="Calibri"/>
              <a:ea typeface="맑은 고딕"/>
              <a:cs typeface="Calibri"/>
            </a:endParaRPr>
          </a:p>
        </p:txBody>
      </p:sp>
      <p:sp>
        <p:nvSpPr>
          <p:cNvPr id="11" name="choice_1"/>
          <p:cNvSpPr txBox="1"/>
          <p:nvPr/>
        </p:nvSpPr>
        <p:spPr>
          <a:xfrm>
            <a:off x="457200" y="305181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추운 날에는 강에 나가지 말아야 한다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45922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아플 때는 신선한 생선을 먹어야 한다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86664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그림 속 사물의 상징적 의미를 읽어야 한다</a:t>
            </a:r>
            <a:endParaRPr lang="ko-KR" altLang="en-US" sz="1800" b="0" dirty="0">
              <a:solidFill>
                <a:srgbClr val="1F2328"/>
              </a:solidFill>
              <a:latin typeface="맑은 고딕"/>
              <a:ea typeface="맑은 고딕"/>
              <a:cs typeface="맑은 고딕"/>
            </a:endParaRPr>
          </a:p>
        </p:txBody>
      </p:sp>
      <p:sp>
        <p:nvSpPr>
          <p:cNvPr id="14" name="rv_pick"/>
          <p:cNvSpPr txBox="1"/>
          <p:nvPr/>
        </p:nvSpPr>
        <p:spPr>
          <a:xfrm>
            <a:off x="457200" y="3866642"/>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③</a:t>
            </a:r>
            <a:r>
              <a:rPr lang="ko-KR" altLang="en-US" sz="1800" b="0" dirty="0">
                <a:solidFill>
                  <a:srgbClr val="C00000"/>
                </a:solidFill>
                <a:latin typeface="맑은 고딕"/>
                <a:ea typeface="맑은 고딕"/>
                <a:cs typeface="맑은 고딕"/>
              </a:rPr>
              <a:t>	그림 속 사물의 상징적 의미를 읽어야 한다</a:t>
            </a:r>
            <a:endParaRPr lang="ko-KR" altLang="en-US" sz="1800" b="0" dirty="0">
              <a:solidFill>
                <a:srgbClr val="C00000"/>
              </a:solidFill>
              <a:latin typeface="맑은 고딕"/>
              <a:ea typeface="맑은 고딕"/>
              <a:cs typeface="맑은 고딕"/>
            </a:endParaRPr>
          </a:p>
        </p:txBody>
      </p:sp>
      <p:sp>
        <p:nvSpPr>
          <p:cNvPr id="15" name="choice_4"/>
          <p:cNvSpPr txBox="1"/>
          <p:nvPr/>
        </p:nvSpPr>
        <p:spPr>
          <a:xfrm>
            <a:off x="457200" y="427405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민화의 장식은 화려하게 그려야 한다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68147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옛이야기는 사실 여부를 따져 읽어야 한다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517118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ko-KR" altLang="en-US" sz="1900" b="1" dirty="0">
                <a:solidFill>
                  <a:srgbClr val="5A4200"/>
                </a:solidFill>
                <a:latin typeface="맑은 고딕"/>
                <a:ea typeface="맑은 고딕"/>
                <a:cs typeface="맑은 고딕"/>
              </a:rPr>
              <a:t>그림 속 사물의 상징적 의미를 읽어야 한다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770118"/>
            <a:ext cx="11277295" cy="64896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문자도의 동물과 사물은 단순한 장식이 아니라 상징적이라고 했으므로 그 의미를 읽자는 ③이 알맞다.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7" grpId="0" animBg="1"/>
      <p:bldP spid="9" grpId="0" animBg="1"/>
      <p:bldP spid="10" grpId="0" animBg="1"/>
      <p:bldP spid="18"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다음 글의 요지로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95452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954529"/>
          </a:xfrm>
          <a:prstGeom prst="rect">
            <a:avLst/>
          </a:prstGeom>
          <a:noFill/>
        </p:spPr>
        <p:txBody>
          <a:bodyPr wrap="square" lIns="201168" tIns="118872" rIns="201168" bIns="118872" anchor="t" rtlCol="0">
            <a:noAutofit/>
          </a:bodyPr>
          <a:lstStyle/>
          <a:p>
            <a:pPr algn="just">
              <a:lnSpc>
                <a:spcPts val="1890"/>
              </a:lnSpc>
              <a:spcBef>
                <a:spcPts val="0"/>
              </a:spcBef>
              <a:spcAft>
                <a:spcPts val="0"/>
              </a:spcAft>
              <a:buNone/>
            </a:pPr>
            <a:r>
              <a:rPr lang="en-US" altLang="ko-KR" sz="1450" b="0" dirty="0">
                <a:solidFill>
                  <a:srgbClr val="1F2328"/>
                </a:solidFill>
                <a:latin typeface="Calibri"/>
                <a:ea typeface="맑은 고딕"/>
                <a:cs typeface="Calibri"/>
              </a:rPr>
              <a:t>The animals or objects in Munjado are not just decorations. They often are symbolic. </a:t>
            </a:r>
            <a:r>
              <a:rPr lang="en-US" altLang="ko-KR" sz="1450" b="0" dirty="0">
                <a:solidFill>
                  <a:srgbClr val="1F2328"/>
                </a:solidFill>
                <a:latin typeface="Calibri"/>
                <a:ea typeface="맑은 고딕"/>
                <a:cs typeface="Calibri"/>
              </a:rPr>
              <a:t>For example, carp in the paintings of hyo symbolize respect for parents because of an old story.</a:t>
            </a:r>
            <a:r>
              <a:rPr lang="en-US" altLang="ko-KR" sz="1450" b="0" dirty="0">
                <a:solidFill>
                  <a:srgbClr val="1F2328"/>
                </a:solidFill>
                <a:latin typeface="Calibri"/>
                <a:ea typeface="맑은 고딕"/>
                <a:cs typeface="Calibri"/>
              </a:rPr>
              <a:t> The story goes as follows. Once upon a time, a man lived with his old mother. One winter, the man’s mother became ill and couldn’t eat anything. On one very cold day, the mother said to the man, “It would be wonderful if I could eat fresh fish.” The man went out to the river, but it was completely frozen. It was impossible for him to catch any fish. The man was so disappointed that he cried out to the sky, “What should I do? Please help me.” Then the ice melted, and three carp suddenly came out of the water. The man went back home and cooked the fish for his mother. Then his mother got well.</a:t>
            </a:r>
            <a:endParaRPr lang="en-US" altLang="ko-KR" sz="1450" b="0" dirty="0">
              <a:solidFill>
                <a:srgbClr val="1F2328"/>
              </a:solidFill>
              <a:latin typeface="Calibri"/>
              <a:ea typeface="맑은 고딕"/>
              <a:cs typeface="Calibri"/>
            </a:endParaRPr>
          </a:p>
        </p:txBody>
      </p:sp>
      <p:sp>
        <p:nvSpPr>
          <p:cNvPr id="9" name="rv_evidence_card"/>
          <p:cNvSpPr/>
          <p:nvPr/>
        </p:nvSpPr>
        <p:spPr>
          <a:xfrm>
            <a:off x="457200" y="950976"/>
            <a:ext cx="11277295" cy="195452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954529"/>
          </a:xfrm>
          <a:prstGeom prst="rect">
            <a:avLst/>
          </a:prstGeom>
          <a:noFill/>
        </p:spPr>
        <p:txBody>
          <a:bodyPr wrap="square" lIns="201168" tIns="118872" rIns="201168" bIns="118872" anchor="t" rtlCol="0">
            <a:noAutofit/>
          </a:bodyPr>
          <a:lstStyle/>
          <a:p>
            <a:pPr algn="just">
              <a:lnSpc>
                <a:spcPts val="1890"/>
              </a:lnSpc>
              <a:spcBef>
                <a:spcPts val="0"/>
              </a:spcBef>
              <a:spcAft>
                <a:spcPts val="0"/>
              </a:spcAft>
              <a:buNone/>
            </a:pPr>
            <a:r>
              <a:rPr lang="en-US" altLang="ko-KR" sz="1450" b="0" dirty="0">
                <a:solidFill>
                  <a:srgbClr val="B3BAC6"/>
                </a:solidFill>
                <a:latin typeface="Calibri"/>
                <a:ea typeface="맑은 고딕"/>
                <a:cs typeface="Calibri"/>
              </a:rPr>
              <a:t>The animals or objects in Munjado are not just decorations. They often are symbolic. </a:t>
            </a:r>
            <a:r>
              <a:rPr lang="en-US" altLang="ko-KR" sz="1450" b="0" dirty="0">
                <a:solidFill>
                  <a:srgbClr val="111111"/>
                </a:solidFill>
                <a:highlight>
                  <a:srgbClr val="FFE45C"/>
                </a:highlight>
                <a:latin typeface="Calibri"/>
                <a:ea typeface="맑은 고딕"/>
                <a:cs typeface="Calibri"/>
              </a:rPr>
              <a:t>For example, carp in the paintings of hyo symbolize respect for parents because of an old story.</a:t>
            </a:r>
            <a:r>
              <a:rPr lang="en-US" altLang="ko-KR" sz="1450" b="0" dirty="0">
                <a:solidFill>
                  <a:srgbClr val="B3BAC6"/>
                </a:solidFill>
                <a:latin typeface="Calibri"/>
                <a:ea typeface="맑은 고딕"/>
                <a:cs typeface="Calibri"/>
              </a:rPr>
              <a:t> The story goes as follows. Once upon a time, a man lived with his old mother. One winter, the man’s mother became ill and couldn’t eat anything. On one very cold day, the mother said to the man, “It would be wonderful if I could eat fresh fish.” The man went out to the river, but it was completely frozen. It was impossible for him to catch any fish. The man was so disappointed that he cried out to the sky, “What should I do? Please help me.” Then the ice melted, and three carp suddenly came out of the water. The man went back home and cooked the fish for his mother. Then his mother got well.</a:t>
            </a:r>
            <a:endParaRPr lang="en-US" altLang="ko-KR" sz="1450" b="0" dirty="0">
              <a:solidFill>
                <a:srgbClr val="B3BAC6"/>
              </a:solidFill>
              <a:latin typeface="Calibri"/>
              <a:ea typeface="맑은 고딕"/>
              <a:cs typeface="Calibri"/>
            </a:endParaRPr>
          </a:p>
        </p:txBody>
      </p:sp>
      <p:sp>
        <p:nvSpPr>
          <p:cNvPr id="11" name="choice_1"/>
          <p:cNvSpPr txBox="1"/>
          <p:nvPr/>
        </p:nvSpPr>
        <p:spPr>
          <a:xfrm>
            <a:off x="457200" y="305181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문자도 속 사물은 단순한 장식에 불과하다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45922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잉어는 겨울철 귀한 보양식으로 쓰였다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86664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얼음 낚시는 조선의 대표적 풍습이었다</a:t>
            </a:r>
            <a:endParaRPr lang="ko-KR" altLang="en-US" sz="1800" b="0" dirty="0">
              <a:solidFill>
                <a:srgbClr val="1F2328"/>
              </a:solidFill>
              <a:latin typeface="맑은 고딕"/>
              <a:ea typeface="맑은 고딕"/>
              <a:cs typeface="맑은 고딕"/>
            </a:endParaRPr>
          </a:p>
        </p:txBody>
      </p:sp>
      <p:sp>
        <p:nvSpPr>
          <p:cNvPr id="14" name="choice_4"/>
          <p:cNvSpPr txBox="1"/>
          <p:nvPr/>
        </p:nvSpPr>
        <p:spPr>
          <a:xfrm>
            <a:off x="457200" y="427405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효 그림의 잉어는 옛이야기로 효를 상징한다</a:t>
            </a:r>
            <a:endParaRPr lang="ko-KR" altLang="en-US" sz="1800" b="0" dirty="0">
              <a:solidFill>
                <a:srgbClr val="1F2328"/>
              </a:solidFill>
              <a:latin typeface="맑은 고딕"/>
              <a:ea typeface="맑은 고딕"/>
              <a:cs typeface="맑은 고딕"/>
            </a:endParaRPr>
          </a:p>
        </p:txBody>
      </p:sp>
      <p:sp>
        <p:nvSpPr>
          <p:cNvPr id="15" name="rv_pick"/>
          <p:cNvSpPr txBox="1"/>
          <p:nvPr/>
        </p:nvSpPr>
        <p:spPr>
          <a:xfrm>
            <a:off x="457200" y="4274058"/>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④</a:t>
            </a:r>
            <a:r>
              <a:rPr lang="ko-KR" altLang="en-US" sz="1800" b="0" dirty="0">
                <a:solidFill>
                  <a:srgbClr val="C00000"/>
                </a:solidFill>
                <a:latin typeface="맑은 고딕"/>
                <a:ea typeface="맑은 고딕"/>
                <a:cs typeface="맑은 고딕"/>
              </a:rPr>
              <a:t>	효 그림의 잉어는 옛이야기로 효를 상징한다</a:t>
            </a:r>
            <a:endParaRPr lang="ko-KR" altLang="en-US" sz="1800" b="0" dirty="0">
              <a:solidFill>
                <a:srgbClr val="C00000"/>
              </a:solidFill>
              <a:latin typeface="맑은 고딕"/>
              <a:ea typeface="맑은 고딕"/>
              <a:cs typeface="맑은 고딕"/>
            </a:endParaRPr>
          </a:p>
        </p:txBody>
      </p:sp>
      <p:sp>
        <p:nvSpPr>
          <p:cNvPr id="16" name="choice_5"/>
          <p:cNvSpPr txBox="1"/>
          <p:nvPr/>
        </p:nvSpPr>
        <p:spPr>
          <a:xfrm>
            <a:off x="457200" y="468147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잉어는 강물이 녹을 때만 잡을 수 있었다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517118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ko-KR" altLang="en-US" sz="1900" b="1" dirty="0">
                <a:solidFill>
                  <a:srgbClr val="5A4200"/>
                </a:solidFill>
                <a:latin typeface="맑은 고딕"/>
                <a:ea typeface="맑은 고딕"/>
                <a:cs typeface="맑은 고딕"/>
              </a:rPr>
              <a:t>효 그림의 잉어는 옛이야기로 효를 상징한다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770118"/>
            <a:ext cx="11277295" cy="64896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잉어가 옛이야기 때문에 부모님에 대한 공경을 상징한다고 했다. 이를 정리한 ④가 요지이다.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25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9" grpId="0" animBg="1"/>
      <p:bldP spid="10" grpId="0" animBg="1"/>
      <p:bldP spid="18"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5</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5. 다음 글의 내용과 일치하지 않는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95452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954529"/>
          </a:xfrm>
          <a:prstGeom prst="rect">
            <a:avLst/>
          </a:prstGeom>
          <a:noFill/>
        </p:spPr>
        <p:txBody>
          <a:bodyPr wrap="square" lIns="201168" tIns="118872" rIns="201168" bIns="118872" anchor="t" rtlCol="0">
            <a:noAutofit/>
          </a:bodyPr>
          <a:lstStyle/>
          <a:p>
            <a:pPr algn="just">
              <a:lnSpc>
                <a:spcPts val="1890"/>
              </a:lnSpc>
              <a:spcBef>
                <a:spcPts val="0"/>
              </a:spcBef>
              <a:spcAft>
                <a:spcPts val="0"/>
              </a:spcAft>
              <a:buNone/>
            </a:pPr>
            <a:r>
              <a:rPr lang="en-US" altLang="ko-KR" sz="1450" b="0" dirty="0">
                <a:solidFill>
                  <a:srgbClr val="1F2328"/>
                </a:solidFill>
                <a:latin typeface="Calibri"/>
                <a:ea typeface="맑은 고딕"/>
                <a:cs typeface="Calibri"/>
              </a:rPr>
              <a:t>The animals or objects in Munjado are not just decorations. They often are symbolic. For example, carp in the paintings of hyo symbolize respect for parents because of an old story. The story goes as follows. Once upon a time, a man lived with his old mother. One winter, the man’s mother became ill and couldn’t eat anything. On one very cold day, the mother said to the man, “It would be wonderful if I could eat fresh fish.” The man went out to the river, but it was completely frozen. It was </a:t>
            </a:r>
            <a:r>
              <a:rPr lang="en-US" altLang="ko-KR" sz="1450" b="0" dirty="0">
                <a:solidFill>
                  <a:srgbClr val="1F2328"/>
                </a:solidFill>
                <a:latin typeface="Calibri"/>
                <a:ea typeface="맑은 고딕"/>
                <a:cs typeface="Calibri"/>
              </a:rPr>
              <a:t>impossible for him to catch any fish</a:t>
            </a:r>
            <a:r>
              <a:rPr lang="en-US" altLang="ko-KR" sz="1450" b="0" dirty="0">
                <a:solidFill>
                  <a:srgbClr val="1F2328"/>
                </a:solidFill>
                <a:latin typeface="Calibri"/>
                <a:ea typeface="맑은 고딕"/>
                <a:cs typeface="Calibri"/>
              </a:rPr>
              <a:t>. The man was so disappointed that he cried out to the sky, “What should I do? Please help me.” Then the ice melted, and </a:t>
            </a:r>
            <a:r>
              <a:rPr lang="en-US" altLang="ko-KR" sz="1450" b="0" dirty="0">
                <a:solidFill>
                  <a:srgbClr val="1F2328"/>
                </a:solidFill>
                <a:latin typeface="Calibri"/>
                <a:ea typeface="맑은 고딕"/>
                <a:cs typeface="Calibri"/>
              </a:rPr>
              <a:t>three carp suddenly came out of the water</a:t>
            </a:r>
            <a:r>
              <a:rPr lang="en-US" altLang="ko-KR" sz="1450" b="0" dirty="0">
                <a:solidFill>
                  <a:srgbClr val="1F2328"/>
                </a:solidFill>
                <a:latin typeface="Calibri"/>
                <a:ea typeface="맑은 고딕"/>
                <a:cs typeface="Calibri"/>
              </a:rPr>
              <a:t>. The man went back home and cooked the fish for his mother. Then his mother got well.</a:t>
            </a:r>
            <a:endParaRPr lang="en-US" altLang="ko-KR" sz="1450" b="0" dirty="0">
              <a:solidFill>
                <a:srgbClr val="1F2328"/>
              </a:solidFill>
              <a:latin typeface="Calibri"/>
              <a:ea typeface="맑은 고딕"/>
              <a:cs typeface="Calibri"/>
            </a:endParaRPr>
          </a:p>
        </p:txBody>
      </p:sp>
      <p:sp>
        <p:nvSpPr>
          <p:cNvPr id="9" name="rv_evidence_card"/>
          <p:cNvSpPr/>
          <p:nvPr/>
        </p:nvSpPr>
        <p:spPr>
          <a:xfrm>
            <a:off x="457200" y="950976"/>
            <a:ext cx="11277295" cy="195452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954529"/>
          </a:xfrm>
          <a:prstGeom prst="rect">
            <a:avLst/>
          </a:prstGeom>
          <a:noFill/>
        </p:spPr>
        <p:txBody>
          <a:bodyPr wrap="square" lIns="201168" tIns="118872" rIns="201168" bIns="118872" anchor="t" rtlCol="0">
            <a:noAutofit/>
          </a:bodyPr>
          <a:lstStyle/>
          <a:p>
            <a:pPr algn="just">
              <a:lnSpc>
                <a:spcPts val="1890"/>
              </a:lnSpc>
              <a:spcBef>
                <a:spcPts val="0"/>
              </a:spcBef>
              <a:spcAft>
                <a:spcPts val="0"/>
              </a:spcAft>
              <a:buNone/>
            </a:pPr>
            <a:r>
              <a:rPr lang="en-US" altLang="ko-KR" sz="1450" b="0" dirty="0">
                <a:solidFill>
                  <a:srgbClr val="B3BAC6"/>
                </a:solidFill>
                <a:latin typeface="Calibri"/>
                <a:ea typeface="맑은 고딕"/>
                <a:cs typeface="Calibri"/>
              </a:rPr>
              <a:t>The animals or objects in Munjado are not just decorations. They often are symbolic. For example, carp in the paintings of hyo symbolize respect for parents because of an old story. The story goes as follows. Once upon a time, a man lived with his old mother. One winter, the man’s mother became ill and couldn’t eat anything. On one very cold day, the mother said to the man, “It would be wonderful if I could eat fresh fish.” The man went out to the river, but it was completely frozen. It was </a:t>
            </a:r>
            <a:r>
              <a:rPr lang="en-US" altLang="ko-KR" sz="1450" b="0" dirty="0">
                <a:solidFill>
                  <a:srgbClr val="111111"/>
                </a:solidFill>
                <a:highlight>
                  <a:srgbClr val="FFE45C"/>
                </a:highlight>
                <a:latin typeface="Calibri"/>
                <a:ea typeface="맑은 고딕"/>
                <a:cs typeface="Calibri"/>
              </a:rPr>
              <a:t>impossible for him to catch any fish</a:t>
            </a:r>
            <a:r>
              <a:rPr lang="en-US" altLang="ko-KR" sz="1450" b="0" dirty="0">
                <a:solidFill>
                  <a:srgbClr val="B3BAC6"/>
                </a:solidFill>
                <a:latin typeface="Calibri"/>
                <a:ea typeface="맑은 고딕"/>
                <a:cs typeface="Calibri"/>
              </a:rPr>
              <a:t>. The man was so disappointed that he cried out to the sky, “What should I do? Please help me.” Then the ice melted, and </a:t>
            </a:r>
            <a:r>
              <a:rPr lang="en-US" altLang="ko-KR" sz="1450" b="0" dirty="0">
                <a:solidFill>
                  <a:srgbClr val="111111"/>
                </a:solidFill>
                <a:highlight>
                  <a:srgbClr val="FFE45C"/>
                </a:highlight>
                <a:latin typeface="Calibri"/>
                <a:ea typeface="맑은 고딕"/>
                <a:cs typeface="Calibri"/>
              </a:rPr>
              <a:t>three carp suddenly came out of the water</a:t>
            </a:r>
            <a:r>
              <a:rPr lang="en-US" altLang="ko-KR" sz="1450" b="0" dirty="0">
                <a:solidFill>
                  <a:srgbClr val="B3BAC6"/>
                </a:solidFill>
                <a:latin typeface="Calibri"/>
                <a:ea typeface="맑은 고딕"/>
                <a:cs typeface="Calibri"/>
              </a:rPr>
              <a:t>. The man went back home and cooked the fish for his mother. Then his mother got well.</a:t>
            </a:r>
            <a:endParaRPr lang="en-US" altLang="ko-KR" sz="1450" b="0" dirty="0">
              <a:solidFill>
                <a:srgbClr val="B3BAC6"/>
              </a:solidFill>
              <a:latin typeface="Calibri"/>
              <a:ea typeface="맑은 고딕"/>
              <a:cs typeface="Calibri"/>
            </a:endParaRPr>
          </a:p>
        </p:txBody>
      </p:sp>
      <p:sp>
        <p:nvSpPr>
          <p:cNvPr id="11" name="choice_1"/>
          <p:cNvSpPr txBox="1"/>
          <p:nvPr/>
        </p:nvSpPr>
        <p:spPr>
          <a:xfrm>
            <a:off x="457200" y="305181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남자는 나이 든 어머니와 함께 살았다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45922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어머니는 어느 겨울에 병이 들었다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86664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남자는 강에서 잉어 다섯 마리를 잡았다</a:t>
            </a:r>
            <a:endParaRPr lang="ko-KR" altLang="en-US" sz="1800" b="0" dirty="0">
              <a:solidFill>
                <a:srgbClr val="1F2328"/>
              </a:solidFill>
              <a:latin typeface="맑은 고딕"/>
              <a:ea typeface="맑은 고딕"/>
              <a:cs typeface="맑은 고딕"/>
            </a:endParaRPr>
          </a:p>
        </p:txBody>
      </p:sp>
      <p:sp>
        <p:nvSpPr>
          <p:cNvPr id="14" name="rv_pick"/>
          <p:cNvSpPr txBox="1"/>
          <p:nvPr/>
        </p:nvSpPr>
        <p:spPr>
          <a:xfrm>
            <a:off x="457200" y="3866642"/>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③</a:t>
            </a:r>
            <a:r>
              <a:rPr lang="ko-KR" altLang="en-US" sz="1800" b="0" dirty="0">
                <a:solidFill>
                  <a:srgbClr val="C00000"/>
                </a:solidFill>
                <a:latin typeface="맑은 고딕"/>
                <a:ea typeface="맑은 고딕"/>
                <a:cs typeface="맑은 고딕"/>
              </a:rPr>
              <a:t>	남자는 강에서 잉어 다섯 마리를 잡았다</a:t>
            </a:r>
            <a:endParaRPr lang="ko-KR" altLang="en-US" sz="1800" b="0" dirty="0">
              <a:solidFill>
                <a:srgbClr val="C00000"/>
              </a:solidFill>
              <a:latin typeface="맑은 고딕"/>
              <a:ea typeface="맑은 고딕"/>
              <a:cs typeface="맑은 고딕"/>
            </a:endParaRPr>
          </a:p>
        </p:txBody>
      </p:sp>
      <p:sp>
        <p:nvSpPr>
          <p:cNvPr id="15" name="choice_4"/>
          <p:cNvSpPr txBox="1"/>
          <p:nvPr/>
        </p:nvSpPr>
        <p:spPr>
          <a:xfrm>
            <a:off x="457200" y="427405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어머니는 신선한 물고기를 먹고 싶어 했다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68147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남자가 갔을 때 강은 완전히 얼어 있었다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517118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ko-KR" altLang="en-US" sz="1900" b="1" dirty="0">
                <a:solidFill>
                  <a:srgbClr val="5A4200"/>
                </a:solidFill>
                <a:latin typeface="맑은 고딕"/>
                <a:ea typeface="맑은 고딕"/>
                <a:cs typeface="맑은 고딕"/>
              </a:rPr>
              <a:t>남자는 강에서 잉어 다섯 마리를 잡았다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770118"/>
            <a:ext cx="11277295" cy="64896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남자는 언 강에서 물고기를 잡을 수 없었고 잉어 세 마리가 물 밖으로 나왔다. 다섯 마리를 잡았다는 ③은 틀리다.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7" grpId="0" animBg="1"/>
      <p:bldP spid="9" grpId="0" animBg="1"/>
      <p:bldP spid="10" grpId="0" animBg="1"/>
      <p:bldP spid="18"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6</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6. 다음 글의 내용과 일치하는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95452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954529"/>
          </a:xfrm>
          <a:prstGeom prst="rect">
            <a:avLst/>
          </a:prstGeom>
          <a:noFill/>
        </p:spPr>
        <p:txBody>
          <a:bodyPr wrap="square" lIns="201168" tIns="118872" rIns="201168" bIns="118872" anchor="t" rtlCol="0">
            <a:noAutofit/>
          </a:bodyPr>
          <a:lstStyle/>
          <a:p>
            <a:pPr algn="just">
              <a:lnSpc>
                <a:spcPts val="1890"/>
              </a:lnSpc>
              <a:spcBef>
                <a:spcPts val="0"/>
              </a:spcBef>
              <a:spcAft>
                <a:spcPts val="0"/>
              </a:spcAft>
              <a:buNone/>
            </a:pPr>
            <a:r>
              <a:rPr lang="en-US" altLang="ko-KR" sz="1450" b="0" dirty="0">
                <a:solidFill>
                  <a:srgbClr val="1F2328"/>
                </a:solidFill>
                <a:latin typeface="Calibri"/>
                <a:ea typeface="맑은 고딕"/>
                <a:cs typeface="Calibri"/>
              </a:rPr>
              <a:t>The animals or objects in Munjado are not just decorations. They often are symbolic. For example, carp in the paintings of hyo symbolize respect for parents because of an old story. The story goes as follows. Once upon a time, a man lived with his old mother. One winter, the man’s mother became ill and couldn’t eat anything. On one very cold day, the mother said to the man, “It would be wonderful if I could eat fresh fish.” The man went out to the river, but it was completely frozen. It was impossible for him to catch any fish. The man was so disappointed that he cried out to the sky, “What should I do? Please help me.” </a:t>
            </a:r>
            <a:r>
              <a:rPr lang="en-US" altLang="ko-KR" sz="1450" b="0" dirty="0">
                <a:solidFill>
                  <a:srgbClr val="1F2328"/>
                </a:solidFill>
                <a:latin typeface="Calibri"/>
                <a:ea typeface="맑은 고딕"/>
                <a:cs typeface="Calibri"/>
              </a:rPr>
              <a:t>Then the ice melted, and three carp suddenly came out of the water.</a:t>
            </a:r>
            <a:r>
              <a:rPr lang="en-US" altLang="ko-KR" sz="1450" b="0" dirty="0">
                <a:solidFill>
                  <a:srgbClr val="1F2328"/>
                </a:solidFill>
                <a:latin typeface="Calibri"/>
                <a:ea typeface="맑은 고딕"/>
                <a:cs typeface="Calibri"/>
              </a:rPr>
              <a:t> The man went back home and cooked the fish for his mother. Then his mother got well.</a:t>
            </a:r>
            <a:endParaRPr lang="en-US" altLang="ko-KR" sz="1450" b="0" dirty="0">
              <a:solidFill>
                <a:srgbClr val="1F2328"/>
              </a:solidFill>
              <a:latin typeface="Calibri"/>
              <a:ea typeface="맑은 고딕"/>
              <a:cs typeface="Calibri"/>
            </a:endParaRPr>
          </a:p>
        </p:txBody>
      </p:sp>
      <p:sp>
        <p:nvSpPr>
          <p:cNvPr id="9" name="rv_evidence_card"/>
          <p:cNvSpPr/>
          <p:nvPr/>
        </p:nvSpPr>
        <p:spPr>
          <a:xfrm>
            <a:off x="457200" y="950976"/>
            <a:ext cx="11277295" cy="195452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954529"/>
          </a:xfrm>
          <a:prstGeom prst="rect">
            <a:avLst/>
          </a:prstGeom>
          <a:noFill/>
        </p:spPr>
        <p:txBody>
          <a:bodyPr wrap="square" lIns="201168" tIns="118872" rIns="201168" bIns="118872" anchor="t" rtlCol="0">
            <a:noAutofit/>
          </a:bodyPr>
          <a:lstStyle/>
          <a:p>
            <a:pPr algn="just">
              <a:lnSpc>
                <a:spcPts val="1890"/>
              </a:lnSpc>
              <a:spcBef>
                <a:spcPts val="0"/>
              </a:spcBef>
              <a:spcAft>
                <a:spcPts val="0"/>
              </a:spcAft>
              <a:buNone/>
            </a:pPr>
            <a:r>
              <a:rPr lang="en-US" altLang="ko-KR" sz="1450" b="0" dirty="0">
                <a:solidFill>
                  <a:srgbClr val="B3BAC6"/>
                </a:solidFill>
                <a:latin typeface="Calibri"/>
                <a:ea typeface="맑은 고딕"/>
                <a:cs typeface="Calibri"/>
              </a:rPr>
              <a:t>The animals or objects in Munjado are not just decorations. They often are symbolic. For example, carp in the paintings of hyo symbolize respect for parents because of an old story. The story goes as follows. Once upon a time, a man lived with his old mother. One winter, the man’s mother became ill and couldn’t eat anything. On one very cold day, the mother said to the man, “It would be wonderful if I could eat fresh fish.” The man went out to the river, but it was completely frozen. It was impossible for him to catch any fish. The man was so disappointed that he cried out to the sky, “What should I do? Please help me.” </a:t>
            </a:r>
            <a:r>
              <a:rPr lang="en-US" altLang="ko-KR" sz="1450" b="0" dirty="0">
                <a:solidFill>
                  <a:srgbClr val="111111"/>
                </a:solidFill>
                <a:highlight>
                  <a:srgbClr val="FFE45C"/>
                </a:highlight>
                <a:latin typeface="Calibri"/>
                <a:ea typeface="맑은 고딕"/>
                <a:cs typeface="Calibri"/>
              </a:rPr>
              <a:t>Then the ice melted, and three carp suddenly came out of the water.</a:t>
            </a:r>
            <a:r>
              <a:rPr lang="en-US" altLang="ko-KR" sz="1450" b="0" dirty="0">
                <a:solidFill>
                  <a:srgbClr val="B3BAC6"/>
                </a:solidFill>
                <a:latin typeface="Calibri"/>
                <a:ea typeface="맑은 고딕"/>
                <a:cs typeface="Calibri"/>
              </a:rPr>
              <a:t> The man went back home and cooked the fish for his mother. Then his mother got well.</a:t>
            </a:r>
            <a:endParaRPr lang="en-US" altLang="ko-KR" sz="1450" b="0" dirty="0">
              <a:solidFill>
                <a:srgbClr val="B3BAC6"/>
              </a:solidFill>
              <a:latin typeface="Calibri"/>
              <a:ea typeface="맑은 고딕"/>
              <a:cs typeface="Calibri"/>
            </a:endParaRPr>
          </a:p>
        </p:txBody>
      </p:sp>
      <p:sp>
        <p:nvSpPr>
          <p:cNvPr id="11" name="choice_1"/>
          <p:cNvSpPr txBox="1"/>
          <p:nvPr/>
        </p:nvSpPr>
        <p:spPr>
          <a:xfrm>
            <a:off x="457200" y="305181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문자도의 사물은 단지 장식일 뿐이다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45922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남자는 따뜻한 봄날에 강으로 갔다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86664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어머니는 물고기를 먹고도 낫지 않았다</a:t>
            </a:r>
            <a:endParaRPr lang="ko-KR" altLang="en-US" sz="1800" b="0" dirty="0">
              <a:solidFill>
                <a:srgbClr val="1F2328"/>
              </a:solidFill>
              <a:latin typeface="맑은 고딕"/>
              <a:ea typeface="맑은 고딕"/>
              <a:cs typeface="맑은 고딕"/>
            </a:endParaRPr>
          </a:p>
        </p:txBody>
      </p:sp>
      <p:sp>
        <p:nvSpPr>
          <p:cNvPr id="14" name="choice_4"/>
          <p:cNvSpPr txBox="1"/>
          <p:nvPr/>
        </p:nvSpPr>
        <p:spPr>
          <a:xfrm>
            <a:off x="457200" y="427405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남자는 시장에서 물고기를 사 왔다</a:t>
            </a:r>
            <a:endParaRPr lang="ko-KR" altLang="en-US" sz="1800" b="0" dirty="0">
              <a:solidFill>
                <a:srgbClr val="1F2328"/>
              </a:solidFill>
              <a:latin typeface="맑은 고딕"/>
              <a:ea typeface="맑은 고딕"/>
              <a:cs typeface="맑은 고딕"/>
            </a:endParaRPr>
          </a:p>
        </p:txBody>
      </p:sp>
      <p:sp>
        <p:nvSpPr>
          <p:cNvPr id="15" name="choice_5"/>
          <p:cNvSpPr txBox="1"/>
          <p:nvPr/>
        </p:nvSpPr>
        <p:spPr>
          <a:xfrm>
            <a:off x="457200" y="468147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얼음이 녹은 뒤 잉어 세 마리가 나왔다</a:t>
            </a:r>
            <a:endParaRPr lang="ko-KR" altLang="en-US" sz="1800" b="0" dirty="0">
              <a:solidFill>
                <a:srgbClr val="1F2328"/>
              </a:solidFill>
              <a:latin typeface="맑은 고딕"/>
              <a:ea typeface="맑은 고딕"/>
              <a:cs typeface="맑은 고딕"/>
            </a:endParaRPr>
          </a:p>
        </p:txBody>
      </p:sp>
      <p:sp>
        <p:nvSpPr>
          <p:cNvPr id="16" name="rv_pick"/>
          <p:cNvSpPr txBox="1"/>
          <p:nvPr/>
        </p:nvSpPr>
        <p:spPr>
          <a:xfrm>
            <a:off x="457200" y="4681474"/>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⑤</a:t>
            </a:r>
            <a:r>
              <a:rPr lang="ko-KR" altLang="en-US" sz="1800" b="0" dirty="0">
                <a:solidFill>
                  <a:srgbClr val="C00000"/>
                </a:solidFill>
                <a:latin typeface="맑은 고딕"/>
                <a:ea typeface="맑은 고딕"/>
                <a:cs typeface="맑은 고딕"/>
              </a:rPr>
              <a:t>	얼음이 녹은 뒤 잉어 세 마리가 나왔다</a:t>
            </a:r>
            <a:endParaRPr lang="ko-KR" altLang="en-US" sz="1800" b="0" dirty="0">
              <a:solidFill>
                <a:srgbClr val="C00000"/>
              </a:solidFill>
              <a:latin typeface="맑은 고딕"/>
              <a:ea typeface="맑은 고딕"/>
              <a:cs typeface="맑은 고딕"/>
            </a:endParaRPr>
          </a:p>
        </p:txBody>
      </p:sp>
      <p:sp>
        <p:nvSpPr>
          <p:cNvPr id="17" name="rv_answer"/>
          <p:cNvSpPr/>
          <p:nvPr/>
        </p:nvSpPr>
        <p:spPr>
          <a:xfrm>
            <a:off x="457200" y="517118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 </a:t>
            </a:r>
            <a:r>
              <a:rPr lang="ko-KR" altLang="en-US" sz="1900" b="1" dirty="0">
                <a:solidFill>
                  <a:srgbClr val="5A4200"/>
                </a:solidFill>
                <a:latin typeface="맑은 고딕"/>
                <a:ea typeface="맑은 고딕"/>
                <a:cs typeface="맑은 고딕"/>
              </a:rPr>
              <a:t>얼음이 녹은 뒤 잉어 세 마리가 나왔다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770118"/>
            <a:ext cx="11277295" cy="64896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얼음이 녹고 잉어 세 마리가 갑자기 물 밖으로 나왔다고 했으므로 ⑤가 일치한다.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25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9" grpId="0" animBg="1"/>
      <p:bldP spid="10" grpId="0" animBg="1"/>
      <p:bldP spid="18"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5770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57708"/>
          </a:xfrm>
          <a:prstGeom prst="rect">
            <a:avLst/>
          </a:prstGeom>
          <a:noFill/>
        </p:spPr>
        <p:txBody>
          <a:bodyPr wrap="square" lIns="201168" tIns="100584" rIns="201168" bIns="100584" anchor="t" rtlCol="0">
            <a:noAutofit/>
          </a:bodyPr>
          <a:lstStyle/>
          <a:p>
            <a:pPr algn="l">
              <a:lnSpc>
                <a:spcPts val="2020"/>
              </a:lnSpc>
              <a:spcBef>
                <a:spcPts val="0"/>
              </a:spcBef>
              <a:spcAft>
                <a:spcPts val="0"/>
              </a:spcAft>
              <a:buNone/>
            </a:pPr>
            <a:r>
              <a:rPr lang="en-US" altLang="ko-KR" sz="1550" b="0" dirty="0">
                <a:solidFill>
                  <a:srgbClr val="1F2328"/>
                </a:solidFill>
                <a:latin typeface="Calibri"/>
                <a:ea typeface="맑은 고딕"/>
                <a:cs typeface="Calibri"/>
              </a:rPr>
              <a:t>The animals or objects in Munjado are not just decorations.</a:t>
            </a:r>
            <a:endParaRPr lang="en-US" altLang="ko-KR" sz="1550" b="0" dirty="0">
              <a:solidFill>
                <a:srgbClr val="1F2328"/>
              </a:solidFill>
              <a:latin typeface="Calibri"/>
              <a:ea typeface="맑은 고딕"/>
              <a:cs typeface="Calibri"/>
            </a:endParaRPr>
          </a:p>
        </p:txBody>
      </p:sp>
      <p:sp>
        <p:nvSpPr>
          <p:cNvPr id="9" name="parts_card"/>
          <p:cNvSpPr/>
          <p:nvPr/>
        </p:nvSpPr>
        <p:spPr>
          <a:xfrm>
            <a:off x="457200" y="1536700"/>
            <a:ext cx="11277295" cy="2575051"/>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36700"/>
            <a:ext cx="11277295" cy="2575051"/>
          </a:xfrm>
          <a:prstGeom prst="rect">
            <a:avLst/>
          </a:prstGeom>
          <a:noFill/>
        </p:spPr>
        <p:txBody>
          <a:bodyPr wrap="square" lIns="201168" tIns="118872" rIns="201168" bIns="118872" anchor="t" rtlCol="0">
            <a:noAutofit/>
          </a:bodyPr>
          <a:lstStyle/>
          <a:p>
            <a:pPr algn="just" marL="414020" indent="-414020">
              <a:lnSpc>
                <a:spcPts val="2020"/>
              </a:lnSpc>
              <a:spcBef>
                <a:spcPts val="0"/>
              </a:spcBef>
              <a:spcAft>
                <a:spcPts val="700"/>
              </a:spcAft>
              <a:buNone/>
              <a:tabLst>
                <a:tab pos="414020" algn="l"/>
              </a:tabLst>
            </a:pPr>
            <a:r>
              <a:rPr lang="en-US" altLang="ko-KR" sz="1550" b="1" dirty="0">
                <a:solidFill>
                  <a:srgbClr val="1E2A5A"/>
                </a:solidFill>
                <a:latin typeface="Calibri"/>
                <a:ea typeface="맑은 고딕"/>
                <a:cs typeface="Calibri"/>
              </a:rPr>
              <a:t>(A)</a:t>
            </a:r>
            <a:r>
              <a:rPr lang="en-US" altLang="ko-KR" sz="1550" b="0" dirty="0">
                <a:solidFill>
                  <a:srgbClr val="1F2328"/>
                </a:solidFill>
                <a:latin typeface="Calibri"/>
                <a:ea typeface="맑은 고딕"/>
                <a:cs typeface="Calibri"/>
              </a:rPr>
              <a:t>	One winter, the man’s mother became ill and couldn’t eat anything. On one very cold day, the mother said to the man, “It would be wonderful if I could eat fresh fish.” The man went out to the river, but it was completely frozen. It was impossible for him to catch any fish.</a:t>
            </a:r>
            <a:endParaRPr lang="en-US" altLang="ko-KR" sz="1550" b="0" dirty="0">
              <a:solidFill>
                <a:srgbClr val="1F2328"/>
              </a:solidFill>
              <a:latin typeface="Calibri"/>
              <a:ea typeface="맑은 고딕"/>
              <a:cs typeface="Calibri"/>
            </a:endParaRPr>
          </a:p>
          <a:p>
            <a:pPr algn="just" marL="414020" indent="-414020">
              <a:lnSpc>
                <a:spcPts val="2020"/>
              </a:lnSpc>
              <a:spcBef>
                <a:spcPts val="0"/>
              </a:spcBef>
              <a:spcAft>
                <a:spcPts val="700"/>
              </a:spcAft>
              <a:buNone/>
              <a:tabLst>
                <a:tab pos="414020" algn="l"/>
              </a:tabLst>
            </a:pPr>
            <a:r>
              <a:rPr lang="en-US" altLang="ko-KR" sz="1550" b="1" dirty="0">
                <a:solidFill>
                  <a:srgbClr val="1E2A5A"/>
                </a:solidFill>
                <a:latin typeface="Calibri"/>
                <a:ea typeface="맑은 고딕"/>
                <a:cs typeface="Calibri"/>
              </a:rPr>
              <a:t>(B)</a:t>
            </a:r>
            <a:r>
              <a:rPr lang="en-US" altLang="ko-KR" sz="1550" b="0" dirty="0">
                <a:solidFill>
                  <a:srgbClr val="1F2328"/>
                </a:solidFill>
                <a:latin typeface="Calibri"/>
                <a:ea typeface="맑은 고딕"/>
                <a:cs typeface="Calibri"/>
              </a:rPr>
              <a:t>	They often are symbolic. For example, carp in the paintings of hyo symbolize respect for parents because of an old story. The story goes as follows. Once upon a time, a man lived with his old mother.</a:t>
            </a:r>
            <a:endParaRPr lang="en-US" altLang="ko-KR" sz="1550" b="0" dirty="0">
              <a:solidFill>
                <a:srgbClr val="1F2328"/>
              </a:solidFill>
              <a:latin typeface="Calibri"/>
              <a:ea typeface="맑은 고딕"/>
              <a:cs typeface="Calibri"/>
            </a:endParaRPr>
          </a:p>
          <a:p>
            <a:pPr algn="just" marL="414020" indent="-414020">
              <a:lnSpc>
                <a:spcPts val="2020"/>
              </a:lnSpc>
              <a:spcBef>
                <a:spcPts val="0"/>
              </a:spcBef>
              <a:spcAft>
                <a:spcPts val="700"/>
              </a:spcAft>
              <a:buNone/>
              <a:tabLst>
                <a:tab pos="414020" algn="l"/>
              </a:tabLst>
            </a:pPr>
            <a:r>
              <a:rPr lang="en-US" altLang="ko-KR" sz="1550" b="1" dirty="0">
                <a:solidFill>
                  <a:srgbClr val="1E2A5A"/>
                </a:solidFill>
                <a:latin typeface="Calibri"/>
                <a:ea typeface="맑은 고딕"/>
                <a:cs typeface="Calibri"/>
              </a:rPr>
              <a:t>(C)</a:t>
            </a:r>
            <a:r>
              <a:rPr lang="en-US" altLang="ko-KR" sz="1550" b="0" dirty="0">
                <a:solidFill>
                  <a:srgbClr val="1F2328"/>
                </a:solidFill>
                <a:latin typeface="Calibri"/>
                <a:ea typeface="맑은 고딕"/>
                <a:cs typeface="Calibri"/>
              </a:rPr>
              <a:t>	The man was so disappointed that he cried out to the sky, “What should I do? Please help me.” Then the ice melted, and three carp suddenly came out of the water. The man went back home and cooked the fish for his mother. Then his mother got well.</a:t>
            </a:r>
            <a:endParaRPr lang="en-US" altLang="ko-KR" sz="1550" b="0" dirty="0">
              <a:solidFill>
                <a:srgbClr val="1F2328"/>
              </a:solidFill>
              <a:latin typeface="Calibri"/>
              <a:ea typeface="맑은 고딕"/>
              <a:cs typeface="Calibri"/>
            </a:endParaRPr>
          </a:p>
        </p:txBody>
      </p:sp>
      <p:sp>
        <p:nvSpPr>
          <p:cNvPr id="11" name="options"/>
          <p:cNvSpPr txBox="1"/>
          <p:nvPr/>
        </p:nvSpPr>
        <p:spPr>
          <a:xfrm>
            <a:off x="457200" y="42214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42214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② </a:t>
            </a:r>
            <a:r>
              <a:rPr lang="en-US" altLang="ko-KR" sz="1800" b="0" dirty="0">
                <a:solidFill>
                  <a:srgbClr val="C00000"/>
                </a:solidFill>
                <a:highlight>
                  <a:srgbClr val="FFFFFF"/>
                </a:highlight>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③ </a:t>
            </a:r>
            <a:r>
              <a:rPr lang="en-US" altLang="ko-KR" sz="1800" b="0" dirty="0">
                <a:solidFill>
                  <a:srgbClr val="1F2328">
                    <a:alpha val="0"/>
                  </a:srgbClr>
                </a:solidFill>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733543"/>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 </a:t>
            </a:r>
            <a:r>
              <a:rPr lang="en-US" altLang="ko-KR" sz="1900" b="1" dirty="0">
                <a:solidFill>
                  <a:srgbClr val="5A4200"/>
                </a:solidFill>
                <a:latin typeface="Calibri"/>
                <a:ea typeface="맑은 고딕"/>
                <a:cs typeface="Calibri"/>
              </a:rPr>
              <a:t>(B) - (A) - (C)</a:t>
            </a:r>
            <a:endParaRPr lang="en-US" altLang="ko-KR" sz="1900" b="1" dirty="0">
              <a:solidFill>
                <a:srgbClr val="5A4200"/>
              </a:solidFill>
              <a:latin typeface="Calibri"/>
              <a:ea typeface="맑은 고딕"/>
              <a:cs typeface="Calibri"/>
            </a:endParaRPr>
          </a:p>
        </p:txBody>
      </p:sp>
      <p:sp>
        <p:nvSpPr>
          <p:cNvPr id="14" name="rv_why"/>
          <p:cNvSpPr/>
          <p:nvPr/>
        </p:nvSpPr>
        <p:spPr>
          <a:xfrm>
            <a:off x="457200" y="5332475"/>
            <a:ext cx="11277295" cy="1086612"/>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사물은 장식이 아니라는 말 → (B) 'They often are symbolic'과 잉어 이야기 예고 → (A) 'One winter' 어머니가 병들고 강이 얼었다 → (C) 'The man'이 낙담해 외치자 잉어가 나왔다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5770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57708"/>
          </a:xfrm>
          <a:prstGeom prst="rect">
            <a:avLst/>
          </a:prstGeom>
          <a:noFill/>
        </p:spPr>
        <p:txBody>
          <a:bodyPr wrap="square" lIns="201168" tIns="100584" rIns="201168" bIns="100584" anchor="t" rtlCol="0">
            <a:noAutofit/>
          </a:bodyPr>
          <a:lstStyle/>
          <a:p>
            <a:pPr algn="l">
              <a:lnSpc>
                <a:spcPts val="2020"/>
              </a:lnSpc>
              <a:spcBef>
                <a:spcPts val="0"/>
              </a:spcBef>
              <a:spcAft>
                <a:spcPts val="0"/>
              </a:spcAft>
              <a:buNone/>
            </a:pPr>
            <a:r>
              <a:rPr lang="en-US" altLang="ko-KR" sz="1550" b="0" dirty="0">
                <a:solidFill>
                  <a:srgbClr val="1F2328"/>
                </a:solidFill>
                <a:latin typeface="Calibri"/>
                <a:ea typeface="맑은 고딕"/>
                <a:cs typeface="Calibri"/>
              </a:rPr>
              <a:t>The animals or objects in Munjado are not just decorations.</a:t>
            </a:r>
            <a:endParaRPr lang="en-US" altLang="ko-KR" sz="1550" b="0" dirty="0">
              <a:solidFill>
                <a:srgbClr val="1F2328"/>
              </a:solidFill>
              <a:latin typeface="Calibri"/>
              <a:ea typeface="맑은 고딕"/>
              <a:cs typeface="Calibri"/>
            </a:endParaRPr>
          </a:p>
        </p:txBody>
      </p:sp>
      <p:sp>
        <p:nvSpPr>
          <p:cNvPr id="9" name="parts_card"/>
          <p:cNvSpPr/>
          <p:nvPr/>
        </p:nvSpPr>
        <p:spPr>
          <a:xfrm>
            <a:off x="457200" y="1536700"/>
            <a:ext cx="11277295" cy="2575051"/>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36700"/>
            <a:ext cx="11277295" cy="2575051"/>
          </a:xfrm>
          <a:prstGeom prst="rect">
            <a:avLst/>
          </a:prstGeom>
          <a:noFill/>
        </p:spPr>
        <p:txBody>
          <a:bodyPr wrap="square" lIns="201168" tIns="118872" rIns="201168" bIns="118872" anchor="t" rtlCol="0">
            <a:noAutofit/>
          </a:bodyPr>
          <a:lstStyle/>
          <a:p>
            <a:pPr algn="just" marL="414020" indent="-414020">
              <a:lnSpc>
                <a:spcPts val="2020"/>
              </a:lnSpc>
              <a:spcBef>
                <a:spcPts val="0"/>
              </a:spcBef>
              <a:spcAft>
                <a:spcPts val="700"/>
              </a:spcAft>
              <a:buNone/>
              <a:tabLst>
                <a:tab pos="414020" algn="l"/>
              </a:tabLst>
            </a:pPr>
            <a:r>
              <a:rPr lang="en-US" altLang="ko-KR" sz="1550" b="1" dirty="0">
                <a:solidFill>
                  <a:srgbClr val="1E2A5A"/>
                </a:solidFill>
                <a:latin typeface="Calibri"/>
                <a:ea typeface="맑은 고딕"/>
                <a:cs typeface="Calibri"/>
              </a:rPr>
              <a:t>(A)</a:t>
            </a:r>
            <a:r>
              <a:rPr lang="en-US" altLang="ko-KR" sz="1550" b="0" dirty="0">
                <a:solidFill>
                  <a:srgbClr val="1F2328"/>
                </a:solidFill>
                <a:latin typeface="Calibri"/>
                <a:ea typeface="맑은 고딕"/>
                <a:cs typeface="Calibri"/>
              </a:rPr>
              <a:t>	One winter, the man’s mother became ill and couldn’t eat anything. On one very cold day, the mother said to the man, “It would be wonderful if I could eat fresh fish.” The man went out to the river, but it was completely frozen. It was impossible for him to catch any fish.</a:t>
            </a:r>
            <a:endParaRPr lang="en-US" altLang="ko-KR" sz="1550" b="0" dirty="0">
              <a:solidFill>
                <a:srgbClr val="1F2328"/>
              </a:solidFill>
              <a:latin typeface="Calibri"/>
              <a:ea typeface="맑은 고딕"/>
              <a:cs typeface="Calibri"/>
            </a:endParaRPr>
          </a:p>
          <a:p>
            <a:pPr algn="just" marL="414020" indent="-414020">
              <a:lnSpc>
                <a:spcPts val="2020"/>
              </a:lnSpc>
              <a:spcBef>
                <a:spcPts val="0"/>
              </a:spcBef>
              <a:spcAft>
                <a:spcPts val="700"/>
              </a:spcAft>
              <a:buNone/>
              <a:tabLst>
                <a:tab pos="414020" algn="l"/>
              </a:tabLst>
            </a:pPr>
            <a:r>
              <a:rPr lang="en-US" altLang="ko-KR" sz="1550" b="1" dirty="0">
                <a:solidFill>
                  <a:srgbClr val="1E2A5A"/>
                </a:solidFill>
                <a:latin typeface="Calibri"/>
                <a:ea typeface="맑은 고딕"/>
                <a:cs typeface="Calibri"/>
              </a:rPr>
              <a:t>(B)</a:t>
            </a:r>
            <a:r>
              <a:rPr lang="en-US" altLang="ko-KR" sz="1550" b="0" dirty="0">
                <a:solidFill>
                  <a:srgbClr val="1F2328"/>
                </a:solidFill>
                <a:latin typeface="Calibri"/>
                <a:ea typeface="맑은 고딕"/>
                <a:cs typeface="Calibri"/>
              </a:rPr>
              <a:t>	The man was so disappointed that he cried out to the sky, “What should I do? Please help me.” Then the ice melted, and three carp suddenly came out of the water. The man went back home and cooked the fish for his mother. Then his mother got well.</a:t>
            </a:r>
            <a:endParaRPr lang="en-US" altLang="ko-KR" sz="1550" b="0" dirty="0">
              <a:solidFill>
                <a:srgbClr val="1F2328"/>
              </a:solidFill>
              <a:latin typeface="Calibri"/>
              <a:ea typeface="맑은 고딕"/>
              <a:cs typeface="Calibri"/>
            </a:endParaRPr>
          </a:p>
          <a:p>
            <a:pPr algn="just" marL="414020" indent="-414020">
              <a:lnSpc>
                <a:spcPts val="2020"/>
              </a:lnSpc>
              <a:spcBef>
                <a:spcPts val="0"/>
              </a:spcBef>
              <a:spcAft>
                <a:spcPts val="700"/>
              </a:spcAft>
              <a:buNone/>
              <a:tabLst>
                <a:tab pos="414020" algn="l"/>
              </a:tabLst>
            </a:pPr>
            <a:r>
              <a:rPr lang="en-US" altLang="ko-KR" sz="1550" b="1" dirty="0">
                <a:solidFill>
                  <a:srgbClr val="1E2A5A"/>
                </a:solidFill>
                <a:latin typeface="Calibri"/>
                <a:ea typeface="맑은 고딕"/>
                <a:cs typeface="Calibri"/>
              </a:rPr>
              <a:t>(C)</a:t>
            </a:r>
            <a:r>
              <a:rPr lang="en-US" altLang="ko-KR" sz="1550" b="0" dirty="0">
                <a:solidFill>
                  <a:srgbClr val="1F2328"/>
                </a:solidFill>
                <a:latin typeface="Calibri"/>
                <a:ea typeface="맑은 고딕"/>
                <a:cs typeface="Calibri"/>
              </a:rPr>
              <a:t>	They often are symbolic. For example, carp in the paintings of hyo symbolize respect for parents because of an old story. The story goes as follows. Once upon a time, a man lived with his old mother.</a:t>
            </a:r>
            <a:endParaRPr lang="en-US" altLang="ko-KR" sz="1550" b="0" dirty="0">
              <a:solidFill>
                <a:srgbClr val="1F2328"/>
              </a:solidFill>
              <a:latin typeface="Calibri"/>
              <a:ea typeface="맑은 고딕"/>
              <a:cs typeface="Calibri"/>
            </a:endParaRPr>
          </a:p>
        </p:txBody>
      </p:sp>
      <p:sp>
        <p:nvSpPr>
          <p:cNvPr id="11" name="options"/>
          <p:cNvSpPr txBox="1"/>
          <p:nvPr/>
        </p:nvSpPr>
        <p:spPr>
          <a:xfrm>
            <a:off x="457200" y="42214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42214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③ </a:t>
            </a:r>
            <a:r>
              <a:rPr lang="en-US" altLang="ko-KR" sz="1800" b="0" dirty="0">
                <a:solidFill>
                  <a:srgbClr val="1F2328">
                    <a:alpha val="0"/>
                  </a:srgbClr>
                </a:solidFill>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④ </a:t>
            </a:r>
            <a:r>
              <a:rPr lang="en-US" altLang="ko-KR" sz="1800" b="0" dirty="0">
                <a:solidFill>
                  <a:srgbClr val="C00000"/>
                </a:solidFill>
                <a:highlight>
                  <a:srgbClr val="FFFFFF"/>
                </a:highlight>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733543"/>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en-US" altLang="ko-KR" sz="1900" b="1" dirty="0">
                <a:solidFill>
                  <a:srgbClr val="5A4200"/>
                </a:solidFill>
                <a:latin typeface="Calibri"/>
                <a:ea typeface="맑은 고딕"/>
                <a:cs typeface="Calibri"/>
              </a:rPr>
              <a:t>(C) - (A) - (B)</a:t>
            </a:r>
            <a:endParaRPr lang="en-US" altLang="ko-KR" sz="1900" b="1" dirty="0">
              <a:solidFill>
                <a:srgbClr val="5A4200"/>
              </a:solidFill>
              <a:latin typeface="Calibri"/>
              <a:ea typeface="맑은 고딕"/>
              <a:cs typeface="Calibri"/>
            </a:endParaRPr>
          </a:p>
        </p:txBody>
      </p:sp>
      <p:sp>
        <p:nvSpPr>
          <p:cNvPr id="14" name="rv_why"/>
          <p:cNvSpPr/>
          <p:nvPr/>
        </p:nvSpPr>
        <p:spPr>
          <a:xfrm>
            <a:off x="457200" y="5332475"/>
            <a:ext cx="11277295" cy="1086612"/>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사물은 장식이 아니라는 말 → (C) 'They'가 그 사물을 받아 상징적이라 하고 이야기를 예고한다 → (A) 'One winter' 어머니가 병든다 → (B) 낙담한 남자에게 잉어가 나타난다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81330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81330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For example, carp in the paintings of hyo symbolize respect for parents because of an old story.</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910587"/>
            <a:ext cx="11277295" cy="287528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910587"/>
            <a:ext cx="11277295" cy="287528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The animals or objects in Munjado are not just decorations.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They often are symbolic.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The story goes as follows.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Once upon a time, a man lived with his old mother.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One winter, the man’s mother became ill and couldn’t eat anything. On one very cold day, the mother said to the man, “It would be wonderful if I could eat fresh fish.” The man went out to the river, but it was completely frozen. It was impossible for him to catch any fish. The man was so disappointed that he cried out to the sky, “What should I do? Please help me.” Then the ice melted, and three carp suddenly came out of the water. The man went back home and cooked the fish for his mother. Then his mother got well.</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910587"/>
            <a:ext cx="11277295" cy="287528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The animals or objects in Munjado are not just decorations. </a:t>
            </a:r>
            <a:r>
              <a:rPr lang="ko-KR" altLang="en-US" sz="18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They often are symbolic. </a:t>
            </a:r>
            <a:r>
              <a:rPr lang="ko-KR" altLang="en-US" sz="1800" b="1" dirty="0">
                <a:solidFill>
                  <a:srgbClr val="C00000"/>
                </a:solidFill>
                <a:highlight>
                  <a:srgbClr val="F3F5F9"/>
                </a:highlight>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The story goes as follows. </a:t>
            </a:r>
            <a:r>
              <a:rPr lang="ko-KR" altLang="en-US" sz="18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Once upon a time, a man lived with his old mother. </a:t>
            </a:r>
            <a:r>
              <a:rPr lang="ko-KR" altLang="en-US" sz="18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One winter, the man’s mother became ill and couldn’t eat anything. On one very cold day, the mother said to the man, “It would be wonderful if I could eat fresh fish.” The man went out to the river, but it was completely frozen. It was impossible for him to catch any fish. The man was so disappointed that he cried out to the sky, “What should I do? Please help me.” Then the ice melted, and three carp suddenly came out of the water. The man went back home and cooked the fish for his mother. Then his mother got well.</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489559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5494528"/>
            <a:ext cx="11277295" cy="92455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주어진 문장이 잉어가 'an old story' 때문에 효를 상징한다고 한다. ③ 뒤 'The story goes as follows'의 The story가 이 옛이야기를 받으므로 ③이다.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5072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50723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The story goes as follows.</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604518"/>
            <a:ext cx="11277295" cy="320040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604518"/>
            <a:ext cx="11277295" cy="320040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The animals or objects in Munjado are not just decorations.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They often are symbolic.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For example, carp in the paintings of hyo symbolize respect for parents because of an old story.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Once upon a time, a man lived with his old mother.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One winter, the man’s mother became ill and couldn’t eat anything. On one very cold day, the mother said to the man, “It would be wonderful if I could eat fresh fish.” The man went out to the river, but it was completely frozen. It was impossible for him to catch any fish. The man was so disappointed that he cried out to the sky, “What should I do? Please help me.” Then the ice melted, and three carp suddenly came out of the water. The man went back home and cooked the fish for his mother. Then his mother got well.</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604518"/>
            <a:ext cx="11277295" cy="320040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The animals or objects in Munjado are not just decorations. </a:t>
            </a:r>
            <a:r>
              <a:rPr lang="ko-KR" altLang="en-US" sz="18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They often are symbolic. </a:t>
            </a:r>
            <a:r>
              <a:rPr lang="ko-KR" altLang="en-US" sz="18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For example, carp in the paintings of hyo symbolize respect for parents because of an old story. </a:t>
            </a:r>
            <a:r>
              <a:rPr lang="ko-KR" altLang="en-US" sz="1800" b="1" dirty="0">
                <a:solidFill>
                  <a:srgbClr val="C00000"/>
                </a:solidFill>
                <a:highlight>
                  <a:srgbClr val="F3F5F9"/>
                </a:highlight>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Once upon a time, a man lived with his old mother. </a:t>
            </a:r>
            <a:r>
              <a:rPr lang="ko-KR" altLang="en-US" sz="18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One winter, the man’s mother became ill and couldn’t eat anything. On one very cold day, the mother said to the man, “It would be wonderful if I could eat fresh fish.” The man went out to the river, but it was completely frozen. It was impossible for him to catch any fish. The man was so disappointed that he cried out to the sky, “What should I do? Please help me.” Then the ice melted, and three carp suddenly came out of the water. The man went back home and cooked the fish for his mother. Then his mother got well.</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491464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5513578"/>
            <a:ext cx="11277295" cy="90550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③ 앞 문장이 'an old story'를 언급하고, 주어진 문장 'The story goes as follows'가 그 이야기를 받아 ④ 뒤의 'Once upon a time'을 연다. 정답은 ④이다.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①</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5개)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512673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5126736"/>
          </a:xfrm>
          <a:prstGeom prst="rect">
            <a:avLst/>
          </a:prstGeom>
          <a:noFill/>
        </p:spPr>
        <p:txBody>
          <a:bodyPr wrap="square" lIns="228600" tIns="155448" rIns="228600" bIns="155448" anchor="t" rtlCol="0">
            <a:noAutofit/>
          </a:bodyPr>
          <a:lstStyle/>
          <a:p>
            <a:pPr algn="l">
              <a:lnSpc>
                <a:spcPts val="3160"/>
              </a:lnSpc>
              <a:spcBef>
                <a:spcPts val="0"/>
              </a:spcBef>
              <a:spcAft>
                <a:spcPts val="0"/>
              </a:spcAft>
              <a:buNone/>
            </a:pPr>
            <a:r>
              <a:rPr lang="ko-KR" altLang="en-US" sz="1950" b="1" dirty="0">
                <a:solidFill>
                  <a:srgbClr val="1E2A5A"/>
                </a:solidFill>
                <a:latin typeface="맑은 고딕"/>
                <a:ea typeface="맑은 고딕"/>
                <a:cs typeface="맑은 고딕"/>
              </a:rPr>
              <a:t>①</a:t>
            </a:r>
            <a:r>
              <a:rPr lang="en-US" altLang="ko-KR" sz="1950" b="0"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The animals or objects in Munjado are not just decorations.</a:t>
            </a:r>
            <a:r>
              <a:rPr lang="en-US" altLang="ko-KR" sz="1950" b="0" dirty="0">
                <a:solidFill>
                  <a:srgbClr val="1F2328"/>
                </a:solidFill>
                <a:latin typeface="Calibri"/>
                <a:ea typeface="맑은 고딕"/>
                <a:cs typeface="Calibri"/>
              </a:rPr>
              <a:t>   </a:t>
            </a:r>
            <a:r>
              <a:rPr lang="ko-KR" altLang="en-US" sz="1950" b="1" dirty="0">
                <a:solidFill>
                  <a:srgbClr val="1E2A5A"/>
                </a:solidFill>
                <a:latin typeface="맑은 고딕"/>
                <a:ea typeface="맑은 고딕"/>
                <a:cs typeface="맑은 고딕"/>
              </a:rPr>
              <a:t>②</a:t>
            </a:r>
            <a:r>
              <a:rPr lang="en-US" altLang="ko-KR" sz="1950" b="0"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They often are symbolic.</a:t>
            </a:r>
            <a:r>
              <a:rPr lang="en-US" altLang="ko-KR" sz="1950" b="0" dirty="0">
                <a:solidFill>
                  <a:srgbClr val="1F2328"/>
                </a:solidFill>
                <a:latin typeface="Calibri"/>
                <a:ea typeface="맑은 고딕"/>
                <a:cs typeface="Calibri"/>
              </a:rPr>
              <a:t>   </a:t>
            </a:r>
            <a:r>
              <a:rPr lang="ko-KR" altLang="en-US" sz="1950" b="1" dirty="0">
                <a:solidFill>
                  <a:srgbClr val="1E2A5A"/>
                </a:solidFill>
                <a:latin typeface="맑은 고딕"/>
                <a:ea typeface="맑은 고딕"/>
                <a:cs typeface="맑은 고딕"/>
              </a:rPr>
              <a:t>③</a:t>
            </a:r>
            <a:r>
              <a:rPr lang="en-US" altLang="ko-KR" sz="1950" b="0"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For example, carp in the paintings of hyo </a:t>
            </a:r>
            <a:r>
              <a:rPr lang="en-US" altLang="ko-KR" sz="1950" b="1" dirty="0">
                <a:solidFill>
                  <a:srgbClr val="1F2328"/>
                </a:solidFill>
                <a:latin typeface="Calibri"/>
                <a:ea typeface="맑은 고딕"/>
                <a:cs typeface="Calibri"/>
              </a:rPr>
              <a:t>[ </a:t>
            </a:r>
            <a:r>
              <a:rPr lang="en-US" altLang="ko-KR" sz="1950" b="1" dirty="0">
                <a:solidFill>
                  <a:srgbClr val="1F2328"/>
                </a:solidFill>
                <a:latin typeface="Calibri"/>
                <a:ea typeface="맑은 고딕"/>
                <a:cs typeface="Calibri"/>
              </a:rPr>
              <a:t>symbolizes</a:t>
            </a:r>
            <a:r>
              <a:rPr lang="en-US" altLang="ko-KR" sz="1950" b="1" dirty="0">
                <a:solidFill>
                  <a:srgbClr val="1F2328"/>
                </a:solidFill>
                <a:latin typeface="Calibri"/>
                <a:ea typeface="맑은 고딕"/>
                <a:cs typeface="Calibri"/>
              </a:rPr>
              <a:t> / </a:t>
            </a:r>
            <a:r>
              <a:rPr lang="en-US" altLang="ko-KR" sz="1950" b="1" dirty="0">
                <a:solidFill>
                  <a:srgbClr val="1F2328"/>
                </a:solidFill>
                <a:latin typeface="Calibri"/>
                <a:ea typeface="맑은 고딕"/>
                <a:cs typeface="Calibri"/>
              </a:rPr>
              <a:t>symbolize</a:t>
            </a:r>
            <a:r>
              <a:rPr lang="en-US" altLang="ko-KR" sz="1950" b="1"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 respect for parents </a:t>
            </a:r>
            <a:r>
              <a:rPr lang="en-US" altLang="ko-KR" sz="1950" b="1" dirty="0">
                <a:solidFill>
                  <a:srgbClr val="1F2328"/>
                </a:solidFill>
                <a:latin typeface="Calibri"/>
                <a:ea typeface="맑은 고딕"/>
                <a:cs typeface="Calibri"/>
              </a:rPr>
              <a:t>[ </a:t>
            </a:r>
            <a:r>
              <a:rPr lang="en-US" altLang="ko-KR" sz="1950" b="1" dirty="0">
                <a:solidFill>
                  <a:srgbClr val="1F2328"/>
                </a:solidFill>
                <a:latin typeface="Calibri"/>
                <a:ea typeface="맑은 고딕"/>
                <a:cs typeface="Calibri"/>
              </a:rPr>
              <a:t>because of</a:t>
            </a:r>
            <a:r>
              <a:rPr lang="en-US" altLang="ko-KR" sz="1950" b="1" dirty="0">
                <a:solidFill>
                  <a:srgbClr val="1F2328"/>
                </a:solidFill>
                <a:latin typeface="Calibri"/>
                <a:ea typeface="맑은 고딕"/>
                <a:cs typeface="Calibri"/>
              </a:rPr>
              <a:t> / </a:t>
            </a:r>
            <a:r>
              <a:rPr lang="en-US" altLang="ko-KR" sz="1950" b="1" dirty="0">
                <a:solidFill>
                  <a:srgbClr val="1F2328"/>
                </a:solidFill>
                <a:latin typeface="Calibri"/>
                <a:ea typeface="맑은 고딕"/>
                <a:cs typeface="Calibri"/>
              </a:rPr>
              <a:t>because</a:t>
            </a:r>
            <a:r>
              <a:rPr lang="en-US" altLang="ko-KR" sz="1950" b="1"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 an old story.</a:t>
            </a:r>
            <a:r>
              <a:rPr lang="en-US" altLang="ko-KR" sz="1950" b="0" dirty="0">
                <a:solidFill>
                  <a:srgbClr val="1F2328"/>
                </a:solidFill>
                <a:latin typeface="Calibri"/>
                <a:ea typeface="맑은 고딕"/>
                <a:cs typeface="Calibri"/>
              </a:rPr>
              <a:t>   </a:t>
            </a:r>
            <a:r>
              <a:rPr lang="ko-KR" altLang="en-US" sz="1950" b="1" dirty="0">
                <a:solidFill>
                  <a:srgbClr val="1E2A5A"/>
                </a:solidFill>
                <a:latin typeface="맑은 고딕"/>
                <a:ea typeface="맑은 고딕"/>
                <a:cs typeface="맑은 고딕"/>
              </a:rPr>
              <a:t>④</a:t>
            </a:r>
            <a:r>
              <a:rPr lang="en-US" altLang="ko-KR" sz="1950" b="0"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The story goes as follows.</a:t>
            </a:r>
            <a:r>
              <a:rPr lang="en-US" altLang="ko-KR" sz="1950" b="0" dirty="0">
                <a:solidFill>
                  <a:srgbClr val="1F2328"/>
                </a:solidFill>
                <a:latin typeface="Calibri"/>
                <a:ea typeface="맑은 고딕"/>
                <a:cs typeface="Calibri"/>
              </a:rPr>
              <a:t>   </a:t>
            </a:r>
            <a:r>
              <a:rPr lang="ko-KR" altLang="en-US" sz="1950" b="1" dirty="0">
                <a:solidFill>
                  <a:srgbClr val="1E2A5A"/>
                </a:solidFill>
                <a:latin typeface="맑은 고딕"/>
                <a:ea typeface="맑은 고딕"/>
                <a:cs typeface="맑은 고딕"/>
              </a:rPr>
              <a:t>⑤</a:t>
            </a:r>
            <a:r>
              <a:rPr lang="en-US" altLang="ko-KR" sz="1950" b="0"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Once upon a time, a man lived with his old mother.</a:t>
            </a:r>
            <a:r>
              <a:rPr lang="en-US" altLang="ko-KR" sz="1950" b="0" dirty="0">
                <a:solidFill>
                  <a:srgbClr val="1F2328"/>
                </a:solidFill>
                <a:latin typeface="Calibri"/>
                <a:ea typeface="맑은 고딕"/>
                <a:cs typeface="Calibri"/>
              </a:rPr>
              <a:t>   </a:t>
            </a:r>
            <a:r>
              <a:rPr lang="ko-KR" altLang="en-US" sz="1950" b="1" dirty="0">
                <a:solidFill>
                  <a:srgbClr val="1E2A5A"/>
                </a:solidFill>
                <a:latin typeface="맑은 고딕"/>
                <a:ea typeface="맑은 고딕"/>
                <a:cs typeface="맑은 고딕"/>
              </a:rPr>
              <a:t>⑥</a:t>
            </a:r>
            <a:r>
              <a:rPr lang="en-US" altLang="ko-KR" sz="1950" b="0"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One winter, the man’s mother became ill and couldn’t eat anything.</a:t>
            </a:r>
            <a:r>
              <a:rPr lang="en-US" altLang="ko-KR" sz="1950" b="0" dirty="0">
                <a:solidFill>
                  <a:srgbClr val="1F2328"/>
                </a:solidFill>
                <a:latin typeface="Calibri"/>
                <a:ea typeface="맑은 고딕"/>
                <a:cs typeface="Calibri"/>
              </a:rPr>
              <a:t>   </a:t>
            </a:r>
            <a:r>
              <a:rPr lang="ko-KR" altLang="en-US" sz="1950" b="1" dirty="0">
                <a:solidFill>
                  <a:srgbClr val="1E2A5A"/>
                </a:solidFill>
                <a:latin typeface="맑은 고딕"/>
                <a:ea typeface="맑은 고딕"/>
                <a:cs typeface="맑은 고딕"/>
              </a:rPr>
              <a:t>⑦</a:t>
            </a:r>
            <a:r>
              <a:rPr lang="en-US" altLang="ko-KR" sz="1950" b="0"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On one very cold day, the mother said to the man, “It would be wonderful if I </a:t>
            </a:r>
            <a:r>
              <a:rPr lang="en-US" altLang="ko-KR" sz="1950" b="1" dirty="0">
                <a:solidFill>
                  <a:srgbClr val="1F2328"/>
                </a:solidFill>
                <a:latin typeface="Calibri"/>
                <a:ea typeface="맑은 고딕"/>
                <a:cs typeface="Calibri"/>
              </a:rPr>
              <a:t>[ </a:t>
            </a:r>
            <a:r>
              <a:rPr lang="en-US" altLang="ko-KR" sz="1950" b="1" dirty="0">
                <a:solidFill>
                  <a:srgbClr val="1F2328"/>
                </a:solidFill>
                <a:latin typeface="Calibri"/>
                <a:ea typeface="맑은 고딕"/>
                <a:cs typeface="Calibri"/>
              </a:rPr>
              <a:t>can</a:t>
            </a:r>
            <a:r>
              <a:rPr lang="en-US" altLang="ko-KR" sz="1950" b="1" dirty="0">
                <a:solidFill>
                  <a:srgbClr val="1F2328"/>
                </a:solidFill>
                <a:latin typeface="Calibri"/>
                <a:ea typeface="맑은 고딕"/>
                <a:cs typeface="Calibri"/>
              </a:rPr>
              <a:t> / </a:t>
            </a:r>
            <a:r>
              <a:rPr lang="en-US" altLang="ko-KR" sz="1950" b="1" dirty="0">
                <a:solidFill>
                  <a:srgbClr val="1F2328"/>
                </a:solidFill>
                <a:latin typeface="Calibri"/>
                <a:ea typeface="맑은 고딕"/>
                <a:cs typeface="Calibri"/>
              </a:rPr>
              <a:t>could</a:t>
            </a:r>
            <a:r>
              <a:rPr lang="en-US" altLang="ko-KR" sz="1950" b="1"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 eat fresh fish.”</a:t>
            </a:r>
            <a:r>
              <a:rPr lang="en-US" altLang="ko-KR" sz="1950" b="0" dirty="0">
                <a:solidFill>
                  <a:srgbClr val="1F2328"/>
                </a:solidFill>
                <a:latin typeface="Calibri"/>
                <a:ea typeface="맑은 고딕"/>
                <a:cs typeface="Calibri"/>
              </a:rPr>
              <a:t>   </a:t>
            </a:r>
            <a:r>
              <a:rPr lang="ko-KR" altLang="en-US" sz="1950" b="1" dirty="0">
                <a:solidFill>
                  <a:srgbClr val="1E2A5A"/>
                </a:solidFill>
                <a:latin typeface="맑은 고딕"/>
                <a:ea typeface="맑은 고딕"/>
                <a:cs typeface="맑은 고딕"/>
              </a:rPr>
              <a:t>⑧</a:t>
            </a:r>
            <a:r>
              <a:rPr lang="en-US" altLang="ko-KR" sz="1950" b="0"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The man went out to the river, but it was completely frozen.</a:t>
            </a:r>
            <a:r>
              <a:rPr lang="en-US" altLang="ko-KR" sz="1950" b="0" dirty="0">
                <a:solidFill>
                  <a:srgbClr val="1F2328"/>
                </a:solidFill>
                <a:latin typeface="Calibri"/>
                <a:ea typeface="맑은 고딕"/>
                <a:cs typeface="Calibri"/>
              </a:rPr>
              <a:t>   </a:t>
            </a:r>
            <a:r>
              <a:rPr lang="ko-KR" altLang="en-US" sz="1950" b="1" dirty="0">
                <a:solidFill>
                  <a:srgbClr val="1E2A5A"/>
                </a:solidFill>
                <a:latin typeface="맑은 고딕"/>
                <a:ea typeface="맑은 고딕"/>
                <a:cs typeface="맑은 고딕"/>
              </a:rPr>
              <a:t>⑨</a:t>
            </a:r>
            <a:r>
              <a:rPr lang="en-US" altLang="ko-KR" sz="1950" b="0"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It was impossible for him </a:t>
            </a:r>
            <a:r>
              <a:rPr lang="en-US" altLang="ko-KR" sz="1950" b="1" dirty="0">
                <a:solidFill>
                  <a:srgbClr val="1F2328"/>
                </a:solidFill>
                <a:latin typeface="Calibri"/>
                <a:ea typeface="맑은 고딕"/>
                <a:cs typeface="Calibri"/>
              </a:rPr>
              <a:t>[ </a:t>
            </a:r>
            <a:r>
              <a:rPr lang="en-US" altLang="ko-KR" sz="1950" b="1" dirty="0">
                <a:solidFill>
                  <a:srgbClr val="1F2328"/>
                </a:solidFill>
                <a:latin typeface="Calibri"/>
                <a:ea typeface="맑은 고딕"/>
                <a:cs typeface="Calibri"/>
              </a:rPr>
              <a:t>to catch</a:t>
            </a:r>
            <a:r>
              <a:rPr lang="en-US" altLang="ko-KR" sz="1950" b="1" dirty="0">
                <a:solidFill>
                  <a:srgbClr val="1F2328"/>
                </a:solidFill>
                <a:latin typeface="Calibri"/>
                <a:ea typeface="맑은 고딕"/>
                <a:cs typeface="Calibri"/>
              </a:rPr>
              <a:t> / </a:t>
            </a:r>
            <a:r>
              <a:rPr lang="en-US" altLang="ko-KR" sz="1950" b="1" dirty="0">
                <a:solidFill>
                  <a:srgbClr val="1F2328"/>
                </a:solidFill>
                <a:latin typeface="Calibri"/>
                <a:ea typeface="맑은 고딕"/>
                <a:cs typeface="Calibri"/>
              </a:rPr>
              <a:t>catching</a:t>
            </a:r>
            <a:r>
              <a:rPr lang="en-US" altLang="ko-KR" sz="1950" b="1"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 any fish.</a:t>
            </a:r>
            <a:r>
              <a:rPr lang="en-US" altLang="ko-KR" sz="1950" b="0" dirty="0">
                <a:solidFill>
                  <a:srgbClr val="1F2328"/>
                </a:solidFill>
                <a:latin typeface="Calibri"/>
                <a:ea typeface="맑은 고딕"/>
                <a:cs typeface="Calibri"/>
              </a:rPr>
              <a:t>   </a:t>
            </a:r>
            <a:r>
              <a:rPr lang="ko-KR" altLang="en-US" sz="1950" b="1" dirty="0">
                <a:solidFill>
                  <a:srgbClr val="1E2A5A"/>
                </a:solidFill>
                <a:latin typeface="맑은 고딕"/>
                <a:ea typeface="맑은 고딕"/>
                <a:cs typeface="맑은 고딕"/>
              </a:rPr>
              <a:t>⑩</a:t>
            </a:r>
            <a:r>
              <a:rPr lang="en-US" altLang="ko-KR" sz="1950" b="0"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The man was so </a:t>
            </a:r>
            <a:r>
              <a:rPr lang="en-US" altLang="ko-KR" sz="1950" b="1" dirty="0">
                <a:solidFill>
                  <a:srgbClr val="1F2328"/>
                </a:solidFill>
                <a:latin typeface="Calibri"/>
                <a:ea typeface="맑은 고딕"/>
                <a:cs typeface="Calibri"/>
              </a:rPr>
              <a:t>[ </a:t>
            </a:r>
            <a:r>
              <a:rPr lang="en-US" altLang="ko-KR" sz="1950" b="1" dirty="0">
                <a:solidFill>
                  <a:srgbClr val="1F2328"/>
                </a:solidFill>
                <a:latin typeface="Calibri"/>
                <a:ea typeface="맑은 고딕"/>
                <a:cs typeface="Calibri"/>
              </a:rPr>
              <a:t>disappointed</a:t>
            </a:r>
            <a:r>
              <a:rPr lang="en-US" altLang="ko-KR" sz="1950" b="1" dirty="0">
                <a:solidFill>
                  <a:srgbClr val="1F2328"/>
                </a:solidFill>
                <a:latin typeface="Calibri"/>
                <a:ea typeface="맑은 고딕"/>
                <a:cs typeface="Calibri"/>
              </a:rPr>
              <a:t> / </a:t>
            </a:r>
            <a:r>
              <a:rPr lang="en-US" altLang="ko-KR" sz="1950" b="1" dirty="0">
                <a:solidFill>
                  <a:srgbClr val="1F2328"/>
                </a:solidFill>
                <a:latin typeface="Calibri"/>
                <a:ea typeface="맑은 고딕"/>
                <a:cs typeface="Calibri"/>
              </a:rPr>
              <a:t>disappointing</a:t>
            </a:r>
            <a:r>
              <a:rPr lang="en-US" altLang="ko-KR" sz="1950" b="1"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 that he cried out to the sky, “What should I do? Please help me.”</a:t>
            </a:r>
            <a:r>
              <a:rPr lang="en-US" altLang="ko-KR" sz="1950" b="0" dirty="0">
                <a:solidFill>
                  <a:srgbClr val="1F2328"/>
                </a:solidFill>
                <a:latin typeface="Calibri"/>
                <a:ea typeface="맑은 고딕"/>
                <a:cs typeface="Calibri"/>
              </a:rPr>
              <a:t>   </a:t>
            </a:r>
            <a:r>
              <a:rPr lang="ko-KR" altLang="en-US" sz="1950" b="1" dirty="0">
                <a:solidFill>
                  <a:srgbClr val="1E2A5A"/>
                </a:solidFill>
                <a:latin typeface="맑은 고딕"/>
                <a:ea typeface="맑은 고딕"/>
                <a:cs typeface="맑은 고딕"/>
              </a:rPr>
              <a:t>⑪</a:t>
            </a:r>
            <a:r>
              <a:rPr lang="en-US" altLang="ko-KR" sz="1950" b="0"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Then the ice melted, and three carp suddenly came out of the water.</a:t>
            </a:r>
            <a:r>
              <a:rPr lang="en-US" altLang="ko-KR" sz="1950" b="0" dirty="0">
                <a:solidFill>
                  <a:srgbClr val="1F2328"/>
                </a:solidFill>
                <a:latin typeface="Calibri"/>
                <a:ea typeface="맑은 고딕"/>
                <a:cs typeface="Calibri"/>
              </a:rPr>
              <a:t>   </a:t>
            </a:r>
            <a:r>
              <a:rPr lang="ko-KR" altLang="en-US" sz="1950" b="1" dirty="0">
                <a:solidFill>
                  <a:srgbClr val="1E2A5A"/>
                </a:solidFill>
                <a:latin typeface="맑은 고딕"/>
                <a:ea typeface="맑은 고딕"/>
                <a:cs typeface="맑은 고딕"/>
              </a:rPr>
              <a:t>⑫</a:t>
            </a:r>
            <a:r>
              <a:rPr lang="en-US" altLang="ko-KR" sz="1950" b="0"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The man went back home and cooked the fish for his mother.</a:t>
            </a:r>
            <a:r>
              <a:rPr lang="en-US" altLang="ko-KR" sz="1950" b="0" dirty="0">
                <a:solidFill>
                  <a:srgbClr val="1F2328"/>
                </a:solidFill>
                <a:latin typeface="Calibri"/>
                <a:ea typeface="맑은 고딕"/>
                <a:cs typeface="Calibri"/>
              </a:rPr>
              <a:t>   </a:t>
            </a:r>
            <a:r>
              <a:rPr lang="ko-KR" altLang="en-US" sz="1950" b="1" dirty="0">
                <a:solidFill>
                  <a:srgbClr val="1E2A5A"/>
                </a:solidFill>
                <a:latin typeface="맑은 고딕"/>
                <a:ea typeface="맑은 고딕"/>
                <a:cs typeface="맑은 고딕"/>
              </a:rPr>
              <a:t>⑬</a:t>
            </a:r>
            <a:r>
              <a:rPr lang="en-US" altLang="ko-KR" sz="1950" b="0"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Then his mother got well.</a:t>
            </a:r>
            <a:endParaRPr lang="en-US" altLang="ko-KR" sz="1950" b="0" dirty="0">
              <a:solidFill>
                <a:srgbClr val="1F2328"/>
              </a:solidFill>
              <a:latin typeface="Calibri"/>
              <a:ea typeface="맑은 고딕"/>
              <a:cs typeface="Calibri"/>
            </a:endParaRPr>
          </a:p>
        </p:txBody>
      </p:sp>
      <p:sp>
        <p:nvSpPr>
          <p:cNvPr id="9" name="rv_g01"/>
          <p:cNvSpPr txBox="1"/>
          <p:nvPr/>
        </p:nvSpPr>
        <p:spPr>
          <a:xfrm>
            <a:off x="457200" y="950976"/>
            <a:ext cx="11277295" cy="5126736"/>
          </a:xfrm>
          <a:prstGeom prst="rect">
            <a:avLst/>
          </a:prstGeom>
          <a:noFill/>
        </p:spPr>
        <p:txBody>
          <a:bodyPr wrap="square" lIns="228600" tIns="155448" rIns="228600" bIns="155448" anchor="t" rtlCol="0">
            <a:noAutofit/>
          </a:bodyPr>
          <a:lstStyle/>
          <a:p>
            <a:pPr algn="l">
              <a:lnSpc>
                <a:spcPts val="3160"/>
              </a:lnSpc>
              <a:spcBef>
                <a:spcPts val="0"/>
              </a:spcBef>
              <a:spcAft>
                <a:spcPts val="0"/>
              </a:spcAft>
              <a:buNone/>
            </a:pPr>
            <a:r>
              <a:rPr lang="ko-KR" altLang="en-US" sz="1950" b="1" dirty="0">
                <a:solidFill>
                  <a:srgbClr val="1E2A5A">
                    <a:alpha val="0"/>
                  </a:srgbClr>
                </a:solidFill>
                <a:latin typeface="맑은 고딕"/>
                <a:ea typeface="맑은 고딕"/>
                <a:cs typeface="맑은 고딕"/>
              </a:rPr>
              <a:t>①</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animals or objects in Munjado are not just decorations.</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②</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They often are symbolic.</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③</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For example, carp in the paintings of hyo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symbolizes</a:t>
            </a:r>
            <a:r>
              <a:rPr lang="en-US" altLang="ko-KR" sz="1950" b="1" dirty="0">
                <a:solidFill>
                  <a:srgbClr val="1F2328">
                    <a:alpha val="0"/>
                  </a:srgbClr>
                </a:solidFill>
                <a:latin typeface="Calibri"/>
                <a:ea typeface="맑은 고딕"/>
                <a:cs typeface="Calibri"/>
              </a:rPr>
              <a:t> / </a:t>
            </a:r>
            <a:r>
              <a:rPr lang="en-US" altLang="ko-KR" sz="1950" b="1" dirty="0">
                <a:solidFill>
                  <a:srgbClr val="C00000"/>
                </a:solidFill>
                <a:highlight>
                  <a:srgbClr val="F3F5F9"/>
                </a:highlight>
                <a:latin typeface="Calibri"/>
                <a:ea typeface="맑은 고딕"/>
                <a:cs typeface="Calibri"/>
              </a:rPr>
              <a:t>symbolize</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respect for parents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because of</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because</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an old story.</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④</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story goes as follows.</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⑤</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Once upon a time, a man lived with his old mother.</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⑥</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One winter, the man’s mother became ill and couldn’t eat anything.</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⑦</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 one very cold day, the mother said to the man, “It would be wonderful if I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can</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could</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eat fresh fish.”</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⑧</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went out to the river, but it was completely frozen.</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⑨</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It was impossible for him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to catch</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catching</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any fish.</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⑩</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was so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disappointed</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disappointing</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that he cried out to the sky, “What should I do? Please help me.”</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⑪</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Then the ice melted, and three carp suddenly came out of the water.</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⑫</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went back home and cooked the fish for his mother.</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⑬</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Then his mother got well.</a:t>
            </a:r>
            <a:endParaRPr lang="en-US" altLang="ko-KR" sz="1950" b="0" dirty="0">
              <a:solidFill>
                <a:srgbClr val="1F2328"/>
              </a:solidFill>
              <a:latin typeface="Calibri"/>
              <a:ea typeface="맑은 고딕"/>
              <a:cs typeface="Calibri"/>
            </a:endParaRPr>
          </a:p>
        </p:txBody>
      </p:sp>
      <p:sp>
        <p:nvSpPr>
          <p:cNvPr id="10" name="rv_g02"/>
          <p:cNvSpPr txBox="1"/>
          <p:nvPr/>
        </p:nvSpPr>
        <p:spPr>
          <a:xfrm>
            <a:off x="457200" y="950976"/>
            <a:ext cx="11277295" cy="5126736"/>
          </a:xfrm>
          <a:prstGeom prst="rect">
            <a:avLst/>
          </a:prstGeom>
          <a:noFill/>
        </p:spPr>
        <p:txBody>
          <a:bodyPr wrap="square" lIns="228600" tIns="155448" rIns="228600" bIns="155448" anchor="t" rtlCol="0">
            <a:noAutofit/>
          </a:bodyPr>
          <a:lstStyle/>
          <a:p>
            <a:pPr algn="l">
              <a:lnSpc>
                <a:spcPts val="3160"/>
              </a:lnSpc>
              <a:spcBef>
                <a:spcPts val="0"/>
              </a:spcBef>
              <a:spcAft>
                <a:spcPts val="0"/>
              </a:spcAft>
              <a:buNone/>
            </a:pPr>
            <a:r>
              <a:rPr lang="ko-KR" altLang="en-US" sz="1950" b="1" dirty="0">
                <a:solidFill>
                  <a:srgbClr val="1E2A5A">
                    <a:alpha val="0"/>
                  </a:srgbClr>
                </a:solidFill>
                <a:latin typeface="맑은 고딕"/>
                <a:ea typeface="맑은 고딕"/>
                <a:cs typeface="맑은 고딕"/>
              </a:rPr>
              <a:t>①</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animals or objects in Munjado are not just decorations.</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②</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They often are symbolic.</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③</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For example, carp in the paintings of hyo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symbolizes</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symbolize</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respect for parents </a:t>
            </a:r>
            <a:r>
              <a:rPr lang="en-US" altLang="ko-KR" sz="1950" b="1" dirty="0">
                <a:solidFill>
                  <a:srgbClr val="1F2328">
                    <a:alpha val="0"/>
                  </a:srgbClr>
                </a:solidFill>
                <a:latin typeface="Calibri"/>
                <a:ea typeface="맑은 고딕"/>
                <a:cs typeface="Calibri"/>
              </a:rPr>
              <a:t>[ </a:t>
            </a:r>
            <a:r>
              <a:rPr lang="en-US" altLang="ko-KR" sz="1950" b="1" dirty="0">
                <a:solidFill>
                  <a:srgbClr val="C00000"/>
                </a:solidFill>
                <a:highlight>
                  <a:srgbClr val="F3F5F9"/>
                </a:highlight>
                <a:latin typeface="Calibri"/>
                <a:ea typeface="맑은 고딕"/>
                <a:cs typeface="Calibri"/>
              </a:rPr>
              <a:t>because of</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because</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an old story.</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④</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story goes as follows.</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⑤</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Once upon a time, a man lived with his old mother.</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⑥</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One winter, the man’s mother became ill and couldn’t eat anything.</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⑦</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 one very cold day, the mother said to the man, “It would be wonderful if I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can</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could</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eat fresh fish.”</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⑧</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went out to the river, but it was completely frozen.</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⑨</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It was impossible for him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to catch</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catching</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any fish.</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⑩</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was so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disappointed</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disappointing</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that he cried out to the sky, “What should I do? Please help me.”</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⑪</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Then the ice melted, and three carp suddenly came out of the water.</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⑫</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went back home and cooked the fish for his mother.</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⑬</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Then his mother got well.</a:t>
            </a:r>
            <a:endParaRPr lang="en-US" altLang="ko-KR" sz="1950" b="0" dirty="0">
              <a:solidFill>
                <a:srgbClr val="1F2328"/>
              </a:solidFill>
              <a:latin typeface="Calibri"/>
              <a:ea typeface="맑은 고딕"/>
              <a:cs typeface="Calibri"/>
            </a:endParaRPr>
          </a:p>
        </p:txBody>
      </p:sp>
      <p:sp>
        <p:nvSpPr>
          <p:cNvPr id="11" name="rv_g03"/>
          <p:cNvSpPr txBox="1"/>
          <p:nvPr/>
        </p:nvSpPr>
        <p:spPr>
          <a:xfrm>
            <a:off x="457200" y="950976"/>
            <a:ext cx="11277295" cy="5126736"/>
          </a:xfrm>
          <a:prstGeom prst="rect">
            <a:avLst/>
          </a:prstGeom>
          <a:noFill/>
        </p:spPr>
        <p:txBody>
          <a:bodyPr wrap="square" lIns="228600" tIns="155448" rIns="228600" bIns="155448" anchor="t" rtlCol="0">
            <a:noAutofit/>
          </a:bodyPr>
          <a:lstStyle/>
          <a:p>
            <a:pPr algn="l">
              <a:lnSpc>
                <a:spcPts val="3160"/>
              </a:lnSpc>
              <a:spcBef>
                <a:spcPts val="0"/>
              </a:spcBef>
              <a:spcAft>
                <a:spcPts val="0"/>
              </a:spcAft>
              <a:buNone/>
            </a:pPr>
            <a:r>
              <a:rPr lang="ko-KR" altLang="en-US" sz="1950" b="1" dirty="0">
                <a:solidFill>
                  <a:srgbClr val="1E2A5A">
                    <a:alpha val="0"/>
                  </a:srgbClr>
                </a:solidFill>
                <a:latin typeface="맑은 고딕"/>
                <a:ea typeface="맑은 고딕"/>
                <a:cs typeface="맑은 고딕"/>
              </a:rPr>
              <a:t>①</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animals or objects in Munjado are not just decorations.</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②</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They often are symbolic.</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③</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For example, carp in the paintings of hyo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symbolizes</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symbolize</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respect for parents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because of</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because</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an old story.</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④</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story goes as follows.</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⑤</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Once upon a time, a man lived with his old mother.</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⑥</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One winter, the man’s mother became ill and couldn’t eat anything.</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⑦</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 one very cold day, the mother said to the man, “It would be wonderful if I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can</a:t>
            </a:r>
            <a:r>
              <a:rPr lang="en-US" altLang="ko-KR" sz="1950" b="1" dirty="0">
                <a:solidFill>
                  <a:srgbClr val="1F2328">
                    <a:alpha val="0"/>
                  </a:srgbClr>
                </a:solidFill>
                <a:latin typeface="Calibri"/>
                <a:ea typeface="맑은 고딕"/>
                <a:cs typeface="Calibri"/>
              </a:rPr>
              <a:t> / </a:t>
            </a:r>
            <a:r>
              <a:rPr lang="en-US" altLang="ko-KR" sz="1950" b="1" dirty="0">
                <a:solidFill>
                  <a:srgbClr val="C00000"/>
                </a:solidFill>
                <a:highlight>
                  <a:srgbClr val="F3F5F9"/>
                </a:highlight>
                <a:latin typeface="Calibri"/>
                <a:ea typeface="맑은 고딕"/>
                <a:cs typeface="Calibri"/>
              </a:rPr>
              <a:t>could</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eat fresh fish.”</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⑧</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went out to the river, but it was completely frozen.</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⑨</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It was impossible for him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to catch</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catching</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any fish.</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⑩</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was so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disappointed</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disappointing</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that he cried out to the sky, “What should I do? Please help me.”</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⑪</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Then the ice melted, and three carp suddenly came out of the water.</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⑫</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went back home and cooked the fish for his mother.</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⑬</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Then his mother got well.</a:t>
            </a:r>
            <a:endParaRPr lang="en-US" altLang="ko-KR" sz="1950" b="0" dirty="0">
              <a:solidFill>
                <a:srgbClr val="1F2328"/>
              </a:solidFill>
              <a:latin typeface="Calibri"/>
              <a:ea typeface="맑은 고딕"/>
              <a:cs typeface="Calibri"/>
            </a:endParaRPr>
          </a:p>
        </p:txBody>
      </p:sp>
      <p:sp>
        <p:nvSpPr>
          <p:cNvPr id="12" name="rv_g04"/>
          <p:cNvSpPr txBox="1"/>
          <p:nvPr/>
        </p:nvSpPr>
        <p:spPr>
          <a:xfrm>
            <a:off x="457200" y="950976"/>
            <a:ext cx="11277295" cy="5126736"/>
          </a:xfrm>
          <a:prstGeom prst="rect">
            <a:avLst/>
          </a:prstGeom>
          <a:noFill/>
        </p:spPr>
        <p:txBody>
          <a:bodyPr wrap="square" lIns="228600" tIns="155448" rIns="228600" bIns="155448" anchor="t" rtlCol="0">
            <a:noAutofit/>
          </a:bodyPr>
          <a:lstStyle/>
          <a:p>
            <a:pPr algn="l">
              <a:lnSpc>
                <a:spcPts val="3160"/>
              </a:lnSpc>
              <a:spcBef>
                <a:spcPts val="0"/>
              </a:spcBef>
              <a:spcAft>
                <a:spcPts val="0"/>
              </a:spcAft>
              <a:buNone/>
            </a:pPr>
            <a:r>
              <a:rPr lang="ko-KR" altLang="en-US" sz="1950" b="1" dirty="0">
                <a:solidFill>
                  <a:srgbClr val="1E2A5A">
                    <a:alpha val="0"/>
                  </a:srgbClr>
                </a:solidFill>
                <a:latin typeface="맑은 고딕"/>
                <a:ea typeface="맑은 고딕"/>
                <a:cs typeface="맑은 고딕"/>
              </a:rPr>
              <a:t>①</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animals or objects in Munjado are not just decorations.</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②</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They often are symbolic.</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③</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For example, carp in the paintings of hyo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symbolizes</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symbolize</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respect for parents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because of</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because</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an old story.</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④</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story goes as follows.</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⑤</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Once upon a time, a man lived with his old mother.</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⑥</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One winter, the man’s mother became ill and couldn’t eat anything.</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⑦</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 one very cold day, the mother said to the man, “It would be wonderful if I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can</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could</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eat fresh fish.”</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⑧</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went out to the river, but it was completely frozen.</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⑨</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It was impossible for him </a:t>
            </a:r>
            <a:r>
              <a:rPr lang="en-US" altLang="ko-KR" sz="1950" b="1" dirty="0">
                <a:solidFill>
                  <a:srgbClr val="1F2328">
                    <a:alpha val="0"/>
                  </a:srgbClr>
                </a:solidFill>
                <a:latin typeface="Calibri"/>
                <a:ea typeface="맑은 고딕"/>
                <a:cs typeface="Calibri"/>
              </a:rPr>
              <a:t>[ </a:t>
            </a:r>
            <a:r>
              <a:rPr lang="en-US" altLang="ko-KR" sz="1950" b="1" dirty="0">
                <a:solidFill>
                  <a:srgbClr val="C00000"/>
                </a:solidFill>
                <a:highlight>
                  <a:srgbClr val="F3F5F9"/>
                </a:highlight>
                <a:latin typeface="Calibri"/>
                <a:ea typeface="맑은 고딕"/>
                <a:cs typeface="Calibri"/>
              </a:rPr>
              <a:t>to catch</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catching</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any fish.</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⑩</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was so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disappointed</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disappointing</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that he cried out to the sky, “What should I do? Please help me.”</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⑪</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Then the ice melted, and three carp suddenly came out of the water.</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⑫</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went back home and cooked the fish for his mother.</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⑬</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Then his mother got well.</a:t>
            </a:r>
            <a:endParaRPr lang="en-US" altLang="ko-KR" sz="1950" b="0" dirty="0">
              <a:solidFill>
                <a:srgbClr val="1F2328"/>
              </a:solidFill>
              <a:latin typeface="Calibri"/>
              <a:ea typeface="맑은 고딕"/>
              <a:cs typeface="Calibri"/>
            </a:endParaRPr>
          </a:p>
        </p:txBody>
      </p:sp>
      <p:sp>
        <p:nvSpPr>
          <p:cNvPr id="13" name="rv_g05"/>
          <p:cNvSpPr txBox="1"/>
          <p:nvPr/>
        </p:nvSpPr>
        <p:spPr>
          <a:xfrm>
            <a:off x="457200" y="950976"/>
            <a:ext cx="11277295" cy="5126736"/>
          </a:xfrm>
          <a:prstGeom prst="rect">
            <a:avLst/>
          </a:prstGeom>
          <a:noFill/>
        </p:spPr>
        <p:txBody>
          <a:bodyPr wrap="square" lIns="228600" tIns="155448" rIns="228600" bIns="155448" anchor="t" rtlCol="0">
            <a:noAutofit/>
          </a:bodyPr>
          <a:lstStyle/>
          <a:p>
            <a:pPr algn="l">
              <a:lnSpc>
                <a:spcPts val="3160"/>
              </a:lnSpc>
              <a:spcBef>
                <a:spcPts val="0"/>
              </a:spcBef>
              <a:spcAft>
                <a:spcPts val="0"/>
              </a:spcAft>
              <a:buNone/>
            </a:pPr>
            <a:r>
              <a:rPr lang="ko-KR" altLang="en-US" sz="1950" b="1" dirty="0">
                <a:solidFill>
                  <a:srgbClr val="1E2A5A">
                    <a:alpha val="0"/>
                  </a:srgbClr>
                </a:solidFill>
                <a:latin typeface="맑은 고딕"/>
                <a:ea typeface="맑은 고딕"/>
                <a:cs typeface="맑은 고딕"/>
              </a:rPr>
              <a:t>①</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animals or objects in Munjado are not just decorations.</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②</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They often are symbolic.</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③</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For example, carp in the paintings of hyo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symbolizes</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symbolize</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respect for parents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because of</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because</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an old story.</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④</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story goes as follows.</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⑤</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Once upon a time, a man lived with his old mother.</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⑥</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One winter, the man’s mother became ill and couldn’t eat anything.</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⑦</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 one very cold day, the mother said to the man, “It would be wonderful if I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can</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could</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eat fresh fish.”</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⑧</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went out to the river, but it was completely frozen.</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⑨</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It was impossible for him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to catch</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catching</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any fish.</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⑩</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was so </a:t>
            </a:r>
            <a:r>
              <a:rPr lang="en-US" altLang="ko-KR" sz="1950" b="1" dirty="0">
                <a:solidFill>
                  <a:srgbClr val="1F2328">
                    <a:alpha val="0"/>
                  </a:srgbClr>
                </a:solidFill>
                <a:latin typeface="Calibri"/>
                <a:ea typeface="맑은 고딕"/>
                <a:cs typeface="Calibri"/>
              </a:rPr>
              <a:t>[ </a:t>
            </a:r>
            <a:r>
              <a:rPr lang="en-US" altLang="ko-KR" sz="1950" b="1" dirty="0">
                <a:solidFill>
                  <a:srgbClr val="C00000"/>
                </a:solidFill>
                <a:highlight>
                  <a:srgbClr val="F3F5F9"/>
                </a:highlight>
                <a:latin typeface="Calibri"/>
                <a:ea typeface="맑은 고딕"/>
                <a:cs typeface="Calibri"/>
              </a:rPr>
              <a:t>disappointed</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disappointing</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that he cried out to the sky, “What should I do? Please help me.”</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⑪</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Then the ice melted, and three carp suddenly came out of the water.</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⑫</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went back home and cooked the fish for his mother.</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⑬</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Then his mother got well.</a:t>
            </a:r>
            <a:endParaRPr lang="en-US" altLang="ko-KR" sz="195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②</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4개)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472541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4725416"/>
          </a:xfrm>
          <a:prstGeom prst="rect">
            <a:avLst/>
          </a:prstGeom>
          <a:noFill/>
        </p:spPr>
        <p:txBody>
          <a:bodyPr wrap="square" lIns="228600" tIns="155448" rIns="228600" bIns="155448" anchor="t" rtlCol="0">
            <a:noAutofit/>
          </a:bodyPr>
          <a:lstStyle/>
          <a:p>
            <a:pPr algn="l">
              <a:lnSpc>
                <a:spcPts val="3160"/>
              </a:lnSpc>
              <a:spcBef>
                <a:spcPts val="0"/>
              </a:spcBef>
              <a:spcAft>
                <a:spcPts val="0"/>
              </a:spcAft>
              <a:buNone/>
            </a:pPr>
            <a:r>
              <a:rPr lang="ko-KR" altLang="en-US" sz="1950" b="1" dirty="0">
                <a:solidFill>
                  <a:srgbClr val="1E2A5A"/>
                </a:solidFill>
                <a:latin typeface="맑은 고딕"/>
                <a:ea typeface="맑은 고딕"/>
                <a:cs typeface="맑은 고딕"/>
              </a:rPr>
              <a:t>①</a:t>
            </a:r>
            <a:r>
              <a:rPr lang="en-US" altLang="ko-KR" sz="1950" b="0"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The animals or objects in Munjado </a:t>
            </a:r>
            <a:r>
              <a:rPr lang="en-US" altLang="ko-KR" sz="1950" b="1" dirty="0">
                <a:solidFill>
                  <a:srgbClr val="1F2328"/>
                </a:solidFill>
                <a:latin typeface="Calibri"/>
                <a:ea typeface="맑은 고딕"/>
                <a:cs typeface="Calibri"/>
              </a:rPr>
              <a:t>[ </a:t>
            </a:r>
            <a:r>
              <a:rPr lang="en-US" altLang="ko-KR" sz="1950" b="1" dirty="0">
                <a:solidFill>
                  <a:srgbClr val="1F2328"/>
                </a:solidFill>
                <a:latin typeface="Calibri"/>
                <a:ea typeface="맑은 고딕"/>
                <a:cs typeface="Calibri"/>
              </a:rPr>
              <a:t>are not</a:t>
            </a:r>
            <a:r>
              <a:rPr lang="en-US" altLang="ko-KR" sz="1950" b="1" dirty="0">
                <a:solidFill>
                  <a:srgbClr val="1F2328"/>
                </a:solidFill>
                <a:latin typeface="Calibri"/>
                <a:ea typeface="맑은 고딕"/>
                <a:cs typeface="Calibri"/>
              </a:rPr>
              <a:t> / </a:t>
            </a:r>
            <a:r>
              <a:rPr lang="en-US" altLang="ko-KR" sz="1950" b="1" dirty="0">
                <a:solidFill>
                  <a:srgbClr val="1F2328"/>
                </a:solidFill>
                <a:latin typeface="Calibri"/>
                <a:ea typeface="맑은 고딕"/>
                <a:cs typeface="Calibri"/>
              </a:rPr>
              <a:t>is not</a:t>
            </a:r>
            <a:r>
              <a:rPr lang="en-US" altLang="ko-KR" sz="1950" b="1"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 just decorations.</a:t>
            </a:r>
            <a:r>
              <a:rPr lang="en-US" altLang="ko-KR" sz="1950" b="0" dirty="0">
                <a:solidFill>
                  <a:srgbClr val="1F2328"/>
                </a:solidFill>
                <a:latin typeface="Calibri"/>
                <a:ea typeface="맑은 고딕"/>
                <a:cs typeface="Calibri"/>
              </a:rPr>
              <a:t>   </a:t>
            </a:r>
            <a:r>
              <a:rPr lang="ko-KR" altLang="en-US" sz="1950" b="1" dirty="0">
                <a:solidFill>
                  <a:srgbClr val="1E2A5A"/>
                </a:solidFill>
                <a:latin typeface="맑은 고딕"/>
                <a:ea typeface="맑은 고딕"/>
                <a:cs typeface="맑은 고딕"/>
              </a:rPr>
              <a:t>②</a:t>
            </a:r>
            <a:r>
              <a:rPr lang="en-US" altLang="ko-KR" sz="1950" b="0"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They often are symbolic.</a:t>
            </a:r>
            <a:r>
              <a:rPr lang="en-US" altLang="ko-KR" sz="1950" b="0" dirty="0">
                <a:solidFill>
                  <a:srgbClr val="1F2328"/>
                </a:solidFill>
                <a:latin typeface="Calibri"/>
                <a:ea typeface="맑은 고딕"/>
                <a:cs typeface="Calibri"/>
              </a:rPr>
              <a:t>   </a:t>
            </a:r>
            <a:r>
              <a:rPr lang="ko-KR" altLang="en-US" sz="1950" b="1" dirty="0">
                <a:solidFill>
                  <a:srgbClr val="1E2A5A"/>
                </a:solidFill>
                <a:latin typeface="맑은 고딕"/>
                <a:ea typeface="맑은 고딕"/>
                <a:cs typeface="맑은 고딕"/>
              </a:rPr>
              <a:t>③</a:t>
            </a:r>
            <a:r>
              <a:rPr lang="en-US" altLang="ko-KR" sz="1950" b="0"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For example, carp in the paintings of hyo symbolize respect for parents because of an old story.</a:t>
            </a:r>
            <a:r>
              <a:rPr lang="en-US" altLang="ko-KR" sz="1950" b="0" dirty="0">
                <a:solidFill>
                  <a:srgbClr val="1F2328"/>
                </a:solidFill>
                <a:latin typeface="Calibri"/>
                <a:ea typeface="맑은 고딕"/>
                <a:cs typeface="Calibri"/>
              </a:rPr>
              <a:t>   </a:t>
            </a:r>
            <a:r>
              <a:rPr lang="ko-KR" altLang="en-US" sz="1950" b="1" dirty="0">
                <a:solidFill>
                  <a:srgbClr val="1E2A5A"/>
                </a:solidFill>
                <a:latin typeface="맑은 고딕"/>
                <a:ea typeface="맑은 고딕"/>
                <a:cs typeface="맑은 고딕"/>
              </a:rPr>
              <a:t>④</a:t>
            </a:r>
            <a:r>
              <a:rPr lang="en-US" altLang="ko-KR" sz="1950" b="0"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The story goes as follows.</a:t>
            </a:r>
            <a:r>
              <a:rPr lang="en-US" altLang="ko-KR" sz="1950" b="0" dirty="0">
                <a:solidFill>
                  <a:srgbClr val="1F2328"/>
                </a:solidFill>
                <a:latin typeface="Calibri"/>
                <a:ea typeface="맑은 고딕"/>
                <a:cs typeface="Calibri"/>
              </a:rPr>
              <a:t>   </a:t>
            </a:r>
            <a:r>
              <a:rPr lang="ko-KR" altLang="en-US" sz="1950" b="1" dirty="0">
                <a:solidFill>
                  <a:srgbClr val="1E2A5A"/>
                </a:solidFill>
                <a:latin typeface="맑은 고딕"/>
                <a:ea typeface="맑은 고딕"/>
                <a:cs typeface="맑은 고딕"/>
              </a:rPr>
              <a:t>⑤</a:t>
            </a:r>
            <a:r>
              <a:rPr lang="en-US" altLang="ko-KR" sz="1950" b="0"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Once upon a time, a man lived with his old mother.</a:t>
            </a:r>
            <a:r>
              <a:rPr lang="en-US" altLang="ko-KR" sz="1950" b="0" dirty="0">
                <a:solidFill>
                  <a:srgbClr val="1F2328"/>
                </a:solidFill>
                <a:latin typeface="Calibri"/>
                <a:ea typeface="맑은 고딕"/>
                <a:cs typeface="Calibri"/>
              </a:rPr>
              <a:t>   </a:t>
            </a:r>
            <a:r>
              <a:rPr lang="ko-KR" altLang="en-US" sz="1950" b="1" dirty="0">
                <a:solidFill>
                  <a:srgbClr val="1E2A5A"/>
                </a:solidFill>
                <a:latin typeface="맑은 고딕"/>
                <a:ea typeface="맑은 고딕"/>
                <a:cs typeface="맑은 고딕"/>
              </a:rPr>
              <a:t>⑥</a:t>
            </a:r>
            <a:r>
              <a:rPr lang="en-US" altLang="ko-KR" sz="1950" b="0"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One winter, the man’s mother became ill and couldn’t eat anything.</a:t>
            </a:r>
            <a:r>
              <a:rPr lang="en-US" altLang="ko-KR" sz="1950" b="0" dirty="0">
                <a:solidFill>
                  <a:srgbClr val="1F2328"/>
                </a:solidFill>
                <a:latin typeface="Calibri"/>
                <a:ea typeface="맑은 고딕"/>
                <a:cs typeface="Calibri"/>
              </a:rPr>
              <a:t>   </a:t>
            </a:r>
            <a:r>
              <a:rPr lang="ko-KR" altLang="en-US" sz="1950" b="1" dirty="0">
                <a:solidFill>
                  <a:srgbClr val="1E2A5A"/>
                </a:solidFill>
                <a:latin typeface="맑은 고딕"/>
                <a:ea typeface="맑은 고딕"/>
                <a:cs typeface="맑은 고딕"/>
              </a:rPr>
              <a:t>⑦</a:t>
            </a:r>
            <a:r>
              <a:rPr lang="en-US" altLang="ko-KR" sz="1950" b="0"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On one very cold day, the mother said to the man, “It would be wonderful if I could eat fresh fish.”</a:t>
            </a:r>
            <a:r>
              <a:rPr lang="en-US" altLang="ko-KR" sz="1950" b="0" dirty="0">
                <a:solidFill>
                  <a:srgbClr val="1F2328"/>
                </a:solidFill>
                <a:latin typeface="Calibri"/>
                <a:ea typeface="맑은 고딕"/>
                <a:cs typeface="Calibri"/>
              </a:rPr>
              <a:t>   </a:t>
            </a:r>
            <a:r>
              <a:rPr lang="ko-KR" altLang="en-US" sz="1950" b="1" dirty="0">
                <a:solidFill>
                  <a:srgbClr val="1E2A5A"/>
                </a:solidFill>
                <a:latin typeface="맑은 고딕"/>
                <a:ea typeface="맑은 고딕"/>
                <a:cs typeface="맑은 고딕"/>
              </a:rPr>
              <a:t>⑧</a:t>
            </a:r>
            <a:r>
              <a:rPr lang="en-US" altLang="ko-KR" sz="1950" b="0"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The man went out to the river, but it was completely </a:t>
            </a:r>
            <a:r>
              <a:rPr lang="en-US" altLang="ko-KR" sz="1950" b="1" dirty="0">
                <a:solidFill>
                  <a:srgbClr val="1F2328"/>
                </a:solidFill>
                <a:latin typeface="Calibri"/>
                <a:ea typeface="맑은 고딕"/>
                <a:cs typeface="Calibri"/>
              </a:rPr>
              <a:t>[ </a:t>
            </a:r>
            <a:r>
              <a:rPr lang="en-US" altLang="ko-KR" sz="1950" b="1" dirty="0">
                <a:solidFill>
                  <a:srgbClr val="1F2328"/>
                </a:solidFill>
                <a:latin typeface="Calibri"/>
                <a:ea typeface="맑은 고딕"/>
                <a:cs typeface="Calibri"/>
              </a:rPr>
              <a:t>frozen</a:t>
            </a:r>
            <a:r>
              <a:rPr lang="en-US" altLang="ko-KR" sz="1950" b="1" dirty="0">
                <a:solidFill>
                  <a:srgbClr val="1F2328"/>
                </a:solidFill>
                <a:latin typeface="Calibri"/>
                <a:ea typeface="맑은 고딕"/>
                <a:cs typeface="Calibri"/>
              </a:rPr>
              <a:t> / </a:t>
            </a:r>
            <a:r>
              <a:rPr lang="en-US" altLang="ko-KR" sz="1950" b="1" dirty="0">
                <a:solidFill>
                  <a:srgbClr val="1F2328"/>
                </a:solidFill>
                <a:latin typeface="Calibri"/>
                <a:ea typeface="맑은 고딕"/>
                <a:cs typeface="Calibri"/>
              </a:rPr>
              <a:t>freezing</a:t>
            </a:r>
            <a:r>
              <a:rPr lang="en-US" altLang="ko-KR" sz="1950" b="1"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a:t>
            </a:r>
            <a:r>
              <a:rPr lang="en-US" altLang="ko-KR" sz="1950" b="0" dirty="0">
                <a:solidFill>
                  <a:srgbClr val="1F2328"/>
                </a:solidFill>
                <a:latin typeface="Calibri"/>
                <a:ea typeface="맑은 고딕"/>
                <a:cs typeface="Calibri"/>
              </a:rPr>
              <a:t>   </a:t>
            </a:r>
            <a:r>
              <a:rPr lang="ko-KR" altLang="en-US" sz="1950" b="1" dirty="0">
                <a:solidFill>
                  <a:srgbClr val="1E2A5A"/>
                </a:solidFill>
                <a:latin typeface="맑은 고딕"/>
                <a:ea typeface="맑은 고딕"/>
                <a:cs typeface="맑은 고딕"/>
              </a:rPr>
              <a:t>⑨</a:t>
            </a:r>
            <a:r>
              <a:rPr lang="en-US" altLang="ko-KR" sz="1950" b="0"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It was impossible for him to catch any fish.</a:t>
            </a:r>
            <a:r>
              <a:rPr lang="en-US" altLang="ko-KR" sz="1950" b="0" dirty="0">
                <a:solidFill>
                  <a:srgbClr val="1F2328"/>
                </a:solidFill>
                <a:latin typeface="Calibri"/>
                <a:ea typeface="맑은 고딕"/>
                <a:cs typeface="Calibri"/>
              </a:rPr>
              <a:t>   </a:t>
            </a:r>
            <a:r>
              <a:rPr lang="ko-KR" altLang="en-US" sz="1950" b="1" dirty="0">
                <a:solidFill>
                  <a:srgbClr val="1E2A5A"/>
                </a:solidFill>
                <a:latin typeface="맑은 고딕"/>
                <a:ea typeface="맑은 고딕"/>
                <a:cs typeface="맑은 고딕"/>
              </a:rPr>
              <a:t>⑩</a:t>
            </a:r>
            <a:r>
              <a:rPr lang="en-US" altLang="ko-KR" sz="1950" b="0"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The man was so disappointed that he cried out to the sky, “What should I do? Please help me.”</a:t>
            </a:r>
            <a:r>
              <a:rPr lang="en-US" altLang="ko-KR" sz="1950" b="0" dirty="0">
                <a:solidFill>
                  <a:srgbClr val="1F2328"/>
                </a:solidFill>
                <a:latin typeface="Calibri"/>
                <a:ea typeface="맑은 고딕"/>
                <a:cs typeface="Calibri"/>
              </a:rPr>
              <a:t>   </a:t>
            </a:r>
            <a:r>
              <a:rPr lang="ko-KR" altLang="en-US" sz="1950" b="1" dirty="0">
                <a:solidFill>
                  <a:srgbClr val="1E2A5A"/>
                </a:solidFill>
                <a:latin typeface="맑은 고딕"/>
                <a:ea typeface="맑은 고딕"/>
                <a:cs typeface="맑은 고딕"/>
              </a:rPr>
              <a:t>⑪</a:t>
            </a:r>
            <a:r>
              <a:rPr lang="en-US" altLang="ko-KR" sz="1950" b="0"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Then the ice </a:t>
            </a:r>
            <a:r>
              <a:rPr lang="en-US" altLang="ko-KR" sz="1950" b="1" dirty="0">
                <a:solidFill>
                  <a:srgbClr val="1F2328"/>
                </a:solidFill>
                <a:latin typeface="Calibri"/>
                <a:ea typeface="맑은 고딕"/>
                <a:cs typeface="Calibri"/>
              </a:rPr>
              <a:t>[ </a:t>
            </a:r>
            <a:r>
              <a:rPr lang="en-US" altLang="ko-KR" sz="1950" b="1" dirty="0">
                <a:solidFill>
                  <a:srgbClr val="1F2328"/>
                </a:solidFill>
                <a:latin typeface="Calibri"/>
                <a:ea typeface="맑은 고딕"/>
                <a:cs typeface="Calibri"/>
              </a:rPr>
              <a:t>melted</a:t>
            </a:r>
            <a:r>
              <a:rPr lang="en-US" altLang="ko-KR" sz="1950" b="1" dirty="0">
                <a:solidFill>
                  <a:srgbClr val="1F2328"/>
                </a:solidFill>
                <a:latin typeface="Calibri"/>
                <a:ea typeface="맑은 고딕"/>
                <a:cs typeface="Calibri"/>
              </a:rPr>
              <a:t> / </a:t>
            </a:r>
            <a:r>
              <a:rPr lang="en-US" altLang="ko-KR" sz="1950" b="1" dirty="0">
                <a:solidFill>
                  <a:srgbClr val="1F2328"/>
                </a:solidFill>
                <a:latin typeface="Calibri"/>
                <a:ea typeface="맑은 고딕"/>
                <a:cs typeface="Calibri"/>
              </a:rPr>
              <a:t>was melted</a:t>
            </a:r>
            <a:r>
              <a:rPr lang="en-US" altLang="ko-KR" sz="1950" b="1"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 and three carp suddenly came out of the water.</a:t>
            </a:r>
            <a:r>
              <a:rPr lang="en-US" altLang="ko-KR" sz="1950" b="0" dirty="0">
                <a:solidFill>
                  <a:srgbClr val="1F2328"/>
                </a:solidFill>
                <a:latin typeface="Calibri"/>
                <a:ea typeface="맑은 고딕"/>
                <a:cs typeface="Calibri"/>
              </a:rPr>
              <a:t>   </a:t>
            </a:r>
            <a:r>
              <a:rPr lang="ko-KR" altLang="en-US" sz="1950" b="1" dirty="0">
                <a:solidFill>
                  <a:srgbClr val="1E2A5A"/>
                </a:solidFill>
                <a:latin typeface="맑은 고딕"/>
                <a:ea typeface="맑은 고딕"/>
                <a:cs typeface="맑은 고딕"/>
              </a:rPr>
              <a:t>⑫</a:t>
            </a:r>
            <a:r>
              <a:rPr lang="en-US" altLang="ko-KR" sz="1950" b="0"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The man went back home and cooked the fish </a:t>
            </a:r>
            <a:r>
              <a:rPr lang="en-US" altLang="ko-KR" sz="1950" b="1" dirty="0">
                <a:solidFill>
                  <a:srgbClr val="1F2328"/>
                </a:solidFill>
                <a:latin typeface="Calibri"/>
                <a:ea typeface="맑은 고딕"/>
                <a:cs typeface="Calibri"/>
              </a:rPr>
              <a:t>[ </a:t>
            </a:r>
            <a:r>
              <a:rPr lang="en-US" altLang="ko-KR" sz="1950" b="1" dirty="0">
                <a:solidFill>
                  <a:srgbClr val="1F2328"/>
                </a:solidFill>
                <a:latin typeface="Calibri"/>
                <a:ea typeface="맑은 고딕"/>
                <a:cs typeface="Calibri"/>
              </a:rPr>
              <a:t>for his mother</a:t>
            </a:r>
            <a:r>
              <a:rPr lang="en-US" altLang="ko-KR" sz="1950" b="1" dirty="0">
                <a:solidFill>
                  <a:srgbClr val="1F2328"/>
                </a:solidFill>
                <a:latin typeface="Calibri"/>
                <a:ea typeface="맑은 고딕"/>
                <a:cs typeface="Calibri"/>
              </a:rPr>
              <a:t> / </a:t>
            </a:r>
            <a:r>
              <a:rPr lang="en-US" altLang="ko-KR" sz="1950" b="1" dirty="0">
                <a:solidFill>
                  <a:srgbClr val="1F2328"/>
                </a:solidFill>
                <a:latin typeface="Calibri"/>
                <a:ea typeface="맑은 고딕"/>
                <a:cs typeface="Calibri"/>
              </a:rPr>
              <a:t>to his mother</a:t>
            </a:r>
            <a:r>
              <a:rPr lang="en-US" altLang="ko-KR" sz="1950" b="1"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a:t>
            </a:r>
            <a:r>
              <a:rPr lang="en-US" altLang="ko-KR" sz="1950" b="0" dirty="0">
                <a:solidFill>
                  <a:srgbClr val="1F2328"/>
                </a:solidFill>
                <a:latin typeface="Calibri"/>
                <a:ea typeface="맑은 고딕"/>
                <a:cs typeface="Calibri"/>
              </a:rPr>
              <a:t>   </a:t>
            </a:r>
            <a:r>
              <a:rPr lang="ko-KR" altLang="en-US" sz="1950" b="1" dirty="0">
                <a:solidFill>
                  <a:srgbClr val="1E2A5A"/>
                </a:solidFill>
                <a:latin typeface="맑은 고딕"/>
                <a:ea typeface="맑은 고딕"/>
                <a:cs typeface="맑은 고딕"/>
              </a:rPr>
              <a:t>⑬</a:t>
            </a:r>
            <a:r>
              <a:rPr lang="en-US" altLang="ko-KR" sz="1950" b="0" dirty="0">
                <a:solidFill>
                  <a:srgbClr val="1F2328"/>
                </a:solidFill>
                <a:latin typeface="Calibri"/>
                <a:ea typeface="맑은 고딕"/>
                <a:cs typeface="Calibri"/>
              </a:rPr>
              <a:t> </a:t>
            </a:r>
            <a:r>
              <a:rPr lang="en-US" altLang="ko-KR" sz="1950" b="0" dirty="0">
                <a:solidFill>
                  <a:srgbClr val="1F2328"/>
                </a:solidFill>
                <a:latin typeface="Calibri"/>
                <a:ea typeface="맑은 고딕"/>
                <a:cs typeface="Calibri"/>
              </a:rPr>
              <a:t>Then his mother got well.</a:t>
            </a:r>
            <a:endParaRPr lang="en-US" altLang="ko-KR" sz="1950" b="0" dirty="0">
              <a:solidFill>
                <a:srgbClr val="1F2328"/>
              </a:solidFill>
              <a:latin typeface="Calibri"/>
              <a:ea typeface="맑은 고딕"/>
              <a:cs typeface="Calibri"/>
            </a:endParaRPr>
          </a:p>
        </p:txBody>
      </p:sp>
      <p:sp>
        <p:nvSpPr>
          <p:cNvPr id="9" name="rv_g01"/>
          <p:cNvSpPr txBox="1"/>
          <p:nvPr/>
        </p:nvSpPr>
        <p:spPr>
          <a:xfrm>
            <a:off x="457200" y="950976"/>
            <a:ext cx="11277295" cy="4725416"/>
          </a:xfrm>
          <a:prstGeom prst="rect">
            <a:avLst/>
          </a:prstGeom>
          <a:noFill/>
        </p:spPr>
        <p:txBody>
          <a:bodyPr wrap="square" lIns="228600" tIns="155448" rIns="228600" bIns="155448" anchor="t" rtlCol="0">
            <a:noAutofit/>
          </a:bodyPr>
          <a:lstStyle/>
          <a:p>
            <a:pPr algn="l">
              <a:lnSpc>
                <a:spcPts val="3160"/>
              </a:lnSpc>
              <a:spcBef>
                <a:spcPts val="0"/>
              </a:spcBef>
              <a:spcAft>
                <a:spcPts val="0"/>
              </a:spcAft>
              <a:buNone/>
            </a:pPr>
            <a:r>
              <a:rPr lang="ko-KR" altLang="en-US" sz="1950" b="1" dirty="0">
                <a:solidFill>
                  <a:srgbClr val="1E2A5A">
                    <a:alpha val="0"/>
                  </a:srgbClr>
                </a:solidFill>
                <a:latin typeface="맑은 고딕"/>
                <a:ea typeface="맑은 고딕"/>
                <a:cs typeface="맑은 고딕"/>
              </a:rPr>
              <a:t>①</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animals or objects in Munjado </a:t>
            </a:r>
            <a:r>
              <a:rPr lang="en-US" altLang="ko-KR" sz="1950" b="1" dirty="0">
                <a:solidFill>
                  <a:srgbClr val="1F2328">
                    <a:alpha val="0"/>
                  </a:srgbClr>
                </a:solidFill>
                <a:latin typeface="Calibri"/>
                <a:ea typeface="맑은 고딕"/>
                <a:cs typeface="Calibri"/>
              </a:rPr>
              <a:t>[ </a:t>
            </a:r>
            <a:r>
              <a:rPr lang="en-US" altLang="ko-KR" sz="1950" b="1" dirty="0">
                <a:solidFill>
                  <a:srgbClr val="C00000"/>
                </a:solidFill>
                <a:highlight>
                  <a:srgbClr val="F3F5F9"/>
                </a:highlight>
                <a:latin typeface="Calibri"/>
                <a:ea typeface="맑은 고딕"/>
                <a:cs typeface="Calibri"/>
              </a:rPr>
              <a:t>are not</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is not</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just decorations.</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②</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They often are symbolic.</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③</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For example, carp in the paintings of hyo symbolize respect for parents because of an old story.</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④</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story goes as follows.</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⑤</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Once upon a time, a man lived with his old mother.</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⑥</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One winter, the man’s mother became ill and couldn’t eat anything.</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⑦</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 one very cold day, the mother said to the man, “It would be wonderful if I could eat fresh fish.”</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⑧</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went out to the river, but it was completely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frozen</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freezing</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⑨</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It was impossible for him to catch any fish.</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⑩</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was so disappointed that he cried out to the sky, “What should I do? Please help me.”</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⑪</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Then the ice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melted</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was melted</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and three carp suddenly came out of the water.</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⑫</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went back home and cooked the fish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for his mother</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to his mother</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⑬</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Then his mother got well.</a:t>
            </a:r>
            <a:endParaRPr lang="en-US" altLang="ko-KR" sz="1950" b="0" dirty="0">
              <a:solidFill>
                <a:srgbClr val="1F2328"/>
              </a:solidFill>
              <a:latin typeface="Calibri"/>
              <a:ea typeface="맑은 고딕"/>
              <a:cs typeface="Calibri"/>
            </a:endParaRPr>
          </a:p>
        </p:txBody>
      </p:sp>
      <p:sp>
        <p:nvSpPr>
          <p:cNvPr id="10" name="rv_g02"/>
          <p:cNvSpPr txBox="1"/>
          <p:nvPr/>
        </p:nvSpPr>
        <p:spPr>
          <a:xfrm>
            <a:off x="457200" y="950976"/>
            <a:ext cx="11277295" cy="4725416"/>
          </a:xfrm>
          <a:prstGeom prst="rect">
            <a:avLst/>
          </a:prstGeom>
          <a:noFill/>
        </p:spPr>
        <p:txBody>
          <a:bodyPr wrap="square" lIns="228600" tIns="155448" rIns="228600" bIns="155448" anchor="t" rtlCol="0">
            <a:noAutofit/>
          </a:bodyPr>
          <a:lstStyle/>
          <a:p>
            <a:pPr algn="l">
              <a:lnSpc>
                <a:spcPts val="3160"/>
              </a:lnSpc>
              <a:spcBef>
                <a:spcPts val="0"/>
              </a:spcBef>
              <a:spcAft>
                <a:spcPts val="0"/>
              </a:spcAft>
              <a:buNone/>
            </a:pPr>
            <a:r>
              <a:rPr lang="ko-KR" altLang="en-US" sz="1950" b="1" dirty="0">
                <a:solidFill>
                  <a:srgbClr val="1E2A5A">
                    <a:alpha val="0"/>
                  </a:srgbClr>
                </a:solidFill>
                <a:latin typeface="맑은 고딕"/>
                <a:ea typeface="맑은 고딕"/>
                <a:cs typeface="맑은 고딕"/>
              </a:rPr>
              <a:t>①</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animals or objects in Munjado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are not</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is not</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just decorations.</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②</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They often are symbolic.</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③</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For example, carp in the paintings of hyo symbolize respect for parents because of an old story.</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④</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story goes as follows.</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⑤</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Once upon a time, a man lived with his old mother.</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⑥</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One winter, the man’s mother became ill and couldn’t eat anything.</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⑦</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 one very cold day, the mother said to the man, “It would be wonderful if I could eat fresh fish.”</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⑧</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went out to the river, but it was completely </a:t>
            </a:r>
            <a:r>
              <a:rPr lang="en-US" altLang="ko-KR" sz="1950" b="1" dirty="0">
                <a:solidFill>
                  <a:srgbClr val="1F2328">
                    <a:alpha val="0"/>
                  </a:srgbClr>
                </a:solidFill>
                <a:latin typeface="Calibri"/>
                <a:ea typeface="맑은 고딕"/>
                <a:cs typeface="Calibri"/>
              </a:rPr>
              <a:t>[ </a:t>
            </a:r>
            <a:r>
              <a:rPr lang="en-US" altLang="ko-KR" sz="1950" b="1" dirty="0">
                <a:solidFill>
                  <a:srgbClr val="C00000"/>
                </a:solidFill>
                <a:highlight>
                  <a:srgbClr val="F3F5F9"/>
                </a:highlight>
                <a:latin typeface="Calibri"/>
                <a:ea typeface="맑은 고딕"/>
                <a:cs typeface="Calibri"/>
              </a:rPr>
              <a:t>frozen</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freezing</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⑨</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It was impossible for him to catch any fish.</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⑩</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was so disappointed that he cried out to the sky, “What should I do? Please help me.”</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⑪</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Then the ice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melted</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was melted</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and three carp suddenly came out of the water.</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⑫</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went back home and cooked the fish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for his mother</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to his mother</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⑬</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Then his mother got well.</a:t>
            </a:r>
            <a:endParaRPr lang="en-US" altLang="ko-KR" sz="1950" b="0" dirty="0">
              <a:solidFill>
                <a:srgbClr val="1F2328"/>
              </a:solidFill>
              <a:latin typeface="Calibri"/>
              <a:ea typeface="맑은 고딕"/>
              <a:cs typeface="Calibri"/>
            </a:endParaRPr>
          </a:p>
        </p:txBody>
      </p:sp>
      <p:sp>
        <p:nvSpPr>
          <p:cNvPr id="11" name="rv_g03"/>
          <p:cNvSpPr txBox="1"/>
          <p:nvPr/>
        </p:nvSpPr>
        <p:spPr>
          <a:xfrm>
            <a:off x="457200" y="950976"/>
            <a:ext cx="11277295" cy="4725416"/>
          </a:xfrm>
          <a:prstGeom prst="rect">
            <a:avLst/>
          </a:prstGeom>
          <a:noFill/>
        </p:spPr>
        <p:txBody>
          <a:bodyPr wrap="square" lIns="228600" tIns="155448" rIns="228600" bIns="155448" anchor="t" rtlCol="0">
            <a:noAutofit/>
          </a:bodyPr>
          <a:lstStyle/>
          <a:p>
            <a:pPr algn="l">
              <a:lnSpc>
                <a:spcPts val="3160"/>
              </a:lnSpc>
              <a:spcBef>
                <a:spcPts val="0"/>
              </a:spcBef>
              <a:spcAft>
                <a:spcPts val="0"/>
              </a:spcAft>
              <a:buNone/>
            </a:pPr>
            <a:r>
              <a:rPr lang="ko-KR" altLang="en-US" sz="1950" b="1" dirty="0">
                <a:solidFill>
                  <a:srgbClr val="1E2A5A">
                    <a:alpha val="0"/>
                  </a:srgbClr>
                </a:solidFill>
                <a:latin typeface="맑은 고딕"/>
                <a:ea typeface="맑은 고딕"/>
                <a:cs typeface="맑은 고딕"/>
              </a:rPr>
              <a:t>①</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animals or objects in Munjado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are not</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is not</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just decorations.</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②</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They often are symbolic.</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③</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For example, carp in the paintings of hyo symbolize respect for parents because of an old story.</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④</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story goes as follows.</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⑤</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Once upon a time, a man lived with his old mother.</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⑥</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One winter, the man’s mother became ill and couldn’t eat anything.</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⑦</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 one very cold day, the mother said to the man, “It would be wonderful if I could eat fresh fish.”</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⑧</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went out to the river, but it was completely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frozen</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freezing</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⑨</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It was impossible for him to catch any fish.</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⑩</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was so disappointed that he cried out to the sky, “What should I do? Please help me.”</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⑪</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Then the ice </a:t>
            </a:r>
            <a:r>
              <a:rPr lang="en-US" altLang="ko-KR" sz="1950" b="1" dirty="0">
                <a:solidFill>
                  <a:srgbClr val="1F2328">
                    <a:alpha val="0"/>
                  </a:srgbClr>
                </a:solidFill>
                <a:latin typeface="Calibri"/>
                <a:ea typeface="맑은 고딕"/>
                <a:cs typeface="Calibri"/>
              </a:rPr>
              <a:t>[ </a:t>
            </a:r>
            <a:r>
              <a:rPr lang="en-US" altLang="ko-KR" sz="1950" b="1" dirty="0">
                <a:solidFill>
                  <a:srgbClr val="C00000"/>
                </a:solidFill>
                <a:highlight>
                  <a:srgbClr val="F3F5F9"/>
                </a:highlight>
                <a:latin typeface="Calibri"/>
                <a:ea typeface="맑은 고딕"/>
                <a:cs typeface="Calibri"/>
              </a:rPr>
              <a:t>melted</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was melted</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and three carp suddenly came out of the water.</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⑫</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went back home and cooked the fish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for his mother</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to his mother</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⑬</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Then his mother got well.</a:t>
            </a:r>
            <a:endParaRPr lang="en-US" altLang="ko-KR" sz="1950" b="0" dirty="0">
              <a:solidFill>
                <a:srgbClr val="1F2328"/>
              </a:solidFill>
              <a:latin typeface="Calibri"/>
              <a:ea typeface="맑은 고딕"/>
              <a:cs typeface="Calibri"/>
            </a:endParaRPr>
          </a:p>
        </p:txBody>
      </p:sp>
      <p:sp>
        <p:nvSpPr>
          <p:cNvPr id="12" name="rv_g04"/>
          <p:cNvSpPr txBox="1"/>
          <p:nvPr/>
        </p:nvSpPr>
        <p:spPr>
          <a:xfrm>
            <a:off x="457200" y="950976"/>
            <a:ext cx="11277295" cy="4725416"/>
          </a:xfrm>
          <a:prstGeom prst="rect">
            <a:avLst/>
          </a:prstGeom>
          <a:noFill/>
        </p:spPr>
        <p:txBody>
          <a:bodyPr wrap="square" lIns="228600" tIns="155448" rIns="228600" bIns="155448" anchor="t" rtlCol="0">
            <a:noAutofit/>
          </a:bodyPr>
          <a:lstStyle/>
          <a:p>
            <a:pPr algn="l">
              <a:lnSpc>
                <a:spcPts val="3160"/>
              </a:lnSpc>
              <a:spcBef>
                <a:spcPts val="0"/>
              </a:spcBef>
              <a:spcAft>
                <a:spcPts val="0"/>
              </a:spcAft>
              <a:buNone/>
            </a:pPr>
            <a:r>
              <a:rPr lang="ko-KR" altLang="en-US" sz="1950" b="1" dirty="0">
                <a:solidFill>
                  <a:srgbClr val="1E2A5A">
                    <a:alpha val="0"/>
                  </a:srgbClr>
                </a:solidFill>
                <a:latin typeface="맑은 고딕"/>
                <a:ea typeface="맑은 고딕"/>
                <a:cs typeface="맑은 고딕"/>
              </a:rPr>
              <a:t>①</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animals or objects in Munjado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are not</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is not</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just decorations.</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②</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They often are symbolic.</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③</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For example, carp in the paintings of hyo symbolize respect for parents because of an old story.</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④</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story goes as follows.</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⑤</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Once upon a time, a man lived with his old mother.</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⑥</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One winter, the man’s mother became ill and couldn’t eat anything.</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⑦</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On one very cold day, the mother said to the man, “It would be wonderful if I could eat fresh fish.”</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⑧</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went out to the river, but it was completely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frozen</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freezing</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⑨</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It was impossible for him to catch any fish.</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⑩</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was so disappointed that he cried out to the sky, “What should I do? Please help me.”</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⑪</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Then the ice </a:t>
            </a:r>
            <a:r>
              <a:rPr lang="en-US" altLang="ko-KR" sz="1950" b="1" dirty="0">
                <a:solidFill>
                  <a:srgbClr val="1F2328">
                    <a:alpha val="0"/>
                  </a:srgbClr>
                </a:solidFill>
                <a:latin typeface="Calibri"/>
                <a:ea typeface="맑은 고딕"/>
                <a:cs typeface="Calibri"/>
              </a:rPr>
              <a:t>[ </a:t>
            </a:r>
            <a:r>
              <a:rPr lang="en-US" altLang="ko-KR" sz="1950" b="1" dirty="0">
                <a:solidFill>
                  <a:srgbClr val="1F2328">
                    <a:alpha val="0"/>
                  </a:srgbClr>
                </a:solidFill>
                <a:latin typeface="Calibri"/>
                <a:ea typeface="맑은 고딕"/>
                <a:cs typeface="Calibri"/>
              </a:rPr>
              <a:t>melted</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was melted</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 and three carp suddenly came out of the water.</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⑫</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 man went back home and cooked the fish </a:t>
            </a:r>
            <a:r>
              <a:rPr lang="en-US" altLang="ko-KR" sz="1950" b="1" dirty="0">
                <a:solidFill>
                  <a:srgbClr val="1F2328">
                    <a:alpha val="0"/>
                  </a:srgbClr>
                </a:solidFill>
                <a:latin typeface="Calibri"/>
                <a:ea typeface="맑은 고딕"/>
                <a:cs typeface="Calibri"/>
              </a:rPr>
              <a:t>[ </a:t>
            </a:r>
            <a:r>
              <a:rPr lang="en-US" altLang="ko-KR" sz="1950" b="1" dirty="0">
                <a:solidFill>
                  <a:srgbClr val="C00000"/>
                </a:solidFill>
                <a:highlight>
                  <a:srgbClr val="F3F5F9"/>
                </a:highlight>
                <a:latin typeface="Calibri"/>
                <a:ea typeface="맑은 고딕"/>
                <a:cs typeface="Calibri"/>
              </a:rPr>
              <a:t>for his mother</a:t>
            </a:r>
            <a:r>
              <a:rPr lang="en-US" altLang="ko-KR" sz="1950" b="1" dirty="0">
                <a:solidFill>
                  <a:srgbClr val="1F2328">
                    <a:alpha val="0"/>
                  </a:srgbClr>
                </a:solidFill>
                <a:latin typeface="Calibri"/>
                <a:ea typeface="맑은 고딕"/>
                <a:cs typeface="Calibri"/>
              </a:rPr>
              <a:t> / </a:t>
            </a:r>
            <a:r>
              <a:rPr lang="en-US" altLang="ko-KR" sz="1950" b="1" dirty="0">
                <a:solidFill>
                  <a:srgbClr val="1F2328">
                    <a:alpha val="0"/>
                  </a:srgbClr>
                </a:solidFill>
                <a:latin typeface="Calibri"/>
                <a:ea typeface="맑은 고딕"/>
                <a:cs typeface="Calibri"/>
              </a:rPr>
              <a:t>to his mother</a:t>
            </a:r>
            <a:r>
              <a:rPr lang="en-US" altLang="ko-KR" sz="1950" b="1"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a:t>
            </a:r>
            <a:r>
              <a:rPr lang="en-US" altLang="ko-KR" sz="1950" b="0" dirty="0">
                <a:solidFill>
                  <a:srgbClr val="1F2328">
                    <a:alpha val="0"/>
                  </a:srgbClr>
                </a:solidFill>
                <a:latin typeface="Calibri"/>
                <a:ea typeface="맑은 고딕"/>
                <a:cs typeface="Calibri"/>
              </a:rPr>
              <a:t>   </a:t>
            </a:r>
            <a:r>
              <a:rPr lang="ko-KR" altLang="en-US" sz="1950" b="1" dirty="0">
                <a:solidFill>
                  <a:srgbClr val="1E2A5A">
                    <a:alpha val="0"/>
                  </a:srgbClr>
                </a:solidFill>
                <a:latin typeface="맑은 고딕"/>
                <a:ea typeface="맑은 고딕"/>
                <a:cs typeface="맑은 고딕"/>
              </a:rPr>
              <a:t>⑬</a:t>
            </a:r>
            <a:r>
              <a:rPr lang="en-US" altLang="ko-KR" sz="1950" b="0" dirty="0">
                <a:solidFill>
                  <a:srgbClr val="1F2328">
                    <a:alpha val="0"/>
                  </a:srgbClr>
                </a:solidFill>
                <a:latin typeface="Calibri"/>
                <a:ea typeface="맑은 고딕"/>
                <a:cs typeface="Calibri"/>
              </a:rPr>
              <a:t> </a:t>
            </a:r>
            <a:r>
              <a:rPr lang="en-US" altLang="ko-KR" sz="1950" b="0" dirty="0">
                <a:solidFill>
                  <a:srgbClr val="1F2328">
                    <a:alpha val="0"/>
                  </a:srgbClr>
                </a:solidFill>
                <a:latin typeface="Calibri"/>
                <a:ea typeface="맑은 고딕"/>
                <a:cs typeface="Calibri"/>
              </a:rPr>
              <a:t>Then his mother got well.</a:t>
            </a:r>
            <a:endParaRPr lang="en-US" altLang="ko-KR" sz="195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다음 글의 주제로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10566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105660"/>
          </a:xfrm>
          <a:prstGeom prst="rect">
            <a:avLst/>
          </a:prstGeom>
          <a:noFill/>
        </p:spPr>
        <p:txBody>
          <a:bodyPr wrap="square" lIns="201168" tIns="118872" rIns="201168" bIns="118872" anchor="t" rtlCol="0">
            <a:noAutofit/>
          </a:bodyPr>
          <a:lstStyle/>
          <a:p>
            <a:pPr algn="just">
              <a:lnSpc>
                <a:spcPts val="2060"/>
              </a:lnSpc>
              <a:spcBef>
                <a:spcPts val="0"/>
              </a:spcBef>
              <a:spcAft>
                <a:spcPts val="0"/>
              </a:spcAft>
              <a:buNone/>
            </a:pPr>
            <a:r>
              <a:rPr lang="en-US" altLang="ko-KR" sz="1450" b="0" dirty="0">
                <a:solidFill>
                  <a:srgbClr val="1F2328"/>
                </a:solidFill>
                <a:latin typeface="Calibri"/>
                <a:ea typeface="맑은 고딕"/>
                <a:cs typeface="Calibri"/>
              </a:rPr>
              <a:t>There are other examples of symbolic objects in Munjado.</a:t>
            </a:r>
            <a:r>
              <a:rPr lang="en-US" altLang="ko-KR" sz="1450" b="0" dirty="0">
                <a:solidFill>
                  <a:srgbClr val="1F2328"/>
                </a:solidFill>
                <a:latin typeface="Calibri"/>
                <a:ea typeface="맑은 고딕"/>
                <a:cs typeface="Calibri"/>
              </a:rPr>
              <a:t> They are bamboo in the paintings of the character chung (忠) and lotus flowers in the paintings of ui (義). Bamboo does not bend. It stays green in all kinds of weather. For these reasons, bamboo came to symbolize loyalty to the king. In the case of lotus flowers, they grow in muddy ponds but still bloom beautifully. They thus became a symbol of a person’s will to fight for justice despite difficulties. Munjado was much more than a painting to people of the Joseon dynasty. </a:t>
            </a:r>
            <a:r>
              <a:rPr lang="en-US" altLang="ko-KR" sz="1450" b="0" dirty="0">
                <a:solidFill>
                  <a:srgbClr val="1F2328"/>
                </a:solidFill>
                <a:latin typeface="Calibri"/>
                <a:ea typeface="맑은 고딕"/>
                <a:cs typeface="Calibri"/>
              </a:rPr>
              <a:t>It reminded them of important values that greatly influenced their behaviors and attitudes.</a:t>
            </a:r>
            <a:r>
              <a:rPr lang="en-US" altLang="ko-KR" sz="1450" b="0" dirty="0">
                <a:solidFill>
                  <a:srgbClr val="1F2328"/>
                </a:solidFill>
                <a:latin typeface="Calibri"/>
                <a:ea typeface="맑은 고딕"/>
                <a:cs typeface="Calibri"/>
              </a:rPr>
              <a:t> In particular, for children, Munjado was a study tool. Through it, children in the Joseon dynasty could learn the importance of harmony in family and society.</a:t>
            </a:r>
            <a:endParaRPr lang="en-US" altLang="ko-KR" sz="1450" b="0" dirty="0">
              <a:solidFill>
                <a:srgbClr val="1F2328"/>
              </a:solidFill>
              <a:latin typeface="Calibri"/>
              <a:ea typeface="맑은 고딕"/>
              <a:cs typeface="Calibri"/>
            </a:endParaRPr>
          </a:p>
        </p:txBody>
      </p:sp>
      <p:sp>
        <p:nvSpPr>
          <p:cNvPr id="9" name="rv_evidence_card"/>
          <p:cNvSpPr/>
          <p:nvPr/>
        </p:nvSpPr>
        <p:spPr>
          <a:xfrm>
            <a:off x="457200" y="950976"/>
            <a:ext cx="11277295" cy="210566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105660"/>
          </a:xfrm>
          <a:prstGeom prst="rect">
            <a:avLst/>
          </a:prstGeom>
          <a:noFill/>
        </p:spPr>
        <p:txBody>
          <a:bodyPr wrap="square" lIns="201168" tIns="118872" rIns="201168" bIns="118872" anchor="t" rtlCol="0">
            <a:noAutofit/>
          </a:bodyPr>
          <a:lstStyle/>
          <a:p>
            <a:pPr algn="just">
              <a:lnSpc>
                <a:spcPts val="2060"/>
              </a:lnSpc>
              <a:spcBef>
                <a:spcPts val="0"/>
              </a:spcBef>
              <a:spcAft>
                <a:spcPts val="0"/>
              </a:spcAft>
              <a:buNone/>
            </a:pPr>
            <a:r>
              <a:rPr lang="en-US" altLang="ko-KR" sz="1450" b="0" dirty="0">
                <a:solidFill>
                  <a:srgbClr val="111111"/>
                </a:solidFill>
                <a:highlight>
                  <a:srgbClr val="FFE45C"/>
                </a:highlight>
                <a:latin typeface="Calibri"/>
                <a:ea typeface="맑은 고딕"/>
                <a:cs typeface="Calibri"/>
              </a:rPr>
              <a:t>There are other examples of symbolic objects in Munjado.</a:t>
            </a:r>
            <a:r>
              <a:rPr lang="en-US" altLang="ko-KR" sz="1450" b="0" dirty="0">
                <a:solidFill>
                  <a:srgbClr val="B3BAC6"/>
                </a:solidFill>
                <a:latin typeface="Calibri"/>
                <a:ea typeface="맑은 고딕"/>
                <a:cs typeface="Calibri"/>
              </a:rPr>
              <a:t> They are bamboo in the paintings of the character chung (忠) and lotus flowers in the paintings of ui (義). Bamboo does not bend. It stays green in all kinds of weather. For these reasons, bamboo came to symbolize loyalty to the king. In the case of lotus flowers, they grow in muddy ponds but still bloom beautifully. They thus became a symbol of a person’s will to fight for justice despite difficulties. Munjado was much more than a painting to people of the Joseon dynasty. </a:t>
            </a:r>
            <a:r>
              <a:rPr lang="en-US" altLang="ko-KR" sz="1450" b="0" dirty="0">
                <a:solidFill>
                  <a:srgbClr val="111111"/>
                </a:solidFill>
                <a:highlight>
                  <a:srgbClr val="FFE45C"/>
                </a:highlight>
                <a:latin typeface="Calibri"/>
                <a:ea typeface="맑은 고딕"/>
                <a:cs typeface="Calibri"/>
              </a:rPr>
              <a:t>It reminded them of important values that greatly influenced their behaviors and attitudes.</a:t>
            </a:r>
            <a:r>
              <a:rPr lang="en-US" altLang="ko-KR" sz="1450" b="0" dirty="0">
                <a:solidFill>
                  <a:srgbClr val="B3BAC6"/>
                </a:solidFill>
                <a:latin typeface="Calibri"/>
                <a:ea typeface="맑은 고딕"/>
                <a:cs typeface="Calibri"/>
              </a:rPr>
              <a:t> In particular, for children, Munjado was a study tool. Through it, children in the Joseon dynasty could learn the importance of harmony in family and society.</a:t>
            </a:r>
            <a:endParaRPr lang="en-US" altLang="ko-KR" sz="1450" b="0" dirty="0">
              <a:solidFill>
                <a:srgbClr val="B3BAC6"/>
              </a:solidFill>
              <a:latin typeface="Calibri"/>
              <a:ea typeface="맑은 고딕"/>
              <a:cs typeface="Calibri"/>
            </a:endParaRPr>
          </a:p>
        </p:txBody>
      </p:sp>
      <p:sp>
        <p:nvSpPr>
          <p:cNvPr id="11" name="choice_1"/>
          <p:cNvSpPr txBox="1"/>
          <p:nvPr/>
        </p:nvSpPr>
        <p:spPr>
          <a:xfrm>
            <a:off x="457200" y="3202940"/>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①</a:t>
            </a:r>
            <a:r>
              <a:rPr lang="en-US" altLang="ko-KR" sz="1750" b="0" dirty="0">
                <a:solidFill>
                  <a:srgbClr val="1F2328"/>
                </a:solidFill>
                <a:latin typeface="Calibri"/>
                <a:ea typeface="맑은 고딕"/>
                <a:cs typeface="Calibri"/>
              </a:rPr>
              <a:t>	the best ways to grow bamboo at home</a:t>
            </a:r>
            <a:endParaRPr lang="en-US" altLang="ko-KR" sz="1750" b="0" dirty="0">
              <a:solidFill>
                <a:srgbClr val="1F2328"/>
              </a:solidFill>
              <a:latin typeface="Calibri"/>
              <a:ea typeface="맑은 고딕"/>
              <a:cs typeface="Calibri"/>
            </a:endParaRPr>
          </a:p>
        </p:txBody>
      </p:sp>
      <p:sp>
        <p:nvSpPr>
          <p:cNvPr id="12" name="choice_2"/>
          <p:cNvSpPr txBox="1"/>
          <p:nvPr/>
        </p:nvSpPr>
        <p:spPr>
          <a:xfrm>
            <a:off x="457200" y="3600196"/>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②</a:t>
            </a:r>
            <a:r>
              <a:rPr lang="en-US" altLang="ko-KR" sz="1750" b="0" dirty="0">
                <a:solidFill>
                  <a:srgbClr val="1F2328"/>
                </a:solidFill>
                <a:latin typeface="Calibri"/>
                <a:ea typeface="맑은 고딕"/>
                <a:cs typeface="Calibri"/>
              </a:rPr>
              <a:t>	the meanings of symbols and roles of Munjado</a:t>
            </a:r>
            <a:endParaRPr lang="en-US" altLang="ko-KR" sz="1750" b="0" dirty="0">
              <a:solidFill>
                <a:srgbClr val="1F2328"/>
              </a:solidFill>
              <a:latin typeface="Calibri"/>
              <a:ea typeface="맑은 고딕"/>
              <a:cs typeface="Calibri"/>
            </a:endParaRPr>
          </a:p>
        </p:txBody>
      </p:sp>
      <p:sp>
        <p:nvSpPr>
          <p:cNvPr id="13" name="rv_pick"/>
          <p:cNvSpPr txBox="1"/>
          <p:nvPr/>
        </p:nvSpPr>
        <p:spPr>
          <a:xfrm>
            <a:off x="457200" y="3600196"/>
            <a:ext cx="11277295" cy="369824"/>
          </a:xfrm>
          <a:prstGeom prst="rect">
            <a:avLst/>
          </a:prstGeom>
          <a:solidFill>
            <a:srgbClr val="FFF3C4"/>
          </a:solid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C00000"/>
                </a:solidFill>
                <a:latin typeface="맑은 고딕"/>
                <a:ea typeface="맑은 고딕"/>
                <a:cs typeface="맑은 고딕"/>
              </a:rPr>
              <a:t>②</a:t>
            </a:r>
            <a:r>
              <a:rPr lang="en-US" altLang="ko-KR" sz="1750" b="0" dirty="0">
                <a:solidFill>
                  <a:srgbClr val="C00000"/>
                </a:solidFill>
                <a:latin typeface="Calibri"/>
                <a:ea typeface="맑은 고딕"/>
                <a:cs typeface="Calibri"/>
              </a:rPr>
              <a:t>	the meanings of symbols and roles of Munjado</a:t>
            </a:r>
            <a:endParaRPr lang="en-US" altLang="ko-KR" sz="1750" b="0" dirty="0">
              <a:solidFill>
                <a:srgbClr val="C00000"/>
              </a:solidFill>
              <a:latin typeface="Calibri"/>
              <a:ea typeface="맑은 고딕"/>
              <a:cs typeface="Calibri"/>
            </a:endParaRPr>
          </a:p>
        </p:txBody>
      </p:sp>
      <p:sp>
        <p:nvSpPr>
          <p:cNvPr id="14" name="choice_3"/>
          <p:cNvSpPr txBox="1"/>
          <p:nvPr/>
        </p:nvSpPr>
        <p:spPr>
          <a:xfrm>
            <a:off x="457200" y="3997452"/>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③</a:t>
            </a:r>
            <a:r>
              <a:rPr lang="en-US" altLang="ko-KR" sz="1750" b="0" dirty="0">
                <a:solidFill>
                  <a:srgbClr val="1F2328"/>
                </a:solidFill>
                <a:latin typeface="Calibri"/>
                <a:ea typeface="맑은 고딕"/>
                <a:cs typeface="Calibri"/>
              </a:rPr>
              <a:t>	the history of muddy ponds in Korea</a:t>
            </a:r>
            <a:endParaRPr lang="en-US" altLang="ko-KR" sz="1750" b="0" dirty="0">
              <a:solidFill>
                <a:srgbClr val="1F2328"/>
              </a:solidFill>
              <a:latin typeface="Calibri"/>
              <a:ea typeface="맑은 고딕"/>
              <a:cs typeface="Calibri"/>
            </a:endParaRPr>
          </a:p>
        </p:txBody>
      </p:sp>
      <p:sp>
        <p:nvSpPr>
          <p:cNvPr id="15" name="choice_4"/>
          <p:cNvSpPr txBox="1"/>
          <p:nvPr/>
        </p:nvSpPr>
        <p:spPr>
          <a:xfrm>
            <a:off x="457200" y="4394708"/>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④</a:t>
            </a:r>
            <a:r>
              <a:rPr lang="en-US" altLang="ko-KR" sz="1750" b="0" dirty="0">
                <a:solidFill>
                  <a:srgbClr val="1F2328"/>
                </a:solidFill>
                <a:latin typeface="Calibri"/>
                <a:ea typeface="맑은 고딕"/>
                <a:cs typeface="Calibri"/>
              </a:rPr>
              <a:t>	the reasons lotus flowers bloom in summer</a:t>
            </a:r>
            <a:endParaRPr lang="en-US" altLang="ko-KR" sz="1750" b="0" dirty="0">
              <a:solidFill>
                <a:srgbClr val="1F2328"/>
              </a:solidFill>
              <a:latin typeface="Calibri"/>
              <a:ea typeface="맑은 고딕"/>
              <a:cs typeface="Calibri"/>
            </a:endParaRPr>
          </a:p>
        </p:txBody>
      </p:sp>
      <p:sp>
        <p:nvSpPr>
          <p:cNvPr id="16" name="choice_5"/>
          <p:cNvSpPr txBox="1"/>
          <p:nvPr/>
        </p:nvSpPr>
        <p:spPr>
          <a:xfrm>
            <a:off x="457200" y="4791964"/>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⑤</a:t>
            </a:r>
            <a:r>
              <a:rPr lang="en-US" altLang="ko-KR" sz="1750" b="0" dirty="0">
                <a:solidFill>
                  <a:srgbClr val="1F2328"/>
                </a:solidFill>
                <a:latin typeface="Calibri"/>
                <a:ea typeface="맑은 고딕"/>
                <a:cs typeface="Calibri"/>
              </a:rPr>
              <a:t>	how children drew pictures in Joseon</a:t>
            </a:r>
            <a:endParaRPr lang="en-US" altLang="ko-KR" sz="1750" b="0" dirty="0">
              <a:solidFill>
                <a:srgbClr val="1F2328"/>
              </a:solidFill>
              <a:latin typeface="Calibri"/>
              <a:ea typeface="맑은 고딕"/>
              <a:cs typeface="Calibri"/>
            </a:endParaRPr>
          </a:p>
        </p:txBody>
      </p:sp>
      <p:sp>
        <p:nvSpPr>
          <p:cNvPr id="17" name="rv_answer"/>
          <p:cNvSpPr/>
          <p:nvPr/>
        </p:nvSpPr>
        <p:spPr>
          <a:xfrm>
            <a:off x="457200" y="527151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 </a:t>
            </a:r>
            <a:r>
              <a:rPr lang="en-US" altLang="ko-KR" sz="1900" b="1" dirty="0">
                <a:solidFill>
                  <a:srgbClr val="5A4200"/>
                </a:solidFill>
                <a:latin typeface="Calibri"/>
                <a:ea typeface="맑은 고딕"/>
                <a:cs typeface="Calibri"/>
              </a:rPr>
              <a:t>the meanings of symbols and roles of Munjado</a:t>
            </a:r>
            <a:endParaRPr lang="en-US" altLang="ko-KR" sz="1900" b="1" dirty="0">
              <a:solidFill>
                <a:srgbClr val="5A4200"/>
              </a:solidFill>
              <a:latin typeface="Calibri"/>
              <a:ea typeface="맑은 고딕"/>
              <a:cs typeface="Calibri"/>
            </a:endParaRPr>
          </a:p>
        </p:txBody>
      </p:sp>
      <p:sp>
        <p:nvSpPr>
          <p:cNvPr id="18" name="rv_why"/>
          <p:cNvSpPr/>
          <p:nvPr/>
        </p:nvSpPr>
        <p:spPr>
          <a:xfrm>
            <a:off x="457200" y="5870448"/>
            <a:ext cx="11277295" cy="54863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문자도 속 상징물의 예를 들고 문자도가 중요한 가치를 상기시켰다고 한다. 상징의 의미와 역할을 다룬 ②가 주제이다.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25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7" grpId="0" animBg="1"/>
      <p:bldP spid="9" grpId="0" animBg="1"/>
      <p:bldP spid="10" grpId="0" animBg="1"/>
      <p:bldP spid="18"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다음 글의 제목으로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10566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105660"/>
          </a:xfrm>
          <a:prstGeom prst="rect">
            <a:avLst/>
          </a:prstGeom>
          <a:noFill/>
        </p:spPr>
        <p:txBody>
          <a:bodyPr wrap="square" lIns="201168" tIns="118872" rIns="201168" bIns="118872" anchor="t" rtlCol="0">
            <a:noAutofit/>
          </a:bodyPr>
          <a:lstStyle/>
          <a:p>
            <a:pPr algn="just">
              <a:lnSpc>
                <a:spcPts val="2060"/>
              </a:lnSpc>
              <a:spcBef>
                <a:spcPts val="0"/>
              </a:spcBef>
              <a:spcAft>
                <a:spcPts val="0"/>
              </a:spcAft>
              <a:buNone/>
            </a:pPr>
            <a:r>
              <a:rPr lang="en-US" altLang="ko-KR" sz="1450" b="0" dirty="0">
                <a:solidFill>
                  <a:srgbClr val="1F2328"/>
                </a:solidFill>
                <a:latin typeface="Calibri"/>
                <a:ea typeface="맑은 고딕"/>
                <a:cs typeface="Calibri"/>
              </a:rPr>
              <a:t>There are other examples of symbolic objects in Munjado. They are bamboo in the paintings of the character chung (忠) and lotus flowers in the paintings of ui (義). Bamboo does not bend. It stays green in all kinds of weather. For these reasons, bamboo came to symbolize loyalty to the king. In the case of lotus flowers, they grow in muddy ponds but still bloom beautifully. They thus became a symbol of a person’s will to fight for justice despite difficulties. Munjado was much more than a painting to people of the Joseon dynasty. </a:t>
            </a:r>
            <a:r>
              <a:rPr lang="en-US" altLang="ko-KR" sz="1450" b="0" dirty="0">
                <a:solidFill>
                  <a:srgbClr val="1F2328"/>
                </a:solidFill>
                <a:latin typeface="Calibri"/>
                <a:ea typeface="맑은 고딕"/>
                <a:cs typeface="Calibri"/>
              </a:rPr>
              <a:t>It reminded them of important values that greatly influenced their behaviors and attitudes.</a:t>
            </a:r>
            <a:r>
              <a:rPr lang="en-US" altLang="ko-KR" sz="1450" b="0" dirty="0">
                <a:solidFill>
                  <a:srgbClr val="1F2328"/>
                </a:solidFill>
                <a:latin typeface="Calibri"/>
                <a:ea typeface="맑은 고딕"/>
                <a:cs typeface="Calibri"/>
              </a:rPr>
              <a:t> </a:t>
            </a:r>
            <a:r>
              <a:rPr lang="en-US" altLang="ko-KR" sz="1450" b="0" dirty="0">
                <a:solidFill>
                  <a:srgbClr val="1F2328"/>
                </a:solidFill>
                <a:latin typeface="Calibri"/>
                <a:ea typeface="맑은 고딕"/>
                <a:cs typeface="Calibri"/>
              </a:rPr>
              <a:t>In particular, for children, Munjado was a study tool.</a:t>
            </a:r>
            <a:r>
              <a:rPr lang="en-US" altLang="ko-KR" sz="1450" b="0" dirty="0">
                <a:solidFill>
                  <a:srgbClr val="1F2328"/>
                </a:solidFill>
                <a:latin typeface="Calibri"/>
                <a:ea typeface="맑은 고딕"/>
                <a:cs typeface="Calibri"/>
              </a:rPr>
              <a:t> Through it, children in the Joseon dynasty could learn the importance of harmony in family and society.</a:t>
            </a:r>
            <a:endParaRPr lang="en-US" altLang="ko-KR" sz="1450" b="0" dirty="0">
              <a:solidFill>
                <a:srgbClr val="1F2328"/>
              </a:solidFill>
              <a:latin typeface="Calibri"/>
              <a:ea typeface="맑은 고딕"/>
              <a:cs typeface="Calibri"/>
            </a:endParaRPr>
          </a:p>
        </p:txBody>
      </p:sp>
      <p:sp>
        <p:nvSpPr>
          <p:cNvPr id="9" name="rv_evidence_card"/>
          <p:cNvSpPr/>
          <p:nvPr/>
        </p:nvSpPr>
        <p:spPr>
          <a:xfrm>
            <a:off x="457200" y="950976"/>
            <a:ext cx="11277295" cy="210566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105660"/>
          </a:xfrm>
          <a:prstGeom prst="rect">
            <a:avLst/>
          </a:prstGeom>
          <a:noFill/>
        </p:spPr>
        <p:txBody>
          <a:bodyPr wrap="square" lIns="201168" tIns="118872" rIns="201168" bIns="118872" anchor="t" rtlCol="0">
            <a:noAutofit/>
          </a:bodyPr>
          <a:lstStyle/>
          <a:p>
            <a:pPr algn="just">
              <a:lnSpc>
                <a:spcPts val="2060"/>
              </a:lnSpc>
              <a:spcBef>
                <a:spcPts val="0"/>
              </a:spcBef>
              <a:spcAft>
                <a:spcPts val="0"/>
              </a:spcAft>
              <a:buNone/>
            </a:pPr>
            <a:r>
              <a:rPr lang="en-US" altLang="ko-KR" sz="1450" b="0" dirty="0">
                <a:solidFill>
                  <a:srgbClr val="B3BAC6"/>
                </a:solidFill>
                <a:latin typeface="Calibri"/>
                <a:ea typeface="맑은 고딕"/>
                <a:cs typeface="Calibri"/>
              </a:rPr>
              <a:t>There are other examples of symbolic objects in Munjado. They are bamboo in the paintings of the character chung (忠) and lotus flowers in the paintings of ui (義). Bamboo does not bend. It stays green in all kinds of weather. For these reasons, bamboo came to symbolize loyalty to the king. In the case of lotus flowers, they grow in muddy ponds but still bloom beautifully. They thus became a symbol of a person’s will to fight for justice despite difficulties. Munjado was much more than a painting to people of the Joseon dynasty. </a:t>
            </a:r>
            <a:r>
              <a:rPr lang="en-US" altLang="ko-KR" sz="1450" b="0" dirty="0">
                <a:solidFill>
                  <a:srgbClr val="111111"/>
                </a:solidFill>
                <a:highlight>
                  <a:srgbClr val="FFE45C"/>
                </a:highlight>
                <a:latin typeface="Calibri"/>
                <a:ea typeface="맑은 고딕"/>
                <a:cs typeface="Calibri"/>
              </a:rPr>
              <a:t>It reminded them of important values that greatly influenced their behaviors and attitudes.</a:t>
            </a:r>
            <a:r>
              <a:rPr lang="en-US" altLang="ko-KR" sz="1450" b="0" dirty="0">
                <a:solidFill>
                  <a:srgbClr val="B3BAC6"/>
                </a:solidFill>
                <a:latin typeface="Calibri"/>
                <a:ea typeface="맑은 고딕"/>
                <a:cs typeface="Calibri"/>
              </a:rPr>
              <a:t> </a:t>
            </a:r>
            <a:r>
              <a:rPr lang="en-US" altLang="ko-KR" sz="1450" b="0" dirty="0">
                <a:solidFill>
                  <a:srgbClr val="111111"/>
                </a:solidFill>
                <a:highlight>
                  <a:srgbClr val="FFE45C"/>
                </a:highlight>
                <a:latin typeface="Calibri"/>
                <a:ea typeface="맑은 고딕"/>
                <a:cs typeface="Calibri"/>
              </a:rPr>
              <a:t>In particular, for children, Munjado was a study tool.</a:t>
            </a:r>
            <a:r>
              <a:rPr lang="en-US" altLang="ko-KR" sz="1450" b="0" dirty="0">
                <a:solidFill>
                  <a:srgbClr val="B3BAC6"/>
                </a:solidFill>
                <a:latin typeface="Calibri"/>
                <a:ea typeface="맑은 고딕"/>
                <a:cs typeface="Calibri"/>
              </a:rPr>
              <a:t> Through it, children in the Joseon dynasty could learn the importance of harmony in family and society.</a:t>
            </a:r>
            <a:endParaRPr lang="en-US" altLang="ko-KR" sz="1450" b="0" dirty="0">
              <a:solidFill>
                <a:srgbClr val="B3BAC6"/>
              </a:solidFill>
              <a:latin typeface="Calibri"/>
              <a:ea typeface="맑은 고딕"/>
              <a:cs typeface="Calibri"/>
            </a:endParaRPr>
          </a:p>
        </p:txBody>
      </p:sp>
      <p:sp>
        <p:nvSpPr>
          <p:cNvPr id="11" name="choice_1"/>
          <p:cNvSpPr txBox="1"/>
          <p:nvPr/>
        </p:nvSpPr>
        <p:spPr>
          <a:xfrm>
            <a:off x="457200" y="3202940"/>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①</a:t>
            </a:r>
            <a:r>
              <a:rPr lang="en-US" altLang="ko-KR" sz="1750" b="0" dirty="0">
                <a:solidFill>
                  <a:srgbClr val="1F2328"/>
                </a:solidFill>
                <a:latin typeface="Calibri"/>
                <a:ea typeface="맑은 고딕"/>
                <a:cs typeface="Calibri"/>
              </a:rPr>
              <a:t>	Growing Lotus Flowers in Muddy Ponds</a:t>
            </a:r>
            <a:endParaRPr lang="en-US" altLang="ko-KR" sz="1750" b="0" dirty="0">
              <a:solidFill>
                <a:srgbClr val="1F2328"/>
              </a:solidFill>
              <a:latin typeface="Calibri"/>
              <a:ea typeface="맑은 고딕"/>
              <a:cs typeface="Calibri"/>
            </a:endParaRPr>
          </a:p>
        </p:txBody>
      </p:sp>
      <p:sp>
        <p:nvSpPr>
          <p:cNvPr id="12" name="choice_2"/>
          <p:cNvSpPr txBox="1"/>
          <p:nvPr/>
        </p:nvSpPr>
        <p:spPr>
          <a:xfrm>
            <a:off x="457200" y="3600196"/>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②</a:t>
            </a:r>
            <a:r>
              <a:rPr lang="en-US" altLang="ko-KR" sz="1750" b="0" dirty="0">
                <a:solidFill>
                  <a:srgbClr val="1F2328"/>
                </a:solidFill>
                <a:latin typeface="Calibri"/>
                <a:ea typeface="맑은 고딕"/>
                <a:cs typeface="Calibri"/>
              </a:rPr>
              <a:t>	Why Bamboo Stays Green All Year</a:t>
            </a:r>
            <a:endParaRPr lang="en-US" altLang="ko-KR" sz="1750" b="0" dirty="0">
              <a:solidFill>
                <a:srgbClr val="1F2328"/>
              </a:solidFill>
              <a:latin typeface="Calibri"/>
              <a:ea typeface="맑은 고딕"/>
              <a:cs typeface="Calibri"/>
            </a:endParaRPr>
          </a:p>
        </p:txBody>
      </p:sp>
      <p:sp>
        <p:nvSpPr>
          <p:cNvPr id="13" name="choice_3"/>
          <p:cNvSpPr txBox="1"/>
          <p:nvPr/>
        </p:nvSpPr>
        <p:spPr>
          <a:xfrm>
            <a:off x="457200" y="3997452"/>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③</a:t>
            </a:r>
            <a:r>
              <a:rPr lang="en-US" altLang="ko-KR" sz="1750" b="0" dirty="0">
                <a:solidFill>
                  <a:srgbClr val="1F2328"/>
                </a:solidFill>
                <a:latin typeface="Calibri"/>
                <a:ea typeface="맑은 고딕"/>
                <a:cs typeface="Calibri"/>
              </a:rPr>
              <a:t>	Munjado: Symbols That Taught Values</a:t>
            </a:r>
            <a:endParaRPr lang="en-US" altLang="ko-KR" sz="1750" b="0" dirty="0">
              <a:solidFill>
                <a:srgbClr val="1F2328"/>
              </a:solidFill>
              <a:latin typeface="Calibri"/>
              <a:ea typeface="맑은 고딕"/>
              <a:cs typeface="Calibri"/>
            </a:endParaRPr>
          </a:p>
        </p:txBody>
      </p:sp>
      <p:sp>
        <p:nvSpPr>
          <p:cNvPr id="14" name="rv_pick"/>
          <p:cNvSpPr txBox="1"/>
          <p:nvPr/>
        </p:nvSpPr>
        <p:spPr>
          <a:xfrm>
            <a:off x="457200" y="3997452"/>
            <a:ext cx="11277295" cy="369824"/>
          </a:xfrm>
          <a:prstGeom prst="rect">
            <a:avLst/>
          </a:prstGeom>
          <a:solidFill>
            <a:srgbClr val="FFF3C4"/>
          </a:solid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C00000"/>
                </a:solidFill>
                <a:latin typeface="맑은 고딕"/>
                <a:ea typeface="맑은 고딕"/>
                <a:cs typeface="맑은 고딕"/>
              </a:rPr>
              <a:t>③</a:t>
            </a:r>
            <a:r>
              <a:rPr lang="en-US" altLang="ko-KR" sz="1750" b="0" dirty="0">
                <a:solidFill>
                  <a:srgbClr val="C00000"/>
                </a:solidFill>
                <a:latin typeface="Calibri"/>
                <a:ea typeface="맑은 고딕"/>
                <a:cs typeface="Calibri"/>
              </a:rPr>
              <a:t>	Munjado: Symbols That Taught Values</a:t>
            </a:r>
            <a:endParaRPr lang="en-US" altLang="ko-KR" sz="1750" b="0" dirty="0">
              <a:solidFill>
                <a:srgbClr val="C00000"/>
              </a:solidFill>
              <a:latin typeface="Calibri"/>
              <a:ea typeface="맑은 고딕"/>
              <a:cs typeface="Calibri"/>
            </a:endParaRPr>
          </a:p>
        </p:txBody>
      </p:sp>
      <p:sp>
        <p:nvSpPr>
          <p:cNvPr id="15" name="choice_4"/>
          <p:cNvSpPr txBox="1"/>
          <p:nvPr/>
        </p:nvSpPr>
        <p:spPr>
          <a:xfrm>
            <a:off x="457200" y="4394708"/>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④</a:t>
            </a:r>
            <a:r>
              <a:rPr lang="en-US" altLang="ko-KR" sz="1750" b="0" dirty="0">
                <a:solidFill>
                  <a:srgbClr val="1F2328"/>
                </a:solidFill>
                <a:latin typeface="Calibri"/>
                <a:ea typeface="맑은 고딕"/>
                <a:cs typeface="Calibri"/>
              </a:rPr>
              <a:t>	Kings and Their Loyal Servants</a:t>
            </a:r>
            <a:endParaRPr lang="en-US" altLang="ko-KR" sz="1750" b="0" dirty="0">
              <a:solidFill>
                <a:srgbClr val="1F2328"/>
              </a:solidFill>
              <a:latin typeface="Calibri"/>
              <a:ea typeface="맑은 고딕"/>
              <a:cs typeface="Calibri"/>
            </a:endParaRPr>
          </a:p>
        </p:txBody>
      </p:sp>
      <p:sp>
        <p:nvSpPr>
          <p:cNvPr id="16" name="choice_5"/>
          <p:cNvSpPr txBox="1"/>
          <p:nvPr/>
        </p:nvSpPr>
        <p:spPr>
          <a:xfrm>
            <a:off x="457200" y="4791964"/>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⑤</a:t>
            </a:r>
            <a:r>
              <a:rPr lang="en-US" altLang="ko-KR" sz="1750" b="0" dirty="0">
                <a:solidFill>
                  <a:srgbClr val="1F2328"/>
                </a:solidFill>
                <a:latin typeface="Calibri"/>
                <a:ea typeface="맑은 고딕"/>
                <a:cs typeface="Calibri"/>
              </a:rPr>
              <a:t>	Games Children Played in Joseon</a:t>
            </a:r>
            <a:endParaRPr lang="en-US" altLang="ko-KR" sz="1750" b="0" dirty="0">
              <a:solidFill>
                <a:srgbClr val="1F2328"/>
              </a:solidFill>
              <a:latin typeface="Calibri"/>
              <a:ea typeface="맑은 고딕"/>
              <a:cs typeface="Calibri"/>
            </a:endParaRPr>
          </a:p>
        </p:txBody>
      </p:sp>
      <p:sp>
        <p:nvSpPr>
          <p:cNvPr id="17" name="rv_answer"/>
          <p:cNvSpPr/>
          <p:nvPr/>
        </p:nvSpPr>
        <p:spPr>
          <a:xfrm>
            <a:off x="457200" y="527151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en-US" altLang="ko-KR" sz="1900" b="1" dirty="0">
                <a:solidFill>
                  <a:srgbClr val="5A4200"/>
                </a:solidFill>
                <a:latin typeface="Calibri"/>
                <a:ea typeface="맑은 고딕"/>
                <a:cs typeface="Calibri"/>
              </a:rPr>
              <a:t>Munjado: Symbols That Taught Values</a:t>
            </a:r>
            <a:endParaRPr lang="en-US" altLang="ko-KR" sz="1900" b="1" dirty="0">
              <a:solidFill>
                <a:srgbClr val="5A4200"/>
              </a:solidFill>
              <a:latin typeface="Calibri"/>
              <a:ea typeface="맑은 고딕"/>
              <a:cs typeface="Calibri"/>
            </a:endParaRPr>
          </a:p>
        </p:txBody>
      </p:sp>
      <p:sp>
        <p:nvSpPr>
          <p:cNvPr id="18" name="rv_why"/>
          <p:cNvSpPr/>
          <p:nvPr/>
        </p:nvSpPr>
        <p:spPr>
          <a:xfrm>
            <a:off x="457200" y="5870448"/>
            <a:ext cx="11277295" cy="54863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문자도는 중요한 가치를 상기시키고 아이들에게는 학습 도구였다. 이를 담은 ③이 제목이다.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7" grpId="0" animBg="1"/>
      <p:bldP spid="9" grpId="0" animBg="1"/>
      <p:bldP spid="10" grpId="0" animBg="1"/>
      <p:bldP spid="18"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다음 글에서 필자가 주장하는 바로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10566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105660"/>
          </a:xfrm>
          <a:prstGeom prst="rect">
            <a:avLst/>
          </a:prstGeom>
          <a:noFill/>
        </p:spPr>
        <p:txBody>
          <a:bodyPr wrap="square" lIns="201168" tIns="118872" rIns="201168" bIns="118872" anchor="t" rtlCol="0">
            <a:noAutofit/>
          </a:bodyPr>
          <a:lstStyle/>
          <a:p>
            <a:pPr algn="just">
              <a:lnSpc>
                <a:spcPts val="2060"/>
              </a:lnSpc>
              <a:spcBef>
                <a:spcPts val="0"/>
              </a:spcBef>
              <a:spcAft>
                <a:spcPts val="0"/>
              </a:spcAft>
              <a:buNone/>
            </a:pPr>
            <a:r>
              <a:rPr lang="en-US" altLang="ko-KR" sz="1450" b="0" dirty="0">
                <a:solidFill>
                  <a:srgbClr val="1F2328"/>
                </a:solidFill>
                <a:latin typeface="Calibri"/>
                <a:ea typeface="맑은 고딕"/>
                <a:cs typeface="Calibri"/>
              </a:rPr>
              <a:t>There are other examples of symbolic objects in Munjado. They are bamboo in the paintings of the character chung (忠) and lotus flowers in the paintings of ui (義). Bamboo does not bend. It stays green in all kinds of weather. For these reasons, bamboo came to symbolize loyalty to the king. In the case of lotus flowers, they grow in muddy ponds but still bloom beautifully. They thus became a symbol of a person’s will to fight for justice despite difficulties. Munjado was much more than a painting to people of the Joseon dynasty. </a:t>
            </a:r>
            <a:r>
              <a:rPr lang="en-US" altLang="ko-KR" sz="1450" b="0" dirty="0">
                <a:solidFill>
                  <a:srgbClr val="1F2328"/>
                </a:solidFill>
                <a:latin typeface="Calibri"/>
                <a:ea typeface="맑은 고딕"/>
                <a:cs typeface="Calibri"/>
              </a:rPr>
              <a:t>It reminded them of important values that greatly influenced their behaviors and attitudes.</a:t>
            </a:r>
            <a:r>
              <a:rPr lang="en-US" altLang="ko-KR" sz="1450" b="0" dirty="0">
                <a:solidFill>
                  <a:srgbClr val="1F2328"/>
                </a:solidFill>
                <a:latin typeface="Calibri"/>
                <a:ea typeface="맑은 고딕"/>
                <a:cs typeface="Calibri"/>
              </a:rPr>
              <a:t> In particular, for children, Munjado was a study tool. </a:t>
            </a:r>
            <a:r>
              <a:rPr lang="en-US" altLang="ko-KR" sz="1450" b="0" dirty="0">
                <a:solidFill>
                  <a:srgbClr val="1F2328"/>
                </a:solidFill>
                <a:latin typeface="Calibri"/>
                <a:ea typeface="맑은 고딕"/>
                <a:cs typeface="Calibri"/>
              </a:rPr>
              <a:t>Through it, children in the Joseon dynasty could learn the importance of harmony in family and society.</a:t>
            </a:r>
            <a:endParaRPr lang="en-US" altLang="ko-KR" sz="1450" b="0" dirty="0">
              <a:solidFill>
                <a:srgbClr val="1F2328"/>
              </a:solidFill>
              <a:latin typeface="Calibri"/>
              <a:ea typeface="맑은 고딕"/>
              <a:cs typeface="Calibri"/>
            </a:endParaRPr>
          </a:p>
        </p:txBody>
      </p:sp>
      <p:sp>
        <p:nvSpPr>
          <p:cNvPr id="9" name="rv_evidence_card"/>
          <p:cNvSpPr/>
          <p:nvPr/>
        </p:nvSpPr>
        <p:spPr>
          <a:xfrm>
            <a:off x="457200" y="950976"/>
            <a:ext cx="11277295" cy="210566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105660"/>
          </a:xfrm>
          <a:prstGeom prst="rect">
            <a:avLst/>
          </a:prstGeom>
          <a:noFill/>
        </p:spPr>
        <p:txBody>
          <a:bodyPr wrap="square" lIns="201168" tIns="118872" rIns="201168" bIns="118872" anchor="t" rtlCol="0">
            <a:noAutofit/>
          </a:bodyPr>
          <a:lstStyle/>
          <a:p>
            <a:pPr algn="just">
              <a:lnSpc>
                <a:spcPts val="2060"/>
              </a:lnSpc>
              <a:spcBef>
                <a:spcPts val="0"/>
              </a:spcBef>
              <a:spcAft>
                <a:spcPts val="0"/>
              </a:spcAft>
              <a:buNone/>
            </a:pPr>
            <a:r>
              <a:rPr lang="en-US" altLang="ko-KR" sz="1450" b="0" dirty="0">
                <a:solidFill>
                  <a:srgbClr val="B3BAC6"/>
                </a:solidFill>
                <a:latin typeface="Calibri"/>
                <a:ea typeface="맑은 고딕"/>
                <a:cs typeface="Calibri"/>
              </a:rPr>
              <a:t>There are other examples of symbolic objects in Munjado. They are bamboo in the paintings of the character chung (忠) and lotus flowers in the paintings of ui (義). Bamboo does not bend. It stays green in all kinds of weather. For these reasons, bamboo came to symbolize loyalty to the king. In the case of lotus flowers, they grow in muddy ponds but still bloom beautifully. They thus became a symbol of a person’s will to fight for justice despite difficulties. Munjado was much more than a painting to people of the Joseon dynasty. </a:t>
            </a:r>
            <a:r>
              <a:rPr lang="en-US" altLang="ko-KR" sz="1450" b="0" dirty="0">
                <a:solidFill>
                  <a:srgbClr val="111111"/>
                </a:solidFill>
                <a:highlight>
                  <a:srgbClr val="FFE45C"/>
                </a:highlight>
                <a:latin typeface="Calibri"/>
                <a:ea typeface="맑은 고딕"/>
                <a:cs typeface="Calibri"/>
              </a:rPr>
              <a:t>It reminded them of important values that greatly influenced their behaviors and attitudes.</a:t>
            </a:r>
            <a:r>
              <a:rPr lang="en-US" altLang="ko-KR" sz="1450" b="0" dirty="0">
                <a:solidFill>
                  <a:srgbClr val="B3BAC6"/>
                </a:solidFill>
                <a:latin typeface="Calibri"/>
                <a:ea typeface="맑은 고딕"/>
                <a:cs typeface="Calibri"/>
              </a:rPr>
              <a:t> In particular, for children, Munjado was a study tool. </a:t>
            </a:r>
            <a:r>
              <a:rPr lang="en-US" altLang="ko-KR" sz="1450" b="0" dirty="0">
                <a:solidFill>
                  <a:srgbClr val="111111"/>
                </a:solidFill>
                <a:highlight>
                  <a:srgbClr val="FFE45C"/>
                </a:highlight>
                <a:latin typeface="Calibri"/>
                <a:ea typeface="맑은 고딕"/>
                <a:cs typeface="Calibri"/>
              </a:rPr>
              <a:t>Through it, children in the Joseon dynasty could learn the importance of harmony in family and society.</a:t>
            </a:r>
            <a:endParaRPr lang="en-US" altLang="ko-KR" sz="1450" b="0" dirty="0">
              <a:solidFill>
                <a:srgbClr val="111111"/>
              </a:solidFill>
              <a:latin typeface="Calibri"/>
              <a:ea typeface="맑은 고딕"/>
              <a:cs typeface="Calibri"/>
            </a:endParaRPr>
          </a:p>
        </p:txBody>
      </p:sp>
      <p:sp>
        <p:nvSpPr>
          <p:cNvPr id="11" name="choice_1"/>
          <p:cNvSpPr txBox="1"/>
          <p:nvPr/>
        </p:nvSpPr>
        <p:spPr>
          <a:xfrm>
            <a:off x="457200" y="3202940"/>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①</a:t>
            </a:r>
            <a:r>
              <a:rPr lang="ko-KR" altLang="en-US" sz="1750" b="0" dirty="0">
                <a:solidFill>
                  <a:srgbClr val="1F2328"/>
                </a:solidFill>
                <a:latin typeface="맑은 고딕"/>
                <a:ea typeface="맑은 고딕"/>
                <a:cs typeface="맑은 고딕"/>
              </a:rPr>
              <a:t>	대나무는 날씨에 따라 다르게 심어야 한다</a:t>
            </a:r>
            <a:endParaRPr lang="ko-KR" altLang="en-US" sz="1750" b="0" dirty="0">
              <a:solidFill>
                <a:srgbClr val="1F2328"/>
              </a:solidFill>
              <a:latin typeface="맑은 고딕"/>
              <a:ea typeface="맑은 고딕"/>
              <a:cs typeface="맑은 고딕"/>
            </a:endParaRPr>
          </a:p>
        </p:txBody>
      </p:sp>
      <p:sp>
        <p:nvSpPr>
          <p:cNvPr id="12" name="choice_2"/>
          <p:cNvSpPr txBox="1"/>
          <p:nvPr/>
        </p:nvSpPr>
        <p:spPr>
          <a:xfrm>
            <a:off x="457200" y="3600196"/>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②</a:t>
            </a:r>
            <a:r>
              <a:rPr lang="ko-KR" altLang="en-US" sz="1750" b="0" dirty="0">
                <a:solidFill>
                  <a:srgbClr val="1F2328"/>
                </a:solidFill>
                <a:latin typeface="맑은 고딕"/>
                <a:ea typeface="맑은 고딕"/>
                <a:cs typeface="맑은 고딕"/>
              </a:rPr>
              <a:t>	연꽃은 맑은 연못에서만 길러야 한다</a:t>
            </a:r>
            <a:endParaRPr lang="ko-KR" altLang="en-US" sz="1750" b="0" dirty="0">
              <a:solidFill>
                <a:srgbClr val="1F2328"/>
              </a:solidFill>
              <a:latin typeface="맑은 고딕"/>
              <a:ea typeface="맑은 고딕"/>
              <a:cs typeface="맑은 고딕"/>
            </a:endParaRPr>
          </a:p>
        </p:txBody>
      </p:sp>
      <p:sp>
        <p:nvSpPr>
          <p:cNvPr id="13" name="choice_3"/>
          <p:cNvSpPr txBox="1"/>
          <p:nvPr/>
        </p:nvSpPr>
        <p:spPr>
          <a:xfrm>
            <a:off x="457200" y="3997452"/>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③</a:t>
            </a:r>
            <a:r>
              <a:rPr lang="ko-KR" altLang="en-US" sz="1750" b="0" dirty="0">
                <a:solidFill>
                  <a:srgbClr val="1F2328"/>
                </a:solidFill>
                <a:latin typeface="맑은 고딕"/>
                <a:ea typeface="맑은 고딕"/>
                <a:cs typeface="맑은 고딕"/>
              </a:rPr>
              <a:t>	왕에 대한 충성심을 최우선으로 삼아야 한다</a:t>
            </a:r>
            <a:endParaRPr lang="ko-KR" altLang="en-US" sz="1750" b="0" dirty="0">
              <a:solidFill>
                <a:srgbClr val="1F2328"/>
              </a:solidFill>
              <a:latin typeface="맑은 고딕"/>
              <a:ea typeface="맑은 고딕"/>
              <a:cs typeface="맑은 고딕"/>
            </a:endParaRPr>
          </a:p>
        </p:txBody>
      </p:sp>
      <p:sp>
        <p:nvSpPr>
          <p:cNvPr id="14" name="choice_4"/>
          <p:cNvSpPr txBox="1"/>
          <p:nvPr/>
        </p:nvSpPr>
        <p:spPr>
          <a:xfrm>
            <a:off x="457200" y="4394708"/>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④</a:t>
            </a:r>
            <a:r>
              <a:rPr lang="ko-KR" altLang="en-US" sz="1750" b="0" dirty="0">
                <a:solidFill>
                  <a:srgbClr val="1F2328"/>
                </a:solidFill>
                <a:latin typeface="맑은 고딕"/>
                <a:ea typeface="맑은 고딕"/>
                <a:cs typeface="맑은 고딕"/>
              </a:rPr>
              <a:t>	문자도의 상징에 담긴 가치를 배워야 한다</a:t>
            </a:r>
            <a:endParaRPr lang="ko-KR" altLang="en-US" sz="1750" b="0" dirty="0">
              <a:solidFill>
                <a:srgbClr val="1F2328"/>
              </a:solidFill>
              <a:latin typeface="맑은 고딕"/>
              <a:ea typeface="맑은 고딕"/>
              <a:cs typeface="맑은 고딕"/>
            </a:endParaRPr>
          </a:p>
        </p:txBody>
      </p:sp>
      <p:sp>
        <p:nvSpPr>
          <p:cNvPr id="15" name="rv_pick"/>
          <p:cNvSpPr txBox="1"/>
          <p:nvPr/>
        </p:nvSpPr>
        <p:spPr>
          <a:xfrm>
            <a:off x="457200" y="4394708"/>
            <a:ext cx="11277295" cy="369824"/>
          </a:xfrm>
          <a:prstGeom prst="rect">
            <a:avLst/>
          </a:prstGeom>
          <a:solidFill>
            <a:srgbClr val="FFF3C4"/>
          </a:solid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C00000"/>
                </a:solidFill>
                <a:latin typeface="맑은 고딕"/>
                <a:ea typeface="맑은 고딕"/>
                <a:cs typeface="맑은 고딕"/>
              </a:rPr>
              <a:t>④</a:t>
            </a:r>
            <a:r>
              <a:rPr lang="ko-KR" altLang="en-US" sz="1750" b="0" dirty="0">
                <a:solidFill>
                  <a:srgbClr val="C00000"/>
                </a:solidFill>
                <a:latin typeface="맑은 고딕"/>
                <a:ea typeface="맑은 고딕"/>
                <a:cs typeface="맑은 고딕"/>
              </a:rPr>
              <a:t>	문자도의 상징에 담긴 가치를 배워야 한다</a:t>
            </a:r>
            <a:endParaRPr lang="ko-KR" altLang="en-US" sz="1750" b="0" dirty="0">
              <a:solidFill>
                <a:srgbClr val="C00000"/>
              </a:solidFill>
              <a:latin typeface="맑은 고딕"/>
              <a:ea typeface="맑은 고딕"/>
              <a:cs typeface="맑은 고딕"/>
            </a:endParaRPr>
          </a:p>
        </p:txBody>
      </p:sp>
      <p:sp>
        <p:nvSpPr>
          <p:cNvPr id="16" name="choice_5"/>
          <p:cNvSpPr txBox="1"/>
          <p:nvPr/>
        </p:nvSpPr>
        <p:spPr>
          <a:xfrm>
            <a:off x="457200" y="4791964"/>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⑤</a:t>
            </a:r>
            <a:r>
              <a:rPr lang="ko-KR" altLang="en-US" sz="1750" b="0" dirty="0">
                <a:solidFill>
                  <a:srgbClr val="1F2328"/>
                </a:solidFill>
                <a:latin typeface="맑은 고딕"/>
                <a:ea typeface="맑은 고딕"/>
                <a:cs typeface="맑은 고딕"/>
              </a:rPr>
              <a:t>	아이들은 그림보다 글을 먼저 익혀야 한다</a:t>
            </a:r>
            <a:endParaRPr lang="ko-KR" altLang="en-US" sz="1750" b="0" dirty="0">
              <a:solidFill>
                <a:srgbClr val="1F2328"/>
              </a:solidFill>
              <a:latin typeface="맑은 고딕"/>
              <a:ea typeface="맑은 고딕"/>
              <a:cs typeface="맑은 고딕"/>
            </a:endParaRPr>
          </a:p>
        </p:txBody>
      </p:sp>
      <p:sp>
        <p:nvSpPr>
          <p:cNvPr id="17" name="rv_answer"/>
          <p:cNvSpPr/>
          <p:nvPr/>
        </p:nvSpPr>
        <p:spPr>
          <a:xfrm>
            <a:off x="457200" y="527151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ko-KR" altLang="en-US" sz="1900" b="1" dirty="0">
                <a:solidFill>
                  <a:srgbClr val="5A4200"/>
                </a:solidFill>
                <a:latin typeface="맑은 고딕"/>
                <a:ea typeface="맑은 고딕"/>
                <a:cs typeface="맑은 고딕"/>
              </a:rPr>
              <a:t>문자도의 상징에 담긴 가치를 배워야 한다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870448"/>
            <a:ext cx="11277295" cy="54863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문자도의 상징이 중요한 가치를 일깨우고 아이들이 조화의 중요성을 배웠다고 했으므로 ④가 알맞다.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25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9" grpId="0" animBg="1"/>
      <p:bldP spid="10" grpId="0" animBg="1"/>
      <p:bldP spid="18"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다음 글의 요지로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10566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105660"/>
          </a:xfrm>
          <a:prstGeom prst="rect">
            <a:avLst/>
          </a:prstGeom>
          <a:noFill/>
        </p:spPr>
        <p:txBody>
          <a:bodyPr wrap="square" lIns="201168" tIns="118872" rIns="201168" bIns="118872" anchor="t" rtlCol="0">
            <a:noAutofit/>
          </a:bodyPr>
          <a:lstStyle/>
          <a:p>
            <a:pPr algn="just">
              <a:lnSpc>
                <a:spcPts val="2060"/>
              </a:lnSpc>
              <a:spcBef>
                <a:spcPts val="0"/>
              </a:spcBef>
              <a:spcAft>
                <a:spcPts val="0"/>
              </a:spcAft>
              <a:buNone/>
            </a:pPr>
            <a:r>
              <a:rPr lang="en-US" altLang="ko-KR" sz="1450" b="0" dirty="0">
                <a:solidFill>
                  <a:srgbClr val="1F2328"/>
                </a:solidFill>
                <a:latin typeface="Calibri"/>
                <a:ea typeface="맑은 고딕"/>
                <a:cs typeface="Calibri"/>
              </a:rPr>
              <a:t>There are other examples of symbolic objects in Munjado. They are bamboo in the paintings of the character chung (忠) and lotus flowers in the paintings of ui (義). Bamboo does not bend. It stays green in all kinds of weather. For these reasons, bamboo came to symbolize loyalty to the king. In the case of lotus flowers, they grow in muddy ponds but still bloom beautifully. They thus became a symbol of a person’s will to fight for justice despite difficulties. Munjado was much more than a painting to people of the Joseon dynasty. </a:t>
            </a:r>
            <a:r>
              <a:rPr lang="en-US" altLang="ko-KR" sz="1450" b="0" dirty="0">
                <a:solidFill>
                  <a:srgbClr val="1F2328"/>
                </a:solidFill>
                <a:latin typeface="Calibri"/>
                <a:ea typeface="맑은 고딕"/>
                <a:cs typeface="Calibri"/>
              </a:rPr>
              <a:t>It reminded them of important values that greatly influenced their behaviors and attitudes.</a:t>
            </a:r>
            <a:r>
              <a:rPr lang="en-US" altLang="ko-KR" sz="1450" b="0" dirty="0">
                <a:solidFill>
                  <a:srgbClr val="1F2328"/>
                </a:solidFill>
                <a:latin typeface="Calibri"/>
                <a:ea typeface="맑은 고딕"/>
                <a:cs typeface="Calibri"/>
              </a:rPr>
              <a:t> In particular, for children, Munjado was a study tool. Through it, children in the Joseon dynasty could learn the importance of harmony in family and society.</a:t>
            </a:r>
            <a:endParaRPr lang="en-US" altLang="ko-KR" sz="1450" b="0" dirty="0">
              <a:solidFill>
                <a:srgbClr val="1F2328"/>
              </a:solidFill>
              <a:latin typeface="Calibri"/>
              <a:ea typeface="맑은 고딕"/>
              <a:cs typeface="Calibri"/>
            </a:endParaRPr>
          </a:p>
        </p:txBody>
      </p:sp>
      <p:sp>
        <p:nvSpPr>
          <p:cNvPr id="9" name="rv_evidence_card"/>
          <p:cNvSpPr/>
          <p:nvPr/>
        </p:nvSpPr>
        <p:spPr>
          <a:xfrm>
            <a:off x="457200" y="950976"/>
            <a:ext cx="11277295" cy="210566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105660"/>
          </a:xfrm>
          <a:prstGeom prst="rect">
            <a:avLst/>
          </a:prstGeom>
          <a:noFill/>
        </p:spPr>
        <p:txBody>
          <a:bodyPr wrap="square" lIns="201168" tIns="118872" rIns="201168" bIns="118872" anchor="t" rtlCol="0">
            <a:noAutofit/>
          </a:bodyPr>
          <a:lstStyle/>
          <a:p>
            <a:pPr algn="just">
              <a:lnSpc>
                <a:spcPts val="2060"/>
              </a:lnSpc>
              <a:spcBef>
                <a:spcPts val="0"/>
              </a:spcBef>
              <a:spcAft>
                <a:spcPts val="0"/>
              </a:spcAft>
              <a:buNone/>
            </a:pPr>
            <a:r>
              <a:rPr lang="en-US" altLang="ko-KR" sz="1450" b="0" dirty="0">
                <a:solidFill>
                  <a:srgbClr val="B3BAC6"/>
                </a:solidFill>
                <a:latin typeface="Calibri"/>
                <a:ea typeface="맑은 고딕"/>
                <a:cs typeface="Calibri"/>
              </a:rPr>
              <a:t>There are other examples of symbolic objects in Munjado. They are bamboo in the paintings of the character chung (忠) and lotus flowers in the paintings of ui (義). Bamboo does not bend. It stays green in all kinds of weather. For these reasons, bamboo came to symbolize loyalty to the king. In the case of lotus flowers, they grow in muddy ponds but still bloom beautifully. They thus became a symbol of a person’s will to fight for justice despite difficulties. Munjado was much more than a painting to people of the Joseon dynasty. </a:t>
            </a:r>
            <a:r>
              <a:rPr lang="en-US" altLang="ko-KR" sz="1450" b="0" dirty="0">
                <a:solidFill>
                  <a:srgbClr val="111111"/>
                </a:solidFill>
                <a:highlight>
                  <a:srgbClr val="FFE45C"/>
                </a:highlight>
                <a:latin typeface="Calibri"/>
                <a:ea typeface="맑은 고딕"/>
                <a:cs typeface="Calibri"/>
              </a:rPr>
              <a:t>It reminded them of important values that greatly influenced their behaviors and attitudes.</a:t>
            </a:r>
            <a:r>
              <a:rPr lang="en-US" altLang="ko-KR" sz="1450" b="0" dirty="0">
                <a:solidFill>
                  <a:srgbClr val="B3BAC6"/>
                </a:solidFill>
                <a:latin typeface="Calibri"/>
                <a:ea typeface="맑은 고딕"/>
                <a:cs typeface="Calibri"/>
              </a:rPr>
              <a:t> In particular, for children, Munjado was a study tool. Through it, children in the Joseon dynasty could learn the importance of harmony in family and society.</a:t>
            </a:r>
            <a:endParaRPr lang="en-US" altLang="ko-KR" sz="1450" b="0" dirty="0">
              <a:solidFill>
                <a:srgbClr val="B3BAC6"/>
              </a:solidFill>
              <a:latin typeface="Calibri"/>
              <a:ea typeface="맑은 고딕"/>
              <a:cs typeface="Calibri"/>
            </a:endParaRPr>
          </a:p>
        </p:txBody>
      </p:sp>
      <p:sp>
        <p:nvSpPr>
          <p:cNvPr id="11" name="choice_1"/>
          <p:cNvSpPr txBox="1"/>
          <p:nvPr/>
        </p:nvSpPr>
        <p:spPr>
          <a:xfrm>
            <a:off x="457200" y="3202940"/>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①</a:t>
            </a:r>
            <a:r>
              <a:rPr lang="ko-KR" altLang="en-US" sz="1750" b="0" dirty="0">
                <a:solidFill>
                  <a:srgbClr val="1F2328"/>
                </a:solidFill>
                <a:latin typeface="맑은 고딕"/>
                <a:ea typeface="맑은 고딕"/>
                <a:cs typeface="맑은 고딕"/>
              </a:rPr>
              <a:t>	대나무와 연꽃은 조선에서 귀한 식물이었다</a:t>
            </a:r>
            <a:endParaRPr lang="ko-KR" altLang="en-US" sz="1750" b="0" dirty="0">
              <a:solidFill>
                <a:srgbClr val="1F2328"/>
              </a:solidFill>
              <a:latin typeface="맑은 고딕"/>
              <a:ea typeface="맑은 고딕"/>
              <a:cs typeface="맑은 고딕"/>
            </a:endParaRPr>
          </a:p>
        </p:txBody>
      </p:sp>
      <p:sp>
        <p:nvSpPr>
          <p:cNvPr id="12" name="choice_2"/>
          <p:cNvSpPr txBox="1"/>
          <p:nvPr/>
        </p:nvSpPr>
        <p:spPr>
          <a:xfrm>
            <a:off x="457200" y="3600196"/>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②</a:t>
            </a:r>
            <a:r>
              <a:rPr lang="ko-KR" altLang="en-US" sz="1750" b="0" dirty="0">
                <a:solidFill>
                  <a:srgbClr val="1F2328"/>
                </a:solidFill>
                <a:latin typeface="맑은 고딕"/>
                <a:ea typeface="맑은 고딕"/>
                <a:cs typeface="맑은 고딕"/>
              </a:rPr>
              <a:t>	연꽃은 진흙 연못에서 자라지 못하는 꽃이다</a:t>
            </a:r>
            <a:endParaRPr lang="ko-KR" altLang="en-US" sz="1750" b="0" dirty="0">
              <a:solidFill>
                <a:srgbClr val="1F2328"/>
              </a:solidFill>
              <a:latin typeface="맑은 고딕"/>
              <a:ea typeface="맑은 고딕"/>
              <a:cs typeface="맑은 고딕"/>
            </a:endParaRPr>
          </a:p>
        </p:txBody>
      </p:sp>
      <p:sp>
        <p:nvSpPr>
          <p:cNvPr id="13" name="choice_3"/>
          <p:cNvSpPr txBox="1"/>
          <p:nvPr/>
        </p:nvSpPr>
        <p:spPr>
          <a:xfrm>
            <a:off x="457200" y="3997452"/>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③</a:t>
            </a:r>
            <a:r>
              <a:rPr lang="ko-KR" altLang="en-US" sz="1750" b="0" dirty="0">
                <a:solidFill>
                  <a:srgbClr val="1F2328"/>
                </a:solidFill>
                <a:latin typeface="맑은 고딕"/>
                <a:ea typeface="맑은 고딕"/>
                <a:cs typeface="맑은 고딕"/>
              </a:rPr>
              <a:t>	문자도는 아이들이 싫어하던 그림이었다</a:t>
            </a:r>
            <a:endParaRPr lang="ko-KR" altLang="en-US" sz="1750" b="0" dirty="0">
              <a:solidFill>
                <a:srgbClr val="1F2328"/>
              </a:solidFill>
              <a:latin typeface="맑은 고딕"/>
              <a:ea typeface="맑은 고딕"/>
              <a:cs typeface="맑은 고딕"/>
            </a:endParaRPr>
          </a:p>
        </p:txBody>
      </p:sp>
      <p:sp>
        <p:nvSpPr>
          <p:cNvPr id="14" name="choice_4"/>
          <p:cNvSpPr txBox="1"/>
          <p:nvPr/>
        </p:nvSpPr>
        <p:spPr>
          <a:xfrm>
            <a:off x="457200" y="4394708"/>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④</a:t>
            </a:r>
            <a:r>
              <a:rPr lang="ko-KR" altLang="en-US" sz="1750" b="0" dirty="0">
                <a:solidFill>
                  <a:srgbClr val="1F2328"/>
                </a:solidFill>
                <a:latin typeface="맑은 고딕"/>
                <a:ea typeface="맑은 고딕"/>
                <a:cs typeface="맑은 고딕"/>
              </a:rPr>
              <a:t>	대나무는 날씨가 추우면 색이 쉽게 변한다</a:t>
            </a:r>
            <a:endParaRPr lang="ko-KR" altLang="en-US" sz="1750" b="0" dirty="0">
              <a:solidFill>
                <a:srgbClr val="1F2328"/>
              </a:solidFill>
              <a:latin typeface="맑은 고딕"/>
              <a:ea typeface="맑은 고딕"/>
              <a:cs typeface="맑은 고딕"/>
            </a:endParaRPr>
          </a:p>
        </p:txBody>
      </p:sp>
      <p:sp>
        <p:nvSpPr>
          <p:cNvPr id="15" name="choice_5"/>
          <p:cNvSpPr txBox="1"/>
          <p:nvPr/>
        </p:nvSpPr>
        <p:spPr>
          <a:xfrm>
            <a:off x="457200" y="4791964"/>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⑤</a:t>
            </a:r>
            <a:r>
              <a:rPr lang="ko-KR" altLang="en-US" sz="1750" b="0" dirty="0">
                <a:solidFill>
                  <a:srgbClr val="1F2328"/>
                </a:solidFill>
                <a:latin typeface="맑은 고딕"/>
                <a:ea typeface="맑은 고딕"/>
                <a:cs typeface="맑은 고딕"/>
              </a:rPr>
              <a:t>	문자도의 상징은 사람들에게 가치를 일깨웠다</a:t>
            </a:r>
            <a:endParaRPr lang="ko-KR" altLang="en-US" sz="1750" b="0" dirty="0">
              <a:solidFill>
                <a:srgbClr val="1F2328"/>
              </a:solidFill>
              <a:latin typeface="맑은 고딕"/>
              <a:ea typeface="맑은 고딕"/>
              <a:cs typeface="맑은 고딕"/>
            </a:endParaRPr>
          </a:p>
        </p:txBody>
      </p:sp>
      <p:sp>
        <p:nvSpPr>
          <p:cNvPr id="16" name="rv_pick"/>
          <p:cNvSpPr txBox="1"/>
          <p:nvPr/>
        </p:nvSpPr>
        <p:spPr>
          <a:xfrm>
            <a:off x="457200" y="4791964"/>
            <a:ext cx="11277295" cy="369824"/>
          </a:xfrm>
          <a:prstGeom prst="rect">
            <a:avLst/>
          </a:prstGeom>
          <a:solidFill>
            <a:srgbClr val="FFF3C4"/>
          </a:solid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C00000"/>
                </a:solidFill>
                <a:latin typeface="맑은 고딕"/>
                <a:ea typeface="맑은 고딕"/>
                <a:cs typeface="맑은 고딕"/>
              </a:rPr>
              <a:t>⑤</a:t>
            </a:r>
            <a:r>
              <a:rPr lang="ko-KR" altLang="en-US" sz="1750" b="0" dirty="0">
                <a:solidFill>
                  <a:srgbClr val="C00000"/>
                </a:solidFill>
                <a:latin typeface="맑은 고딕"/>
                <a:ea typeface="맑은 고딕"/>
                <a:cs typeface="맑은 고딕"/>
              </a:rPr>
              <a:t>	문자도의 상징은 사람들에게 가치를 일깨웠다</a:t>
            </a:r>
            <a:endParaRPr lang="ko-KR" altLang="en-US" sz="1750" b="0" dirty="0">
              <a:solidFill>
                <a:srgbClr val="C00000"/>
              </a:solidFill>
              <a:latin typeface="맑은 고딕"/>
              <a:ea typeface="맑은 고딕"/>
              <a:cs typeface="맑은 고딕"/>
            </a:endParaRPr>
          </a:p>
        </p:txBody>
      </p:sp>
      <p:sp>
        <p:nvSpPr>
          <p:cNvPr id="17" name="rv_answer"/>
          <p:cNvSpPr/>
          <p:nvPr/>
        </p:nvSpPr>
        <p:spPr>
          <a:xfrm>
            <a:off x="457200" y="527151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 </a:t>
            </a:r>
            <a:r>
              <a:rPr lang="ko-KR" altLang="en-US" sz="1900" b="1" dirty="0">
                <a:solidFill>
                  <a:srgbClr val="5A4200"/>
                </a:solidFill>
                <a:latin typeface="맑은 고딕"/>
                <a:ea typeface="맑은 고딕"/>
                <a:cs typeface="맑은 고딕"/>
              </a:rPr>
              <a:t>문자도의 상징은 사람들에게 가치를 일깨웠다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870448"/>
            <a:ext cx="11277295" cy="54863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문자도가 사람들의 행동과 태도에 영향을 준 중요한 가치를 상기시켰다고 했다. 정답은 ⑤이다.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25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9" grpId="0" animBg="1"/>
      <p:bldP spid="10" grpId="0" animBg="1"/>
      <p:bldP spid="18"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5</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5. 다음 글의 내용과 일치하지 않는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10566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105660"/>
          </a:xfrm>
          <a:prstGeom prst="rect">
            <a:avLst/>
          </a:prstGeom>
          <a:noFill/>
        </p:spPr>
        <p:txBody>
          <a:bodyPr wrap="square" lIns="201168" tIns="118872" rIns="201168" bIns="118872" anchor="t" rtlCol="0">
            <a:noAutofit/>
          </a:bodyPr>
          <a:lstStyle/>
          <a:p>
            <a:pPr algn="just">
              <a:lnSpc>
                <a:spcPts val="2060"/>
              </a:lnSpc>
              <a:spcBef>
                <a:spcPts val="0"/>
              </a:spcBef>
              <a:spcAft>
                <a:spcPts val="0"/>
              </a:spcAft>
              <a:buNone/>
            </a:pPr>
            <a:r>
              <a:rPr lang="en-US" altLang="ko-KR" sz="1450" b="0" dirty="0">
                <a:solidFill>
                  <a:srgbClr val="1F2328"/>
                </a:solidFill>
                <a:latin typeface="Calibri"/>
                <a:ea typeface="맑은 고딕"/>
                <a:cs typeface="Calibri"/>
              </a:rPr>
              <a:t>There are other examples of symbolic objects in Munjado. They are bamboo in the paintings of the character chung (忠) and lotus flowers in the paintings of ui (義). Bamboo does not bend. It stays green in all kinds of weather. For these reasons, bamboo came to symbolize loyalty to the king. In the case of lotus flowers, they grow in muddy ponds but still bloom beautifully. They thus became a symbol of </a:t>
            </a:r>
            <a:r>
              <a:rPr lang="en-US" altLang="ko-KR" sz="1450" b="0" dirty="0">
                <a:solidFill>
                  <a:srgbClr val="1F2328"/>
                </a:solidFill>
                <a:latin typeface="Calibri"/>
                <a:ea typeface="맑은 고딕"/>
                <a:cs typeface="Calibri"/>
              </a:rPr>
              <a:t>a person’s will to fight for justice</a:t>
            </a:r>
            <a:r>
              <a:rPr lang="en-US" altLang="ko-KR" sz="1450" b="0" dirty="0">
                <a:solidFill>
                  <a:srgbClr val="1F2328"/>
                </a:solidFill>
                <a:latin typeface="Calibri"/>
                <a:ea typeface="맑은 고딕"/>
                <a:cs typeface="Calibri"/>
              </a:rPr>
              <a:t> despite difficulties. Munjado was much more than a painting to people of the Joseon dynasty. It reminded them of important values that greatly influenced their behaviors and attitudes. In particular, for children, Munjado was a study tool. Through it, children in the Joseon dynasty could learn the importance of harmony in family and society.</a:t>
            </a:r>
            <a:endParaRPr lang="en-US" altLang="ko-KR" sz="1450" b="0" dirty="0">
              <a:solidFill>
                <a:srgbClr val="1F2328"/>
              </a:solidFill>
              <a:latin typeface="Calibri"/>
              <a:ea typeface="맑은 고딕"/>
              <a:cs typeface="Calibri"/>
            </a:endParaRPr>
          </a:p>
        </p:txBody>
      </p:sp>
      <p:sp>
        <p:nvSpPr>
          <p:cNvPr id="9" name="rv_evidence_card"/>
          <p:cNvSpPr/>
          <p:nvPr/>
        </p:nvSpPr>
        <p:spPr>
          <a:xfrm>
            <a:off x="457200" y="950976"/>
            <a:ext cx="11277295" cy="210566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105660"/>
          </a:xfrm>
          <a:prstGeom prst="rect">
            <a:avLst/>
          </a:prstGeom>
          <a:noFill/>
        </p:spPr>
        <p:txBody>
          <a:bodyPr wrap="square" lIns="201168" tIns="118872" rIns="201168" bIns="118872" anchor="t" rtlCol="0">
            <a:noAutofit/>
          </a:bodyPr>
          <a:lstStyle/>
          <a:p>
            <a:pPr algn="just">
              <a:lnSpc>
                <a:spcPts val="2060"/>
              </a:lnSpc>
              <a:spcBef>
                <a:spcPts val="0"/>
              </a:spcBef>
              <a:spcAft>
                <a:spcPts val="0"/>
              </a:spcAft>
              <a:buNone/>
            </a:pPr>
            <a:r>
              <a:rPr lang="en-US" altLang="ko-KR" sz="1450" b="0" dirty="0">
                <a:solidFill>
                  <a:srgbClr val="B3BAC6"/>
                </a:solidFill>
                <a:latin typeface="Calibri"/>
                <a:ea typeface="맑은 고딕"/>
                <a:cs typeface="Calibri"/>
              </a:rPr>
              <a:t>There are other examples of symbolic objects in Munjado. They are bamboo in the paintings of the character chung (忠) and lotus flowers in the paintings of ui (義). Bamboo does not bend. It stays green in all kinds of weather. For these reasons, bamboo came to symbolize loyalty to the king. In the case of lotus flowers, they grow in muddy ponds but still bloom beautifully. They thus became a symbol of </a:t>
            </a:r>
            <a:r>
              <a:rPr lang="en-US" altLang="ko-KR" sz="1450" b="0" dirty="0">
                <a:solidFill>
                  <a:srgbClr val="111111"/>
                </a:solidFill>
                <a:highlight>
                  <a:srgbClr val="FFE45C"/>
                </a:highlight>
                <a:latin typeface="Calibri"/>
                <a:ea typeface="맑은 고딕"/>
                <a:cs typeface="Calibri"/>
              </a:rPr>
              <a:t>a person’s will to fight for justice</a:t>
            </a:r>
            <a:r>
              <a:rPr lang="en-US" altLang="ko-KR" sz="1450" b="0" dirty="0">
                <a:solidFill>
                  <a:srgbClr val="B3BAC6"/>
                </a:solidFill>
                <a:latin typeface="Calibri"/>
                <a:ea typeface="맑은 고딕"/>
                <a:cs typeface="Calibri"/>
              </a:rPr>
              <a:t> despite difficulties. Munjado was much more than a painting to people of the Joseon dynasty. It reminded them of important values that greatly influenced their behaviors and attitudes. In particular, for children, Munjado was a study tool. Through it, children in the Joseon dynasty could learn the importance of harmony in family and society.</a:t>
            </a:r>
            <a:endParaRPr lang="en-US" altLang="ko-KR" sz="1450" b="0" dirty="0">
              <a:solidFill>
                <a:srgbClr val="B3BAC6"/>
              </a:solidFill>
              <a:latin typeface="Calibri"/>
              <a:ea typeface="맑은 고딕"/>
              <a:cs typeface="Calibri"/>
            </a:endParaRPr>
          </a:p>
        </p:txBody>
      </p:sp>
      <p:sp>
        <p:nvSpPr>
          <p:cNvPr id="11" name="choice_1"/>
          <p:cNvSpPr txBox="1"/>
          <p:nvPr/>
        </p:nvSpPr>
        <p:spPr>
          <a:xfrm>
            <a:off x="457200" y="3202940"/>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①</a:t>
            </a:r>
            <a:r>
              <a:rPr lang="ko-KR" altLang="en-US" sz="1750" b="0" dirty="0">
                <a:solidFill>
                  <a:srgbClr val="1F2328"/>
                </a:solidFill>
                <a:latin typeface="맑은 고딕"/>
                <a:ea typeface="맑은 고딕"/>
                <a:cs typeface="맑은 고딕"/>
              </a:rPr>
              <a:t>	충 그림에는 대나무가 그려져 있다</a:t>
            </a:r>
            <a:endParaRPr lang="ko-KR" altLang="en-US" sz="1750" b="0" dirty="0">
              <a:solidFill>
                <a:srgbClr val="1F2328"/>
              </a:solidFill>
              <a:latin typeface="맑은 고딕"/>
              <a:ea typeface="맑은 고딕"/>
              <a:cs typeface="맑은 고딕"/>
            </a:endParaRPr>
          </a:p>
        </p:txBody>
      </p:sp>
      <p:sp>
        <p:nvSpPr>
          <p:cNvPr id="12" name="choice_2"/>
          <p:cNvSpPr txBox="1"/>
          <p:nvPr/>
        </p:nvSpPr>
        <p:spPr>
          <a:xfrm>
            <a:off x="457200" y="3600196"/>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②</a:t>
            </a:r>
            <a:r>
              <a:rPr lang="ko-KR" altLang="en-US" sz="1750" b="0" dirty="0">
                <a:solidFill>
                  <a:srgbClr val="1F2328"/>
                </a:solidFill>
                <a:latin typeface="맑은 고딕"/>
                <a:ea typeface="맑은 고딕"/>
                <a:cs typeface="맑은 고딕"/>
              </a:rPr>
              <a:t>	대나무는 어떤 날씨에도 푸르름을 유지한다</a:t>
            </a:r>
            <a:endParaRPr lang="ko-KR" altLang="en-US" sz="1750" b="0" dirty="0">
              <a:solidFill>
                <a:srgbClr val="1F2328"/>
              </a:solidFill>
              <a:latin typeface="맑은 고딕"/>
              <a:ea typeface="맑은 고딕"/>
              <a:cs typeface="맑은 고딕"/>
            </a:endParaRPr>
          </a:p>
        </p:txBody>
      </p:sp>
      <p:sp>
        <p:nvSpPr>
          <p:cNvPr id="13" name="choice_3"/>
          <p:cNvSpPr txBox="1"/>
          <p:nvPr/>
        </p:nvSpPr>
        <p:spPr>
          <a:xfrm>
            <a:off x="457200" y="3997452"/>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③</a:t>
            </a:r>
            <a:r>
              <a:rPr lang="ko-KR" altLang="en-US" sz="1750" b="0" dirty="0">
                <a:solidFill>
                  <a:srgbClr val="1F2328"/>
                </a:solidFill>
                <a:latin typeface="맑은 고딕"/>
                <a:ea typeface="맑은 고딕"/>
                <a:cs typeface="맑은 고딕"/>
              </a:rPr>
              <a:t>	연꽃은 진흙투성이 연못에서 자란다</a:t>
            </a:r>
            <a:endParaRPr lang="ko-KR" altLang="en-US" sz="1750" b="0" dirty="0">
              <a:solidFill>
                <a:srgbClr val="1F2328"/>
              </a:solidFill>
              <a:latin typeface="맑은 고딕"/>
              <a:ea typeface="맑은 고딕"/>
              <a:cs typeface="맑은 고딕"/>
            </a:endParaRPr>
          </a:p>
        </p:txBody>
      </p:sp>
      <p:sp>
        <p:nvSpPr>
          <p:cNvPr id="14" name="choice_4"/>
          <p:cNvSpPr txBox="1"/>
          <p:nvPr/>
        </p:nvSpPr>
        <p:spPr>
          <a:xfrm>
            <a:off x="457200" y="4394708"/>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④</a:t>
            </a:r>
            <a:r>
              <a:rPr lang="ko-KR" altLang="en-US" sz="1750" b="0" dirty="0">
                <a:solidFill>
                  <a:srgbClr val="1F2328"/>
                </a:solidFill>
                <a:latin typeface="맑은 고딕"/>
                <a:ea typeface="맑은 고딕"/>
                <a:cs typeface="맑은 고딕"/>
              </a:rPr>
              <a:t>	연꽃은 아이들의 학습 의지를 상징한다</a:t>
            </a:r>
            <a:endParaRPr lang="ko-KR" altLang="en-US" sz="1750" b="0" dirty="0">
              <a:solidFill>
                <a:srgbClr val="1F2328"/>
              </a:solidFill>
              <a:latin typeface="맑은 고딕"/>
              <a:ea typeface="맑은 고딕"/>
              <a:cs typeface="맑은 고딕"/>
            </a:endParaRPr>
          </a:p>
        </p:txBody>
      </p:sp>
      <p:sp>
        <p:nvSpPr>
          <p:cNvPr id="15" name="rv_pick"/>
          <p:cNvSpPr txBox="1"/>
          <p:nvPr/>
        </p:nvSpPr>
        <p:spPr>
          <a:xfrm>
            <a:off x="457200" y="4394708"/>
            <a:ext cx="11277295" cy="369824"/>
          </a:xfrm>
          <a:prstGeom prst="rect">
            <a:avLst/>
          </a:prstGeom>
          <a:solidFill>
            <a:srgbClr val="FFF3C4"/>
          </a:solid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C00000"/>
                </a:solidFill>
                <a:latin typeface="맑은 고딕"/>
                <a:ea typeface="맑은 고딕"/>
                <a:cs typeface="맑은 고딕"/>
              </a:rPr>
              <a:t>④</a:t>
            </a:r>
            <a:r>
              <a:rPr lang="ko-KR" altLang="en-US" sz="1750" b="0" dirty="0">
                <a:solidFill>
                  <a:srgbClr val="C00000"/>
                </a:solidFill>
                <a:latin typeface="맑은 고딕"/>
                <a:ea typeface="맑은 고딕"/>
                <a:cs typeface="맑은 고딕"/>
              </a:rPr>
              <a:t>	연꽃은 아이들의 학습 의지를 상징한다</a:t>
            </a:r>
            <a:endParaRPr lang="ko-KR" altLang="en-US" sz="1750" b="0" dirty="0">
              <a:solidFill>
                <a:srgbClr val="C00000"/>
              </a:solidFill>
              <a:latin typeface="맑은 고딕"/>
              <a:ea typeface="맑은 고딕"/>
              <a:cs typeface="맑은 고딕"/>
            </a:endParaRPr>
          </a:p>
        </p:txBody>
      </p:sp>
      <p:sp>
        <p:nvSpPr>
          <p:cNvPr id="16" name="choice_5"/>
          <p:cNvSpPr txBox="1"/>
          <p:nvPr/>
        </p:nvSpPr>
        <p:spPr>
          <a:xfrm>
            <a:off x="457200" y="4791964"/>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⑤</a:t>
            </a:r>
            <a:r>
              <a:rPr lang="ko-KR" altLang="en-US" sz="1750" b="0" dirty="0">
                <a:solidFill>
                  <a:srgbClr val="1F2328"/>
                </a:solidFill>
                <a:latin typeface="맑은 고딕"/>
                <a:ea typeface="맑은 고딕"/>
                <a:cs typeface="맑은 고딕"/>
              </a:rPr>
              <a:t>	대나무는 왕에 대한 충성심을 상징한다</a:t>
            </a:r>
            <a:endParaRPr lang="ko-KR" altLang="en-US" sz="1750" b="0" dirty="0">
              <a:solidFill>
                <a:srgbClr val="1F2328"/>
              </a:solidFill>
              <a:latin typeface="맑은 고딕"/>
              <a:ea typeface="맑은 고딕"/>
              <a:cs typeface="맑은 고딕"/>
            </a:endParaRPr>
          </a:p>
        </p:txBody>
      </p:sp>
      <p:sp>
        <p:nvSpPr>
          <p:cNvPr id="17" name="rv_answer"/>
          <p:cNvSpPr/>
          <p:nvPr/>
        </p:nvSpPr>
        <p:spPr>
          <a:xfrm>
            <a:off x="457200" y="527151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ko-KR" altLang="en-US" sz="1900" b="1" dirty="0">
                <a:solidFill>
                  <a:srgbClr val="5A4200"/>
                </a:solidFill>
                <a:latin typeface="맑은 고딕"/>
                <a:ea typeface="맑은 고딕"/>
                <a:cs typeface="맑은 고딕"/>
              </a:rPr>
              <a:t>연꽃은 아이들의 학습 의지를 상징한다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870448"/>
            <a:ext cx="11277295" cy="54863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연꽃은 정의를 위해 싸우려는 한 사람의 의지를 상징한다. 아이들의 학습 의지를 상징한다는 ④는 틀리다.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25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9" grpId="0" animBg="1"/>
      <p:bldP spid="10" grpId="0" animBg="1"/>
      <p:bldP spid="18"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6</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6. 다음 글의 내용과 일치하는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10566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105660"/>
          </a:xfrm>
          <a:prstGeom prst="rect">
            <a:avLst/>
          </a:prstGeom>
          <a:noFill/>
        </p:spPr>
        <p:txBody>
          <a:bodyPr wrap="square" lIns="201168" tIns="118872" rIns="201168" bIns="118872" anchor="t" rtlCol="0">
            <a:noAutofit/>
          </a:bodyPr>
          <a:lstStyle/>
          <a:p>
            <a:pPr algn="just">
              <a:lnSpc>
                <a:spcPts val="2060"/>
              </a:lnSpc>
              <a:spcBef>
                <a:spcPts val="0"/>
              </a:spcBef>
              <a:spcAft>
                <a:spcPts val="0"/>
              </a:spcAft>
              <a:buNone/>
            </a:pPr>
            <a:r>
              <a:rPr lang="en-US" altLang="ko-KR" sz="1450" b="0" dirty="0">
                <a:solidFill>
                  <a:srgbClr val="1F2328"/>
                </a:solidFill>
                <a:latin typeface="Calibri"/>
                <a:ea typeface="맑은 고딕"/>
                <a:cs typeface="Calibri"/>
              </a:rPr>
              <a:t>There are other examples of symbolic objects in Munjado. They are bamboo in the paintings of the character chung (忠) and lotus flowers in the paintings of ui (義). Bamboo does not bend. It stays green in all kinds of weather. For these reasons, bamboo came to symbolize loyalty to the king. In the case of lotus flowers, they grow in muddy ponds but still bloom beautifully. They thus became a symbol of a person’s will to fight for justice despite difficulties. Munjado was much more than a painting to people of the Joseon dynasty. It reminded them of important values that greatly influenced their behaviors and attitudes. </a:t>
            </a:r>
            <a:r>
              <a:rPr lang="en-US" altLang="ko-KR" sz="1450" b="0" dirty="0">
                <a:solidFill>
                  <a:srgbClr val="1F2328"/>
                </a:solidFill>
                <a:latin typeface="Calibri"/>
                <a:ea typeface="맑은 고딕"/>
                <a:cs typeface="Calibri"/>
              </a:rPr>
              <a:t>In particular, for children, Munjado was a study tool.</a:t>
            </a:r>
            <a:r>
              <a:rPr lang="en-US" altLang="ko-KR" sz="1450" b="0" dirty="0">
                <a:solidFill>
                  <a:srgbClr val="1F2328"/>
                </a:solidFill>
                <a:latin typeface="Calibri"/>
                <a:ea typeface="맑은 고딕"/>
                <a:cs typeface="Calibri"/>
              </a:rPr>
              <a:t> Through it, children in the Joseon dynasty could learn the importance of harmony in family and society.</a:t>
            </a:r>
            <a:endParaRPr lang="en-US" altLang="ko-KR" sz="1450" b="0" dirty="0">
              <a:solidFill>
                <a:srgbClr val="1F2328"/>
              </a:solidFill>
              <a:latin typeface="Calibri"/>
              <a:ea typeface="맑은 고딕"/>
              <a:cs typeface="Calibri"/>
            </a:endParaRPr>
          </a:p>
        </p:txBody>
      </p:sp>
      <p:sp>
        <p:nvSpPr>
          <p:cNvPr id="9" name="rv_evidence_card"/>
          <p:cNvSpPr/>
          <p:nvPr/>
        </p:nvSpPr>
        <p:spPr>
          <a:xfrm>
            <a:off x="457200" y="950976"/>
            <a:ext cx="11277295" cy="210566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105660"/>
          </a:xfrm>
          <a:prstGeom prst="rect">
            <a:avLst/>
          </a:prstGeom>
          <a:noFill/>
        </p:spPr>
        <p:txBody>
          <a:bodyPr wrap="square" lIns="201168" tIns="118872" rIns="201168" bIns="118872" anchor="t" rtlCol="0">
            <a:noAutofit/>
          </a:bodyPr>
          <a:lstStyle/>
          <a:p>
            <a:pPr algn="just">
              <a:lnSpc>
                <a:spcPts val="2060"/>
              </a:lnSpc>
              <a:spcBef>
                <a:spcPts val="0"/>
              </a:spcBef>
              <a:spcAft>
                <a:spcPts val="0"/>
              </a:spcAft>
              <a:buNone/>
            </a:pPr>
            <a:r>
              <a:rPr lang="en-US" altLang="ko-KR" sz="1450" b="0" dirty="0">
                <a:solidFill>
                  <a:srgbClr val="B3BAC6"/>
                </a:solidFill>
                <a:latin typeface="Calibri"/>
                <a:ea typeface="맑은 고딕"/>
                <a:cs typeface="Calibri"/>
              </a:rPr>
              <a:t>There are other examples of symbolic objects in Munjado. They are bamboo in the paintings of the character chung (忠) and lotus flowers in the paintings of ui (義). Bamboo does not bend. It stays green in all kinds of weather. For these reasons, bamboo came to symbolize loyalty to the king. In the case of lotus flowers, they grow in muddy ponds but still bloom beautifully. They thus became a symbol of a person’s will to fight for justice despite difficulties. Munjado was much more than a painting to people of the Joseon dynasty. It reminded them of important values that greatly influenced their behaviors and attitudes. </a:t>
            </a:r>
            <a:r>
              <a:rPr lang="en-US" altLang="ko-KR" sz="1450" b="0" dirty="0">
                <a:solidFill>
                  <a:srgbClr val="111111"/>
                </a:solidFill>
                <a:highlight>
                  <a:srgbClr val="FFE45C"/>
                </a:highlight>
                <a:latin typeface="Calibri"/>
                <a:ea typeface="맑은 고딕"/>
                <a:cs typeface="Calibri"/>
              </a:rPr>
              <a:t>In particular, for children, Munjado was a study tool.</a:t>
            </a:r>
            <a:r>
              <a:rPr lang="en-US" altLang="ko-KR" sz="1450" b="0" dirty="0">
                <a:solidFill>
                  <a:srgbClr val="B3BAC6"/>
                </a:solidFill>
                <a:latin typeface="Calibri"/>
                <a:ea typeface="맑은 고딕"/>
                <a:cs typeface="Calibri"/>
              </a:rPr>
              <a:t> Through it, children in the Joseon dynasty could learn the importance of harmony in family and society.</a:t>
            </a:r>
            <a:endParaRPr lang="en-US" altLang="ko-KR" sz="1450" b="0" dirty="0">
              <a:solidFill>
                <a:srgbClr val="B3BAC6"/>
              </a:solidFill>
              <a:latin typeface="Calibri"/>
              <a:ea typeface="맑은 고딕"/>
              <a:cs typeface="Calibri"/>
            </a:endParaRPr>
          </a:p>
        </p:txBody>
      </p:sp>
      <p:sp>
        <p:nvSpPr>
          <p:cNvPr id="11" name="choice_1"/>
          <p:cNvSpPr txBox="1"/>
          <p:nvPr/>
        </p:nvSpPr>
        <p:spPr>
          <a:xfrm>
            <a:off x="457200" y="3202940"/>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①</a:t>
            </a:r>
            <a:r>
              <a:rPr lang="ko-KR" altLang="en-US" sz="1750" b="0" dirty="0">
                <a:solidFill>
                  <a:srgbClr val="1F2328"/>
                </a:solidFill>
                <a:latin typeface="맑은 고딕"/>
                <a:ea typeface="맑은 고딕"/>
                <a:cs typeface="맑은 고딕"/>
              </a:rPr>
              <a:t>	문자도는 아이들의 학습 도구였다</a:t>
            </a:r>
            <a:endParaRPr lang="ko-KR" altLang="en-US" sz="1750" b="0" dirty="0">
              <a:solidFill>
                <a:srgbClr val="1F2328"/>
              </a:solidFill>
              <a:latin typeface="맑은 고딕"/>
              <a:ea typeface="맑은 고딕"/>
              <a:cs typeface="맑은 고딕"/>
            </a:endParaRPr>
          </a:p>
        </p:txBody>
      </p:sp>
      <p:sp>
        <p:nvSpPr>
          <p:cNvPr id="12" name="rv_pick"/>
          <p:cNvSpPr txBox="1"/>
          <p:nvPr/>
        </p:nvSpPr>
        <p:spPr>
          <a:xfrm>
            <a:off x="457200" y="3202940"/>
            <a:ext cx="11277295" cy="369824"/>
          </a:xfrm>
          <a:prstGeom prst="rect">
            <a:avLst/>
          </a:prstGeom>
          <a:solidFill>
            <a:srgbClr val="FFF3C4"/>
          </a:solid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C00000"/>
                </a:solidFill>
                <a:latin typeface="맑은 고딕"/>
                <a:ea typeface="맑은 고딕"/>
                <a:cs typeface="맑은 고딕"/>
              </a:rPr>
              <a:t>①</a:t>
            </a:r>
            <a:r>
              <a:rPr lang="ko-KR" altLang="en-US" sz="1750" b="0" dirty="0">
                <a:solidFill>
                  <a:srgbClr val="C00000"/>
                </a:solidFill>
                <a:latin typeface="맑은 고딕"/>
                <a:ea typeface="맑은 고딕"/>
                <a:cs typeface="맑은 고딕"/>
              </a:rPr>
              <a:t>	문자도는 아이들의 학습 도구였다</a:t>
            </a:r>
            <a:endParaRPr lang="ko-KR" altLang="en-US" sz="1750" b="0" dirty="0">
              <a:solidFill>
                <a:srgbClr val="C00000"/>
              </a:solidFill>
              <a:latin typeface="맑은 고딕"/>
              <a:ea typeface="맑은 고딕"/>
              <a:cs typeface="맑은 고딕"/>
            </a:endParaRPr>
          </a:p>
        </p:txBody>
      </p:sp>
      <p:sp>
        <p:nvSpPr>
          <p:cNvPr id="13" name="choice_2"/>
          <p:cNvSpPr txBox="1"/>
          <p:nvPr/>
        </p:nvSpPr>
        <p:spPr>
          <a:xfrm>
            <a:off x="457200" y="3600196"/>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②</a:t>
            </a:r>
            <a:r>
              <a:rPr lang="ko-KR" altLang="en-US" sz="1750" b="0" dirty="0">
                <a:solidFill>
                  <a:srgbClr val="1F2328"/>
                </a:solidFill>
                <a:latin typeface="맑은 고딕"/>
                <a:ea typeface="맑은 고딕"/>
                <a:cs typeface="맑은 고딕"/>
              </a:rPr>
              <a:t>	의 그림에는 대나무가 그려져 있다</a:t>
            </a:r>
            <a:endParaRPr lang="ko-KR" altLang="en-US" sz="1750" b="0" dirty="0">
              <a:solidFill>
                <a:srgbClr val="1F2328"/>
              </a:solidFill>
              <a:latin typeface="맑은 고딕"/>
              <a:ea typeface="맑은 고딕"/>
              <a:cs typeface="맑은 고딕"/>
            </a:endParaRPr>
          </a:p>
        </p:txBody>
      </p:sp>
      <p:sp>
        <p:nvSpPr>
          <p:cNvPr id="14" name="choice_3"/>
          <p:cNvSpPr txBox="1"/>
          <p:nvPr/>
        </p:nvSpPr>
        <p:spPr>
          <a:xfrm>
            <a:off x="457200" y="3997452"/>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③</a:t>
            </a:r>
            <a:r>
              <a:rPr lang="ko-KR" altLang="en-US" sz="1750" b="0" dirty="0">
                <a:solidFill>
                  <a:srgbClr val="1F2328"/>
                </a:solidFill>
                <a:latin typeface="맑은 고딕"/>
                <a:ea typeface="맑은 고딕"/>
                <a:cs typeface="맑은 고딕"/>
              </a:rPr>
              <a:t>	대나무는 바람이 불면 쉽게 구부러진다</a:t>
            </a:r>
            <a:endParaRPr lang="ko-KR" altLang="en-US" sz="1750" b="0" dirty="0">
              <a:solidFill>
                <a:srgbClr val="1F2328"/>
              </a:solidFill>
              <a:latin typeface="맑은 고딕"/>
              <a:ea typeface="맑은 고딕"/>
              <a:cs typeface="맑은 고딕"/>
            </a:endParaRPr>
          </a:p>
        </p:txBody>
      </p:sp>
      <p:sp>
        <p:nvSpPr>
          <p:cNvPr id="15" name="choice_4"/>
          <p:cNvSpPr txBox="1"/>
          <p:nvPr/>
        </p:nvSpPr>
        <p:spPr>
          <a:xfrm>
            <a:off x="457200" y="4394708"/>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④</a:t>
            </a:r>
            <a:r>
              <a:rPr lang="ko-KR" altLang="en-US" sz="1750" b="0" dirty="0">
                <a:solidFill>
                  <a:srgbClr val="1F2328"/>
                </a:solidFill>
                <a:latin typeface="맑은 고딕"/>
                <a:ea typeface="맑은 고딕"/>
                <a:cs typeface="맑은 고딕"/>
              </a:rPr>
              <a:t>	연꽃은 맑은 연못에서만 꽃을 피운다</a:t>
            </a:r>
            <a:endParaRPr lang="ko-KR" altLang="en-US" sz="1750" b="0" dirty="0">
              <a:solidFill>
                <a:srgbClr val="1F2328"/>
              </a:solidFill>
              <a:latin typeface="맑은 고딕"/>
              <a:ea typeface="맑은 고딕"/>
              <a:cs typeface="맑은 고딕"/>
            </a:endParaRPr>
          </a:p>
        </p:txBody>
      </p:sp>
      <p:sp>
        <p:nvSpPr>
          <p:cNvPr id="16" name="choice_5"/>
          <p:cNvSpPr txBox="1"/>
          <p:nvPr/>
        </p:nvSpPr>
        <p:spPr>
          <a:xfrm>
            <a:off x="457200" y="4791964"/>
            <a:ext cx="11277295" cy="369824"/>
          </a:xfrm>
          <a:prstGeom prst="rect">
            <a:avLst/>
          </a:prstGeom>
          <a:noFill/>
        </p:spPr>
        <p:txBody>
          <a:bodyPr wrap="square" lIns="137160" tIns="27432" rIns="137160" bIns="27432" anchor="t" rtlCol="0">
            <a:noAutofit/>
          </a:bodyPr>
          <a:lstStyle/>
          <a:p>
            <a:pPr algn="l" marL="355600" indent="-355600">
              <a:lnSpc>
                <a:spcPts val="2480"/>
              </a:lnSpc>
              <a:spcBef>
                <a:spcPts val="0"/>
              </a:spcBef>
              <a:spcAft>
                <a:spcPts val="0"/>
              </a:spcAft>
              <a:buNone/>
              <a:tabLst>
                <a:tab pos="355600" algn="l"/>
              </a:tabLst>
            </a:pPr>
            <a:r>
              <a:rPr lang="ko-KR" altLang="en-US" sz="1750" b="1" dirty="0">
                <a:solidFill>
                  <a:srgbClr val="1E2A5A"/>
                </a:solidFill>
                <a:latin typeface="맑은 고딕"/>
                <a:ea typeface="맑은 고딕"/>
                <a:cs typeface="맑은 고딕"/>
              </a:rPr>
              <a:t>⑤</a:t>
            </a:r>
            <a:r>
              <a:rPr lang="ko-KR" altLang="en-US" sz="1750" b="0" dirty="0">
                <a:solidFill>
                  <a:srgbClr val="1F2328"/>
                </a:solidFill>
                <a:latin typeface="맑은 고딕"/>
                <a:ea typeface="맑은 고딕"/>
                <a:cs typeface="맑은 고딕"/>
              </a:rPr>
              <a:t>	문자도는 어른만 보던 그림이었다</a:t>
            </a:r>
            <a:endParaRPr lang="ko-KR" altLang="en-US" sz="1750" b="0" dirty="0">
              <a:solidFill>
                <a:srgbClr val="1F2328"/>
              </a:solidFill>
              <a:latin typeface="맑은 고딕"/>
              <a:ea typeface="맑은 고딕"/>
              <a:cs typeface="맑은 고딕"/>
            </a:endParaRPr>
          </a:p>
        </p:txBody>
      </p:sp>
      <p:sp>
        <p:nvSpPr>
          <p:cNvPr id="17" name="rv_answer"/>
          <p:cNvSpPr/>
          <p:nvPr/>
        </p:nvSpPr>
        <p:spPr>
          <a:xfrm>
            <a:off x="457200" y="527151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① </a:t>
            </a:r>
            <a:r>
              <a:rPr lang="ko-KR" altLang="en-US" sz="1900" b="1" dirty="0">
                <a:solidFill>
                  <a:srgbClr val="5A4200"/>
                </a:solidFill>
                <a:latin typeface="맑은 고딕"/>
                <a:ea typeface="맑은 고딕"/>
                <a:cs typeface="맑은 고딕"/>
              </a:rPr>
              <a:t>문자도는 아이들의 학습 도구였다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870448"/>
            <a:ext cx="11277295" cy="54863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특히 아이들에게 문자도는 학습 도구('a study tool')였다고 했으므로 ①이 일치한다.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9" grpId="0" animBg="1"/>
      <p:bldP spid="10" grpId="0" animBg="1"/>
      <p:bldP spid="18"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4881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48818"/>
          </a:xfrm>
          <a:prstGeom prst="rect">
            <a:avLst/>
          </a:prstGeom>
          <a:noFill/>
        </p:spPr>
        <p:txBody>
          <a:bodyPr wrap="square" lIns="201168" tIns="100584" rIns="201168" bIns="100584" anchor="t" rtlCol="0">
            <a:noAutofit/>
          </a:bodyPr>
          <a:lstStyle/>
          <a:p>
            <a:pPr algn="l">
              <a:lnSpc>
                <a:spcPts val="1950"/>
              </a:lnSpc>
              <a:spcBef>
                <a:spcPts val="0"/>
              </a:spcBef>
              <a:spcAft>
                <a:spcPts val="0"/>
              </a:spcAft>
              <a:buNone/>
            </a:pPr>
            <a:r>
              <a:rPr lang="en-US" altLang="ko-KR" sz="1500" b="0" dirty="0">
                <a:solidFill>
                  <a:srgbClr val="1F2328"/>
                </a:solidFill>
                <a:latin typeface="Calibri"/>
                <a:ea typeface="맑은 고딕"/>
                <a:cs typeface="Calibri"/>
              </a:rPr>
              <a:t>There are other examples of symbolic objects in Munjado.</a:t>
            </a:r>
            <a:endParaRPr lang="en-US" altLang="ko-KR" sz="1500" b="0" dirty="0">
              <a:solidFill>
                <a:srgbClr val="1F2328"/>
              </a:solidFill>
              <a:latin typeface="Calibri"/>
              <a:ea typeface="맑은 고딕"/>
              <a:cs typeface="Calibri"/>
            </a:endParaRPr>
          </a:p>
        </p:txBody>
      </p:sp>
      <p:sp>
        <p:nvSpPr>
          <p:cNvPr id="9" name="parts_card"/>
          <p:cNvSpPr/>
          <p:nvPr/>
        </p:nvSpPr>
        <p:spPr>
          <a:xfrm>
            <a:off x="457200" y="1527810"/>
            <a:ext cx="11277295" cy="2812542"/>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27810"/>
            <a:ext cx="11277295" cy="2812542"/>
          </a:xfrm>
          <a:prstGeom prst="rect">
            <a:avLst/>
          </a:prstGeom>
          <a:noFill/>
        </p:spPr>
        <p:txBody>
          <a:bodyPr wrap="square" lIns="201168" tIns="118872" rIns="201168" bIns="118872" anchor="t" rtlCol="0">
            <a:noAutofit/>
          </a:bodyPr>
          <a:lstStyle/>
          <a:p>
            <a:pPr algn="just" marL="400050" indent="-400050">
              <a:lnSpc>
                <a:spcPts val="1950"/>
              </a:lnSpc>
              <a:spcBef>
                <a:spcPts val="0"/>
              </a:spcBef>
              <a:spcAft>
                <a:spcPts val="680"/>
              </a:spcAft>
              <a:buNone/>
              <a:tabLst>
                <a:tab pos="400050" algn="l"/>
              </a:tabLst>
            </a:pPr>
            <a:r>
              <a:rPr lang="en-US" altLang="ko-KR" sz="1500" b="1" dirty="0">
                <a:solidFill>
                  <a:srgbClr val="1E2A5A"/>
                </a:solidFill>
                <a:latin typeface="Calibri"/>
                <a:ea typeface="맑은 고딕"/>
                <a:cs typeface="Calibri"/>
              </a:rPr>
              <a:t>(A)</a:t>
            </a:r>
            <a:r>
              <a:rPr lang="en-US" altLang="ko-KR" sz="1500" b="0" dirty="0">
                <a:solidFill>
                  <a:srgbClr val="1F2328"/>
                </a:solidFill>
                <a:latin typeface="Calibri"/>
                <a:ea typeface="맑은 고딕"/>
                <a:cs typeface="Calibri"/>
              </a:rPr>
              <a:t>	It reminded them of important values that greatly influenced their behaviors and attitudes. In particular, for children, Munjado was a study tool. Through it, children in the Joseon dynasty could learn the importance of harmony in family and society.</a:t>
            </a:r>
            <a:endParaRPr lang="en-US" altLang="ko-KR" sz="1500" b="0" dirty="0">
              <a:solidFill>
                <a:srgbClr val="1F2328"/>
              </a:solidFill>
              <a:latin typeface="Calibri"/>
              <a:ea typeface="맑은 고딕"/>
              <a:cs typeface="Calibri"/>
            </a:endParaRPr>
          </a:p>
          <a:p>
            <a:pPr algn="just" marL="400050" indent="-400050">
              <a:lnSpc>
                <a:spcPts val="2130"/>
              </a:lnSpc>
              <a:spcBef>
                <a:spcPts val="0"/>
              </a:spcBef>
              <a:spcAft>
                <a:spcPts val="680"/>
              </a:spcAft>
              <a:buNone/>
              <a:tabLst>
                <a:tab pos="400050" algn="l"/>
              </a:tabLst>
            </a:pPr>
            <a:r>
              <a:rPr lang="en-US" altLang="ko-KR" sz="1500" b="1" dirty="0">
                <a:solidFill>
                  <a:srgbClr val="1E2A5A"/>
                </a:solidFill>
                <a:latin typeface="Calibri"/>
                <a:ea typeface="맑은 고딕"/>
                <a:cs typeface="Calibri"/>
              </a:rPr>
              <a:t>(B)</a:t>
            </a:r>
            <a:r>
              <a:rPr lang="en-US" altLang="ko-KR" sz="1500" b="0" dirty="0">
                <a:solidFill>
                  <a:srgbClr val="1F2328"/>
                </a:solidFill>
                <a:latin typeface="Calibri"/>
                <a:ea typeface="맑은 고딕"/>
                <a:cs typeface="Calibri"/>
              </a:rPr>
              <a:t>	They are bamboo in the paintings of the character chung (忠) and lotus flowers in the paintings of ui (義). Bamboo does not bend. It stays green in all kinds of weather. For these reasons, bamboo came to symbolize loyalty to the king.</a:t>
            </a:r>
            <a:endParaRPr lang="en-US" altLang="ko-KR" sz="1500" b="0" dirty="0">
              <a:solidFill>
                <a:srgbClr val="1F2328"/>
              </a:solidFill>
              <a:latin typeface="Calibri"/>
              <a:ea typeface="맑은 고딕"/>
              <a:cs typeface="Calibri"/>
            </a:endParaRPr>
          </a:p>
          <a:p>
            <a:pPr algn="just" marL="400050" indent="-400050">
              <a:lnSpc>
                <a:spcPts val="1950"/>
              </a:lnSpc>
              <a:spcBef>
                <a:spcPts val="0"/>
              </a:spcBef>
              <a:spcAft>
                <a:spcPts val="680"/>
              </a:spcAft>
              <a:buNone/>
              <a:tabLst>
                <a:tab pos="400050" algn="l"/>
              </a:tabLst>
            </a:pPr>
            <a:r>
              <a:rPr lang="en-US" altLang="ko-KR" sz="1500" b="1" dirty="0">
                <a:solidFill>
                  <a:srgbClr val="1E2A5A"/>
                </a:solidFill>
                <a:latin typeface="Calibri"/>
                <a:ea typeface="맑은 고딕"/>
                <a:cs typeface="Calibri"/>
              </a:rPr>
              <a:t>(C)</a:t>
            </a:r>
            <a:r>
              <a:rPr lang="en-US" altLang="ko-KR" sz="1500" b="0" dirty="0">
                <a:solidFill>
                  <a:srgbClr val="1F2328"/>
                </a:solidFill>
                <a:latin typeface="Calibri"/>
                <a:ea typeface="맑은 고딕"/>
                <a:cs typeface="Calibri"/>
              </a:rPr>
              <a:t>	In the case of lotus flowers, they grow in muddy ponds but still bloom beautifully. They thus became a symbol of a person’s will to fight for justice despite difficulties. Munjado was much more than a painting to people of the Joseon dynasty.</a:t>
            </a:r>
            <a:endParaRPr lang="en-US" altLang="ko-KR" sz="1500" b="0" dirty="0">
              <a:solidFill>
                <a:srgbClr val="1F2328"/>
              </a:solidFill>
              <a:latin typeface="Calibri"/>
              <a:ea typeface="맑은 고딕"/>
              <a:cs typeface="Calibri"/>
            </a:endParaRPr>
          </a:p>
        </p:txBody>
      </p:sp>
      <p:sp>
        <p:nvSpPr>
          <p:cNvPr id="11" name="options"/>
          <p:cNvSpPr txBox="1"/>
          <p:nvPr/>
        </p:nvSpPr>
        <p:spPr>
          <a:xfrm>
            <a:off x="457200" y="44500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44500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③ </a:t>
            </a:r>
            <a:r>
              <a:rPr lang="en-US" altLang="ko-KR" sz="1800" b="0" dirty="0">
                <a:solidFill>
                  <a:srgbClr val="C00000"/>
                </a:solidFill>
                <a:highlight>
                  <a:srgbClr val="FFFFFF"/>
                </a:highlight>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96214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en-US" altLang="ko-KR" sz="1900" b="1" dirty="0">
                <a:solidFill>
                  <a:srgbClr val="5A4200"/>
                </a:solidFill>
                <a:latin typeface="Calibri"/>
                <a:ea typeface="맑은 고딕"/>
                <a:cs typeface="Calibri"/>
              </a:rPr>
              <a:t>(B) - (C) - (A)</a:t>
            </a:r>
            <a:endParaRPr lang="en-US" altLang="ko-KR" sz="1900" b="1" dirty="0">
              <a:solidFill>
                <a:srgbClr val="5A4200"/>
              </a:solidFill>
              <a:latin typeface="Calibri"/>
              <a:ea typeface="맑은 고딕"/>
              <a:cs typeface="Calibri"/>
            </a:endParaRPr>
          </a:p>
        </p:txBody>
      </p:sp>
      <p:sp>
        <p:nvSpPr>
          <p:cNvPr id="14" name="rv_why"/>
          <p:cNvSpPr/>
          <p:nvPr/>
        </p:nvSpPr>
        <p:spPr>
          <a:xfrm>
            <a:off x="457200" y="5561076"/>
            <a:ext cx="11277295" cy="85801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상징적 사물의 다른 예 → (B) 'They'가 대나무와 연꽃을 가리키고 대나무를 설명한다 → (C) 'In the case of lotus flowers'로 연꽃 설명 → (A) 'It'이 문자도를 받아 가치를 정리한다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4881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48818"/>
          </a:xfrm>
          <a:prstGeom prst="rect">
            <a:avLst/>
          </a:prstGeom>
          <a:noFill/>
        </p:spPr>
        <p:txBody>
          <a:bodyPr wrap="square" lIns="201168" tIns="100584" rIns="201168" bIns="100584" anchor="t" rtlCol="0">
            <a:noAutofit/>
          </a:bodyPr>
          <a:lstStyle/>
          <a:p>
            <a:pPr algn="l">
              <a:lnSpc>
                <a:spcPts val="1950"/>
              </a:lnSpc>
              <a:spcBef>
                <a:spcPts val="0"/>
              </a:spcBef>
              <a:spcAft>
                <a:spcPts val="0"/>
              </a:spcAft>
              <a:buNone/>
            </a:pPr>
            <a:r>
              <a:rPr lang="en-US" altLang="ko-KR" sz="1500" b="0" dirty="0">
                <a:solidFill>
                  <a:srgbClr val="1F2328"/>
                </a:solidFill>
                <a:latin typeface="Calibri"/>
                <a:ea typeface="맑은 고딕"/>
                <a:cs typeface="Calibri"/>
              </a:rPr>
              <a:t>There are other examples of symbolic objects in Munjado.</a:t>
            </a:r>
            <a:endParaRPr lang="en-US" altLang="ko-KR" sz="1500" b="0" dirty="0">
              <a:solidFill>
                <a:srgbClr val="1F2328"/>
              </a:solidFill>
              <a:latin typeface="Calibri"/>
              <a:ea typeface="맑은 고딕"/>
              <a:cs typeface="Calibri"/>
            </a:endParaRPr>
          </a:p>
        </p:txBody>
      </p:sp>
      <p:sp>
        <p:nvSpPr>
          <p:cNvPr id="9" name="parts_card"/>
          <p:cNvSpPr/>
          <p:nvPr/>
        </p:nvSpPr>
        <p:spPr>
          <a:xfrm>
            <a:off x="457200" y="1527810"/>
            <a:ext cx="11277295" cy="2812542"/>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27810"/>
            <a:ext cx="11277295" cy="2812542"/>
          </a:xfrm>
          <a:prstGeom prst="rect">
            <a:avLst/>
          </a:prstGeom>
          <a:noFill/>
        </p:spPr>
        <p:txBody>
          <a:bodyPr wrap="square" lIns="201168" tIns="118872" rIns="201168" bIns="118872" anchor="t" rtlCol="0">
            <a:noAutofit/>
          </a:bodyPr>
          <a:lstStyle/>
          <a:p>
            <a:pPr algn="just" marL="400050" indent="-400050">
              <a:lnSpc>
                <a:spcPts val="1950"/>
              </a:lnSpc>
              <a:spcBef>
                <a:spcPts val="0"/>
              </a:spcBef>
              <a:spcAft>
                <a:spcPts val="680"/>
              </a:spcAft>
              <a:buNone/>
              <a:tabLst>
                <a:tab pos="400050" algn="l"/>
              </a:tabLst>
            </a:pPr>
            <a:r>
              <a:rPr lang="en-US" altLang="ko-KR" sz="1500" b="1" dirty="0">
                <a:solidFill>
                  <a:srgbClr val="1E2A5A"/>
                </a:solidFill>
                <a:latin typeface="Calibri"/>
                <a:ea typeface="맑은 고딕"/>
                <a:cs typeface="Calibri"/>
              </a:rPr>
              <a:t>(A)</a:t>
            </a:r>
            <a:r>
              <a:rPr lang="en-US" altLang="ko-KR" sz="1500" b="0" dirty="0">
                <a:solidFill>
                  <a:srgbClr val="1F2328"/>
                </a:solidFill>
                <a:latin typeface="Calibri"/>
                <a:ea typeface="맑은 고딕"/>
                <a:cs typeface="Calibri"/>
              </a:rPr>
              <a:t>	It reminded them of important values that greatly influenced their behaviors and attitudes. In particular, for children, Munjado was a study tool. Through it, children in the Joseon dynasty could learn the importance of harmony in family and society.</a:t>
            </a:r>
            <a:endParaRPr lang="en-US" altLang="ko-KR" sz="1500" b="0" dirty="0">
              <a:solidFill>
                <a:srgbClr val="1F2328"/>
              </a:solidFill>
              <a:latin typeface="Calibri"/>
              <a:ea typeface="맑은 고딕"/>
              <a:cs typeface="Calibri"/>
            </a:endParaRPr>
          </a:p>
          <a:p>
            <a:pPr algn="just" marL="400050" indent="-400050">
              <a:lnSpc>
                <a:spcPts val="1950"/>
              </a:lnSpc>
              <a:spcBef>
                <a:spcPts val="0"/>
              </a:spcBef>
              <a:spcAft>
                <a:spcPts val="680"/>
              </a:spcAft>
              <a:buNone/>
              <a:tabLst>
                <a:tab pos="400050" algn="l"/>
              </a:tabLst>
            </a:pPr>
            <a:r>
              <a:rPr lang="en-US" altLang="ko-KR" sz="1500" b="1" dirty="0">
                <a:solidFill>
                  <a:srgbClr val="1E2A5A"/>
                </a:solidFill>
                <a:latin typeface="Calibri"/>
                <a:ea typeface="맑은 고딕"/>
                <a:cs typeface="Calibri"/>
              </a:rPr>
              <a:t>(B)</a:t>
            </a:r>
            <a:r>
              <a:rPr lang="en-US" altLang="ko-KR" sz="1500" b="0" dirty="0">
                <a:solidFill>
                  <a:srgbClr val="1F2328"/>
                </a:solidFill>
                <a:latin typeface="Calibri"/>
                <a:ea typeface="맑은 고딕"/>
                <a:cs typeface="Calibri"/>
              </a:rPr>
              <a:t>	In the case of lotus flowers, they grow in muddy ponds but still bloom beautifully. They thus became a symbol of a person’s will to fight for justice despite difficulties. Munjado was much more than a painting to people of the Joseon dynasty.</a:t>
            </a:r>
            <a:endParaRPr lang="en-US" altLang="ko-KR" sz="1500" b="0" dirty="0">
              <a:solidFill>
                <a:srgbClr val="1F2328"/>
              </a:solidFill>
              <a:latin typeface="Calibri"/>
              <a:ea typeface="맑은 고딕"/>
              <a:cs typeface="Calibri"/>
            </a:endParaRPr>
          </a:p>
          <a:p>
            <a:pPr algn="just" marL="400050" indent="-400050">
              <a:lnSpc>
                <a:spcPts val="2130"/>
              </a:lnSpc>
              <a:spcBef>
                <a:spcPts val="0"/>
              </a:spcBef>
              <a:spcAft>
                <a:spcPts val="680"/>
              </a:spcAft>
              <a:buNone/>
              <a:tabLst>
                <a:tab pos="400050" algn="l"/>
              </a:tabLst>
            </a:pPr>
            <a:r>
              <a:rPr lang="en-US" altLang="ko-KR" sz="1500" b="1" dirty="0">
                <a:solidFill>
                  <a:srgbClr val="1E2A5A"/>
                </a:solidFill>
                <a:latin typeface="Calibri"/>
                <a:ea typeface="맑은 고딕"/>
                <a:cs typeface="Calibri"/>
              </a:rPr>
              <a:t>(C)</a:t>
            </a:r>
            <a:r>
              <a:rPr lang="en-US" altLang="ko-KR" sz="1500" b="0" dirty="0">
                <a:solidFill>
                  <a:srgbClr val="1F2328"/>
                </a:solidFill>
                <a:latin typeface="Calibri"/>
                <a:ea typeface="맑은 고딕"/>
                <a:cs typeface="Calibri"/>
              </a:rPr>
              <a:t>	They are bamboo in the paintings of the character chung (忠) and lotus flowers in the paintings of ui (義). Bamboo does not bend. It stays green in all kinds of weather. For these reasons, bamboo came to symbolize loyalty to the king.</a:t>
            </a:r>
            <a:endParaRPr lang="en-US" altLang="ko-KR" sz="1500" b="0" dirty="0">
              <a:solidFill>
                <a:srgbClr val="1F2328"/>
              </a:solidFill>
              <a:latin typeface="Calibri"/>
              <a:ea typeface="맑은 고딕"/>
              <a:cs typeface="Calibri"/>
            </a:endParaRPr>
          </a:p>
        </p:txBody>
      </p:sp>
      <p:sp>
        <p:nvSpPr>
          <p:cNvPr id="11" name="options"/>
          <p:cNvSpPr txBox="1"/>
          <p:nvPr/>
        </p:nvSpPr>
        <p:spPr>
          <a:xfrm>
            <a:off x="457200" y="44500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44500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③ </a:t>
            </a:r>
            <a:r>
              <a:rPr lang="en-US" altLang="ko-KR" sz="1800" b="0" dirty="0">
                <a:solidFill>
                  <a:srgbClr val="1F2328">
                    <a:alpha val="0"/>
                  </a:srgbClr>
                </a:solidFill>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⑤ </a:t>
            </a:r>
            <a:r>
              <a:rPr lang="en-US" altLang="ko-KR" sz="1800" b="0" dirty="0">
                <a:solidFill>
                  <a:srgbClr val="C00000"/>
                </a:solidFill>
                <a:highlight>
                  <a:srgbClr val="FFFFFF"/>
                </a:highlight>
                <a:latin typeface="Calibri"/>
                <a:ea typeface="맑은 고딕"/>
                <a:cs typeface="Calibri"/>
              </a:rPr>
              <a:t>(C) - (B) - (A)</a:t>
            </a:r>
            <a:endParaRPr lang="en-US" altLang="ko-KR" sz="1800" b="0" dirty="0">
              <a:solidFill>
                <a:srgbClr val="C00000"/>
              </a:solidFill>
              <a:latin typeface="Calibri"/>
              <a:ea typeface="맑은 고딕"/>
              <a:cs typeface="Calibri"/>
            </a:endParaRPr>
          </a:p>
        </p:txBody>
      </p:sp>
      <p:sp>
        <p:nvSpPr>
          <p:cNvPr id="13" name="rv_answer"/>
          <p:cNvSpPr/>
          <p:nvPr/>
        </p:nvSpPr>
        <p:spPr>
          <a:xfrm>
            <a:off x="457200" y="496214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 </a:t>
            </a:r>
            <a:r>
              <a:rPr lang="en-US" altLang="ko-KR" sz="1900" b="1" dirty="0">
                <a:solidFill>
                  <a:srgbClr val="5A4200"/>
                </a:solidFill>
                <a:latin typeface="Calibri"/>
                <a:ea typeface="맑은 고딕"/>
                <a:cs typeface="Calibri"/>
              </a:rPr>
              <a:t>(C) - (B) - (A)</a:t>
            </a:r>
            <a:endParaRPr lang="en-US" altLang="ko-KR" sz="1900" b="1" dirty="0">
              <a:solidFill>
                <a:srgbClr val="5A4200"/>
              </a:solidFill>
              <a:latin typeface="Calibri"/>
              <a:ea typeface="맑은 고딕"/>
              <a:cs typeface="Calibri"/>
            </a:endParaRPr>
          </a:p>
        </p:txBody>
      </p:sp>
      <p:sp>
        <p:nvSpPr>
          <p:cNvPr id="14" name="rv_why"/>
          <p:cNvSpPr/>
          <p:nvPr/>
        </p:nvSpPr>
        <p:spPr>
          <a:xfrm>
            <a:off x="457200" y="5561076"/>
            <a:ext cx="11277295" cy="85801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상징적 사물의 다른 예 → (C) 'They are bamboo'로 두 예를 밝히고 대나무를 먼저 설명한다 → (B) 연꽃의 경우를 이어서 말한다 → (A) 문자도가 일깨운 가치로 마무리한다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5072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50723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It stays green in all kinds of weather.</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604518"/>
            <a:ext cx="11277295" cy="287528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604518"/>
            <a:ext cx="11277295" cy="287528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There are other examples of symbolic objects in Munjado.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They are bamboo in the paintings of the character chung (忠) and lotus flowers in the paintings of ui (義).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Bamboo does not bend.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For these reasons, bamboo came to symbolize loyalty to the king.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In the case of lotus flowers, they grow in muddy ponds but still bloom beautifully. They thus became a symbol of a person’s will to fight for justice despite difficulties. Munjado was much more than a painting to people of the Joseon dynasty. It reminded them of important values that greatly influenced their behaviors and attitudes. In particular, for children, Munjado was a study tool. Through it, children in the Joseon dynasty could learn the importance of harmony in family and society.</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604518"/>
            <a:ext cx="11277295" cy="287528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There are other examples of symbolic objects in Munjado. </a:t>
            </a:r>
            <a:r>
              <a:rPr lang="ko-KR" altLang="en-US" sz="18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They are bamboo in the paintings of the character chung (忠) and lotus flowers in the paintings of ui (義). </a:t>
            </a:r>
            <a:r>
              <a:rPr lang="ko-KR" altLang="en-US" sz="18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Bamboo does not bend. </a:t>
            </a:r>
            <a:r>
              <a:rPr lang="ko-KR" altLang="en-US" sz="1800" b="1" dirty="0">
                <a:solidFill>
                  <a:srgbClr val="C00000"/>
                </a:solidFill>
                <a:highlight>
                  <a:srgbClr val="F3F5F9"/>
                </a:highlight>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For these reasons, bamboo came to symbolize loyalty to the king. </a:t>
            </a:r>
            <a:r>
              <a:rPr lang="ko-KR" altLang="en-US" sz="18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In the case of lotus flowers, they grow in muddy ponds but still bloom beautifully. They thus became a symbol of a person’s will to fight for justice despite difficulties. Munjado was much more than a painting to people of the Joseon dynasty. It reminded them of important values that greatly influenced their behaviors and attitudes. In particular, for children, Munjado was a study tool. Through it, children in the Joseon dynasty could learn the importance of harmony in family and society.</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45895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5188458"/>
            <a:ext cx="11277295" cy="12306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③ 앞 'does not bend'에 이어 주어진 문장이 늘 푸르다는 이유를 더한다. ④ 뒤 'For these reasons'가 두 이유를 받으므로 ④이다.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5072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50723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For these reasons, bamboo came to symbolize loyalty to the king.</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604518"/>
            <a:ext cx="11277295" cy="287528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604518"/>
            <a:ext cx="11277295" cy="287528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There are other examples of symbolic objects in Munjado.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They are bamboo in the paintings of the character chung (忠) and lotus flowers in the paintings of ui (義).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Bamboo does not bend.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It stays green in all kinds of weather.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In the case of lotus flowers, they grow in muddy ponds but still bloom beautifully. They thus became a symbol of a person’s will to fight for justice despite difficulties. Munjado was much more than a painting to people of the Joseon dynasty. It reminded them of important values that greatly influenced their behaviors and attitudes. In particular, for children, Munjado was a study tool. Through it, children in the Joseon dynasty could learn the importance of harmony in family and society.</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604518"/>
            <a:ext cx="11277295" cy="287528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There are other examples of symbolic objects in Munjado. </a:t>
            </a:r>
            <a:r>
              <a:rPr lang="ko-KR" altLang="en-US" sz="18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They are bamboo in the paintings of the character chung (忠) and lotus flowers in the paintings of ui (義). </a:t>
            </a:r>
            <a:r>
              <a:rPr lang="ko-KR" altLang="en-US" sz="18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Bamboo does not bend. </a:t>
            </a:r>
            <a:r>
              <a:rPr lang="ko-KR" altLang="en-US" sz="18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It stays green in all kinds of weather. </a:t>
            </a:r>
            <a:r>
              <a:rPr lang="ko-KR" altLang="en-US" sz="1800" b="1" dirty="0">
                <a:solidFill>
                  <a:srgbClr val="C00000"/>
                </a:solidFill>
                <a:highlight>
                  <a:srgbClr val="F3F5F9"/>
                </a:highlight>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In the case of lotus flowers, they grow in muddy ponds but still bloom beautifully. They thus became a symbol of a person’s will to fight for justice despite difficulties. Munjado was much more than a painting to people of the Joseon dynasty. It reminded them of important values that greatly influenced their behaviors and attitudes. In particular, for children, Munjado was a study tool. Through it, children in the Joseon dynasty could learn the importance of harmony in family and society.</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45895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5188458"/>
            <a:ext cx="11277295" cy="12306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주어진 문장의 'For these reasons'는 ④ 앞의 구부러지지 않고 늘 푸르다는 두 이유를 받는다. ⑤ 뒤는 연꽃 이야기이므로 ⑤이다.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①</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5개)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537057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537057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solidFill>
                <a:latin typeface="맑은 고딕"/>
                <a:ea typeface="맑은 고딕"/>
                <a:cs typeface="맑은 고딕"/>
              </a:rPr>
              <a:t>①</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There </a:t>
            </a:r>
            <a:r>
              <a:rPr lang="en-US" altLang="ko-KR" sz="2050" b="1" dirty="0">
                <a:solidFill>
                  <a:srgbClr val="1F2328"/>
                </a:solidFill>
                <a:latin typeface="Calibri"/>
                <a:ea typeface="맑은 고딕"/>
                <a:cs typeface="Calibri"/>
              </a:rPr>
              <a:t>[ </a:t>
            </a:r>
            <a:r>
              <a:rPr lang="en-US" altLang="ko-KR" sz="2050" b="1" dirty="0">
                <a:solidFill>
                  <a:srgbClr val="1F2328"/>
                </a:solidFill>
                <a:latin typeface="Calibri"/>
                <a:ea typeface="맑은 고딕"/>
                <a:cs typeface="Calibri"/>
              </a:rPr>
              <a:t>are</a:t>
            </a:r>
            <a:r>
              <a:rPr lang="en-US" altLang="ko-KR" sz="2050" b="1" dirty="0">
                <a:solidFill>
                  <a:srgbClr val="1F2328"/>
                </a:solidFill>
                <a:latin typeface="Calibri"/>
                <a:ea typeface="맑은 고딕"/>
                <a:cs typeface="Calibri"/>
              </a:rPr>
              <a:t> / </a:t>
            </a:r>
            <a:r>
              <a:rPr lang="en-US" altLang="ko-KR" sz="2050" b="1" dirty="0">
                <a:solidFill>
                  <a:srgbClr val="1F2328"/>
                </a:solidFill>
                <a:latin typeface="Calibri"/>
                <a:ea typeface="맑은 고딕"/>
                <a:cs typeface="Calibri"/>
              </a:rPr>
              <a:t>is</a:t>
            </a:r>
            <a:r>
              <a:rPr lang="en-US" altLang="ko-KR" sz="2050" b="1"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 other examples of symbolic objects in Munjado.</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②</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They are bamboo in the paintings of the character chung (忠) and lotus flowers in the paintings of ui (義).</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③</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Bamboo does not bend.</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④</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It stays </a:t>
            </a:r>
            <a:r>
              <a:rPr lang="en-US" altLang="ko-KR" sz="2050" b="1" dirty="0">
                <a:solidFill>
                  <a:srgbClr val="1F2328"/>
                </a:solidFill>
                <a:latin typeface="Calibri"/>
                <a:ea typeface="맑은 고딕"/>
                <a:cs typeface="Calibri"/>
              </a:rPr>
              <a:t>[ </a:t>
            </a:r>
            <a:r>
              <a:rPr lang="en-US" altLang="ko-KR" sz="2050" b="1" dirty="0">
                <a:solidFill>
                  <a:srgbClr val="1F2328"/>
                </a:solidFill>
                <a:latin typeface="Calibri"/>
                <a:ea typeface="맑은 고딕"/>
                <a:cs typeface="Calibri"/>
              </a:rPr>
              <a:t>greenly</a:t>
            </a:r>
            <a:r>
              <a:rPr lang="en-US" altLang="ko-KR" sz="2050" b="1" dirty="0">
                <a:solidFill>
                  <a:srgbClr val="1F2328"/>
                </a:solidFill>
                <a:latin typeface="Calibri"/>
                <a:ea typeface="맑은 고딕"/>
                <a:cs typeface="Calibri"/>
              </a:rPr>
              <a:t> / </a:t>
            </a:r>
            <a:r>
              <a:rPr lang="en-US" altLang="ko-KR" sz="2050" b="1" dirty="0">
                <a:solidFill>
                  <a:srgbClr val="1F2328"/>
                </a:solidFill>
                <a:latin typeface="Calibri"/>
                <a:ea typeface="맑은 고딕"/>
                <a:cs typeface="Calibri"/>
              </a:rPr>
              <a:t>green</a:t>
            </a:r>
            <a:r>
              <a:rPr lang="en-US" altLang="ko-KR" sz="2050" b="1"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 in all kinds of weather.</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⑤</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For these reasons, bamboo came </a:t>
            </a:r>
            <a:r>
              <a:rPr lang="en-US" altLang="ko-KR" sz="2050" b="1" dirty="0">
                <a:solidFill>
                  <a:srgbClr val="1F2328"/>
                </a:solidFill>
                <a:latin typeface="Calibri"/>
                <a:ea typeface="맑은 고딕"/>
                <a:cs typeface="Calibri"/>
              </a:rPr>
              <a:t>[ </a:t>
            </a:r>
            <a:r>
              <a:rPr lang="en-US" altLang="ko-KR" sz="2050" b="1" dirty="0">
                <a:solidFill>
                  <a:srgbClr val="1F2328"/>
                </a:solidFill>
                <a:latin typeface="Calibri"/>
                <a:ea typeface="맑은 고딕"/>
                <a:cs typeface="Calibri"/>
              </a:rPr>
              <a:t>symbolizing</a:t>
            </a:r>
            <a:r>
              <a:rPr lang="en-US" altLang="ko-KR" sz="2050" b="1" dirty="0">
                <a:solidFill>
                  <a:srgbClr val="1F2328"/>
                </a:solidFill>
                <a:latin typeface="Calibri"/>
                <a:ea typeface="맑은 고딕"/>
                <a:cs typeface="Calibri"/>
              </a:rPr>
              <a:t> / </a:t>
            </a:r>
            <a:r>
              <a:rPr lang="en-US" altLang="ko-KR" sz="2050" b="1" dirty="0">
                <a:solidFill>
                  <a:srgbClr val="1F2328"/>
                </a:solidFill>
                <a:latin typeface="Calibri"/>
                <a:ea typeface="맑은 고딕"/>
                <a:cs typeface="Calibri"/>
              </a:rPr>
              <a:t>to symbolize</a:t>
            </a:r>
            <a:r>
              <a:rPr lang="en-US" altLang="ko-KR" sz="2050" b="1"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 loyalty to the king.</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⑥</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In the case of lotus flowers, they grow in muddy ponds but still bloom beautifully.</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⑦</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They thus became a symbol of a person’s will to fight for justice </a:t>
            </a:r>
            <a:r>
              <a:rPr lang="en-US" altLang="ko-KR" sz="2050" b="1" dirty="0">
                <a:solidFill>
                  <a:srgbClr val="1F2328"/>
                </a:solidFill>
                <a:latin typeface="Calibri"/>
                <a:ea typeface="맑은 고딕"/>
                <a:cs typeface="Calibri"/>
              </a:rPr>
              <a:t>[ </a:t>
            </a:r>
            <a:r>
              <a:rPr lang="en-US" altLang="ko-KR" sz="2050" b="1" dirty="0">
                <a:solidFill>
                  <a:srgbClr val="1F2328"/>
                </a:solidFill>
                <a:latin typeface="Calibri"/>
                <a:ea typeface="맑은 고딕"/>
                <a:cs typeface="Calibri"/>
              </a:rPr>
              <a:t>despite</a:t>
            </a:r>
            <a:r>
              <a:rPr lang="en-US" altLang="ko-KR" sz="2050" b="1" dirty="0">
                <a:solidFill>
                  <a:srgbClr val="1F2328"/>
                </a:solidFill>
                <a:latin typeface="Calibri"/>
                <a:ea typeface="맑은 고딕"/>
                <a:cs typeface="Calibri"/>
              </a:rPr>
              <a:t> / </a:t>
            </a:r>
            <a:r>
              <a:rPr lang="en-US" altLang="ko-KR" sz="2050" b="1" dirty="0">
                <a:solidFill>
                  <a:srgbClr val="1F2328"/>
                </a:solidFill>
                <a:latin typeface="Calibri"/>
                <a:ea typeface="맑은 고딕"/>
                <a:cs typeface="Calibri"/>
              </a:rPr>
              <a:t>although</a:t>
            </a:r>
            <a:r>
              <a:rPr lang="en-US" altLang="ko-KR" sz="2050" b="1"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 difficulties.</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⑧</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Munjado was much more than a painting to people of the Joseon dynasty.</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⑨</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It reminded them of important values </a:t>
            </a:r>
            <a:r>
              <a:rPr lang="en-US" altLang="ko-KR" sz="2050" b="1" dirty="0">
                <a:solidFill>
                  <a:srgbClr val="1F2328"/>
                </a:solidFill>
                <a:latin typeface="Calibri"/>
                <a:ea typeface="맑은 고딕"/>
                <a:cs typeface="Calibri"/>
              </a:rPr>
              <a:t>[ </a:t>
            </a:r>
            <a:r>
              <a:rPr lang="en-US" altLang="ko-KR" sz="2050" b="1" dirty="0">
                <a:solidFill>
                  <a:srgbClr val="1F2328"/>
                </a:solidFill>
                <a:latin typeface="Calibri"/>
                <a:ea typeface="맑은 고딕"/>
                <a:cs typeface="Calibri"/>
              </a:rPr>
              <a:t>that</a:t>
            </a:r>
            <a:r>
              <a:rPr lang="en-US" altLang="ko-KR" sz="2050" b="1" dirty="0">
                <a:solidFill>
                  <a:srgbClr val="1F2328"/>
                </a:solidFill>
                <a:latin typeface="Calibri"/>
                <a:ea typeface="맑은 고딕"/>
                <a:cs typeface="Calibri"/>
              </a:rPr>
              <a:t> / </a:t>
            </a:r>
            <a:r>
              <a:rPr lang="en-US" altLang="ko-KR" sz="2050" b="1" dirty="0">
                <a:solidFill>
                  <a:srgbClr val="1F2328"/>
                </a:solidFill>
                <a:latin typeface="Calibri"/>
                <a:ea typeface="맑은 고딕"/>
                <a:cs typeface="Calibri"/>
              </a:rPr>
              <a:t>what</a:t>
            </a:r>
            <a:r>
              <a:rPr lang="en-US" altLang="ko-KR" sz="2050" b="1"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 greatly influenced their behaviors and attitudes.</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⑩</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In particular, for children, Munjado was a study tool.</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⑪</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Through it, children in the Joseon dynasty could learn the importance of harmony in family and society.</a:t>
            </a:r>
            <a:endParaRPr lang="en-US" altLang="ko-KR" sz="2050" b="0" dirty="0">
              <a:solidFill>
                <a:srgbClr val="1F2328"/>
              </a:solidFill>
              <a:latin typeface="Calibri"/>
              <a:ea typeface="맑은 고딕"/>
              <a:cs typeface="Calibri"/>
            </a:endParaRPr>
          </a:p>
        </p:txBody>
      </p:sp>
      <p:sp>
        <p:nvSpPr>
          <p:cNvPr id="9" name="rv_g01"/>
          <p:cNvSpPr txBox="1"/>
          <p:nvPr/>
        </p:nvSpPr>
        <p:spPr>
          <a:xfrm>
            <a:off x="457200" y="950976"/>
            <a:ext cx="11277295" cy="537057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alpha val="0"/>
                  </a:srgbClr>
                </a:solidFill>
                <a:latin typeface="맑은 고딕"/>
                <a:ea typeface="맑은 고딕"/>
                <a:cs typeface="맑은 고딕"/>
              </a:rPr>
              <a:t>①</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There </a:t>
            </a:r>
            <a:r>
              <a:rPr lang="en-US" altLang="ko-KR" sz="2050" b="1" dirty="0">
                <a:solidFill>
                  <a:srgbClr val="1F2328">
                    <a:alpha val="0"/>
                  </a:srgbClr>
                </a:solidFill>
                <a:latin typeface="Calibri"/>
                <a:ea typeface="맑은 고딕"/>
                <a:cs typeface="Calibri"/>
              </a:rPr>
              <a:t>[ </a:t>
            </a:r>
            <a:r>
              <a:rPr lang="en-US" altLang="ko-KR" sz="2050" b="1" dirty="0">
                <a:solidFill>
                  <a:srgbClr val="C00000"/>
                </a:solidFill>
                <a:highlight>
                  <a:srgbClr val="F3F5F9"/>
                </a:highlight>
                <a:latin typeface="Calibri"/>
                <a:ea typeface="맑은 고딕"/>
                <a:cs typeface="Calibri"/>
              </a:rPr>
              <a:t>are</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is</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other examples of symbolic objects in Munjado.</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②</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They are bamboo in the paintings of the character chung (忠) and lotus flowers in the paintings of ui (義).</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③</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Bamboo does not bend.</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④</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It stays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greenly</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green</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in all kinds of weather.</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⑤</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For these reasons, bamboo came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symbolizing</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to symbolize</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loyalty to the king.</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⑥</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In the case of lotus flowers, they grow in muddy ponds but still bloom beautifully.</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⑦</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They thus became a symbol of a person’s will to fight for justice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despite</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although</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difficulties.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⑧</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Munjado was much more than a painting to people of the Joseon dynasty.</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⑨</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It reminded them of important values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that</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what</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greatly influenced their behaviors and attitudes.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⑩</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In particular, for children, Munjado was a study tool.</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⑪</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Through it, children in the Joseon dynasty could learn the importance of harmony in family and society.</a:t>
            </a:r>
            <a:endParaRPr lang="en-US" altLang="ko-KR" sz="2050" b="0" dirty="0">
              <a:solidFill>
                <a:srgbClr val="1F2328"/>
              </a:solidFill>
              <a:latin typeface="Calibri"/>
              <a:ea typeface="맑은 고딕"/>
              <a:cs typeface="Calibri"/>
            </a:endParaRPr>
          </a:p>
        </p:txBody>
      </p:sp>
      <p:sp>
        <p:nvSpPr>
          <p:cNvPr id="10" name="rv_g02"/>
          <p:cNvSpPr txBox="1"/>
          <p:nvPr/>
        </p:nvSpPr>
        <p:spPr>
          <a:xfrm>
            <a:off x="457200" y="950976"/>
            <a:ext cx="11277295" cy="537057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alpha val="0"/>
                  </a:srgbClr>
                </a:solidFill>
                <a:latin typeface="맑은 고딕"/>
                <a:ea typeface="맑은 고딕"/>
                <a:cs typeface="맑은 고딕"/>
              </a:rPr>
              <a:t>①</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There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are</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is</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other examples of symbolic objects in Munjado.</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②</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They are bamboo in the paintings of the character chung (忠) and lotus flowers in the paintings of ui (義).</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③</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Bamboo does not bend.</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④</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It stays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greenly</a:t>
            </a:r>
            <a:r>
              <a:rPr lang="en-US" altLang="ko-KR" sz="2050" b="1" dirty="0">
                <a:solidFill>
                  <a:srgbClr val="1F2328">
                    <a:alpha val="0"/>
                  </a:srgbClr>
                </a:solidFill>
                <a:latin typeface="Calibri"/>
                <a:ea typeface="맑은 고딕"/>
                <a:cs typeface="Calibri"/>
              </a:rPr>
              <a:t> / </a:t>
            </a:r>
            <a:r>
              <a:rPr lang="en-US" altLang="ko-KR" sz="2050" b="1" dirty="0">
                <a:solidFill>
                  <a:srgbClr val="C00000"/>
                </a:solidFill>
                <a:highlight>
                  <a:srgbClr val="F3F5F9"/>
                </a:highlight>
                <a:latin typeface="Calibri"/>
                <a:ea typeface="맑은 고딕"/>
                <a:cs typeface="Calibri"/>
              </a:rPr>
              <a:t>green</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in all kinds of weather.</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⑤</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For these reasons, bamboo came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symbolizing</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to symbolize</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loyalty to the king.</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⑥</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In the case of lotus flowers, they grow in muddy ponds but still bloom beautifully.</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⑦</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They thus became a symbol of a person’s will to fight for justice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despite</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although</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difficulties.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⑧</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Munjado was much more than a painting to people of the Joseon dynasty.</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⑨</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It reminded them of important values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that</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what</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greatly influenced their behaviors and attitudes.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⑩</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In particular, for children, Munjado was a study tool.</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⑪</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Through it, children in the Joseon dynasty could learn the importance of harmony in family and society.</a:t>
            </a:r>
            <a:endParaRPr lang="en-US" altLang="ko-KR" sz="2050" b="0" dirty="0">
              <a:solidFill>
                <a:srgbClr val="1F2328"/>
              </a:solidFill>
              <a:latin typeface="Calibri"/>
              <a:ea typeface="맑은 고딕"/>
              <a:cs typeface="Calibri"/>
            </a:endParaRPr>
          </a:p>
        </p:txBody>
      </p:sp>
      <p:sp>
        <p:nvSpPr>
          <p:cNvPr id="11" name="rv_g03"/>
          <p:cNvSpPr txBox="1"/>
          <p:nvPr/>
        </p:nvSpPr>
        <p:spPr>
          <a:xfrm>
            <a:off x="457200" y="950976"/>
            <a:ext cx="11277295" cy="537057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alpha val="0"/>
                  </a:srgbClr>
                </a:solidFill>
                <a:latin typeface="맑은 고딕"/>
                <a:ea typeface="맑은 고딕"/>
                <a:cs typeface="맑은 고딕"/>
              </a:rPr>
              <a:t>①</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There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are</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is</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other examples of symbolic objects in Munjado.</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②</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They are bamboo in the paintings of the character chung (忠) and lotus flowers in the paintings of ui (義).</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③</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Bamboo does not bend.</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④</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It stays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greenly</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green</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in all kinds of weather.</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⑤</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For these reasons, bamboo came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symbolizing</a:t>
            </a:r>
            <a:r>
              <a:rPr lang="en-US" altLang="ko-KR" sz="2050" b="1" dirty="0">
                <a:solidFill>
                  <a:srgbClr val="1F2328">
                    <a:alpha val="0"/>
                  </a:srgbClr>
                </a:solidFill>
                <a:latin typeface="Calibri"/>
                <a:ea typeface="맑은 고딕"/>
                <a:cs typeface="Calibri"/>
              </a:rPr>
              <a:t> / </a:t>
            </a:r>
            <a:r>
              <a:rPr lang="en-US" altLang="ko-KR" sz="2050" b="1" dirty="0">
                <a:solidFill>
                  <a:srgbClr val="C00000"/>
                </a:solidFill>
                <a:highlight>
                  <a:srgbClr val="F3F5F9"/>
                </a:highlight>
                <a:latin typeface="Calibri"/>
                <a:ea typeface="맑은 고딕"/>
                <a:cs typeface="Calibri"/>
              </a:rPr>
              <a:t>to symbolize</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loyalty to the king.</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⑥</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In the case of lotus flowers, they grow in muddy ponds but still bloom beautifully.</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⑦</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They thus became a symbol of a person’s will to fight for justice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despite</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although</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difficulties.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⑧</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Munjado was much more than a painting to people of the Joseon dynasty.</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⑨</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It reminded them of important values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that</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what</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greatly influenced their behaviors and attitudes.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⑩</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In particular, for children, Munjado was a study tool.</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⑪</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Through it, children in the Joseon dynasty could learn the importance of harmony in family and society.</a:t>
            </a:r>
            <a:endParaRPr lang="en-US" altLang="ko-KR" sz="2050" b="0" dirty="0">
              <a:solidFill>
                <a:srgbClr val="1F2328"/>
              </a:solidFill>
              <a:latin typeface="Calibri"/>
              <a:ea typeface="맑은 고딕"/>
              <a:cs typeface="Calibri"/>
            </a:endParaRPr>
          </a:p>
        </p:txBody>
      </p:sp>
      <p:sp>
        <p:nvSpPr>
          <p:cNvPr id="12" name="rv_g04"/>
          <p:cNvSpPr txBox="1"/>
          <p:nvPr/>
        </p:nvSpPr>
        <p:spPr>
          <a:xfrm>
            <a:off x="457200" y="950976"/>
            <a:ext cx="11277295" cy="537057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alpha val="0"/>
                  </a:srgbClr>
                </a:solidFill>
                <a:latin typeface="맑은 고딕"/>
                <a:ea typeface="맑은 고딕"/>
                <a:cs typeface="맑은 고딕"/>
              </a:rPr>
              <a:t>①</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There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are</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is</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other examples of symbolic objects in Munjado.</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②</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They are bamboo in the paintings of the character chung (忠) and lotus flowers in the paintings of ui (義).</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③</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Bamboo does not bend.</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④</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It stays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greenly</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green</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in all kinds of weather.</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⑤</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For these reasons, bamboo came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symbolizing</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to symbolize</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loyalty to the king.</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⑥</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In the case of lotus flowers, they grow in muddy ponds but still bloom beautifully.</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⑦</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They thus became a symbol of a person’s will to fight for justice </a:t>
            </a:r>
            <a:r>
              <a:rPr lang="en-US" altLang="ko-KR" sz="2050" b="1" dirty="0">
                <a:solidFill>
                  <a:srgbClr val="1F2328">
                    <a:alpha val="0"/>
                  </a:srgbClr>
                </a:solidFill>
                <a:latin typeface="Calibri"/>
                <a:ea typeface="맑은 고딕"/>
                <a:cs typeface="Calibri"/>
              </a:rPr>
              <a:t>[ </a:t>
            </a:r>
            <a:r>
              <a:rPr lang="en-US" altLang="ko-KR" sz="2050" b="1" dirty="0">
                <a:solidFill>
                  <a:srgbClr val="C00000"/>
                </a:solidFill>
                <a:highlight>
                  <a:srgbClr val="F3F5F9"/>
                </a:highlight>
                <a:latin typeface="Calibri"/>
                <a:ea typeface="맑은 고딕"/>
                <a:cs typeface="Calibri"/>
              </a:rPr>
              <a:t>despite</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although</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difficulties.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⑧</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Munjado was much more than a painting to people of the Joseon dynasty.</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⑨</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It reminded them of important values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that</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what</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greatly influenced their behaviors and attitudes.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⑩</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In particular, for children, Munjado was a study tool.</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⑪</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Through it, children in the Joseon dynasty could learn the importance of harmony in family and society.</a:t>
            </a:r>
            <a:endParaRPr lang="en-US" altLang="ko-KR" sz="2050" b="0" dirty="0">
              <a:solidFill>
                <a:srgbClr val="1F2328"/>
              </a:solidFill>
              <a:latin typeface="Calibri"/>
              <a:ea typeface="맑은 고딕"/>
              <a:cs typeface="Calibri"/>
            </a:endParaRPr>
          </a:p>
        </p:txBody>
      </p:sp>
      <p:sp>
        <p:nvSpPr>
          <p:cNvPr id="13" name="rv_g05"/>
          <p:cNvSpPr txBox="1"/>
          <p:nvPr/>
        </p:nvSpPr>
        <p:spPr>
          <a:xfrm>
            <a:off x="457200" y="950976"/>
            <a:ext cx="11277295" cy="537057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alpha val="0"/>
                  </a:srgbClr>
                </a:solidFill>
                <a:latin typeface="맑은 고딕"/>
                <a:ea typeface="맑은 고딕"/>
                <a:cs typeface="맑은 고딕"/>
              </a:rPr>
              <a:t>①</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There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are</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is</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other examples of symbolic objects in Munjado.</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②</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They are bamboo in the paintings of the character chung (忠) and lotus flowers in the paintings of ui (義).</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③</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Bamboo does not bend.</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④</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It stays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greenly</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green</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in all kinds of weather.</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⑤</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For these reasons, bamboo came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symbolizing</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to symbolize</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loyalty to the king.</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⑥</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In the case of lotus flowers, they grow in muddy ponds but still bloom beautifully.</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⑦</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They thus became a symbol of a person’s will to fight for justice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despite</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although</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difficulties.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⑧</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Munjado was much more than a painting to people of the Joseon dynasty.</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⑨</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It reminded them of important values </a:t>
            </a:r>
            <a:r>
              <a:rPr lang="en-US" altLang="ko-KR" sz="2050" b="1" dirty="0">
                <a:solidFill>
                  <a:srgbClr val="1F2328">
                    <a:alpha val="0"/>
                  </a:srgbClr>
                </a:solidFill>
                <a:latin typeface="Calibri"/>
                <a:ea typeface="맑은 고딕"/>
                <a:cs typeface="Calibri"/>
              </a:rPr>
              <a:t>[ </a:t>
            </a:r>
            <a:r>
              <a:rPr lang="en-US" altLang="ko-KR" sz="2050" b="1" dirty="0">
                <a:solidFill>
                  <a:srgbClr val="C00000"/>
                </a:solidFill>
                <a:highlight>
                  <a:srgbClr val="F3F5F9"/>
                </a:highlight>
                <a:latin typeface="Calibri"/>
                <a:ea typeface="맑은 고딕"/>
                <a:cs typeface="Calibri"/>
              </a:rPr>
              <a:t>that</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what</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greatly influenced their behaviors and attitudes.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⑩</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In particular, for children, Munjado was a study tool.</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⑪</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Through it, children in the Joseon dynasty could learn the importance of harmony in family and society.</a:t>
            </a:r>
            <a:endParaRPr lang="en-US" altLang="ko-KR" sz="205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L8-3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②</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8</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4개)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537057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537057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solidFill>
                <a:latin typeface="맑은 고딕"/>
                <a:ea typeface="맑은 고딕"/>
                <a:cs typeface="맑은 고딕"/>
              </a:rPr>
              <a:t>①</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There are other examples of symbolic objects in Munjado.</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②</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They are bamboo in the paintings of the character chung (忠) and lotus flowers in the paintings of ui (義).</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③</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Bamboo does not bend.</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④</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It stays green in all kinds of weather.</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⑤</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For these reasons, bamboo came to symbolize loyalty to the king.</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⑥</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In the case of lotus flowers, they grow in muddy ponds but still bloom </a:t>
            </a:r>
            <a:r>
              <a:rPr lang="en-US" altLang="ko-KR" sz="2050" b="1" dirty="0">
                <a:solidFill>
                  <a:srgbClr val="1F2328"/>
                </a:solidFill>
                <a:latin typeface="Calibri"/>
                <a:ea typeface="맑은 고딕"/>
                <a:cs typeface="Calibri"/>
              </a:rPr>
              <a:t>[ </a:t>
            </a:r>
            <a:r>
              <a:rPr lang="en-US" altLang="ko-KR" sz="2050" b="1" dirty="0">
                <a:solidFill>
                  <a:srgbClr val="1F2328"/>
                </a:solidFill>
                <a:latin typeface="Calibri"/>
                <a:ea typeface="맑은 고딕"/>
                <a:cs typeface="Calibri"/>
              </a:rPr>
              <a:t>beautifully</a:t>
            </a:r>
            <a:r>
              <a:rPr lang="en-US" altLang="ko-KR" sz="2050" b="1" dirty="0">
                <a:solidFill>
                  <a:srgbClr val="1F2328"/>
                </a:solidFill>
                <a:latin typeface="Calibri"/>
                <a:ea typeface="맑은 고딕"/>
                <a:cs typeface="Calibri"/>
              </a:rPr>
              <a:t> / </a:t>
            </a:r>
            <a:r>
              <a:rPr lang="en-US" altLang="ko-KR" sz="2050" b="1" dirty="0">
                <a:solidFill>
                  <a:srgbClr val="1F2328"/>
                </a:solidFill>
                <a:latin typeface="Calibri"/>
                <a:ea typeface="맑은 고딕"/>
                <a:cs typeface="Calibri"/>
              </a:rPr>
              <a:t>beautiful</a:t>
            </a:r>
            <a:r>
              <a:rPr lang="en-US" altLang="ko-KR" sz="2050" b="1"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⑦</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They thus became a symbol of a person’s will </a:t>
            </a:r>
            <a:r>
              <a:rPr lang="en-US" altLang="ko-KR" sz="2050" b="1" dirty="0">
                <a:solidFill>
                  <a:srgbClr val="1F2328"/>
                </a:solidFill>
                <a:latin typeface="Calibri"/>
                <a:ea typeface="맑은 고딕"/>
                <a:cs typeface="Calibri"/>
              </a:rPr>
              <a:t>[ </a:t>
            </a:r>
            <a:r>
              <a:rPr lang="en-US" altLang="ko-KR" sz="2050" b="1" dirty="0">
                <a:solidFill>
                  <a:srgbClr val="1F2328"/>
                </a:solidFill>
                <a:latin typeface="Calibri"/>
                <a:ea typeface="맑은 고딕"/>
                <a:cs typeface="Calibri"/>
              </a:rPr>
              <a:t>to fight</a:t>
            </a:r>
            <a:r>
              <a:rPr lang="en-US" altLang="ko-KR" sz="2050" b="1" dirty="0">
                <a:solidFill>
                  <a:srgbClr val="1F2328"/>
                </a:solidFill>
                <a:latin typeface="Calibri"/>
                <a:ea typeface="맑은 고딕"/>
                <a:cs typeface="Calibri"/>
              </a:rPr>
              <a:t> / </a:t>
            </a:r>
            <a:r>
              <a:rPr lang="en-US" altLang="ko-KR" sz="2050" b="1" dirty="0">
                <a:solidFill>
                  <a:srgbClr val="1F2328"/>
                </a:solidFill>
                <a:latin typeface="Calibri"/>
                <a:ea typeface="맑은 고딕"/>
                <a:cs typeface="Calibri"/>
              </a:rPr>
              <a:t>fighting</a:t>
            </a:r>
            <a:r>
              <a:rPr lang="en-US" altLang="ko-KR" sz="2050" b="1"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 for justice despite difficulties.</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⑧</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Munjado was </a:t>
            </a:r>
            <a:r>
              <a:rPr lang="en-US" altLang="ko-KR" sz="2050" b="1" dirty="0">
                <a:solidFill>
                  <a:srgbClr val="1F2328"/>
                </a:solidFill>
                <a:latin typeface="Calibri"/>
                <a:ea typeface="맑은 고딕"/>
                <a:cs typeface="Calibri"/>
              </a:rPr>
              <a:t>[ </a:t>
            </a:r>
            <a:r>
              <a:rPr lang="en-US" altLang="ko-KR" sz="2050" b="1" dirty="0">
                <a:solidFill>
                  <a:srgbClr val="1F2328"/>
                </a:solidFill>
                <a:latin typeface="Calibri"/>
                <a:ea typeface="맑은 고딕"/>
                <a:cs typeface="Calibri"/>
              </a:rPr>
              <a:t>much</a:t>
            </a:r>
            <a:r>
              <a:rPr lang="en-US" altLang="ko-KR" sz="2050" b="1" dirty="0">
                <a:solidFill>
                  <a:srgbClr val="1F2328"/>
                </a:solidFill>
                <a:latin typeface="Calibri"/>
                <a:ea typeface="맑은 고딕"/>
                <a:cs typeface="Calibri"/>
              </a:rPr>
              <a:t> / </a:t>
            </a:r>
            <a:r>
              <a:rPr lang="en-US" altLang="ko-KR" sz="2050" b="1" dirty="0">
                <a:solidFill>
                  <a:srgbClr val="1F2328"/>
                </a:solidFill>
                <a:latin typeface="Calibri"/>
                <a:ea typeface="맑은 고딕"/>
                <a:cs typeface="Calibri"/>
              </a:rPr>
              <a:t>very</a:t>
            </a:r>
            <a:r>
              <a:rPr lang="en-US" altLang="ko-KR" sz="2050" b="1"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 more than a painting to people of the Joseon dynasty.</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⑨</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It reminded them of important values that greatly influenced their behaviors and attitudes.</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⑩</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In particular, for children, Munjado was a study tool.</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⑪</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Through it, children in the Joseon dynasty could </a:t>
            </a:r>
            <a:r>
              <a:rPr lang="en-US" altLang="ko-KR" sz="2050" b="1" dirty="0">
                <a:solidFill>
                  <a:srgbClr val="1F2328"/>
                </a:solidFill>
                <a:latin typeface="Calibri"/>
                <a:ea typeface="맑은 고딕"/>
                <a:cs typeface="Calibri"/>
              </a:rPr>
              <a:t>[ </a:t>
            </a:r>
            <a:r>
              <a:rPr lang="en-US" altLang="ko-KR" sz="2050" b="1" dirty="0">
                <a:solidFill>
                  <a:srgbClr val="1F2328"/>
                </a:solidFill>
                <a:latin typeface="Calibri"/>
                <a:ea typeface="맑은 고딕"/>
                <a:cs typeface="Calibri"/>
              </a:rPr>
              <a:t>learn</a:t>
            </a:r>
            <a:r>
              <a:rPr lang="en-US" altLang="ko-KR" sz="2050" b="1" dirty="0">
                <a:solidFill>
                  <a:srgbClr val="1F2328"/>
                </a:solidFill>
                <a:latin typeface="Calibri"/>
                <a:ea typeface="맑은 고딕"/>
                <a:cs typeface="Calibri"/>
              </a:rPr>
              <a:t> / </a:t>
            </a:r>
            <a:r>
              <a:rPr lang="en-US" altLang="ko-KR" sz="2050" b="1" dirty="0">
                <a:solidFill>
                  <a:srgbClr val="1F2328"/>
                </a:solidFill>
                <a:latin typeface="Calibri"/>
                <a:ea typeface="맑은 고딕"/>
                <a:cs typeface="Calibri"/>
              </a:rPr>
              <a:t>learned</a:t>
            </a:r>
            <a:r>
              <a:rPr lang="en-US" altLang="ko-KR" sz="2050" b="1"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 the importance of harmony in family and society.</a:t>
            </a:r>
            <a:endParaRPr lang="en-US" altLang="ko-KR" sz="2050" b="0" dirty="0">
              <a:solidFill>
                <a:srgbClr val="1F2328"/>
              </a:solidFill>
              <a:latin typeface="Calibri"/>
              <a:ea typeface="맑은 고딕"/>
              <a:cs typeface="Calibri"/>
            </a:endParaRPr>
          </a:p>
        </p:txBody>
      </p:sp>
      <p:sp>
        <p:nvSpPr>
          <p:cNvPr id="9" name="rv_g01"/>
          <p:cNvSpPr txBox="1"/>
          <p:nvPr/>
        </p:nvSpPr>
        <p:spPr>
          <a:xfrm>
            <a:off x="457200" y="950976"/>
            <a:ext cx="11277295" cy="537057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alpha val="0"/>
                  </a:srgbClr>
                </a:solidFill>
                <a:latin typeface="맑은 고딕"/>
                <a:ea typeface="맑은 고딕"/>
                <a:cs typeface="맑은 고딕"/>
              </a:rPr>
              <a:t>①</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There are other examples of symbolic objects in Munjado.</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②</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They are bamboo in the paintings of the character chung (忠) and lotus flowers in the paintings of ui (義).</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③</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Bamboo does not bend.</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④</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It stays green in all kinds of weather.</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⑤</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For these reasons, bamboo came to symbolize loyalty to the king.</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⑥</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In the case of lotus flowers, they grow in muddy ponds but still bloom </a:t>
            </a:r>
            <a:r>
              <a:rPr lang="en-US" altLang="ko-KR" sz="2050" b="1" dirty="0">
                <a:solidFill>
                  <a:srgbClr val="1F2328">
                    <a:alpha val="0"/>
                  </a:srgbClr>
                </a:solidFill>
                <a:latin typeface="Calibri"/>
                <a:ea typeface="맑은 고딕"/>
                <a:cs typeface="Calibri"/>
              </a:rPr>
              <a:t>[ </a:t>
            </a:r>
            <a:r>
              <a:rPr lang="en-US" altLang="ko-KR" sz="2050" b="1" dirty="0">
                <a:solidFill>
                  <a:srgbClr val="C00000"/>
                </a:solidFill>
                <a:highlight>
                  <a:srgbClr val="F3F5F9"/>
                </a:highlight>
                <a:latin typeface="Calibri"/>
                <a:ea typeface="맑은 고딕"/>
                <a:cs typeface="Calibri"/>
              </a:rPr>
              <a:t>beautifully</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beautiful</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⑦</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They thus became a symbol of a person’s will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to fight</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fighting</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for justice despite difficulties.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⑧</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Munjado was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much</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very</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more than a painting to people of the Joseon dynasty.</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⑨</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It reminded them of important values that greatly influenced their behaviors and attitudes.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⑩</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In particular, for children, Munjado was a study tool.</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⑪</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Through it, children in the Joseon dynasty could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learn</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learned</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the importance of harmony in family and society.</a:t>
            </a:r>
            <a:endParaRPr lang="en-US" altLang="ko-KR" sz="2050" b="0" dirty="0">
              <a:solidFill>
                <a:srgbClr val="1F2328"/>
              </a:solidFill>
              <a:latin typeface="Calibri"/>
              <a:ea typeface="맑은 고딕"/>
              <a:cs typeface="Calibri"/>
            </a:endParaRPr>
          </a:p>
        </p:txBody>
      </p:sp>
      <p:sp>
        <p:nvSpPr>
          <p:cNvPr id="10" name="rv_g02"/>
          <p:cNvSpPr txBox="1"/>
          <p:nvPr/>
        </p:nvSpPr>
        <p:spPr>
          <a:xfrm>
            <a:off x="457200" y="950976"/>
            <a:ext cx="11277295" cy="537057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alpha val="0"/>
                  </a:srgbClr>
                </a:solidFill>
                <a:latin typeface="맑은 고딕"/>
                <a:ea typeface="맑은 고딕"/>
                <a:cs typeface="맑은 고딕"/>
              </a:rPr>
              <a:t>①</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There are other examples of symbolic objects in Munjado.</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②</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They are bamboo in the paintings of the character chung (忠) and lotus flowers in the paintings of ui (義).</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③</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Bamboo does not bend.</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④</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It stays green in all kinds of weather.</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⑤</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For these reasons, bamboo came to symbolize loyalty to the king.</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⑥</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In the case of lotus flowers, they grow in muddy ponds but still bloom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beautifully</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beautiful</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⑦</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They thus became a symbol of a person’s will </a:t>
            </a:r>
            <a:r>
              <a:rPr lang="en-US" altLang="ko-KR" sz="2050" b="1" dirty="0">
                <a:solidFill>
                  <a:srgbClr val="1F2328">
                    <a:alpha val="0"/>
                  </a:srgbClr>
                </a:solidFill>
                <a:latin typeface="Calibri"/>
                <a:ea typeface="맑은 고딕"/>
                <a:cs typeface="Calibri"/>
              </a:rPr>
              <a:t>[ </a:t>
            </a:r>
            <a:r>
              <a:rPr lang="en-US" altLang="ko-KR" sz="2050" b="1" dirty="0">
                <a:solidFill>
                  <a:srgbClr val="C00000"/>
                </a:solidFill>
                <a:highlight>
                  <a:srgbClr val="F3F5F9"/>
                </a:highlight>
                <a:latin typeface="Calibri"/>
                <a:ea typeface="맑은 고딕"/>
                <a:cs typeface="Calibri"/>
              </a:rPr>
              <a:t>to fight</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fighting</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for justice despite difficulties.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⑧</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Munjado was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much</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very</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more than a painting to people of the Joseon dynasty.</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⑨</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It reminded them of important values that greatly influenced their behaviors and attitudes.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⑩</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In particular, for children, Munjado was a study tool.</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⑪</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Through it, children in the Joseon dynasty could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learn</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learned</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the importance of harmony in family and society.</a:t>
            </a:r>
            <a:endParaRPr lang="en-US" altLang="ko-KR" sz="2050" b="0" dirty="0">
              <a:solidFill>
                <a:srgbClr val="1F2328"/>
              </a:solidFill>
              <a:latin typeface="Calibri"/>
              <a:ea typeface="맑은 고딕"/>
              <a:cs typeface="Calibri"/>
            </a:endParaRPr>
          </a:p>
        </p:txBody>
      </p:sp>
      <p:sp>
        <p:nvSpPr>
          <p:cNvPr id="11" name="rv_g03"/>
          <p:cNvSpPr txBox="1"/>
          <p:nvPr/>
        </p:nvSpPr>
        <p:spPr>
          <a:xfrm>
            <a:off x="457200" y="950976"/>
            <a:ext cx="11277295" cy="537057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alpha val="0"/>
                  </a:srgbClr>
                </a:solidFill>
                <a:latin typeface="맑은 고딕"/>
                <a:ea typeface="맑은 고딕"/>
                <a:cs typeface="맑은 고딕"/>
              </a:rPr>
              <a:t>①</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There are other examples of symbolic objects in Munjado.</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②</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They are bamboo in the paintings of the character chung (忠) and lotus flowers in the paintings of ui (義).</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③</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Bamboo does not bend.</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④</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It stays green in all kinds of weather.</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⑤</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For these reasons, bamboo came to symbolize loyalty to the king.</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⑥</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In the case of lotus flowers, they grow in muddy ponds but still bloom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beautifully</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beautiful</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⑦</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They thus became a symbol of a person’s will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to fight</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fighting</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for justice despite difficulties.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⑧</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Munjado was </a:t>
            </a:r>
            <a:r>
              <a:rPr lang="en-US" altLang="ko-KR" sz="2050" b="1" dirty="0">
                <a:solidFill>
                  <a:srgbClr val="1F2328">
                    <a:alpha val="0"/>
                  </a:srgbClr>
                </a:solidFill>
                <a:latin typeface="Calibri"/>
                <a:ea typeface="맑은 고딕"/>
                <a:cs typeface="Calibri"/>
              </a:rPr>
              <a:t>[ </a:t>
            </a:r>
            <a:r>
              <a:rPr lang="en-US" altLang="ko-KR" sz="2050" b="1" dirty="0">
                <a:solidFill>
                  <a:srgbClr val="C00000"/>
                </a:solidFill>
                <a:highlight>
                  <a:srgbClr val="F3F5F9"/>
                </a:highlight>
                <a:latin typeface="Calibri"/>
                <a:ea typeface="맑은 고딕"/>
                <a:cs typeface="Calibri"/>
              </a:rPr>
              <a:t>much</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very</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more than a painting to people of the Joseon dynasty.</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⑨</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It reminded them of important values that greatly influenced their behaviors and attitudes.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⑩</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In particular, for children, Munjado was a study tool.</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⑪</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Through it, children in the Joseon dynasty could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learn</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learned</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the importance of harmony in family and society.</a:t>
            </a:r>
            <a:endParaRPr lang="en-US" altLang="ko-KR" sz="2050" b="0" dirty="0">
              <a:solidFill>
                <a:srgbClr val="1F2328"/>
              </a:solidFill>
              <a:latin typeface="Calibri"/>
              <a:ea typeface="맑은 고딕"/>
              <a:cs typeface="Calibri"/>
            </a:endParaRPr>
          </a:p>
        </p:txBody>
      </p:sp>
      <p:sp>
        <p:nvSpPr>
          <p:cNvPr id="12" name="rv_g04"/>
          <p:cNvSpPr txBox="1"/>
          <p:nvPr/>
        </p:nvSpPr>
        <p:spPr>
          <a:xfrm>
            <a:off x="457200" y="950976"/>
            <a:ext cx="11277295" cy="537057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alpha val="0"/>
                  </a:srgbClr>
                </a:solidFill>
                <a:latin typeface="맑은 고딕"/>
                <a:ea typeface="맑은 고딕"/>
                <a:cs typeface="맑은 고딕"/>
              </a:rPr>
              <a:t>①</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There are other examples of symbolic objects in Munjado.</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②</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They are bamboo in the paintings of the character chung (忠) and lotus flowers in the paintings of ui (義).</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③</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Bamboo does not bend.</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④</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It stays green in all kinds of weather.</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⑤</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For these reasons, bamboo came to symbolize loyalty to the king.</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⑥</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In the case of lotus flowers, they grow in muddy ponds but still bloom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beautifully</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beautiful</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⑦</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They thus became a symbol of a person’s will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to fight</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fighting</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for justice despite difficulties.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⑧</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Munjado was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much</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very</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more than a painting to people of the Joseon dynasty.</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⑨</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It reminded them of important values that greatly influenced their behaviors and attitudes.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⑩</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In particular, for children, Munjado was a study tool.</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⑪</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Through it, children in the Joseon dynasty could </a:t>
            </a:r>
            <a:r>
              <a:rPr lang="en-US" altLang="ko-KR" sz="2050" b="1" dirty="0">
                <a:solidFill>
                  <a:srgbClr val="1F2328">
                    <a:alpha val="0"/>
                  </a:srgbClr>
                </a:solidFill>
                <a:latin typeface="Calibri"/>
                <a:ea typeface="맑은 고딕"/>
                <a:cs typeface="Calibri"/>
              </a:rPr>
              <a:t>[ </a:t>
            </a:r>
            <a:r>
              <a:rPr lang="en-US" altLang="ko-KR" sz="2050" b="1" dirty="0">
                <a:solidFill>
                  <a:srgbClr val="C00000"/>
                </a:solidFill>
                <a:highlight>
                  <a:srgbClr val="F3F5F9"/>
                </a:highlight>
                <a:latin typeface="Calibri"/>
                <a:ea typeface="맑은 고딕"/>
                <a:cs typeface="Calibri"/>
              </a:rPr>
              <a:t>learn</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learned</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the importance of harmony in family and society.</a:t>
            </a:r>
            <a:endParaRPr lang="en-US" altLang="ko-KR" sz="205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