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L5-1  ·  L5-2  ·  L5-3  ·  L5-4</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a:t>
            </a:r>
            <a:r>
              <a:rPr lang="en-US" altLang="ko-KR" sz="1500" b="0" dirty="0">
                <a:solidFill>
                  <a:srgbClr val="1F2328"/>
                </a:solidFill>
                <a:latin typeface="Calibri"/>
                <a:ea typeface="맑은 고딕"/>
                <a:cs typeface="Calibri"/>
              </a:rPr>
              <a:t>There are people who help the players.</a:t>
            </a:r>
            <a:r>
              <a:rPr lang="en-US" altLang="ko-KR" sz="1500" b="0" dirty="0">
                <a:solidFill>
                  <a:srgbClr val="1F2328"/>
                </a:solidFill>
                <a:latin typeface="Calibri"/>
                <a:ea typeface="맑은 고딕"/>
                <a:cs typeface="Calibri"/>
              </a:rPr>
              <a:t> These people are often hidden and don’t get attention.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a:t>
            </a:r>
            <a:r>
              <a:rPr lang="en-US" altLang="ko-KR" sz="1500" b="0" dirty="0">
                <a:solidFill>
                  <a:srgbClr val="111111"/>
                </a:solidFill>
                <a:highlight>
                  <a:srgbClr val="FFE45C"/>
                </a:highlight>
                <a:latin typeface="Calibri"/>
                <a:ea typeface="맑은 고딕"/>
                <a:cs typeface="Calibri"/>
              </a:rPr>
              <a:t>There are people who help the players.</a:t>
            </a:r>
            <a:r>
              <a:rPr lang="en-US" altLang="ko-KR" sz="1500" b="0" dirty="0">
                <a:solidFill>
                  <a:srgbClr val="B3BAC6"/>
                </a:solidFill>
                <a:latin typeface="Calibri"/>
                <a:ea typeface="맑은 고딕"/>
                <a:cs typeface="Calibri"/>
              </a:rPr>
              <a:t> These people are often hidden and don’t get attention.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history of medals given to marathon runners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training methods of experienced marathon runners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hidden helpers who support players in sports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the hidden helpers who support players in sports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reasons why players win trophies on their own</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rules for choosing several pacers in a race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the hidden helpers who support players in sports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선수를 돕는 사람들이 있고 그들이 선수만큼 중요하다고 했다. 숨은 조력자를 다룬 ③이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a:t>
            </a:r>
            <a:r>
              <a:rPr lang="en-US" altLang="ko-KR" sz="1500" b="0" dirty="0">
                <a:solidFill>
                  <a:srgbClr val="1F2328"/>
                </a:solidFill>
                <a:latin typeface="Calibri"/>
                <a:ea typeface="맑은 고딕"/>
                <a:cs typeface="Calibri"/>
              </a:rPr>
              <a:t>These people are often hidden and don’t get attention.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a:t>
            </a:r>
            <a:r>
              <a:rPr lang="en-US" altLang="ko-KR" sz="1500" b="0" dirty="0">
                <a:solidFill>
                  <a:srgbClr val="111111"/>
                </a:solidFill>
                <a:highlight>
                  <a:srgbClr val="FFE45C"/>
                </a:highlight>
                <a:latin typeface="Calibri"/>
                <a:ea typeface="맑은 고딕"/>
                <a:cs typeface="Calibri"/>
              </a:rPr>
              <a:t>These people are often hidden and don’t get attention.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Only Players Deserve the Trophy</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to Run a Marathon Without Help</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Fastest Runners in a Marathon</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Hidden People Behind Every Victory</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Hidden People Behind Every Victory</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Medals for Every Runner in a Race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Hidden People Behind Every Victory</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숨겨져 주목받지 못하는 사람들이 선수만큼 중요하다고 했다. 승리 뒤의 숨은 사람들을 가리킨 ④가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경기에서 우승한 선수들만 트로피를 받아야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마라톤 선수들은 혼자 힘으로 경주를 운영해야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경주에서 반드시 한 명만 있어야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경험 많은 선수만 마라톤에 참가해야 마땅하다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선수를 돕는 숨은 사람들도 선수만큼 중요하다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선수를 돕는 숨은 사람들도 선수만큼 중요하다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선수를 돕는 숨은 사람들도 선수만큼 중요하다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'as important as the players'라고 했으니 숨은 조력자도 선수만큼 중요하다는 ⑤가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a:t>
            </a:r>
            <a:r>
              <a:rPr lang="en-US" altLang="ko-KR" sz="1500" b="0" dirty="0">
                <a:solidFill>
                  <a:srgbClr val="1F2328"/>
                </a:solidFill>
                <a:latin typeface="Calibri"/>
                <a:ea typeface="맑은 고딕"/>
                <a:cs typeface="Calibri"/>
              </a:rPr>
              <a:t>they don’t win on their own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There are people who help the players.</a:t>
            </a:r>
            <a:r>
              <a:rPr lang="en-US" altLang="ko-KR" sz="1500" b="0" dirty="0">
                <a:solidFill>
                  <a:srgbClr val="1F2328"/>
                </a:solidFill>
                <a:latin typeface="Calibri"/>
                <a:ea typeface="맑은 고딕"/>
                <a:cs typeface="Calibri"/>
              </a:rPr>
              <a:t> These people are often hidden and don’t get attention. However, they are as important as the players.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a:t>
            </a:r>
            <a:r>
              <a:rPr lang="en-US" altLang="ko-KR" sz="1500" b="0" dirty="0">
                <a:solidFill>
                  <a:srgbClr val="111111"/>
                </a:solidFill>
                <a:highlight>
                  <a:srgbClr val="FFE45C"/>
                </a:highlight>
                <a:latin typeface="Calibri"/>
                <a:ea typeface="맑은 고딕"/>
                <a:cs typeface="Calibri"/>
              </a:rPr>
              <a:t>they don’t win on their own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There are people who help the players.</a:t>
            </a:r>
            <a:r>
              <a:rPr lang="en-US" altLang="ko-KR" sz="1500" b="0" dirty="0">
                <a:solidFill>
                  <a:srgbClr val="B3BAC6"/>
                </a:solidFill>
                <a:latin typeface="Calibri"/>
                <a:ea typeface="맑은 고딕"/>
                <a:cs typeface="Calibri"/>
              </a:rPr>
              <a:t> These people are often hidden and don’t get attention. However, they are as important as the players.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보이지 않는 조력자들이 선수의 승리를 돕는다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보이지 않는 조력자들이 선수의 승리를 돕는다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선수의 승리는 오직 개인의 노력에서 나온다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주목받는 선수가 경기에서 가장 중요한 존재다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마라톤에서 페이서는 우승을 위해 달리는 선수다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트로피와 메달은 팀 전체가 나누어 받아야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보이지 않는 조력자들이 선수의 승리를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선수는 혼자 이기지 않고 돕는 사람들이 있다고 했다. 보이지 않는 조력자가 승리를 돕는다는 ①이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a:t>
            </a:r>
            <a:r>
              <a:rPr lang="en-US" altLang="ko-KR" sz="1500" b="0" dirty="0">
                <a:solidFill>
                  <a:srgbClr val="1F2328"/>
                </a:solidFill>
                <a:latin typeface="Calibri"/>
                <a:ea typeface="맑은 고딕"/>
                <a:cs typeface="Calibri"/>
              </a:rPr>
              <a:t>Pacers are experienced runners</a:t>
            </a:r>
            <a:r>
              <a:rPr lang="en-US" altLang="ko-KR" sz="1500" b="0" dirty="0">
                <a:solidFill>
                  <a:srgbClr val="1F2328"/>
                </a:solidFill>
                <a:latin typeface="Calibri"/>
                <a:ea typeface="맑은 고딕"/>
                <a:cs typeface="Calibri"/>
              </a:rPr>
              <a:t>,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a:t>
            </a:r>
            <a:r>
              <a:rPr lang="en-US" altLang="ko-KR" sz="1500" b="0" dirty="0">
                <a:solidFill>
                  <a:srgbClr val="111111"/>
                </a:solidFill>
                <a:highlight>
                  <a:srgbClr val="FFE45C"/>
                </a:highlight>
                <a:latin typeface="Calibri"/>
                <a:ea typeface="맑은 고딕"/>
                <a:cs typeface="Calibri"/>
              </a:rPr>
              <a:t>Pacers are experienced runners</a:t>
            </a:r>
            <a:r>
              <a:rPr lang="en-US" altLang="ko-KR" sz="1500" b="0" dirty="0">
                <a:solidFill>
                  <a:srgbClr val="B3BAC6"/>
                </a:solidFill>
                <a:latin typeface="Calibri"/>
                <a:ea typeface="맑은 고딕"/>
                <a:cs typeface="Calibri"/>
              </a:rPr>
              <a:t>,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스포츠에서 트로피나 메달은 선수들만 받는다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선수들을 돕는 사람들은 종종 주목받지 못한다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페이서들은 마라톤에서 다른 선수들을 이끈다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한 경주에는 여러 명의 페이서가 있을 수 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페이서들은 대개 경험이 부족한 초보 선수들이다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페이서들은 대개 경험이 부족한 초보 선수들이다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페이서들은 대개 경험이 부족한 초보 선수들이다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'experienced runners', 곧 경험 많은 선수라고 했다. 경험이 부족한 초보라는 ⑤는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Pacers are experienced runners, and their job is to </a:t>
            </a:r>
            <a:r>
              <a:rPr lang="en-US" altLang="ko-KR" sz="1500" b="0" dirty="0">
                <a:solidFill>
                  <a:srgbClr val="1F2328"/>
                </a:solidFill>
                <a:latin typeface="Calibri"/>
                <a:ea typeface="맑은 고딕"/>
                <a:cs typeface="Calibri"/>
              </a:rPr>
              <a:t>help other runners manage their race better</a:t>
            </a:r>
            <a:r>
              <a:rPr lang="en-US" altLang="ko-KR" sz="1500" b="0" dirty="0">
                <a:solidFill>
                  <a:srgbClr val="1F2328"/>
                </a:solidFill>
                <a:latin typeface="Calibri"/>
                <a:ea typeface="맑은 고딕"/>
                <a:cs typeface="Calibri"/>
              </a:rPr>
              <a:t>.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Pacers are experienced runners, and their job is to </a:t>
            </a:r>
            <a:r>
              <a:rPr lang="en-US" altLang="ko-KR" sz="1500" b="0" dirty="0">
                <a:solidFill>
                  <a:srgbClr val="111111"/>
                </a:solidFill>
                <a:highlight>
                  <a:srgbClr val="FFE45C"/>
                </a:highlight>
                <a:latin typeface="Calibri"/>
                <a:ea typeface="맑은 고딕"/>
                <a:cs typeface="Calibri"/>
              </a:rPr>
              <a:t>help other runners manage their race better</a:t>
            </a:r>
            <a:r>
              <a:rPr lang="en-US" altLang="ko-KR" sz="1500" b="0" dirty="0">
                <a:solidFill>
                  <a:srgbClr val="B3BAC6"/>
                </a:solidFill>
                <a:latin typeface="Calibri"/>
                <a:ea typeface="맑은 고딕"/>
                <a:cs typeface="Calibri"/>
              </a:rPr>
              <a:t>.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선수들은 혼자 힘만으로 경기에서 우승한다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페이서는 다른 선수들이 경주를 잘 운영하게 돕는다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페이서는 다른 선수들이 경주를 잘 운영하게 돕는다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선수를 돕는 사람들은 늘 큰 주목을 받는다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한 마라톤 경주에는 페이서가 한 명만 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페이서는 경주에서 혼자 앞서 달려 우승한다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페이서는 다른 선수들이 경주를 잘 운영하게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페이서의 일은 다른 선수들이 경주를 더 잘 운영하도록 돕는 것이라고 했다. 이와 같은 ②가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195275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195275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There are people who help the players. These people are often hidden and don’t get attention. However, they are as important as the players.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Here are some examples. Pacers run with other runners and lead them in a marathon.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13537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4734306"/>
            <a:ext cx="11277295" cy="168478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선수만 메달을 받지만 혼자 이기지 않는다 → (A) 그들을 돕는 사람들이 있다 → (C) 'Here are some examples'로 페이서를 소개한다 → (B) Pacers가 어떤 선수인지 덧붙인다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195275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195275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There are people who help the players. These people are often hidden and don’t get attention. However, they are as important as the players.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Here are some examples. Pacers run with other runners and lead them in a marathon.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13537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4734306"/>
            <a:ext cx="11277295" cy="168478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혼자 이기지 않는다 → (B) 돕는 사람들(These people)이 선수만큼 중요하다 → (C) 그 예로 페이서를 든다 → (A) 경험 많은 페이서의 역할과 수를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There are people who help the players.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These people are often hidden and don’t get attention.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However, they are as important as the players.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Here are some examples.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In sports, only the players get a trophy or medal, but they don’t win on their own.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These people are often hidden and don’t get attention.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However, they are as important as the players.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Here are some examples.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'These people'이 가리킬 사람들이 앞에 없다. 선수를 돕는 people을 처음 소개하는 주어진 문장이 ②에 들어가야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These people are often hidden and don’t get attention.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There are people who help the players.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However, they are as important as the players.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Here are some examples.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In sports, only the players get a trophy or medal, but they don’t win on their own.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There are people who help the players.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However, they are as important as the players.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Here are some examples.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뒤 'However, they are as important'는 앞에서 그들이 주목받지 못한다는 말이 있어야 이어진다. 주어진 문장은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sports, only the players get a trophy or medal, but they don’t win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on them own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on their own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are people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who help</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who helps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These people are often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hidden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hiding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and don’t get attention.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However, they are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as importantly as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as important as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Here are some examples.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run with other runners and lead them in a marathon.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are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experienced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experiencing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runners, and their job is to help other runners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managing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manage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race better.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sports, only the players get a trophy or medal, but they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don’t win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doesn’t win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on their own.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are people who help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These people are often hidden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don’t get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doesn’t get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attention.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However, they are as important as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Here are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Here is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some examples.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run with other runners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lead them</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leads them</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marathon.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are experienced runners, and their job is to help other runners manage their race better.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There can be several pacers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There can be several pacer</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a:t>
            </a:r>
            <a:r>
              <a:rPr lang="en-US" altLang="ko-KR" sz="1500" b="0" dirty="0">
                <a:solidFill>
                  <a:srgbClr val="1F2328"/>
                </a:solidFill>
                <a:latin typeface="Calibri"/>
                <a:ea typeface="맑은 고딕"/>
                <a:cs typeface="Calibri"/>
              </a:rPr>
              <a:t>Runners can choose a pacer depending on their target finish time.</a:t>
            </a:r>
            <a:r>
              <a:rPr lang="en-US" altLang="ko-KR" sz="1500" b="0" dirty="0">
                <a:solidFill>
                  <a:srgbClr val="1F2328"/>
                </a:solidFill>
                <a:latin typeface="Calibri"/>
                <a:ea typeface="맑은 고딕"/>
                <a:cs typeface="Calibri"/>
              </a:rPr>
              <a:t> For example, if a runner wants to finish the race in four hours, the runner will follow the four‑hour pacer. </a:t>
            </a:r>
            <a:r>
              <a:rPr lang="en-US" altLang="ko-KR" sz="1500" b="0" dirty="0">
                <a:solidFill>
                  <a:srgbClr val="1F2328"/>
                </a:solidFill>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1F2328"/>
                </a:solidFill>
                <a:latin typeface="Calibri"/>
                <a:ea typeface="맑은 고딕"/>
                <a:cs typeface="Calibri"/>
              </a:rPr>
              <a:t>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a:t>
            </a:r>
            <a:r>
              <a:rPr lang="en-US" altLang="ko-KR" sz="1500" b="0" dirty="0">
                <a:solidFill>
                  <a:srgbClr val="111111"/>
                </a:solidFill>
                <a:highlight>
                  <a:srgbClr val="FFE45C"/>
                </a:highlight>
                <a:latin typeface="Calibri"/>
                <a:ea typeface="맑은 고딕"/>
                <a:cs typeface="Calibri"/>
              </a:rPr>
              <a:t>Runners can choose a pacer depending on their target finish time.</a:t>
            </a:r>
            <a:r>
              <a:rPr lang="en-US" altLang="ko-KR" sz="1500" b="0" dirty="0">
                <a:solidFill>
                  <a:srgbClr val="B3BAC6"/>
                </a:solidFill>
                <a:latin typeface="Calibri"/>
                <a:ea typeface="맑은 고딕"/>
                <a:cs typeface="Calibri"/>
              </a:rPr>
              <a:t> For example, if a runner wants to finish the race in four hours, the runner will follow the four‑hour pacer. </a:t>
            </a:r>
            <a:r>
              <a:rPr lang="en-US" altLang="ko-KR" sz="1500" b="0" dirty="0">
                <a:solidFill>
                  <a:srgbClr val="111111"/>
                </a:solidFill>
                <a:highlight>
                  <a:srgbClr val="FFE45C"/>
                </a:highlight>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B3BAC6"/>
                </a:solidFill>
                <a:latin typeface="Calibri"/>
                <a:ea typeface="맑은 고딕"/>
                <a:cs typeface="Calibri"/>
              </a:rPr>
              <a:t>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pacers always win the marathon race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runners make flags for their pacers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history of four-hour marathon races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pacers help runners reach target times</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how pacers help runners reach target times</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runners must run without any pacer</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how pacers help runners reach target times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선수는 목표 시간에 맞는 페이서를 고르고 페이서 덕분에 목표를 쉽게 이룬다. 목표 시간 달성을 돕는 ④가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a:t>
            </a:r>
            <a:r>
              <a:rPr lang="en-US" altLang="ko-KR" sz="1500" b="0" dirty="0">
                <a:solidFill>
                  <a:srgbClr val="1F2328"/>
                </a:solidFill>
                <a:latin typeface="Calibri"/>
                <a:ea typeface="맑은 고딕"/>
                <a:cs typeface="Calibri"/>
              </a:rPr>
              <a:t>In short, pacers run but they don’t run to win.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a:t>
            </a:r>
            <a:r>
              <a:rPr lang="en-US" altLang="ko-KR" sz="1500" b="0" dirty="0">
                <a:solidFill>
                  <a:srgbClr val="111111"/>
                </a:solidFill>
                <a:highlight>
                  <a:srgbClr val="FFE45C"/>
                </a:highlight>
                <a:latin typeface="Calibri"/>
                <a:ea typeface="맑은 고딕"/>
                <a:cs typeface="Calibri"/>
              </a:rPr>
              <a:t>In short, pacers run but they don’t run to win.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They run for others.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Pacers: The Fastest Winners of All</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Balloons Make Marathons More Fun</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Runners Who Never Need a Pacer</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Finish a Race in Two Hours</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Pacers Run Not to Win but for Others</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Pacers Run Not to Win but for Others</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Pacers Run Not to Win but for Others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이기려고 달리지 않고 남을 위해 달린다고 했다. 이를 그대로 옮긴 ⑤가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a:t>
            </a:r>
            <a:r>
              <a:rPr lang="en-US" altLang="ko-KR" sz="1500" b="0" dirty="0">
                <a:solidFill>
                  <a:srgbClr val="1F2328"/>
                </a:solidFill>
                <a:latin typeface="Calibri"/>
                <a:ea typeface="맑은 고딕"/>
                <a:cs typeface="Calibri"/>
              </a:rPr>
              <a:t>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a:t>
            </a:r>
            <a:r>
              <a:rPr lang="en-US" altLang="ko-KR" sz="1500" b="0" dirty="0">
                <a:solidFill>
                  <a:srgbClr val="111111"/>
                </a:solidFill>
                <a:highlight>
                  <a:srgbClr val="FFE45C"/>
                </a:highlight>
                <a:latin typeface="Calibri"/>
                <a:ea typeface="맑은 고딕"/>
                <a:cs typeface="Calibri"/>
              </a:rPr>
              <a:t>They run for others.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남을 위해 달리는 고마운 조력자다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페이서는 남을 위해 달리는 고마운 조력자다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선수들은 페이서 없이 혼자 시간을 재야 한다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우승을 목표로 전력 질주해야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마라톤 선수는 모두 같은 속도로 달려야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풍선과 깃발은 경주에서 사용하면 안 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페이서는 남을 위해 달리는 고마운 조력자다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'They run for others'라고 했다. 페이서가 남을 위해 달리는 조력자라는 ①이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a:t>
            </a:r>
            <a:r>
              <a:rPr lang="en-US" altLang="ko-KR" sz="1500" b="0" dirty="0">
                <a:solidFill>
                  <a:srgbClr val="1F2328"/>
                </a:solidFill>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1F2328"/>
                </a:solidFill>
                <a:latin typeface="Calibri"/>
                <a:ea typeface="맑은 고딕"/>
                <a:cs typeface="Calibri"/>
              </a:rPr>
              <a:t>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a:t>
            </a:r>
            <a:r>
              <a:rPr lang="en-US" altLang="ko-KR" sz="1500" b="0" dirty="0">
                <a:solidFill>
                  <a:srgbClr val="111111"/>
                </a:solidFill>
                <a:highlight>
                  <a:srgbClr val="FFE45C"/>
                </a:highlight>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B3BAC6"/>
                </a:solidFill>
                <a:latin typeface="Calibri"/>
                <a:ea typeface="맑은 고딕"/>
                <a:cs typeface="Calibri"/>
              </a:rPr>
              <a:t>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자신이 우승하기 위해 빠르게 달린다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페이서는 남들이 목표 시간을 이루도록 돕는다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페이서는 남들이 목표 시간을 이루도록 돕는다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선수들은 모두 4시간 안에 완주해야만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깃발이 있는 선수가 마라톤에서 우승을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목표 시간은 경주 도중에 자주 바꿔야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페이서는 남들이 목표 시간을 이루도록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페이서가 시간을 챙겨 주어 선수가 목표를 더 쉽게 이룬다고 했다. 남의 목표 달성을 돕는다는 ②가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a:t>
            </a:r>
            <a:r>
              <a:rPr lang="en-US" altLang="ko-KR" sz="1500" b="0" dirty="0">
                <a:solidFill>
                  <a:srgbClr val="1F2328"/>
                </a:solidFill>
                <a:latin typeface="Calibri"/>
                <a:ea typeface="맑은 고딕"/>
                <a:cs typeface="Calibri"/>
              </a:rPr>
              <a:t>they don’t run to win</a:t>
            </a:r>
            <a:r>
              <a:rPr lang="en-US" altLang="ko-KR" sz="1500" b="0" dirty="0">
                <a:solidFill>
                  <a:srgbClr val="1F2328"/>
                </a:solidFill>
                <a:latin typeface="Calibri"/>
                <a:ea typeface="맑은 고딕"/>
                <a:cs typeface="Calibri"/>
              </a:rPr>
              <a:t>.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a:t>
            </a:r>
            <a:r>
              <a:rPr lang="en-US" altLang="ko-KR" sz="1500" b="0" dirty="0">
                <a:solidFill>
                  <a:srgbClr val="111111"/>
                </a:solidFill>
                <a:highlight>
                  <a:srgbClr val="FFE45C"/>
                </a:highlight>
                <a:latin typeface="Calibri"/>
                <a:ea typeface="맑은 고딕"/>
                <a:cs typeface="Calibri"/>
              </a:rPr>
              <a:t>they don’t run to win</a:t>
            </a:r>
            <a:r>
              <a:rPr lang="en-US" altLang="ko-KR" sz="1500" b="0" dirty="0">
                <a:solidFill>
                  <a:srgbClr val="B3BAC6"/>
                </a:solidFill>
                <a:latin typeface="Calibri"/>
                <a:ea typeface="맑은 고딕"/>
                <a:cs typeface="Calibri"/>
              </a:rPr>
              <a:t>.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우승하기 위해 가장 빨리 달린다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페이서는 우승하기 위해 가장 빨리 달린다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각 페이서는 서로 다른 속도로 달린다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대개 깃발이나 풍선을 지닌다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선수는 목표 시간에 따라 페이서를 고른다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페이서는 경주 중에 시간을 계속 파악한다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페이서는 우승하기 위해 가장 빨리 달린다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이기기 위해 달리지 않는다고 했다. 우승하려고 가장 빨리 달린다는 ①은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a:t>
            </a:r>
            <a:r>
              <a:rPr lang="en-US" altLang="ko-KR" sz="1500" b="0" dirty="0">
                <a:solidFill>
                  <a:srgbClr val="1F2328"/>
                </a:solidFill>
                <a:latin typeface="Calibri"/>
                <a:ea typeface="맑은 고딕"/>
                <a:cs typeface="Calibri"/>
              </a:rPr>
              <a:t>flags or balloons showing their finish time</a:t>
            </a:r>
            <a:r>
              <a:rPr lang="en-US" altLang="ko-KR" sz="1500" b="0" dirty="0">
                <a:solidFill>
                  <a:srgbClr val="1F2328"/>
                </a:solidFill>
                <a:latin typeface="Calibri"/>
                <a:ea typeface="맑은 고딕"/>
                <a:cs typeface="Calibri"/>
              </a:rPr>
              <a:t>.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a:t>
            </a:r>
            <a:r>
              <a:rPr lang="en-US" altLang="ko-KR" sz="1500" b="0" dirty="0">
                <a:solidFill>
                  <a:srgbClr val="111111"/>
                </a:solidFill>
                <a:highlight>
                  <a:srgbClr val="FFE45C"/>
                </a:highlight>
                <a:latin typeface="Calibri"/>
                <a:ea typeface="맑은 고딕"/>
                <a:cs typeface="Calibri"/>
              </a:rPr>
              <a:t>flags or balloons showing their finish time</a:t>
            </a:r>
            <a:r>
              <a:rPr lang="en-US" altLang="ko-KR" sz="1500" b="0" dirty="0">
                <a:solidFill>
                  <a:srgbClr val="B3BAC6"/>
                </a:solidFill>
                <a:latin typeface="Calibri"/>
                <a:ea typeface="맑은 고딕"/>
                <a:cs typeface="Calibri"/>
              </a:rPr>
              <a:t>.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모든 페이서는 같은 시간에 경주를 마친다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선수는 정해진 페이서만 따라가야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페이서의 풍선에는 완주 시간이 표시된다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페이서의 풍선에는 완주 시간이 표시된다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4시간 목표 선수는 2시간 페이서를 따른다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선수는 페이서 없이 목표를 더 쉽게 이룬다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페이서의 풍선에는 완주 시간이 표시된다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페이서의 깃발이나 풍선이 완주 시간을 보여 준다고 했다. 이와 같은 ③이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For example, if a runner wants to finish the race in four hours, the runner will follow the four‑hour pacer. Since the pacer keeps track of the time, the runner can achieve his or her goal of finishing the marathon in a particular time more easily.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Pacers usually have flags or balloons showing their finish time. Runners can choose a pacer depending on their target finish time.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79"/>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79"/>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페이서마다 완주 시간이 다르다 → (B) 깃발로 시간을 보여 주고 선수가 고른다 → (A) 'For example' 4시간 페이서를 따르는 예 → (C) 'In short'로 남을 위해 달린다고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For example, if a runner wants to finish the race in four hours, the runner will follow the four‑hour pacer. Since the pacer keeps track of the time, the runner can achieve his or her goal of finishing the marathon in a particular time more easily.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Pacers usually have flags or balloons showing their finish time. Runners can choose a pacer depending on their target finish time.</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페이서마다 완주 시간이 다르다 → (C) 깃발과 풍선으로 시간을 보여 주고 선수가 고른다 → (A) 'For example' 4시간 페이서 예 → (B) 'In short'로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Runners can choose a pacer depending on their target finish time.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Pacers usually have flags or balloons showing their finish time.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For example, if a runner wants to finish the race in four hours, the runner will follow the four‑hour pacer.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Each pacer runs at different speeds and finishes the race in different times.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Pacers usually have flags or balloons showing their finish time.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For example, if a runner wants to finish the race in four hours, the runner will follow the four‑hour pacer.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뒤 'For example' 문장은 선수가 목표 시간에 따라 페이서를 고른다는 말의 예다. 고르는 내용을 담은 주어진 문장이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if a runner wants to finish the race in four hours, the runner will follow the four‑hour pacer.</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Pacers usually have flags or balloons showing their finish time.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Runners can choose a pacer depending on their target finish time.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Each pacer runs at different speeds and finishes the race in different times.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Pacers usually have flags or balloons showing their finish time.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Runners can choose a pacer depending on their target finish time.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 뒤 'the pacer'와 'the runner'는 앞에서 4시간 페이서를 따르는 선수 예가 나와야 가리킬 대상이 생긴다. 주어진 문장은 ④에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Each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run 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runs 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different speeds and finishes the race in different times.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usually have flags or balloons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showing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shown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Runners can choose a pacer depending on their target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if a runner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wants finishing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wants to finish</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race in four hours, the runner will follow the four‑hour pacer.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Since the pacer keeps track of the time, the runner can achieve his or her goal of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finishing the marathon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finish the marathon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particular time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more easily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more easy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short, pacers run but they don’t run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winning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win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Each pacer runs at different speeds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finishes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finish</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race in different times.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usually have flags or balloons showing their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Runners can choose a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depending on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depended on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target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if a runner wants to finish the race in four hours, the runner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will follow</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will be followed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four‑hour pacer.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Since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Despite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keeps track of</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keep track of</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time, the runner can achieve his or her goal of finishing the marathon in a particular time more easily.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short, pacers run but they don’t run to win.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run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for others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for the other</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a:t>
            </a:r>
            <a:r>
              <a:rPr lang="en-US" altLang="ko-KR" sz="1500" b="0" dirty="0">
                <a:solidFill>
                  <a:srgbClr val="1F2328"/>
                </a:solidFill>
                <a:latin typeface="Calibri"/>
                <a:ea typeface="맑은 고딕"/>
                <a:cs typeface="Calibri"/>
              </a:rPr>
              <a:t>The main job of the pit crew is to check the car and change the tires.</a:t>
            </a:r>
            <a:r>
              <a:rPr lang="en-US" altLang="ko-KR" sz="150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 </a:t>
            </a:r>
            <a:r>
              <a:rPr lang="en-US" altLang="ko-KR" sz="1500" b="0" dirty="0">
                <a:solidFill>
                  <a:srgbClr val="1F2328"/>
                </a:solidFill>
                <a:latin typeface="Calibri"/>
                <a:ea typeface="맑은 고딕"/>
                <a:cs typeface="Calibri"/>
              </a:rPr>
              <a:t>Therefore, the pit crew has to work in perfect harmony.</a:t>
            </a:r>
            <a:r>
              <a:rPr lang="en-US" altLang="ko-KR" sz="1500" b="0" dirty="0">
                <a:solidFill>
                  <a:srgbClr val="1F2328"/>
                </a:solidFill>
                <a:latin typeface="Calibri"/>
                <a:ea typeface="맑은 고딕"/>
                <a:cs typeface="Calibri"/>
              </a:rPr>
              <a:t>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a:t>
            </a:r>
            <a:r>
              <a:rPr lang="en-US" altLang="ko-KR" sz="1500" b="0" dirty="0">
                <a:solidFill>
                  <a:srgbClr val="111111"/>
                </a:solidFill>
                <a:highlight>
                  <a:srgbClr val="FFE45C"/>
                </a:highlight>
                <a:latin typeface="Calibri"/>
                <a:ea typeface="맑은 고딕"/>
                <a:cs typeface="Calibri"/>
              </a:rPr>
              <a:t>The main job of the pit crew is to check the car and change the tires.</a:t>
            </a:r>
            <a:r>
              <a:rPr lang="en-US" altLang="ko-KR" sz="1500" b="0" dirty="0">
                <a:solidFill>
                  <a:srgbClr val="B3BAC6"/>
                </a:solidFill>
                <a:latin typeface="Calibri"/>
                <a:ea typeface="맑은 고딕"/>
                <a:cs typeface="Calibri"/>
              </a:rPr>
              <a:t> Changing the tires is especially important because the tires wear out easily in a high speed race. A pit stop can be as short as 2 seconds, and there are as many as 20 members on a crew. </a:t>
            </a:r>
            <a:r>
              <a:rPr lang="en-US" altLang="ko-KR" sz="1500" b="0" dirty="0">
                <a:solidFill>
                  <a:srgbClr val="111111"/>
                </a:solidFill>
                <a:highlight>
                  <a:srgbClr val="FFE45C"/>
                </a:highlight>
                <a:latin typeface="Calibri"/>
                <a:ea typeface="맑은 고딕"/>
                <a:cs typeface="Calibri"/>
              </a:rPr>
              <a:t>Therefore, the pit crew has to work in perfect harmony.</a:t>
            </a:r>
            <a:r>
              <a:rPr lang="en-US" altLang="ko-KR" sz="1500" b="0" dirty="0">
                <a:solidFill>
                  <a:srgbClr val="B3BAC6"/>
                </a:solidFill>
                <a:latin typeface="Calibri"/>
                <a:ea typeface="맑은 고딕"/>
                <a:cs typeface="Calibri"/>
              </a:rPr>
              <a:t>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dangers of high speed car racing</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drivers change their own tires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why racing cars need more drivers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build a pit beside the track</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role of the pit crew in car races</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the role of the pit crew in car races</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the role of the pit crew in car races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크루가 차를 점검하고 타이어를 바꾸며 조화롭게 일한다고 했다. 피트 크루의 역할을 다룬 ⑤가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Races Are Won in the Pits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Races Are Won in the Pits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Drivers Win Races All Alone</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Tires That Never Wear Out Fast</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History of the Race Track</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Pit Stops Take Too Long</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Races Are Won in the Pits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글은 'Races are won in the pits'라는 말로 끝난다. 이 말을 그대로 옮긴 ①이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a:t>
            </a:r>
            <a:r>
              <a:rPr lang="en-US" altLang="ko-KR" sz="1500" b="0" dirty="0">
                <a:solidFill>
                  <a:srgbClr val="1F2328"/>
                </a:solidFill>
                <a:latin typeface="Calibri"/>
                <a:ea typeface="맑은 고딕"/>
                <a:cs typeface="Calibri"/>
              </a:rPr>
              <a:t>Therefore, the pit crew has to work in perfect harmony.</a:t>
            </a:r>
            <a:r>
              <a:rPr lang="en-US" altLang="ko-KR" sz="1500" b="0" dirty="0">
                <a:solidFill>
                  <a:srgbClr val="1F2328"/>
                </a:solidFill>
                <a:latin typeface="Calibri"/>
                <a:ea typeface="맑은 고딕"/>
                <a:cs typeface="Calibri"/>
              </a:rPr>
              <a:t>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a:t>
            </a:r>
            <a:r>
              <a:rPr lang="en-US" altLang="ko-KR" sz="1500" b="0" dirty="0">
                <a:solidFill>
                  <a:srgbClr val="111111"/>
                </a:solidFill>
                <a:highlight>
                  <a:srgbClr val="FFE45C"/>
                </a:highlight>
                <a:latin typeface="Calibri"/>
                <a:ea typeface="맑은 고딕"/>
                <a:cs typeface="Calibri"/>
              </a:rPr>
              <a:t>Therefore, the pit crew has to work in perfect harmony.</a:t>
            </a:r>
            <a:r>
              <a:rPr lang="en-US" altLang="ko-KR" sz="1500" b="0" dirty="0">
                <a:solidFill>
                  <a:srgbClr val="B3BAC6"/>
                </a:solidFill>
                <a:latin typeface="Calibri"/>
                <a:ea typeface="맑은 고딕"/>
                <a:cs typeface="Calibri"/>
              </a:rPr>
              <a:t>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자동차 경주에서는 레이서만 주목받아야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피트 크루의 조화로운 협력이 승리를 만든다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피트 크루의 조화로운 협력이 승리를 만든다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 정지 횟수는 최대한 줄이는 것이 좋다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타이어는 경주 전에 한 번만 교체해야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피트 크루의 인원은 적을수록 효율적이다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피트 크루의 조화로운 협력이 승리를 만든다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크루는 완벽한 조화 속에 일해야 하고 승리는 피트에서 나온다고 했다. 이를 담은 ②가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a:t>
            </a:r>
            <a:r>
              <a:rPr lang="en-US" altLang="ko-KR" sz="1500" b="0" dirty="0">
                <a:solidFill>
                  <a:srgbClr val="1F2328"/>
                </a:solidFill>
                <a:latin typeface="Calibri"/>
                <a:ea typeface="맑은 고딕"/>
                <a:cs typeface="Calibri"/>
              </a:rPr>
              <a:t>there is a team behind the driver</a:t>
            </a:r>
            <a:r>
              <a:rPr lang="en-US" altLang="ko-KR" sz="150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a:t>
            </a:r>
            <a:r>
              <a:rPr lang="en-US" altLang="ko-KR" sz="1500" b="0" dirty="0">
                <a:solidFill>
                  <a:srgbClr val="111111"/>
                </a:solidFill>
                <a:highlight>
                  <a:srgbClr val="FFE45C"/>
                </a:highlight>
                <a:latin typeface="Calibri"/>
                <a:ea typeface="맑은 고딕"/>
                <a:cs typeface="Calibri"/>
              </a:rPr>
              <a:t>there is a team behind the driver</a:t>
            </a:r>
            <a:r>
              <a:rPr lang="en-US" altLang="ko-KR" sz="1500" b="0" dirty="0">
                <a:solidFill>
                  <a:srgbClr val="B3BAC6"/>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레이서의 운전 실력만이 경주의 승패를 가른다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빠른 경주일수록 타이어 교체는 덜 중요하다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레이서 뒤의 피트 크루가 승리에 결정적이다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레이서 뒤의 피트 크루가 승리에 결정적이다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피트는 레이서가 쉬기 위해 머무는 공간이다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자동차 경주에서는 차량 성능이 가장 중요하다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레이서 뒤의 피트 크루가 승리에 결정적이다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있고 경주는 피트에서 이긴다고 했다. 피트 크루가 승리에 결정적이라는 ③이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a:t>
            </a:r>
            <a:r>
              <a:rPr lang="en-US" altLang="ko-KR" sz="1500" b="0" dirty="0">
                <a:solidFill>
                  <a:srgbClr val="1F2328"/>
                </a:solidFill>
                <a:latin typeface="Calibri"/>
                <a:ea typeface="맑은 고딕"/>
                <a:cs typeface="Calibri"/>
              </a:rPr>
              <a:t>the tires wear out easily in a high speed race</a:t>
            </a:r>
            <a:r>
              <a:rPr lang="en-US" altLang="ko-KR" sz="15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a:t>
            </a:r>
            <a:r>
              <a:rPr lang="en-US" altLang="ko-KR" sz="1500" b="0" dirty="0">
                <a:solidFill>
                  <a:srgbClr val="111111"/>
                </a:solidFill>
                <a:highlight>
                  <a:srgbClr val="FFE45C"/>
                </a:highlight>
                <a:latin typeface="Calibri"/>
                <a:ea typeface="맑은 고딕"/>
                <a:cs typeface="Calibri"/>
              </a:rPr>
              <a:t>the tires wear out easily in a high speed race</a:t>
            </a:r>
            <a:r>
              <a:rPr lang="en-US" altLang="ko-KR" sz="1500" b="0" dirty="0">
                <a:solidFill>
                  <a:srgbClr val="B3BAC6"/>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레이서 뒤에는 피트 크루라는 팀이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타이어는 고속 경주에서 거의 닳지 않는다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타이어는 고속 경주에서 거의 닳지 않는다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피트는 경주 트랙 옆에 있는 공간이다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레이서는 경주 중 피트에 여러 번 정지한다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한 크루에는 많게는 20명의 구성원이 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타이어는 고속 경주에서 거의 닳지 않는다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고속 경주에서는 타이어가 쉽게 닳는다고 했다. 거의 닳지 않는다는 ②는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t>
            </a:r>
            <a:r>
              <a:rPr lang="en-US" altLang="ko-KR" sz="1500" b="0" dirty="0">
                <a:solidFill>
                  <a:srgbClr val="1F2328"/>
                </a:solidFill>
                <a:latin typeface="Calibri"/>
                <a:ea typeface="맑은 고딕"/>
                <a:cs typeface="Calibri"/>
              </a:rPr>
              <a:t>A pit stop can be as short as 2 seconds</a:t>
            </a:r>
            <a:r>
              <a:rPr lang="en-US" altLang="ko-KR" sz="1500" b="0" dirty="0">
                <a:solidFill>
                  <a:srgbClr val="1F2328"/>
                </a:solidFill>
                <a:latin typeface="Calibri"/>
                <a:ea typeface="맑은 고딕"/>
                <a:cs typeface="Calibri"/>
              </a:rPr>
              <a:t>, and there are as many as 20 members on a crew. Therefore, the pit crew has to work in perfect harmony.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t>
            </a:r>
            <a:r>
              <a:rPr lang="en-US" altLang="ko-KR" sz="1500" b="0" dirty="0">
                <a:solidFill>
                  <a:srgbClr val="111111"/>
                </a:solidFill>
                <a:highlight>
                  <a:srgbClr val="FFE45C"/>
                </a:highlight>
                <a:latin typeface="Calibri"/>
                <a:ea typeface="맑은 고딕"/>
                <a:cs typeface="Calibri"/>
              </a:rPr>
              <a:t>A pit stop can be as short as 2 seconds</a:t>
            </a:r>
            <a:r>
              <a:rPr lang="en-US" altLang="ko-KR" sz="1500" b="0" dirty="0">
                <a:solidFill>
                  <a:srgbClr val="B3BAC6"/>
                </a:solidFill>
                <a:latin typeface="Calibri"/>
                <a:ea typeface="맑은 고딕"/>
                <a:cs typeface="Calibri"/>
              </a:rPr>
              <a:t>, and there are as many as 20 members on a crew. Therefore, the pit crew has to work in perfect harmony.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피트 크루는 경주 내내 차를 직접 운전한다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레이서는 경주 중에 피트에 서지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 크루는 보통 두세 명으로 구성된다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피트 정지는 짧게는 2초 정도일 수 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피트 정지는 짧게는 2초 정도일 수 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피트 크루의 주 업무는 관중 안내이다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피트 정지는 짧게는 2초 정도일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정지는 짧게는 2초일 수 있다고 했다. 이와 같은 ④가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74472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74472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You may only see the car and the driver during most car races, but there is a team behind the driver.</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823720"/>
            <a:ext cx="11277295" cy="244043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823720"/>
            <a:ext cx="11277295" cy="244043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Therefore, the pit crew has to work in perfect harmony. The driver may get all the attention, but as people say, “Races are won in the pits.”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있다 → (B) 'This team'을 피트 크루라 부르고 주된 일을 설명한다 → (C) 타이어 교체가 중요하고 정지는 짧다 → (A) 'Therefore' 조화롭게 일해야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74472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74472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You may only see the car and the driver during most car races, but there is a team behind the driver.</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823720"/>
            <a:ext cx="11277295" cy="244043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823720"/>
            <a:ext cx="11277295" cy="244043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Therefore, the pit crew has to work in perfect harmony. The driver may get all the attention, but as people say, “Races are won in the pits.”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있다 → (C) 'This team'을 피트 크루라 하고 타이어 교체를 말한다 → (B) 'Changing the tires'가 특히 중요하다 → (A) 'Therefore'로 마무리한다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main job of the pit crew is to check the car and change the tires.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You may only see the car and the driver during most car races, but there is a team behind the driver.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team is called a pit crew.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pit is a place on the side of the race track, and drivers stop there several times during a race.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Changing the tires is especially important because the tires wear out easily in a high speed race.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You may only see the car and the driver during most car races, but there is a team behind the driver.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team is called a pit crew.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pit is a place on the side of the race track, and drivers stop there several times during a race.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Changing the tires is especially important because the tires wear out easily in a high speed race.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 뒤 'Changing the tires'는 앞에서 타이어 교체라는 일이 먼저 나와야 이어진다. 피트 크루의 주된 일을 밝히는 주어진 문장이 ④에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Changing the tires is especially important because the tires wear out easily in a high speed race.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You may only see the car and the driver during most car races, but there is a team behind the driver.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team is called a pit crew.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pit is a place on the side of the race track, and drivers stop there several times during a race.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 main job of the pit crew is to check the car and change the tires.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You may only see the car and the driver during most car races, but there is a team behind the driver.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team is called a pit crew.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pit is a place on the side of the race track, and drivers stop there several times during a race.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 main job of the pit crew is to check the car and change the tires.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24535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844288"/>
            <a:ext cx="11277295" cy="157479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④에서 타이어 교체가 주된 일이라 했고 주어진 문장이 그 이유를 든다. 그 뒤 ⑤에서 짧은 정지 시간으로 넘어가므로 ⑤가 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You may only see the car and the driver during most car races, but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there are a team</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there is a team</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behind the driver.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team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called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calls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 pit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is a place on the side of the race track, and drivers stop there several times during a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main job of the pit crew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to check</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to check</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 car and change the tires.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Changing the tires are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Changing the tires is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especially important because the tires wear out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easily</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easy</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a high speed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stop can be as short as 2 seconds, and there are as many as 20 members on a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Therefore, the pit crew has to work in perfect harmony.</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driver may get all the attention, but as people say, “Races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won</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win</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4" name="rv_g06"/>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You may only see the car and the driver during most car races, but there is a team behind the driver.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team is called a pit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is a place on the side of the race track,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drivers stop</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drivers stops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there several times during a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main job of the pit crew is to check the car and change the tires.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Changing the tires is especially important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because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because of</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 tires wear out easily in a high speed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stop can be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as short as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as shortly as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2 seconds,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there are as many as 20 members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there is as many as 20 members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on a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Therefore, the pit crew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has to work</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have to work</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perfect harmony.</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driver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may get</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may be gotten</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4" name="rv_g06"/>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a:t>
            </a:r>
            <a:r>
              <a:rPr lang="en-US" altLang="ko-KR" sz="1500" b="0" dirty="0">
                <a:solidFill>
                  <a:srgbClr val="1F2328"/>
                </a:solidFill>
                <a:latin typeface="Calibri"/>
                <a:ea typeface="맑은 고딕"/>
                <a:cs typeface="Calibri"/>
              </a:rPr>
              <a:t>Therefore, mountain climbers started to hire Sherpas to help them climb Mount Everest.</a:t>
            </a:r>
            <a:r>
              <a:rPr lang="en-US" altLang="ko-KR" sz="1500" b="0" dirty="0">
                <a:solidFill>
                  <a:srgbClr val="1F2328"/>
                </a:solidFill>
                <a:latin typeface="Calibri"/>
                <a:ea typeface="맑은 고딕"/>
                <a:cs typeface="Calibri"/>
              </a:rPr>
              <a:t> Sherpas lead mountain climbers to the top of the mountain. They support climbers in many ways. For example, they put up tents and carry climbers’ bags. </a:t>
            </a:r>
            <a:r>
              <a:rPr lang="en-US" altLang="ko-KR" sz="1500" b="0" dirty="0">
                <a:solidFill>
                  <a:srgbClr val="1F2328"/>
                </a:solidFill>
                <a:latin typeface="Calibri"/>
                <a:ea typeface="맑은 고딕"/>
                <a:cs typeface="Calibri"/>
              </a:rPr>
              <a:t>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a:t>
            </a:r>
            <a:r>
              <a:rPr lang="en-US" altLang="ko-KR" sz="1500" b="0" dirty="0">
                <a:solidFill>
                  <a:srgbClr val="111111"/>
                </a:solidFill>
                <a:highlight>
                  <a:srgbClr val="FFE45C"/>
                </a:highlight>
                <a:latin typeface="Calibri"/>
                <a:ea typeface="맑은 고딕"/>
                <a:cs typeface="Calibri"/>
              </a:rPr>
              <a:t>Therefore, mountain climbers started to hire Sherpas to help them climb Mount Everest.</a:t>
            </a:r>
            <a:r>
              <a:rPr lang="en-US" altLang="ko-KR" sz="1500" b="0" dirty="0">
                <a:solidFill>
                  <a:srgbClr val="B3BAC6"/>
                </a:solidFill>
                <a:latin typeface="Calibri"/>
                <a:ea typeface="맑은 고딕"/>
                <a:cs typeface="Calibri"/>
              </a:rPr>
              <a:t> Sherpas lead mountain climbers to the top of the mountain. They support climbers in many ways. For example, they put up tents and carry climbers’ bags. </a:t>
            </a:r>
            <a:r>
              <a:rPr lang="en-US" altLang="ko-KR" sz="1500" b="0" dirty="0">
                <a:solidFill>
                  <a:srgbClr val="111111"/>
                </a:solidFill>
                <a:highlight>
                  <a:srgbClr val="FFE45C"/>
                </a:highlight>
                <a:latin typeface="Calibri"/>
                <a:ea typeface="맑은 고딕"/>
                <a:cs typeface="Calibri"/>
              </a:rPr>
              <a:t>Sherpas are often called the invisible people of Mount Everest because people often see a picture of only the climbers at the top of the mountain.</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Sherpas' hidden role in mountain climbing</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the Sherpas' hidden role in mountain climbing</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dangers of climbing Mount Everest</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eastern part of Nepal and its weather</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climbers take pictures on the top</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climbers carry their own heavy bags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the Sherpas' hidden role in mountain climbing</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등산가들이 셰르파를 고용하고 셰르파는 보이지 않는 사람들로 불린다. 셰르파의 숨은 역할을 다룬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a:t>
            </a:r>
            <a:r>
              <a:rPr lang="en-US" altLang="ko-KR" sz="1500" b="0" dirty="0">
                <a:solidFill>
                  <a:srgbClr val="1F2328"/>
                </a:solidFill>
                <a:latin typeface="Calibri"/>
                <a:ea typeface="맑은 고딕"/>
                <a:cs typeface="Calibri"/>
              </a:rPr>
              <a:t>the invisible people of Mount Everest</a:t>
            </a:r>
            <a:r>
              <a:rPr lang="en-US" altLang="ko-KR" sz="1500" b="0" dirty="0">
                <a:solidFill>
                  <a:srgbClr val="1F2328"/>
                </a:solidFill>
                <a:latin typeface="Calibri"/>
                <a:ea typeface="맑은 고딕"/>
                <a:cs typeface="Calibri"/>
              </a:rPr>
              <a: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a:t>
            </a:r>
            <a:r>
              <a:rPr lang="en-US" altLang="ko-KR" sz="1500" b="0" dirty="0">
                <a:solidFill>
                  <a:srgbClr val="111111"/>
                </a:solidFill>
                <a:highlight>
                  <a:srgbClr val="FFE45C"/>
                </a:highlight>
                <a:latin typeface="Calibri"/>
                <a:ea typeface="맑은 고딕"/>
                <a:cs typeface="Calibri"/>
              </a:rPr>
              <a:t>the invisible people of Mount Everest</a:t>
            </a:r>
            <a:r>
              <a:rPr lang="en-US" altLang="ko-KR" sz="1500" b="0" dirty="0">
                <a:solidFill>
                  <a:srgbClr val="B3BAC6"/>
                </a:solidFill>
                <a:latin typeface="Calibri"/>
                <a:ea typeface="맑은 고딕"/>
                <a:cs typeface="Calibri"/>
              </a:rPr>
              <a: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Climbers Who Reach the Top Alone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Sherpas: Invisible People of Everest</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Sherpas: Invisible People of Everest</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to Breathe High Up in Mountains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Best Tents for Mountain Climbers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Short History of Nepal's Mountains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Sherpas: Invisible People of Everest</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셰르파를 'the invisible people of Mount Everest'라 부른다고 했다. 이를 옮긴 ②가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a:t>
            </a:r>
            <a:r>
              <a:rPr lang="en-US" altLang="ko-KR" sz="1500" b="0" dirty="0">
                <a:solidFill>
                  <a:srgbClr val="1F2328"/>
                </a:solidFill>
                <a:latin typeface="Calibri"/>
                <a:ea typeface="맑은 고딕"/>
                <a:cs typeface="Calibri"/>
              </a:rPr>
              <a:t>They support climbers in many ways.</a:t>
            </a:r>
            <a:r>
              <a:rPr lang="en-US" altLang="ko-KR" sz="1500" b="0" dirty="0">
                <a:solidFill>
                  <a:srgbClr val="1F2328"/>
                </a:solidFill>
                <a:latin typeface="Calibri"/>
                <a:ea typeface="맑은 고딕"/>
                <a:cs typeface="Calibri"/>
              </a:rPr>
              <a:t> For example, they put up tents and carry climbers’ bags. Sherpas are often called </a:t>
            </a:r>
            <a:r>
              <a:rPr lang="en-US" altLang="ko-KR" sz="1500" b="0" dirty="0">
                <a:solidFill>
                  <a:srgbClr val="1F2328"/>
                </a:solidFill>
                <a:latin typeface="Calibri"/>
                <a:ea typeface="맑은 고딕"/>
                <a:cs typeface="Calibri"/>
              </a:rPr>
              <a:t>the invisible people of Mount Everest</a:t>
            </a:r>
            <a:r>
              <a:rPr lang="en-US" altLang="ko-KR" sz="1500" b="0" dirty="0">
                <a:solidFill>
                  <a:srgbClr val="1F2328"/>
                </a:solidFill>
                <a:latin typeface="Calibri"/>
                <a:ea typeface="맑은 고딕"/>
                <a:cs typeface="Calibri"/>
              </a:rPr>
              <a: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a:t>
            </a:r>
            <a:r>
              <a:rPr lang="en-US" altLang="ko-KR" sz="1500" b="0" dirty="0">
                <a:solidFill>
                  <a:srgbClr val="111111"/>
                </a:solidFill>
                <a:highlight>
                  <a:srgbClr val="FFE45C"/>
                </a:highlight>
                <a:latin typeface="Calibri"/>
                <a:ea typeface="맑은 고딕"/>
                <a:cs typeface="Calibri"/>
              </a:rPr>
              <a:t>They support climbers in many ways.</a:t>
            </a:r>
            <a:r>
              <a:rPr lang="en-US" altLang="ko-KR" sz="1500" b="0" dirty="0">
                <a:solidFill>
                  <a:srgbClr val="B3BAC6"/>
                </a:solidFill>
                <a:latin typeface="Calibri"/>
                <a:ea typeface="맑은 고딕"/>
                <a:cs typeface="Calibri"/>
              </a:rPr>
              <a:t> For example, they put up tents and carry climbers’ bags. Sherpas are often called </a:t>
            </a:r>
            <a:r>
              <a:rPr lang="en-US" altLang="ko-KR" sz="1500" b="0" dirty="0">
                <a:solidFill>
                  <a:srgbClr val="111111"/>
                </a:solidFill>
                <a:highlight>
                  <a:srgbClr val="FFE45C"/>
                </a:highlight>
                <a:latin typeface="Calibri"/>
                <a:ea typeface="맑은 고딕"/>
                <a:cs typeface="Calibri"/>
              </a:rPr>
              <a:t>the invisible people of Mount Everest</a:t>
            </a:r>
            <a:r>
              <a:rPr lang="en-US" altLang="ko-KR" sz="1500" b="0" dirty="0">
                <a:solidFill>
                  <a:srgbClr val="B3BAC6"/>
                </a:solidFill>
                <a:latin typeface="Calibri"/>
                <a:ea typeface="맑은 고딕"/>
                <a:cs typeface="Calibri"/>
              </a:rPr>
              <a: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등산가는 셰르파 없이 혼자 등반해야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산 정상 사진에는 등산가만 나와야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보이지 않는 셰르파의 공헌을 알아야 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보이지 않는 셰르파의 공헌을 알아야 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등산가는 자기 가방을 직접 운반해야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셰르파족은 네팔 동쪽 지역을 떠나야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보이지 않는 셰르파의 공헌을 알아야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셰르파는 여러 방식으로 등산가를 돕지만 보이지 않는다. 그 공헌을 알아야 한다는 ③이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a:t>
            </a:r>
            <a:r>
              <a:rPr lang="en-US" altLang="ko-KR" sz="1500" b="0" dirty="0">
                <a:solidFill>
                  <a:srgbClr val="1F2328"/>
                </a:solidFill>
                <a:latin typeface="Calibri"/>
                <a:ea typeface="맑은 고딕"/>
                <a:cs typeface="Calibri"/>
              </a:rPr>
              <a:t>Sherpas lead mountain climbers to the top of the mountain.</a:t>
            </a:r>
            <a:r>
              <a:rPr lang="en-US" altLang="ko-KR" sz="15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t>
            </a:r>
            <a:r>
              <a:rPr lang="en-US" altLang="ko-KR" sz="1500" b="0" dirty="0">
                <a:solidFill>
                  <a:srgbClr val="1F2328"/>
                </a:solidFill>
                <a:latin typeface="Calibri"/>
                <a:ea typeface="맑은 고딕"/>
                <a:cs typeface="Calibri"/>
              </a:rPr>
              <a:t>a picture of only the climbers</a:t>
            </a:r>
            <a:r>
              <a:rPr lang="en-US" altLang="ko-KR" sz="1500" b="0" dirty="0">
                <a:solidFill>
                  <a:srgbClr val="1F2328"/>
                </a:solidFill>
                <a:latin typeface="Calibri"/>
                <a:ea typeface="맑은 고딕"/>
                <a:cs typeface="Calibri"/>
              </a:rPr>
              <a:t>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a:t>
            </a:r>
            <a:r>
              <a:rPr lang="en-US" altLang="ko-KR" sz="1500" b="0" dirty="0">
                <a:solidFill>
                  <a:srgbClr val="111111"/>
                </a:solidFill>
                <a:highlight>
                  <a:srgbClr val="FFE45C"/>
                </a:highlight>
                <a:latin typeface="Calibri"/>
                <a:ea typeface="맑은 고딕"/>
                <a:cs typeface="Calibri"/>
              </a:rPr>
              <a:t>Sherpas lead mountain climbers to the top of the mountain.</a:t>
            </a:r>
            <a:r>
              <a:rPr lang="en-US" altLang="ko-KR" sz="1500" b="0" dirty="0">
                <a:solidFill>
                  <a:srgbClr val="B3BAC6"/>
                </a:solidFill>
                <a:latin typeface="Calibri"/>
                <a:ea typeface="맑은 고딕"/>
                <a:cs typeface="Calibri"/>
              </a:rPr>
              <a:t> They support climbers in many ways. For example, they put up tents and carry climbers’ bags. Sherpas are often called the invisible people of Mount Everest because people often see </a:t>
            </a:r>
            <a:r>
              <a:rPr lang="en-US" altLang="ko-KR" sz="1500" b="0" dirty="0">
                <a:solidFill>
                  <a:srgbClr val="111111"/>
                </a:solidFill>
                <a:highlight>
                  <a:srgbClr val="FFE45C"/>
                </a:highlight>
                <a:latin typeface="Calibri"/>
                <a:ea typeface="맑은 고딕"/>
                <a:cs typeface="Calibri"/>
              </a:rPr>
              <a:t>a picture of only the climbers</a:t>
            </a:r>
            <a:r>
              <a:rPr lang="en-US" altLang="ko-KR" sz="1500" b="0" dirty="0">
                <a:solidFill>
                  <a:srgbClr val="B3BAC6"/>
                </a:solidFill>
                <a:latin typeface="Calibri"/>
                <a:ea typeface="맑은 고딕"/>
                <a:cs typeface="Calibri"/>
              </a:rPr>
              <a:t>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에베레스트 등반은 장비만 좋으면 가능하다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셰르파는 사진을 찍기 위해 정상에 오른다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등산가들은 셰르파를 고용하지 않게 되었다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셰르파는 숨은 곳에서 등산가의 등반을 돕는다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셰르파는 숨은 곳에서 등산가의 등반을 돕는다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높은 산에서는 누구나 쉽게 호흡할 수 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셰르파는 숨은 곳에서 등산가의 등반을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셰르파가 정상까지 이끌지만 사진엔 등산가만 나온다고 했다. 숨은 곳에서 돕는다는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a:t>
            </a:r>
            <a:r>
              <a:rPr lang="en-US" altLang="ko-KR" sz="1500" b="0" dirty="0">
                <a:solidFill>
                  <a:srgbClr val="1F2328"/>
                </a:solidFill>
                <a:latin typeface="Calibri"/>
                <a:ea typeface="맑은 고딕"/>
                <a:cs typeface="Calibri"/>
              </a:rPr>
              <a:t>the eastern part of Nepal</a:t>
            </a:r>
            <a:r>
              <a:rPr lang="en-US" altLang="ko-KR" sz="15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a:t>
            </a:r>
            <a:r>
              <a:rPr lang="en-US" altLang="ko-KR" sz="1500" b="0" dirty="0">
                <a:solidFill>
                  <a:srgbClr val="111111"/>
                </a:solidFill>
                <a:highlight>
                  <a:srgbClr val="FFE45C"/>
                </a:highlight>
                <a:latin typeface="Calibri"/>
                <a:ea typeface="맑은 고딕"/>
                <a:cs typeface="Calibri"/>
              </a:rPr>
              <a:t>the eastern part of Nepal</a:t>
            </a:r>
            <a:r>
              <a:rPr lang="en-US" altLang="ko-KR" sz="1500" b="0" dirty="0">
                <a:solidFill>
                  <a:srgbClr val="B3BAC6"/>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셰르파는 훌륭한 등반 기술을 가지고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셰르파는 높은 곳에서 호흡에 어려움이 적다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셰르파족은 네팔의 서쪽 지역에 살고 있다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셰르파족은 네팔의 서쪽 지역에 살고 있다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셰르파는 등산가들을 산 정상까지 이끈다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셰르파는 텐트를 치고 가방을 운반해 준다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셰르파족은 네팔의 서쪽 지역에 살고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셰르파족은 네팔의 동쪽 지역에 산다고 했다. 서쪽 지역에 산다는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a:t>
            </a:r>
            <a:r>
              <a:rPr lang="en-US" altLang="ko-KR" sz="1500" b="0" dirty="0">
                <a:solidFill>
                  <a:srgbClr val="1F2328"/>
                </a:solidFill>
                <a:latin typeface="Calibri"/>
                <a:ea typeface="맑은 고딕"/>
                <a:cs typeface="Calibri"/>
              </a:rPr>
              <a:t>,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The word Sherpa comes from the Sherpa tribe</a:t>
            </a:r>
            <a:r>
              <a:rPr lang="en-US" altLang="ko-KR" sz="1500" b="0" dirty="0">
                <a:solidFill>
                  <a:srgbClr val="B3BAC6"/>
                </a:solidFill>
                <a:latin typeface="Calibri"/>
                <a:ea typeface="맑은 고딕"/>
                <a:cs typeface="Calibri"/>
              </a:rPr>
              <a:t>,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셰르파는 산의 지리를 잘 알지 못한다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등산가들은 셰르파를 고용하지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셰르파는 등산가의 텐트를 치지 않는다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정상 사진에는 주로 셰르파가 찍혀 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Sherpa라는 말은 셰르파족에서 유래했다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Sherpa라는 말은 셰르파족에서 유래했다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Sherpa라는 말은 셰르파족에서 유래했다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Sherpa라는 말은 셰르파족에서 왔다고 했다. 이와 같은 ⑤가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Sherpas lead mountain climbers to the top of the mountain. They support climbers in many ways.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 소개 → (C) 등반 기술이 좋아 'Therefore' 고용되었다 → (A) 정상까지 이끌고 여러 방식으로 돕는다 → (B) 'For example' 텐트와 가방을 맡는다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Sherpas lead mountain climbers to the top of the mountain. They support climbers in many ways.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 소개 → (A) 등반 기술이 좋아 등산가들이 고용했다 → (C) 정상까지 이끌고 'in many ways' 돕는다 → (B) 'For example' 텐트와 가방 예로 이어진다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Sherpas lead mountain climbers to the top of the mountain.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5501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55016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Sherpas have good climbing skills and know their way around the mountains well.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They also have little difficulty breathing high up in the mountains.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Therefore, mountain climbers started to hire Sherpas to help them climb Mount Everest.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55016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word Sherpa comes from the Sherpa tribe, which lives in the eastern part of Nepal.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Sherpas have good climbing skills and know their way around the mountains well.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They also have little difficulty breathing high up in the mountains.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Therefore, mountain climbers started to hire Sherpas to help them climb Mount Everest.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2644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863338"/>
            <a:ext cx="11277295" cy="15557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⑤ 뒤 'They support climbers'는 앞에서 셰르파가 등산가를 이끄는 일을 말한 뒤 자연스럽다. 정상까지 이끈다는 주어진 문장은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Sherpas have good climbing skills and know their way around the mountains well.</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also have little difficulty breathing high up in the mountains.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Therefore, mountain climbers started to hire Sherpas to help them climb Mount Everest.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Sherpas lead mountain climbers to the top of the mountain.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word Sherpa comes from the Sherpa tribe, which lives in the eastern part of Nepal.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also have little difficulty breathing high up in the mountains.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Therefore, mountain climbers started to hire Sherpas to help them climb Mount Everest.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Sherpas lead mountain climbers to the top of the mountain.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② 뒤 'They also have'의 also는 앞에 셰르파의 다른 장점이 있어야 쓴다. 등반 기술을 말하는 주어진 문장이 ②에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842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word Sherpa comes from the Sherpa tribe,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where lives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which lives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the eastern part of Nepal.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have good climbing skills and know their way around the mountains well.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also have little difficulty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breathing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breathe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high up in the mountains.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Therefore, mountain climbers started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hire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hired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Sherpas to help them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climb Mount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climbing Mount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Everest.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lead mountain climbers to the top of the mountain.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support climbers in many ways.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they put up tents and carry climbers’ bags.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often call</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are often called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842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word Sherpa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comes from</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is come from</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Sherpa tribe, which lives in the eastern part of Nepal.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have good climbing skills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know their way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knows their way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around the mountains well.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also have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little difficulty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few difficulty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breathing high up in the mountains.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Therefore, mountain climbers started to hire Sherpas to help them climb Mount Everest.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lead mountain climbers to the top of the mountain.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support climbers in many ways.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they put up tents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carry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carries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climbers’ bags.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are often called the invisible people of Mount Everest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because people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because of people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L5-1  ·  L5-2  ·  L5-3  ·  L5-4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59130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591309"/>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In sports, only the players get a trophy or medal, but they don’t win on their own.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There are people who help the players. These people are often hidden and don’t get attention.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However, they are as important as the players. Here are some examples.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Pacers run with other runners and lead them in a marathon.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Pacers are experienced runners, and their job is to help other runners manage their race better. There can be several pacers in a race. </a:t>
            </a:r>
            <a:endParaRPr lang="ko-KR" sz="1700"/>
          </a:p>
        </p:txBody>
      </p:sp>
      <p:sp>
        <p:nvSpPr>
          <p:cNvPr id="9" name="q_card_1"/>
          <p:cNvSpPr/>
          <p:nvPr/>
        </p:nvSpPr>
        <p:spPr>
          <a:xfrm>
            <a:off x="457200" y="2706878"/>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70687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  </a:t>
            </a:r>
            <a:r>
              <a:rPr lang="ko-KR" altLang="en-US" sz="1900" b="0" dirty="0">
                <a:solidFill>
                  <a:srgbClr val="1F2328"/>
                </a:solidFill>
                <a:latin typeface="맑은 고딕"/>
                <a:ea typeface="맑은 고딕"/>
                <a:cs typeface="맑은 고딕"/>
              </a:rPr>
              <a:t>스포츠에서 트로피나 메달은 선수들만 받는다.</a:t>
            </a:r>
            <a:endParaRPr lang="ko-KR" sz="1900"/>
          </a:p>
        </p:txBody>
      </p:sp>
      <p:sp>
        <p:nvSpPr>
          <p:cNvPr id="11" name="tf_1"/>
          <p:cNvSpPr txBox="1"/>
          <p:nvPr/>
        </p:nvSpPr>
        <p:spPr>
          <a:xfrm>
            <a:off x="9765792" y="270687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275259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246247"/>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24624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  </a:t>
            </a:r>
            <a:r>
              <a:rPr lang="ko-KR" altLang="en-US" sz="1900" b="0" dirty="0">
                <a:solidFill>
                  <a:srgbClr val="1F2328"/>
                </a:solidFill>
                <a:latin typeface="맑은 고딕"/>
                <a:ea typeface="맑은 고딕"/>
                <a:cs typeface="맑은 고딕"/>
              </a:rPr>
              <a:t>선수들은 다른 사람의 도움 없이 혼자 힘으로 우승한다.</a:t>
            </a:r>
            <a:endParaRPr lang="ko-KR" sz="1900"/>
          </a:p>
        </p:txBody>
      </p:sp>
      <p:sp>
        <p:nvSpPr>
          <p:cNvPr id="15" name="tf_2"/>
          <p:cNvSpPr txBox="1"/>
          <p:nvPr/>
        </p:nvSpPr>
        <p:spPr>
          <a:xfrm>
            <a:off x="9765792" y="324624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29196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3785615"/>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378561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  </a:t>
            </a:r>
            <a:r>
              <a:rPr lang="ko-KR" altLang="en-US" sz="1900" b="0" dirty="0">
                <a:solidFill>
                  <a:srgbClr val="1F2328"/>
                </a:solidFill>
                <a:latin typeface="맑은 고딕"/>
                <a:ea typeface="맑은 고딕"/>
                <a:cs typeface="맑은 고딕"/>
              </a:rPr>
              <a:t>선수들을 돕는 사람들은 종종 숨겨져 있다.</a:t>
            </a:r>
            <a:endParaRPr lang="ko-KR" sz="1900"/>
          </a:p>
        </p:txBody>
      </p:sp>
      <p:sp>
        <p:nvSpPr>
          <p:cNvPr id="19" name="tf_3"/>
          <p:cNvSpPr txBox="1"/>
          <p:nvPr/>
        </p:nvSpPr>
        <p:spPr>
          <a:xfrm>
            <a:off x="9765792" y="378561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383133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324985"/>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32498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  </a:t>
            </a:r>
            <a:r>
              <a:rPr lang="ko-KR" altLang="en-US" sz="1900" b="0" dirty="0">
                <a:solidFill>
                  <a:srgbClr val="1F2328"/>
                </a:solidFill>
                <a:latin typeface="맑은 고딕"/>
                <a:ea typeface="맑은 고딕"/>
                <a:cs typeface="맑은 고딕"/>
              </a:rPr>
              <a:t>선수들을 돕는 사람들은 많은 주목을 받는다.</a:t>
            </a:r>
            <a:endParaRPr lang="ko-KR" sz="1900"/>
          </a:p>
        </p:txBody>
      </p:sp>
      <p:sp>
        <p:nvSpPr>
          <p:cNvPr id="23" name="tf_4"/>
          <p:cNvSpPr txBox="1"/>
          <p:nvPr/>
        </p:nvSpPr>
        <p:spPr>
          <a:xfrm>
            <a:off x="9765792" y="432498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37070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4864354"/>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486435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5.  </a:t>
            </a:r>
            <a:r>
              <a:rPr lang="ko-KR" altLang="en-US" sz="1900" b="0" dirty="0">
                <a:solidFill>
                  <a:srgbClr val="1F2328"/>
                </a:solidFill>
                <a:latin typeface="맑은 고딕"/>
                <a:ea typeface="맑은 고딕"/>
                <a:cs typeface="맑은 고딕"/>
              </a:rPr>
              <a:t>선수들을 돕는 사람들은 선수들만큼 중요하다.</a:t>
            </a:r>
            <a:endParaRPr lang="ko-KR" sz="1900"/>
          </a:p>
        </p:txBody>
      </p:sp>
      <p:sp>
        <p:nvSpPr>
          <p:cNvPr id="27" name="tf_5"/>
          <p:cNvSpPr txBox="1"/>
          <p:nvPr/>
        </p:nvSpPr>
        <p:spPr>
          <a:xfrm>
            <a:off x="9765792" y="486435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491007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59130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591309"/>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In sports, only the players get a trophy or medal, but they don’t win on their own.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There are people who help the players. These people are often hidden and don’t get attention.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However, they are as important as the players. Here are some examples.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Pacers run with other runners and lead them in a marathon.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Pacers are experienced runners, and their job is to help other runners manage their race better. There can be several pacers in a race. </a:t>
            </a:r>
            <a:endParaRPr lang="ko-KR" sz="1700"/>
          </a:p>
        </p:txBody>
      </p:sp>
      <p:sp>
        <p:nvSpPr>
          <p:cNvPr id="9" name="q_card_1"/>
          <p:cNvSpPr/>
          <p:nvPr/>
        </p:nvSpPr>
        <p:spPr>
          <a:xfrm>
            <a:off x="457200" y="2706878"/>
            <a:ext cx="11274552" cy="7678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706878"/>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6.  </a:t>
            </a:r>
            <a:r>
              <a:rPr lang="ko-KR" altLang="en-US" sz="1900" b="0" dirty="0">
                <a:solidFill>
                  <a:srgbClr val="1F2328"/>
                </a:solidFill>
                <a:latin typeface="맑은 고딕"/>
                <a:ea typeface="맑은 고딕"/>
                <a:cs typeface="맑은 고딕"/>
              </a:rPr>
              <a:t>선수들을 돕는 사람들은 선수들보다 덜 중요하다고 글쓴이는 말한다.</a:t>
            </a:r>
            <a:endParaRPr lang="ko-KR" sz="1900"/>
          </a:p>
        </p:txBody>
      </p:sp>
      <p:sp>
        <p:nvSpPr>
          <p:cNvPr id="11" name="tf_1"/>
          <p:cNvSpPr txBox="1"/>
          <p:nvPr/>
        </p:nvSpPr>
        <p:spPr>
          <a:xfrm>
            <a:off x="9765792" y="2706878"/>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2752598"/>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547872"/>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4787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7.  </a:t>
            </a:r>
            <a:r>
              <a:rPr lang="ko-KR" altLang="en-US" sz="1900" b="0" dirty="0">
                <a:solidFill>
                  <a:srgbClr val="1F2328"/>
                </a:solidFill>
                <a:latin typeface="맑은 고딕"/>
                <a:ea typeface="맑은 고딕"/>
                <a:cs typeface="맑은 고딕"/>
              </a:rPr>
              <a:t>페이서는 마라톤에서 다른 선수들과 함께 달리며 그들을 이끈다.</a:t>
            </a:r>
            <a:endParaRPr lang="ko-KR" sz="1900"/>
          </a:p>
        </p:txBody>
      </p:sp>
      <p:sp>
        <p:nvSpPr>
          <p:cNvPr id="15" name="tf_2"/>
          <p:cNvSpPr txBox="1"/>
          <p:nvPr/>
        </p:nvSpPr>
        <p:spPr>
          <a:xfrm>
            <a:off x="9765792" y="354787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9359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87241"/>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8724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8.  </a:t>
            </a:r>
            <a:r>
              <a:rPr lang="ko-KR" altLang="en-US" sz="1900" b="0" dirty="0">
                <a:solidFill>
                  <a:srgbClr val="1F2328"/>
                </a:solidFill>
                <a:latin typeface="맑은 고딕"/>
                <a:ea typeface="맑은 고딕"/>
                <a:cs typeface="맑은 고딕"/>
              </a:rPr>
              <a:t>페이서는 마라톤 경험이 거의 없는 초보 선수들이다.</a:t>
            </a:r>
            <a:endParaRPr lang="ko-KR" sz="1900"/>
          </a:p>
        </p:txBody>
      </p:sp>
      <p:sp>
        <p:nvSpPr>
          <p:cNvPr id="19" name="tf_3"/>
          <p:cNvSpPr txBox="1"/>
          <p:nvPr/>
        </p:nvSpPr>
        <p:spPr>
          <a:xfrm>
            <a:off x="9765792" y="408724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13296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626610"/>
            <a:ext cx="11274552" cy="7678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626610"/>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9.  </a:t>
            </a:r>
            <a:r>
              <a:rPr lang="ko-KR" altLang="en-US" sz="1900" b="0" dirty="0">
                <a:solidFill>
                  <a:srgbClr val="1F2328"/>
                </a:solidFill>
                <a:latin typeface="맑은 고딕"/>
                <a:ea typeface="맑은 고딕"/>
                <a:cs typeface="맑은 고딕"/>
              </a:rPr>
              <a:t>페이서의 역할은 다른 선수들이 경주를 더 잘 운영하도록 돕는 것이다.</a:t>
            </a:r>
            <a:endParaRPr lang="ko-KR" sz="1900"/>
          </a:p>
        </p:txBody>
      </p:sp>
      <p:sp>
        <p:nvSpPr>
          <p:cNvPr id="23" name="tf_4"/>
          <p:cNvSpPr txBox="1"/>
          <p:nvPr/>
        </p:nvSpPr>
        <p:spPr>
          <a:xfrm>
            <a:off x="9765792" y="4626610"/>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72330"/>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467604"/>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46760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10.  </a:t>
            </a:r>
            <a:r>
              <a:rPr lang="ko-KR" altLang="en-US" sz="1900" b="0" dirty="0">
                <a:solidFill>
                  <a:srgbClr val="1F2328"/>
                </a:solidFill>
                <a:latin typeface="맑은 고딕"/>
                <a:ea typeface="맑은 고딕"/>
                <a:cs typeface="맑은 고딕"/>
              </a:rPr>
              <a:t>한 경주에는 페이서가 반드시 한 명만 있다.</a:t>
            </a:r>
            <a:endParaRPr lang="ko-KR" sz="1900"/>
          </a:p>
        </p:txBody>
      </p:sp>
      <p:sp>
        <p:nvSpPr>
          <p:cNvPr id="27" name="tf_5"/>
          <p:cNvSpPr txBox="1"/>
          <p:nvPr/>
        </p:nvSpPr>
        <p:spPr>
          <a:xfrm>
            <a:off x="9765792" y="546760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51332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Each pacer runs at different speeds and finishes the race in different times.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Pacers usually have flags or balloons showing their finish time. </a:t>
            </a:r>
            <a:r>
              <a:rPr lang="ko-KR" altLang="en-US" sz="1700" b="1" dirty="0">
                <a:solidFill>
                  <a:srgbClr val="1E2A5A"/>
                </a:solidFill>
                <a:latin typeface="맑은 고딕"/>
                <a:ea typeface="맑은 고딕"/>
                <a:cs typeface="맑은 고딕"/>
              </a:rPr>
              <a:t>⑧ </a:t>
            </a:r>
            <a:r>
              <a:rPr lang="en-US" altLang="en-US" sz="1700" b="0" dirty="0">
                <a:solidFill>
                  <a:srgbClr val="1F2328"/>
                </a:solidFill>
                <a:latin typeface="Calibri"/>
                <a:ea typeface="맑은 고딕"/>
                <a:cs typeface="Calibri"/>
              </a:rPr>
              <a:t>Runners can choose a pacer depending on their target finish time. </a:t>
            </a:r>
            <a:r>
              <a:rPr lang="ko-KR" altLang="en-US" sz="1700" b="1" dirty="0">
                <a:solidFill>
                  <a:srgbClr val="1E2A5A"/>
                </a:solidFill>
                <a:latin typeface="맑은 고딕"/>
                <a:ea typeface="맑은 고딕"/>
                <a:cs typeface="맑은 고딕"/>
              </a:rPr>
              <a:t>⑨ </a:t>
            </a:r>
            <a:r>
              <a:rPr lang="en-US" altLang="en-US" sz="1700" b="0" dirty="0">
                <a:solidFill>
                  <a:srgbClr val="1F2328"/>
                </a:solidFill>
                <a:latin typeface="Calibri"/>
                <a:ea typeface="맑은 고딕"/>
                <a:cs typeface="Calibri"/>
              </a:rPr>
              <a:t>For example, if a runner wants to finish the race in four hours, the runner will follow the four‑hour pacer. </a:t>
            </a:r>
            <a:r>
              <a:rPr lang="ko-KR" altLang="en-US" sz="1700" b="1" dirty="0">
                <a:solidFill>
                  <a:srgbClr val="1E2A5A"/>
                </a:solidFill>
                <a:latin typeface="맑은 고딕"/>
                <a:ea typeface="맑은 고딕"/>
                <a:cs typeface="맑은 고딕"/>
              </a:rPr>
              <a:t>⑩ </a:t>
            </a:r>
            <a:r>
              <a:rPr lang="en-US" altLang="en-US" sz="1700" b="0" dirty="0">
                <a:solidFill>
                  <a:srgbClr val="1F2328"/>
                </a:solidFill>
                <a:latin typeface="Calibri"/>
                <a:ea typeface="맑은 고딕"/>
                <a:cs typeface="Calibri"/>
              </a:rPr>
              <a:t>Since the pacer keeps track of the time, the runner can achieve his or her goal of finishing the marathon in a particular time more easily. </a:t>
            </a:r>
            <a:r>
              <a:rPr lang="ko-KR" altLang="en-US" sz="1700" b="1" dirty="0">
                <a:solidFill>
                  <a:srgbClr val="1E2A5A"/>
                </a:solidFill>
                <a:latin typeface="맑은 고딕"/>
                <a:ea typeface="맑은 고딕"/>
                <a:cs typeface="맑은 고딕"/>
              </a:rPr>
              <a:t>⑪ </a:t>
            </a:r>
            <a:r>
              <a:rPr lang="en-US" altLang="en-US" sz="1700" b="0" dirty="0">
                <a:solidFill>
                  <a:srgbClr val="1F2328"/>
                </a:solidFill>
                <a:latin typeface="Calibri"/>
                <a:ea typeface="맑은 고딕"/>
                <a:cs typeface="Calibri"/>
              </a:rPr>
              <a:t>In short, pacers run but they don’t run to win. They run for others.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각각의 페이서는 서로 다른 속도로 달린다.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모든 페이서는 같은 시간에 경주를 마친다.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049014"/>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페이서들은 보통 완주 시간을 나타내는 깃발이나 풍선을 가지고 있다.</a:t>
            </a:r>
            <a:endParaRPr lang="ko-KR" sz="1900"/>
          </a:p>
        </p:txBody>
      </p:sp>
      <p:sp>
        <p:nvSpPr>
          <p:cNvPr id="19" name="tf_3"/>
          <p:cNvSpPr txBox="1"/>
          <p:nvPr/>
        </p:nvSpPr>
        <p:spPr>
          <a:xfrm>
            <a:off x="9765792" y="404901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890008"/>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9000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페이서의 깃발이나 풍선은 페이서의 이름을 나타낸다.</a:t>
            </a:r>
            <a:endParaRPr lang="ko-KR" sz="1900"/>
          </a:p>
        </p:txBody>
      </p:sp>
      <p:sp>
        <p:nvSpPr>
          <p:cNvPr id="23" name="tf_4"/>
          <p:cNvSpPr txBox="1"/>
          <p:nvPr/>
        </p:nvSpPr>
        <p:spPr>
          <a:xfrm>
            <a:off x="9765792" y="489000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93572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429377"/>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42937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선수들은 자신의 목표 완주 시간에 따라 페이서를 고를 수 있다.</a:t>
            </a:r>
            <a:endParaRPr lang="ko-KR" sz="1900"/>
          </a:p>
        </p:txBody>
      </p:sp>
      <p:sp>
        <p:nvSpPr>
          <p:cNvPr id="27" name="tf_5"/>
          <p:cNvSpPr txBox="1"/>
          <p:nvPr/>
        </p:nvSpPr>
        <p:spPr>
          <a:xfrm>
            <a:off x="9765792" y="542937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7509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Each pacer runs at different speeds and finishes the race in different times.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Pacers usually have flags or balloons showing their finish time. </a:t>
            </a:r>
            <a:r>
              <a:rPr lang="ko-KR" altLang="en-US" sz="1700" b="1" dirty="0">
                <a:solidFill>
                  <a:srgbClr val="1E2A5A"/>
                </a:solidFill>
                <a:latin typeface="맑은 고딕"/>
                <a:ea typeface="맑은 고딕"/>
                <a:cs typeface="맑은 고딕"/>
              </a:rPr>
              <a:t>⑧ </a:t>
            </a:r>
            <a:r>
              <a:rPr lang="en-US" altLang="en-US" sz="1700" b="0" dirty="0">
                <a:solidFill>
                  <a:srgbClr val="1F2328"/>
                </a:solidFill>
                <a:latin typeface="Calibri"/>
                <a:ea typeface="맑은 고딕"/>
                <a:cs typeface="Calibri"/>
              </a:rPr>
              <a:t>Runners can choose a pacer depending on their target finish time. </a:t>
            </a:r>
            <a:r>
              <a:rPr lang="ko-KR" altLang="en-US" sz="1700" b="1" dirty="0">
                <a:solidFill>
                  <a:srgbClr val="1E2A5A"/>
                </a:solidFill>
                <a:latin typeface="맑은 고딕"/>
                <a:ea typeface="맑은 고딕"/>
                <a:cs typeface="맑은 고딕"/>
              </a:rPr>
              <a:t>⑨ </a:t>
            </a:r>
            <a:r>
              <a:rPr lang="en-US" altLang="en-US" sz="1700" b="0" dirty="0">
                <a:solidFill>
                  <a:srgbClr val="1F2328"/>
                </a:solidFill>
                <a:latin typeface="Calibri"/>
                <a:ea typeface="맑은 고딕"/>
                <a:cs typeface="Calibri"/>
              </a:rPr>
              <a:t>For example, if a runner wants to finish the race in four hours, the runner will follow the four‑hour pacer. </a:t>
            </a:r>
            <a:r>
              <a:rPr lang="ko-KR" altLang="en-US" sz="1700" b="1" dirty="0">
                <a:solidFill>
                  <a:srgbClr val="1E2A5A"/>
                </a:solidFill>
                <a:latin typeface="맑은 고딕"/>
                <a:ea typeface="맑은 고딕"/>
                <a:cs typeface="맑은 고딕"/>
              </a:rPr>
              <a:t>⑩ </a:t>
            </a:r>
            <a:r>
              <a:rPr lang="en-US" altLang="en-US" sz="1700" b="0" dirty="0">
                <a:solidFill>
                  <a:srgbClr val="1F2328"/>
                </a:solidFill>
                <a:latin typeface="Calibri"/>
                <a:ea typeface="맑은 고딕"/>
                <a:cs typeface="Calibri"/>
              </a:rPr>
              <a:t>Since the pacer keeps track of the time, the runner can achieve his or her goal of finishing the marathon in a particular time more easily. </a:t>
            </a:r>
            <a:r>
              <a:rPr lang="ko-KR" altLang="en-US" sz="1700" b="1" dirty="0">
                <a:solidFill>
                  <a:srgbClr val="1E2A5A"/>
                </a:solidFill>
                <a:latin typeface="맑은 고딕"/>
                <a:ea typeface="맑은 고딕"/>
                <a:cs typeface="맑은 고딕"/>
              </a:rPr>
              <a:t>⑪ </a:t>
            </a:r>
            <a:r>
              <a:rPr lang="en-US" altLang="en-US" sz="1700" b="0" dirty="0">
                <a:solidFill>
                  <a:srgbClr val="1F2328"/>
                </a:solidFill>
                <a:latin typeface="Calibri"/>
                <a:ea typeface="맑은 고딕"/>
                <a:cs typeface="Calibri"/>
              </a:rPr>
              <a:t>In short, pacers run but they don’t run to win. They run for others.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4시간 안에 완주하고 싶은 선수는 3시간 페이서를 따라간다.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페이서는 시간을 계속 파악한다.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페이서 덕분에 선수는 특정 시간 안에 완주하는 목표를 더 쉽게 이룰 수 있다.</a:t>
            </a:r>
            <a:endParaRPr lang="ko-KR" sz="1900"/>
          </a:p>
        </p:txBody>
      </p:sp>
      <p:sp>
        <p:nvSpPr>
          <p:cNvPr id="19" name="tf_3"/>
          <p:cNvSpPr txBox="1"/>
          <p:nvPr/>
        </p:nvSpPr>
        <p:spPr>
          <a:xfrm>
            <a:off x="9765792" y="404901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890008"/>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9000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페이서는 우승하기 위해 달린다.</a:t>
            </a:r>
            <a:endParaRPr lang="ko-KR" sz="1900"/>
          </a:p>
        </p:txBody>
      </p:sp>
      <p:sp>
        <p:nvSpPr>
          <p:cNvPr id="23" name="tf_4"/>
          <p:cNvSpPr txBox="1"/>
          <p:nvPr/>
        </p:nvSpPr>
        <p:spPr>
          <a:xfrm>
            <a:off x="9765792" y="489000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93572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429377"/>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42937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페이서는 다른 사람들을 위해 달린다.</a:t>
            </a:r>
            <a:endParaRPr lang="ko-KR" sz="1900"/>
          </a:p>
        </p:txBody>
      </p:sp>
      <p:sp>
        <p:nvSpPr>
          <p:cNvPr id="27" name="tf_5"/>
          <p:cNvSpPr txBox="1"/>
          <p:nvPr/>
        </p:nvSpPr>
        <p:spPr>
          <a:xfrm>
            <a:off x="9765792" y="542937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7509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009647"/>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009647"/>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You may only see the car and the driver during most car races, but there is a team behind the driver. This team is called a pit crew.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A pit is a place on the side of the race track, and drivers stop there several times during a race.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The main job of the pit crew is to check the car and change the tires.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Changing the tires is especially important because the tires wear out easily in a high speed race.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A pit stop can be as short as 2 seconds, and there are as many as 20 members on a crew.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Therefore, the pit crew has to work in perfect harmony.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The driver may get all the attention, but as people say, “Races are won in the pits.” </a:t>
            </a:r>
            <a:endParaRPr lang="ko-KR" sz="1600"/>
          </a:p>
        </p:txBody>
      </p:sp>
      <p:sp>
        <p:nvSpPr>
          <p:cNvPr id="9" name="q_card_1"/>
          <p:cNvSpPr/>
          <p:nvPr/>
        </p:nvSpPr>
        <p:spPr>
          <a:xfrm>
            <a:off x="457200" y="3125216"/>
            <a:ext cx="11274552" cy="7678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125216"/>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21.  </a:t>
            </a:r>
            <a:r>
              <a:rPr lang="ko-KR" altLang="en-US" sz="1900" b="0" dirty="0">
                <a:solidFill>
                  <a:srgbClr val="1F2328"/>
                </a:solidFill>
                <a:latin typeface="맑은 고딕"/>
                <a:ea typeface="맑은 고딕"/>
                <a:cs typeface="맑은 고딕"/>
              </a:rPr>
              <a:t>대부분의 자동차 경주에서 사람들은 자동차와 레이서만 볼 수도 있다.</a:t>
            </a:r>
            <a:endParaRPr lang="ko-KR" sz="1900"/>
          </a:p>
        </p:txBody>
      </p:sp>
      <p:sp>
        <p:nvSpPr>
          <p:cNvPr id="11" name="tf_1"/>
          <p:cNvSpPr txBox="1"/>
          <p:nvPr/>
        </p:nvSpPr>
        <p:spPr>
          <a:xfrm>
            <a:off x="9765792" y="3125216"/>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170936"/>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966210"/>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96621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22.  </a:t>
            </a:r>
            <a:r>
              <a:rPr lang="ko-KR" altLang="en-US" sz="1900" b="0" dirty="0">
                <a:solidFill>
                  <a:srgbClr val="1F2328"/>
                </a:solidFill>
                <a:latin typeface="맑은 고딕"/>
                <a:ea typeface="맑은 고딕"/>
                <a:cs typeface="맑은 고딕"/>
              </a:rPr>
              <a:t>레이서 뒤에 있는 팀은 피트 크루라고 불린다.</a:t>
            </a:r>
            <a:endParaRPr lang="ko-KR" sz="1900"/>
          </a:p>
        </p:txBody>
      </p:sp>
      <p:sp>
        <p:nvSpPr>
          <p:cNvPr id="15" name="tf_2"/>
          <p:cNvSpPr txBox="1"/>
          <p:nvPr/>
        </p:nvSpPr>
        <p:spPr>
          <a:xfrm>
            <a:off x="9765792" y="396621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01193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505579"/>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05579"/>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23.  </a:t>
            </a:r>
            <a:r>
              <a:rPr lang="ko-KR" altLang="en-US" sz="1900" b="0" dirty="0">
                <a:solidFill>
                  <a:srgbClr val="1F2328"/>
                </a:solidFill>
                <a:latin typeface="맑은 고딕"/>
                <a:ea typeface="맑은 고딕"/>
                <a:cs typeface="맑은 고딕"/>
              </a:rPr>
              <a:t>피트는 경주 트랙 한가운데에 있는 공간이다.</a:t>
            </a:r>
            <a:endParaRPr lang="ko-KR" sz="1900"/>
          </a:p>
        </p:txBody>
      </p:sp>
      <p:sp>
        <p:nvSpPr>
          <p:cNvPr id="19" name="tf_3"/>
          <p:cNvSpPr txBox="1"/>
          <p:nvPr/>
        </p:nvSpPr>
        <p:spPr>
          <a:xfrm>
            <a:off x="9765792" y="4505579"/>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551299"/>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044948"/>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4494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24.  </a:t>
            </a:r>
            <a:r>
              <a:rPr lang="ko-KR" altLang="en-US" sz="1900" b="0" dirty="0">
                <a:solidFill>
                  <a:srgbClr val="1F2328"/>
                </a:solidFill>
                <a:latin typeface="맑은 고딕"/>
                <a:ea typeface="맑은 고딕"/>
                <a:cs typeface="맑은 고딕"/>
              </a:rPr>
              <a:t>레이서들은 경주 도중 피트에 단 한 번만 정지한다.</a:t>
            </a:r>
            <a:endParaRPr lang="ko-KR" sz="1900"/>
          </a:p>
        </p:txBody>
      </p:sp>
      <p:sp>
        <p:nvSpPr>
          <p:cNvPr id="23" name="tf_4"/>
          <p:cNvSpPr txBox="1"/>
          <p:nvPr/>
        </p:nvSpPr>
        <p:spPr>
          <a:xfrm>
            <a:off x="9765792" y="504494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09066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584317"/>
            <a:ext cx="11274552" cy="7678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84317"/>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25.  </a:t>
            </a:r>
            <a:r>
              <a:rPr lang="ko-KR" altLang="en-US" sz="1900" b="0" dirty="0">
                <a:solidFill>
                  <a:srgbClr val="1F2328"/>
                </a:solidFill>
                <a:latin typeface="맑은 고딕"/>
                <a:ea typeface="맑은 고딕"/>
                <a:cs typeface="맑은 고딕"/>
              </a:rPr>
              <a:t>피트 크루의 주요 역할은 자동차를 점검하고 타이어를 교체하는 것이다.</a:t>
            </a:r>
            <a:endParaRPr lang="ko-KR" sz="1900"/>
          </a:p>
        </p:txBody>
      </p:sp>
      <p:sp>
        <p:nvSpPr>
          <p:cNvPr id="27" name="tf_5"/>
          <p:cNvSpPr txBox="1"/>
          <p:nvPr/>
        </p:nvSpPr>
        <p:spPr>
          <a:xfrm>
            <a:off x="9765792" y="5584317"/>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630037"/>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⑫ </a:t>
            </a:r>
            <a:r>
              <a:rPr lang="en-US" altLang="en-US" sz="1700" b="0" dirty="0">
                <a:solidFill>
                  <a:srgbClr val="1F2328"/>
                </a:solidFill>
                <a:latin typeface="Calibri"/>
                <a:ea typeface="맑은 고딕"/>
                <a:cs typeface="Calibri"/>
              </a:rPr>
              <a:t>You may only see the car and the driver during most car races, but there is a team behind the driver. This team is called a pit crew. </a:t>
            </a:r>
            <a:r>
              <a:rPr lang="ko-KR" altLang="en-US" sz="1700" b="1" dirty="0">
                <a:solidFill>
                  <a:srgbClr val="1E2A5A"/>
                </a:solidFill>
                <a:latin typeface="맑은 고딕"/>
                <a:ea typeface="맑은 고딕"/>
                <a:cs typeface="맑은 고딕"/>
              </a:rPr>
              <a:t>⑬ </a:t>
            </a:r>
            <a:r>
              <a:rPr lang="en-US" altLang="en-US" sz="1700" b="0" dirty="0">
                <a:solidFill>
                  <a:srgbClr val="1F2328"/>
                </a:solidFill>
                <a:latin typeface="Calibri"/>
                <a:ea typeface="맑은 고딕"/>
                <a:cs typeface="Calibri"/>
              </a:rPr>
              <a:t>A pit is a place on the side of the race track, and drivers stop there several times during a race. </a:t>
            </a:r>
            <a:r>
              <a:rPr lang="ko-KR" altLang="en-US" sz="1700" b="1" dirty="0">
                <a:solidFill>
                  <a:srgbClr val="1E2A5A"/>
                </a:solidFill>
                <a:latin typeface="맑은 고딕"/>
                <a:ea typeface="맑은 고딕"/>
                <a:cs typeface="맑은 고딕"/>
              </a:rPr>
              <a:t>⑭ </a:t>
            </a:r>
            <a:r>
              <a:rPr lang="en-US" altLang="en-US" sz="1700" b="0" dirty="0">
                <a:solidFill>
                  <a:srgbClr val="1F2328"/>
                </a:solidFill>
                <a:latin typeface="Calibri"/>
                <a:ea typeface="맑은 고딕"/>
                <a:cs typeface="Calibri"/>
              </a:rPr>
              <a:t>The main job of the pit crew is to check the car and change the tires. </a:t>
            </a:r>
            <a:r>
              <a:rPr lang="ko-KR" altLang="en-US" sz="1700" b="1" dirty="0">
                <a:solidFill>
                  <a:srgbClr val="1E2A5A"/>
                </a:solidFill>
                <a:latin typeface="맑은 고딕"/>
                <a:ea typeface="맑은 고딕"/>
                <a:cs typeface="맑은 고딕"/>
              </a:rPr>
              <a:t>⑮ </a:t>
            </a:r>
            <a:r>
              <a:rPr lang="en-US" altLang="en-US" sz="1700" b="0" dirty="0">
                <a:solidFill>
                  <a:srgbClr val="1F2328"/>
                </a:solidFill>
                <a:latin typeface="Calibri"/>
                <a:ea typeface="맑은 고딕"/>
                <a:cs typeface="Calibri"/>
              </a:rPr>
              <a:t>Changing the tires is especially important because the tires wear out easily in a high speed race. </a:t>
            </a:r>
            <a:r>
              <a:rPr lang="ko-KR" altLang="en-US" sz="1700" b="1" dirty="0">
                <a:solidFill>
                  <a:srgbClr val="1E2A5A"/>
                </a:solidFill>
                <a:latin typeface="맑은 고딕"/>
                <a:ea typeface="맑은 고딕"/>
                <a:cs typeface="맑은 고딕"/>
              </a:rPr>
              <a:t>⑯ </a:t>
            </a:r>
            <a:r>
              <a:rPr lang="en-US" altLang="en-US" sz="1700" b="0" dirty="0">
                <a:solidFill>
                  <a:srgbClr val="1F2328"/>
                </a:solidFill>
                <a:latin typeface="Calibri"/>
                <a:ea typeface="맑은 고딕"/>
                <a:cs typeface="Calibri"/>
              </a:rPr>
              <a:t>A pit stop can be as short as 2 seconds, and there are as many as 20 members on a crew. </a:t>
            </a:r>
            <a:r>
              <a:rPr lang="ko-KR" altLang="en-US" sz="1700" b="1" dirty="0">
                <a:solidFill>
                  <a:srgbClr val="1E2A5A"/>
                </a:solidFill>
                <a:latin typeface="맑은 고딕"/>
                <a:ea typeface="맑은 고딕"/>
                <a:cs typeface="맑은 고딕"/>
              </a:rPr>
              <a:t>⑰ </a:t>
            </a:r>
            <a:r>
              <a:rPr lang="en-US" altLang="en-US" sz="1700" b="0" dirty="0">
                <a:solidFill>
                  <a:srgbClr val="1F2328"/>
                </a:solidFill>
                <a:latin typeface="Calibri"/>
                <a:ea typeface="맑은 고딕"/>
                <a:cs typeface="Calibri"/>
              </a:rPr>
              <a:t>Therefore, the pit crew has to work in perfect harmony. </a:t>
            </a:r>
            <a:r>
              <a:rPr lang="ko-KR" altLang="en-US" sz="1700" b="1" dirty="0">
                <a:solidFill>
                  <a:srgbClr val="1E2A5A"/>
                </a:solidFill>
                <a:latin typeface="맑은 고딕"/>
                <a:ea typeface="맑은 고딕"/>
                <a:cs typeface="맑은 고딕"/>
              </a:rPr>
              <a:t>⑱ </a:t>
            </a:r>
            <a:r>
              <a:rPr lang="en-US" altLang="en-US" sz="1700" b="0" dirty="0">
                <a:solidFill>
                  <a:srgbClr val="1F2328"/>
                </a:solidFill>
                <a:latin typeface="Calibri"/>
                <a:ea typeface="맑은 고딕"/>
                <a:cs typeface="Calibri"/>
              </a:rPr>
              <a:t>The driver may get all the attention, but as people say, “Races are won in the pits.”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26.  </a:t>
            </a:r>
            <a:r>
              <a:rPr lang="ko-KR" altLang="en-US" sz="1900" b="0" dirty="0">
                <a:solidFill>
                  <a:srgbClr val="1F2328"/>
                </a:solidFill>
                <a:latin typeface="맑은 고딕"/>
                <a:ea typeface="맑은 고딕"/>
                <a:cs typeface="맑은 고딕"/>
              </a:rPr>
              <a:t>빠른 속도의 경주에서는 타이어가 쉽게 마모된다.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27.  </a:t>
            </a:r>
            <a:r>
              <a:rPr lang="ko-KR" altLang="en-US" sz="1900" b="0" dirty="0">
                <a:solidFill>
                  <a:srgbClr val="1F2328"/>
                </a:solidFill>
                <a:latin typeface="맑은 고딕"/>
                <a:ea typeface="맑은 고딕"/>
                <a:cs typeface="맑은 고딕"/>
              </a:rPr>
              <a:t>피트에서의 정지는 최소 20초 이상 걸린다.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28.  </a:t>
            </a:r>
            <a:r>
              <a:rPr lang="ko-KR" altLang="en-US" sz="1900" b="0" dirty="0">
                <a:solidFill>
                  <a:srgbClr val="1F2328"/>
                </a:solidFill>
                <a:latin typeface="맑은 고딕"/>
                <a:ea typeface="맑은 고딕"/>
                <a:cs typeface="맑은 고딕"/>
              </a:rPr>
              <a:t>한 피트 크루의 구성원은 많아야 2명이다.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29.  </a:t>
            </a:r>
            <a:r>
              <a:rPr lang="ko-KR" altLang="en-US" sz="1900" b="0" dirty="0">
                <a:solidFill>
                  <a:srgbClr val="1F2328"/>
                </a:solidFill>
                <a:latin typeface="맑은 고딕"/>
                <a:ea typeface="맑은 고딕"/>
                <a:cs typeface="맑은 고딕"/>
              </a:rPr>
              <a:t>피트 크루는 완벽한 조화를 이루며 일해야 한다.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30.  </a:t>
            </a:r>
            <a:r>
              <a:rPr lang="ko-KR" altLang="en-US" sz="1900" b="0" dirty="0">
                <a:solidFill>
                  <a:srgbClr val="1F2328"/>
                </a:solidFill>
                <a:latin typeface="맑은 고딕"/>
                <a:ea typeface="맑은 고딕"/>
                <a:cs typeface="맑은 고딕"/>
              </a:rPr>
              <a:t>사람들은 경주의 우승이 트랙 위에서만 이루어진다고 말한다.</a:t>
            </a:r>
            <a:endParaRPr lang="ko-KR" sz="1900"/>
          </a:p>
        </p:txBody>
      </p:sp>
      <p:sp>
        <p:nvSpPr>
          <p:cNvPr id="27" name="tf_5"/>
          <p:cNvSpPr txBox="1"/>
          <p:nvPr/>
        </p:nvSpPr>
        <p:spPr>
          <a:xfrm>
            <a:off x="9765792" y="539115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The word Sherpa comes from the Sherpa tribe, which lives in the eastern part of Nepal.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Sherpas have good climbing skills and know their way around the mountains well.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They also have little difficulty breathing high up in the mountains.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Therefore, mountain climbers started to hire Sherpas to help them climb Mount Everest.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Sherpas lead mountain climbers to the top of the mountain. They support climbers in many ways. For example, they put up tents and carry climbers’ bags. </a:t>
            </a: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Sherpas are often called the invisible people of Mount Everest because people often see a picture of only the climbers at the top of the mountain.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31.  </a:t>
            </a:r>
            <a:r>
              <a:rPr lang="ko-KR" altLang="en-US" sz="1900" b="0" dirty="0">
                <a:solidFill>
                  <a:srgbClr val="1F2328"/>
                </a:solidFill>
                <a:latin typeface="맑은 고딕"/>
                <a:ea typeface="맑은 고딕"/>
                <a:cs typeface="맑은 고딕"/>
              </a:rPr>
              <a:t>Sherpa라는 단어는 셰르파족에서 유래했다.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32.  </a:t>
            </a:r>
            <a:r>
              <a:rPr lang="ko-KR" altLang="en-US" sz="1900" b="0" dirty="0">
                <a:solidFill>
                  <a:srgbClr val="1F2328"/>
                </a:solidFill>
                <a:latin typeface="맑은 고딕"/>
                <a:ea typeface="맑은 고딕"/>
                <a:cs typeface="맑은 고딕"/>
              </a:rPr>
              <a:t>셰르파족은 네팔의 서쪽 지역에 산다.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33.  </a:t>
            </a:r>
            <a:r>
              <a:rPr lang="ko-KR" altLang="en-US" sz="1900" b="0" dirty="0">
                <a:solidFill>
                  <a:srgbClr val="1F2328"/>
                </a:solidFill>
                <a:latin typeface="맑은 고딕"/>
                <a:ea typeface="맑은 고딕"/>
                <a:cs typeface="맑은 고딕"/>
              </a:rPr>
              <a:t>셰르파는 훌륭한 등반 기술을 가지고 있다.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34.  </a:t>
            </a:r>
            <a:r>
              <a:rPr lang="ko-KR" altLang="en-US" sz="1900" b="0" dirty="0">
                <a:solidFill>
                  <a:srgbClr val="1F2328"/>
                </a:solidFill>
                <a:latin typeface="맑은 고딕"/>
                <a:ea typeface="맑은 고딕"/>
                <a:cs typeface="맑은 고딕"/>
              </a:rPr>
              <a:t>셰르파는 산의 지리를 잘 안다.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35.  </a:t>
            </a:r>
            <a:r>
              <a:rPr lang="ko-KR" altLang="en-US" sz="1900" b="0" dirty="0">
                <a:solidFill>
                  <a:srgbClr val="1F2328"/>
                </a:solidFill>
                <a:latin typeface="맑은 고딕"/>
                <a:ea typeface="맑은 고딕"/>
                <a:cs typeface="맑은 고딕"/>
              </a:rPr>
              <a:t>셰르파는 산의 높은 곳에서 호흡하는 데 큰 어려움을 겪는다.</a:t>
            </a:r>
            <a:endParaRPr lang="ko-KR" sz="1900"/>
          </a:p>
        </p:txBody>
      </p:sp>
      <p:sp>
        <p:nvSpPr>
          <p:cNvPr id="27" name="tf_5"/>
          <p:cNvSpPr txBox="1"/>
          <p:nvPr/>
        </p:nvSpPr>
        <p:spPr>
          <a:xfrm>
            <a:off x="9765792" y="539115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The word Sherpa comes from the Sherpa tribe, which lives in the eastern part of Nepal.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Sherpas have good climbing skills and know their way around the mountains well.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They also have little difficulty breathing high up in the mountains.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Therefore, mountain climbers started to hire Sherpas to help them climb Mount Everest.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Sherpas lead mountain climbers to the top of the mountain. They support climbers in many ways. For example, they put up tents and carry climbers’ bags. </a:t>
            </a: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Sherpas are often called the invisible people of Mount Everest because people often see a picture of only the climbers at the top of the mountain. </a:t>
            </a:r>
            <a:endParaRPr lang="ko-KR" sz="1700"/>
          </a:p>
        </p:txBody>
      </p:sp>
      <p:sp>
        <p:nvSpPr>
          <p:cNvPr id="9" name="q_card_1"/>
          <p:cNvSpPr/>
          <p:nvPr/>
        </p:nvSpPr>
        <p:spPr>
          <a:xfrm>
            <a:off x="457200" y="3233674"/>
            <a:ext cx="11274552" cy="7678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36.  </a:t>
            </a:r>
            <a:r>
              <a:rPr lang="ko-KR" altLang="en-US" sz="1900" b="0" dirty="0">
                <a:solidFill>
                  <a:srgbClr val="1F2328"/>
                </a:solidFill>
                <a:latin typeface="맑은 고딕"/>
                <a:ea typeface="맑은 고딕"/>
                <a:cs typeface="맑은 고딕"/>
              </a:rPr>
              <a:t>등산가들은 에베레스트산 등반을 도울 셰르파를 고용하기 시작했다.</a:t>
            </a:r>
            <a:endParaRPr lang="ko-KR" sz="1900"/>
          </a:p>
        </p:txBody>
      </p:sp>
      <p:sp>
        <p:nvSpPr>
          <p:cNvPr id="11" name="tf_1"/>
          <p:cNvSpPr txBox="1"/>
          <p:nvPr/>
        </p:nvSpPr>
        <p:spPr>
          <a:xfrm>
            <a:off x="9765792" y="323367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4074668"/>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7466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37.  </a:t>
            </a:r>
            <a:r>
              <a:rPr lang="ko-KR" altLang="en-US" sz="1900" b="0" dirty="0">
                <a:solidFill>
                  <a:srgbClr val="1F2328"/>
                </a:solidFill>
                <a:latin typeface="맑은 고딕"/>
                <a:ea typeface="맑은 고딕"/>
                <a:cs typeface="맑은 고딕"/>
              </a:rPr>
              <a:t>셰르파는 등산가들을 산 중턱까지만 이끈다.</a:t>
            </a:r>
            <a:endParaRPr lang="ko-KR" sz="1900"/>
          </a:p>
        </p:txBody>
      </p:sp>
      <p:sp>
        <p:nvSpPr>
          <p:cNvPr id="15" name="tf_2"/>
          <p:cNvSpPr txBox="1"/>
          <p:nvPr/>
        </p:nvSpPr>
        <p:spPr>
          <a:xfrm>
            <a:off x="9765792" y="407466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12038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614037"/>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1403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38.  </a:t>
            </a:r>
            <a:r>
              <a:rPr lang="ko-KR" altLang="en-US" sz="1900" b="0" dirty="0">
                <a:solidFill>
                  <a:srgbClr val="1F2328"/>
                </a:solidFill>
                <a:latin typeface="맑은 고딕"/>
                <a:ea typeface="맑은 고딕"/>
                <a:cs typeface="맑은 고딕"/>
              </a:rPr>
              <a:t>셰르파는 텐트를 치고 등산가들의 가방을 운반한다.</a:t>
            </a:r>
            <a:endParaRPr lang="ko-KR" sz="1900"/>
          </a:p>
        </p:txBody>
      </p:sp>
      <p:sp>
        <p:nvSpPr>
          <p:cNvPr id="19" name="tf_3"/>
          <p:cNvSpPr txBox="1"/>
          <p:nvPr/>
        </p:nvSpPr>
        <p:spPr>
          <a:xfrm>
            <a:off x="9765792" y="461403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65975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153406"/>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15340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39.  </a:t>
            </a:r>
            <a:r>
              <a:rPr lang="ko-KR" altLang="en-US" sz="1900" b="0" dirty="0">
                <a:solidFill>
                  <a:srgbClr val="1F2328"/>
                </a:solidFill>
                <a:latin typeface="맑은 고딕"/>
                <a:ea typeface="맑은 고딕"/>
                <a:cs typeface="맑은 고딕"/>
              </a:rPr>
              <a:t>셰르파는 에베레스트산의 보이지 않는 사람들로 불린다.</a:t>
            </a:r>
            <a:endParaRPr lang="ko-KR" sz="1900"/>
          </a:p>
        </p:txBody>
      </p:sp>
      <p:sp>
        <p:nvSpPr>
          <p:cNvPr id="23" name="tf_4"/>
          <p:cNvSpPr txBox="1"/>
          <p:nvPr/>
        </p:nvSpPr>
        <p:spPr>
          <a:xfrm>
            <a:off x="9765792" y="515340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19912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692775"/>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69277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40.  </a:t>
            </a:r>
            <a:r>
              <a:rPr lang="ko-KR" altLang="en-US" sz="1900" b="0" dirty="0">
                <a:solidFill>
                  <a:srgbClr val="1F2328"/>
                </a:solidFill>
                <a:latin typeface="맑은 고딕"/>
                <a:ea typeface="맑은 고딕"/>
                <a:cs typeface="맑은 고딕"/>
              </a:rPr>
              <a:t>사람들은 산 정상에서 셰르파만 찍힌 사진을 흔히 본다.</a:t>
            </a:r>
            <a:endParaRPr lang="ko-KR" sz="1900"/>
          </a:p>
        </p:txBody>
      </p:sp>
      <p:sp>
        <p:nvSpPr>
          <p:cNvPr id="27" name="tf_5"/>
          <p:cNvSpPr txBox="1"/>
          <p:nvPr/>
        </p:nvSpPr>
        <p:spPr>
          <a:xfrm>
            <a:off x="9765792" y="569277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73849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24번  ·  9장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스포츠에서는 선수들만 트로피나 메달을 받지만, 그들이 혼자 힘으로 이기는 것은 아니다.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sports, only the players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gets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get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trophy or medal, but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win on their own.</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sports, only the players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gets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get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trophy or medal, but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win on their own.</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players 복수) · 동사의 수 일치 (주어 they)</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선수들을 돕는 사람들이 있다. 이 사람들은 흔히 가려져 있어서 주목을 받지 못한다.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 are 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which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help the players. These people are often hidden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get attention.</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 are 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which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help the players. These people are often hidden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get attention.</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people=사람) · 동사의 수 일치 (주어 These people)</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하지만 그들도 선수들만큼 중요하다. 몇 가지 예를 살펴보자.</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However,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as important as the players. 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some examples.</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However,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as important as the players. 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some examples.</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 동사의 수 일치 (Here + 동사 + 복수 주어 examples)</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페이서는 마라톤에서 다른 주자들과 함께 달리며 그들을 이끈다.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Pacers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run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runs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with other runners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leads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lead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them in a marathon.</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Pacers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run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runs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with other runners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leads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lead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them in a marathon.</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Pacers 복수) · 동사의 수 일치 (run과 병렬, 주어 Pacers)</a:t>
            </a:r>
            <a:endParaRPr lang="ko-KR" sz="1400"/>
          </a:p>
        </p:txBody>
      </p:sp>
      <p:sp>
        <p:nvSpPr>
          <p:cNvPr id="12" name="item_card_2"/>
          <p:cNvSpPr/>
          <p:nvPr/>
        </p:nvSpPr>
        <p:spPr>
          <a:xfrm>
            <a:off x="457200" y="2577338"/>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페이서는 경험 많은 주자이고, 그들의 임무는 다른 주자들이 경기를 더 잘 운영하도록 돕는 것이다. 한 경기에 페이서가 여러 명 있을 수 있다.</a:t>
            </a:r>
            <a:endParaRPr lang="ko-KR" sz="1600"/>
          </a:p>
        </p:txBody>
      </p:sp>
      <p:sp>
        <p:nvSpPr>
          <p:cNvPr id="14" name="eng_2"/>
          <p:cNvSpPr txBox="1"/>
          <p:nvPr/>
        </p:nvSpPr>
        <p:spPr>
          <a:xfrm>
            <a:off x="457200" y="3249930"/>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Pacers are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experiencing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experienced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runners, and their job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help other runners manage their race better. There can be several pacers in a race.</a:t>
            </a:r>
            <a:endParaRPr lang="ko-KR" sz="2000"/>
          </a:p>
        </p:txBody>
      </p:sp>
      <p:sp>
        <p:nvSpPr>
          <p:cNvPr id="15" name="rv_eng_2"/>
          <p:cNvSpPr txBox="1"/>
          <p:nvPr/>
        </p:nvSpPr>
        <p:spPr>
          <a:xfrm>
            <a:off x="457200" y="3249930"/>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Pacers are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experiencing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experienced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runners, and their job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help other runners manage their race better. There can be several pacers in a race.</a:t>
            </a:r>
            <a:endParaRPr lang="ko-KR" sz="2000"/>
          </a:p>
        </p:txBody>
      </p:sp>
      <p:sp>
        <p:nvSpPr>
          <p:cNvPr id="16" name="rv_point_2"/>
          <p:cNvSpPr txBox="1"/>
          <p:nvPr/>
        </p:nvSpPr>
        <p:spPr>
          <a:xfrm>
            <a:off x="457200" y="43715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(경험이 '쌓인' → 과거분사) · 동사의 수 일치 (주어 their job 단수)</a:t>
            </a:r>
            <a:endParaRPr lang="ko-KR" sz="1400"/>
          </a:p>
        </p:txBody>
      </p:sp>
      <p:sp>
        <p:nvSpPr>
          <p:cNvPr id="17" name="item_card_3"/>
          <p:cNvSpPr/>
          <p:nvPr/>
        </p:nvSpPr>
        <p:spPr>
          <a:xfrm>
            <a:off x="457200" y="48133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9230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각 페이서는 서로 다른 속도로 달려 서로 다른 시간에 결승선을 통과한다.</a:t>
            </a:r>
            <a:endParaRPr lang="ko-KR" sz="1600"/>
          </a:p>
        </p:txBody>
      </p:sp>
      <p:sp>
        <p:nvSpPr>
          <p:cNvPr id="19" name="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Each pacer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runs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run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different speeds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finish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finishes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race in different times.</a:t>
            </a:r>
            <a:endParaRPr lang="ko-KR" sz="2000"/>
          </a:p>
        </p:txBody>
      </p:sp>
      <p:sp>
        <p:nvSpPr>
          <p:cNvPr id="20" name="rv_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Each pacer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runs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run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different speeds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finish</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finishes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race in different times.</a:t>
            </a:r>
            <a:endParaRPr lang="ko-KR" sz="2000"/>
          </a:p>
        </p:txBody>
      </p:sp>
      <p:sp>
        <p:nvSpPr>
          <p:cNvPr id="21" name="rv_point_3"/>
          <p:cNvSpPr txBox="1"/>
          <p:nvPr/>
        </p:nvSpPr>
        <p:spPr>
          <a:xfrm>
            <a:off x="457200" y="59979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(Each + 단수명사) · 동사의 수 일치 (runs와 병렬, 3인칭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페이서들은 대개 자신의 완주 시간이 적힌 깃발이나 풍선을 달고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Pacers usually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flags or balloons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showing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shown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finish time.</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Pacers usually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flags or balloons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showing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shown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finish time.</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Pacers 복수) · 분사 (깃발이 시간을 '보여 주는' → 현재분사)</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주자들은 자신의 목표 완주 시간에 따라 페이서를 고를 수 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Runners can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choose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choose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pacer depending on their target finish time.</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Runners can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choose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choose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pacer depending on their target finish time.</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예를 들어 어떤 주자가 4시간 안에 완주하고 싶다면, 그 주자는 4시간 페이서를 따라가면 된다.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if a runner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wants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finish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finishing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race in four hours, the runner will follow the four‑hour pacer.</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if a runner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wants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finish</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finishing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race in four hours, the runner will follow the four‑hour pacer.</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a runner 단수) · to부정사/동명사/동사원형 (want + to부정사)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페이서가 시간을 계속 확인해 주기 때문에, 주자는 정해진 시간 안에 마라톤을 완주한다는 목표를 더 수월하게 이룰 수 있다.</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Since the pacer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keeps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keep</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track of the time, the runner can achieve his or her goal of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finish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finishing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marathon in a particular time more easily.</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Since the pacer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keeps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keep</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track of the time, the runner can achieve his or her goal of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finish</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finishing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marathon in a particular time more easily.</a:t>
            </a:r>
            <a:endParaRPr lang="ko-KR" sz="2000"/>
          </a:p>
        </p:txBody>
      </p:sp>
      <p:sp>
        <p:nvSpPr>
          <p:cNvPr id="11" name="rv_point_1"/>
          <p:cNvSpPr txBox="1"/>
          <p:nvPr/>
        </p:nvSpPr>
        <p:spPr>
          <a:xfrm>
            <a:off x="457200" y="27452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pacer 단수) · to부정사/동명사/동사원형 (전치사 of + 동명사)</a:t>
            </a:r>
            <a:endParaRPr lang="ko-KR" sz="1400"/>
          </a:p>
        </p:txBody>
      </p:sp>
      <p:sp>
        <p:nvSpPr>
          <p:cNvPr id="12" name="item_card_2"/>
          <p:cNvSpPr/>
          <p:nvPr/>
        </p:nvSpPr>
        <p:spPr>
          <a:xfrm>
            <a:off x="457200" y="31869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2966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요컨대 페이서는 달리지만 이기려고 달리는 것은 아니다. 그들은 남을 위해 달린다.</a:t>
            </a:r>
            <a:endParaRPr lang="ko-KR" sz="1600"/>
          </a:p>
        </p:txBody>
      </p:sp>
      <p:sp>
        <p:nvSpPr>
          <p:cNvPr id="14" name="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short, pacers run but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run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win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winning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They run for others.</a:t>
            </a:r>
            <a:endParaRPr lang="ko-KR" sz="2000"/>
          </a:p>
        </p:txBody>
      </p:sp>
      <p:sp>
        <p:nvSpPr>
          <p:cNvPr id="15" name="rv_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short, pacers run but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run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win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winning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They run for others.</a:t>
            </a:r>
            <a:endParaRPr lang="ko-KR" sz="2000"/>
          </a:p>
        </p:txBody>
      </p:sp>
      <p:sp>
        <p:nvSpPr>
          <p:cNvPr id="16" name="rv_point_2"/>
          <p:cNvSpPr txBox="1"/>
          <p:nvPr/>
        </p:nvSpPr>
        <p:spPr>
          <a:xfrm>
            <a:off x="457200" y="43715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 to부정사/동명사/동사원형 (목적: ~하기 위해)</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대부분의 자동차 경주에서는 차와 운전자만 보일지 모르지만, 운전자 뒤에는 한 팀이 있다. 이 팀을 피트 크루라고 부른다.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You may only see the car and the driver during most car races, but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team behind the driver. This team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calls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 called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pit crew.</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You may only see the car and the driver during most car races, but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team behind the driver. This team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calls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 called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pit crew.</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is + 단수 a team) · 수동태(능동/수동 구별) (팀이 '불리는' 것 → be + p.p.)</a:t>
            </a:r>
            <a:endParaRPr lang="ko-KR" sz="1400"/>
          </a:p>
        </p:txBody>
      </p:sp>
      <p:sp>
        <p:nvSpPr>
          <p:cNvPr id="12" name="item_card_2"/>
          <p:cNvSpPr/>
          <p:nvPr/>
        </p:nvSpPr>
        <p:spPr>
          <a:xfrm>
            <a:off x="457200" y="2831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941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피트는 경주 트랙 옆에 있는 공간으로, 운전자들은 경주 도중 여러 번 그곳에 멈춰 선다.</a:t>
            </a:r>
            <a:endParaRPr lang="ko-KR" sz="1600"/>
          </a:p>
        </p:txBody>
      </p:sp>
      <p:sp>
        <p:nvSpPr>
          <p:cNvPr id="14" name="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pit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place on the side of the race track, and drivers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stop</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stops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there several times during a race.</a:t>
            </a:r>
            <a:endParaRPr lang="ko-KR" sz="2000"/>
          </a:p>
        </p:txBody>
      </p:sp>
      <p:sp>
        <p:nvSpPr>
          <p:cNvPr id="15" name="rv_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pit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place on the side of the race track, and drivers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stop</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stops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there several times during a race.</a:t>
            </a:r>
            <a:endParaRPr lang="ko-KR" sz="2000"/>
          </a:p>
        </p:txBody>
      </p:sp>
      <p:sp>
        <p:nvSpPr>
          <p:cNvPr id="16" name="rv_point_2"/>
          <p:cNvSpPr txBox="1"/>
          <p:nvPr/>
        </p:nvSpPr>
        <p:spPr>
          <a:xfrm>
            <a:off x="457200" y="4015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A pit 단수) · 동사의 수 일치 (주어 drivers 복수)</a:t>
            </a:r>
            <a:endParaRPr lang="ko-KR" sz="1400"/>
          </a:p>
        </p:txBody>
      </p:sp>
      <p:sp>
        <p:nvSpPr>
          <p:cNvPr id="17" name="item_card_3"/>
          <p:cNvSpPr/>
          <p:nvPr/>
        </p:nvSpPr>
        <p:spPr>
          <a:xfrm>
            <a:off x="457200" y="44577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67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피트 크루의 주된 임무는 차를 점검하고 타이어를 교체하는 것이다.</a:t>
            </a:r>
            <a:endParaRPr lang="ko-KR" sz="1600"/>
          </a:p>
        </p:txBody>
      </p:sp>
      <p:sp>
        <p:nvSpPr>
          <p:cNvPr id="19" name="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main job of the pit crew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check the car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changing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change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tires.</a:t>
            </a:r>
            <a:endParaRPr lang="ko-KR" sz="2000"/>
          </a:p>
        </p:txBody>
      </p:sp>
      <p:sp>
        <p:nvSpPr>
          <p:cNvPr id="20" name="rv_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main job of the pit crew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check the car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changing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change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tires.</a:t>
            </a:r>
            <a:endParaRPr lang="ko-KR" sz="2000"/>
          </a:p>
        </p:txBody>
      </p:sp>
      <p:sp>
        <p:nvSpPr>
          <p:cNvPr id="21" name="rv_point_3"/>
          <p:cNvSpPr txBox="1"/>
          <p:nvPr/>
        </p:nvSpPr>
        <p:spPr>
          <a:xfrm>
            <a:off x="457200" y="56423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main job, of the pit crew는 수식어) · to부정사/동명사/동사원형 ((to) check와 병렬 → (to) change)</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고속 경주에서는 타이어가 쉽게 닳기 때문에 타이어 교체가 특히 중요하다.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Changing the tires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especially important because the tires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wear</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wears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easily in a high speed race.</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Changing the tires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especially important because the tires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wear</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wears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easily in a high speed race.</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(동명사 주어 Changing ~ → 단수) · 동사의 수 일치 (주어 the tires 복수)</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피트 스톱은 2초 만에 끝날 수도 있고, 한 크루에 무려 20명이 속해 있기도 하다.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pit stop can be as short as 2 seconds, and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as many as 20 members on a crew.</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pit stop can be as short as 2 seconds, and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as many as 20 members on a crew.</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are + 복수 20 members)</a:t>
            </a:r>
            <a:endParaRPr lang="ko-KR" sz="1400"/>
          </a:p>
        </p:txBody>
      </p:sp>
      <p:sp>
        <p:nvSpPr>
          <p:cNvPr id="17" name="item_card_3"/>
          <p:cNvSpPr/>
          <p:nvPr/>
        </p:nvSpPr>
        <p:spPr>
          <a:xfrm>
            <a:off x="457200" y="42037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그래서 피트 크루는 완벽하게 호흡을 맞춰 일해야 한다.</a:t>
            </a:r>
            <a:endParaRPr lang="ko-KR" sz="1600"/>
          </a:p>
        </p:txBody>
      </p:sp>
      <p:sp>
        <p:nvSpPr>
          <p:cNvPr id="19" name="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Therefore, the pit crew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work</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working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perfect harmony.</a:t>
            </a:r>
            <a:endParaRPr lang="ko-KR" sz="2000"/>
          </a:p>
        </p:txBody>
      </p:sp>
      <p:sp>
        <p:nvSpPr>
          <p:cNvPr id="20" name="rv_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Therefore, the pit crew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work</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working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perfect harmony.</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pit crew 단수) · to부정사/동명사/동사원형 (has to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주목은 운전자가 다 받을지 몰라도, 사람들 말처럼 "경주의 승패는 피트에서 갈린다."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driver may get all the attention, but as 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says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“Races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win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 won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the pits.”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driver may get all the attention, but as 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say</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says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“Races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win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 won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the pits.”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people 복수) · 수동태(능동/수동 구별) (경주가 '이겨지는' 것 → be + p.p.)</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셰르파라는 말은 네팔 동부 지역에 사는 셰르파족에서 유래했다.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word Sherpa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comes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from the Sherpa tribe, which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lives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live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the eastern part of Nepal.</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word Sherpa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come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comes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from the Sherpa tribe, which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lives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live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the eastern part of Nepal.</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word 단수) · 동사의 수 일치 (선행사 the Sherpa tribe 단수)</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셰르파는 뛰어난 등반 기술을 갖추고 있고 산길을 잘 안다.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Sherpas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good climbing skills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knows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know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way around the mountains well.</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Sherpas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good climbing skills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knows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know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way around the mountains well.</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Sherpas 복수) · 동사의 수 일치 (have와 병렬, 주어 Sherpas)</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그들은 또한 높은 산 위에서도 숨 쉬는 데 별 어려움이 없다.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also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little difficulty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breathing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breathe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high up in the mountains.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also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little difficulty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breathing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breathe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high up in the mountains.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 to부정사/동명사/동사원형 (have difficulty + V-ing)</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그래서 등산가들은 에베레스트산 등반에 도움을 받으려고 셰르파를 고용하기 시작했다.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Therefore, mountain climbers started to hire Sherpas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help</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helping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climbing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climb</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Mount Everest.</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Therefore, mountain climbers started to hire Sherpas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help</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helping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climbing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climb</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Mount Everest.</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(목적: ~하기 위해) · to부정사/동명사/동사원형 (help + 목적어 + 동사원형)</a:t>
            </a:r>
            <a:endParaRPr lang="ko-KR" sz="1400"/>
          </a:p>
        </p:txBody>
      </p:sp>
      <p:sp>
        <p:nvSpPr>
          <p:cNvPr id="17" name="item_card_3"/>
          <p:cNvSpPr/>
          <p:nvPr/>
        </p:nvSpPr>
        <p:spPr>
          <a:xfrm>
            <a:off x="457200" y="4203700"/>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셰르파는 등산가들을 산꼭대기까지 안내한다. 그들은 여러 방면으로 등산가들을 돕는데, 예를 들면 텐트를 치고 등산가들의 짐을 나른다.</a:t>
            </a:r>
            <a:endParaRPr lang="ko-KR" sz="1600"/>
          </a:p>
        </p:txBody>
      </p:sp>
      <p:sp>
        <p:nvSpPr>
          <p:cNvPr id="19" name="eng_3"/>
          <p:cNvSpPr txBox="1"/>
          <p:nvPr/>
        </p:nvSpPr>
        <p:spPr>
          <a:xfrm>
            <a:off x="457200" y="48762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Sherpas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leads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lead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mountain climbers to the top of the mountain.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support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supports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climbers in many ways. For example, they put up tents and carry climbers’ bags.</a:t>
            </a:r>
            <a:endParaRPr lang="ko-KR" sz="2000"/>
          </a:p>
        </p:txBody>
      </p:sp>
      <p:sp>
        <p:nvSpPr>
          <p:cNvPr id="20" name="rv_eng_3"/>
          <p:cNvSpPr txBox="1"/>
          <p:nvPr/>
        </p:nvSpPr>
        <p:spPr>
          <a:xfrm>
            <a:off x="457200" y="48762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Sherpas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leads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lead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mountain climbers to the top of the mountain.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support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supports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climbers in many ways. For example, they put up tents and carry climbers’ bags.</a:t>
            </a:r>
            <a:endParaRPr lang="ko-KR" sz="2000"/>
          </a:p>
        </p:txBody>
      </p:sp>
      <p:sp>
        <p:nvSpPr>
          <p:cNvPr id="21" name="rv_point_3"/>
          <p:cNvSpPr txBox="1"/>
          <p:nvPr/>
        </p:nvSpPr>
        <p:spPr>
          <a:xfrm>
            <a:off x="457200" y="59979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Sherpas 복수) · 동사의 수 일치 (주어 They)</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사람들은 산 정상에 선 등산가들만 찍힌 사진을 보게 되는 경우가 많아서, 셰르파는 흔히 에베레스트의 보이지 않는 사람들로 불린다.</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Sherpas are often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called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calling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invisible people of Mount Everest because people often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picture of only the climbers at the top of the mountain.</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Sherpas are often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called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calling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invisible people of Mount Everest because people often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sees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see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picture of only the climbers at the top of the mountain.</a:t>
            </a:r>
            <a:endParaRPr lang="ko-KR" sz="2000"/>
          </a:p>
        </p:txBody>
      </p:sp>
      <p:sp>
        <p:nvSpPr>
          <p:cNvPr id="11" name="rv_point_1"/>
          <p:cNvSpPr txBox="1"/>
          <p:nvPr/>
        </p:nvSpPr>
        <p:spPr>
          <a:xfrm>
            <a:off x="457200" y="27452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(셰르파가 '불리는' 것 → are + p.p.) · 동사의 수 일치 (주어 people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L5-1  ·  L5-2  ·  L5-3  ·  L5-4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스포츠에서는 선수들만 트로피나 메달을 받지만, 그들이 혼자 힘으로 우승하는 것은 아니다.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sports,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get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only the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trophy or medal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don’t win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their own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sports, only the players get a trophy or medal, but they don’t win on their own.</a:t>
            </a:r>
            <a:endParaRPr lang="ko-KR" sz="1900"/>
          </a:p>
        </p:txBody>
      </p:sp>
      <p:sp>
        <p:nvSpPr>
          <p:cNvPr id="11" name="item_card_2"/>
          <p:cNvSpPr/>
          <p:nvPr/>
        </p:nvSpPr>
        <p:spPr>
          <a:xfrm>
            <a:off x="457200" y="3048381"/>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 선수들을 돕는 사람들이 있다. 이 사람들은 종종 숨겨져 있고 주목을 받지 못한다.</a:t>
            </a:r>
            <a:endParaRPr lang="ko-KR" sz="1700"/>
          </a:p>
        </p:txBody>
      </p:sp>
      <p:sp>
        <p:nvSpPr>
          <p:cNvPr id="13" name="ex_2"/>
          <p:cNvSpPr txBox="1"/>
          <p:nvPr/>
        </p:nvSpPr>
        <p:spPr>
          <a:xfrm>
            <a:off x="457200" y="348284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There are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help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These people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attention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don’t get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often hidden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806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 are people who help the players. These people are often hidden and don’t get attention.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하지만 그들은 선수들만큼 중요하다. 여기 몇 가지 예가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However,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as important 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some examples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Here 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However, they are as important as the players. Here are some examples.</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페이서들은 마라톤에서 다른 선수들과 함께 달리며 그들을 이끈다.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with other runners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a marathon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lead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Pacers run with other runners and lead them in a marathon.</a:t>
            </a:r>
            <a:endParaRPr lang="ko-KR" sz="1900"/>
          </a:p>
        </p:txBody>
      </p:sp>
      <p:sp>
        <p:nvSpPr>
          <p:cNvPr id="15" name="item_card_3"/>
          <p:cNvSpPr/>
          <p:nvPr/>
        </p:nvSpPr>
        <p:spPr>
          <a:xfrm>
            <a:off x="457200" y="386689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페이서들은 경험이 많은 선수들이며, 그들의 역할은 다른 선수들이 경주를 더 잘 운영하도록 돕는 것이다. 한 경주에는 여러 명의 페이서들이 있을 수 있다.</a:t>
            </a:r>
            <a:endParaRPr lang="ko-KR" sz="1700"/>
          </a:p>
        </p:txBody>
      </p:sp>
      <p:sp>
        <p:nvSpPr>
          <p:cNvPr id="17" name="ex_3"/>
          <p:cNvSpPr txBox="1"/>
          <p:nvPr/>
        </p:nvSpPr>
        <p:spPr>
          <a:xfrm>
            <a:off x="457200" y="457123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experienced runners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their job</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other runners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help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better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manage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several 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can be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36905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Pacers are experienced runners, and their job is to help other runners manage their race better. There can be several pacers in a race.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각각의 페이서는 다른 속도로 달리고 다른 시간대에 경주를 마친다.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different speeds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Each pacer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finishes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different times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race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Each pacer runs at different speeds and finishes the race in different times.</a:t>
            </a:r>
            <a:endParaRPr lang="ko-KR" sz="1900"/>
          </a:p>
        </p:txBody>
      </p:sp>
      <p:sp>
        <p:nvSpPr>
          <p:cNvPr id="11" name="item_card_2"/>
          <p:cNvSpPr/>
          <p:nvPr/>
        </p:nvSpPr>
        <p:spPr>
          <a:xfrm>
            <a:off x="457200" y="272262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페이서들은 보통 자신들의 완주 시간을 나타내는 깃발이나 풍선을 가지고 있다.</a:t>
            </a:r>
            <a:endParaRPr lang="ko-KR" sz="1700"/>
          </a:p>
        </p:txBody>
      </p:sp>
      <p:sp>
        <p:nvSpPr>
          <p:cNvPr id="13" name="ex_2"/>
          <p:cNvSpPr txBox="1"/>
          <p:nvPr/>
        </p:nvSpPr>
        <p:spPr>
          <a:xfrm>
            <a:off x="457200" y="315709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showing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finish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flags or balloons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usually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2915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Pacers usually have flags or balloons showing their finish time.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선수들은 자신들의 목표 완주 시간에 따라 페이서를 선택할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depending 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target finish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pacer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Runners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choose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Runners can choose a pacer depending on their target finish time.</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예를 들어, 한 선수가 4시간 안에 경주를 마치고 싶다면, 그 선수는 4시간 페이서를 따라갈 것이다.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if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runner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wants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four hours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finish</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 follow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four‑hour pacer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runner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if a runner wants to finish the race in four hours, the runner will follow the four‑hour pacer.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페이서가 시간을 계속해서 파악하기 때문에, 선수는 특정 시간 안에 마라톤을 완주하려는 자신의 목표를 더 쉽게 달성할 수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Since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pacer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keeps track of</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or her goal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runner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particular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achieve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 easily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finishing the marathon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Since the pacer keeps track of the time, the runner can achieve his or her goal of finishing the marathon in a particular time more easily.</a:t>
            </a:r>
            <a:endParaRPr lang="ko-KR" sz="1900"/>
          </a:p>
        </p:txBody>
      </p:sp>
      <p:sp>
        <p:nvSpPr>
          <p:cNvPr id="11" name="item_card_2"/>
          <p:cNvSpPr/>
          <p:nvPr/>
        </p:nvSpPr>
        <p:spPr>
          <a:xfrm>
            <a:off x="457200" y="3318256"/>
            <a:ext cx="11274552" cy="161810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요컨대, 페이서들은 달리기는 하지만 우승을 하기 위해 달리는 것은 아니다. 그들은 다른 이들을 위해 달린다.</a:t>
            </a:r>
            <a:endParaRPr lang="ko-KR" sz="1700"/>
          </a:p>
        </p:txBody>
      </p:sp>
      <p:sp>
        <p:nvSpPr>
          <p:cNvPr id="13" name="ex_2"/>
          <p:cNvSpPr txBox="1"/>
          <p:nvPr/>
        </p:nvSpPr>
        <p:spPr>
          <a:xfrm>
            <a:off x="457200" y="402259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short,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run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pacers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don’t run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win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others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49465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short, pacers run but they don’t run to win. They run for others.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여러분은 대부분의 자동차 경주에서 자동차와 레이서만 볼지도 모르겠지만, 그 레이서 뒤에는 팀이 있다. 이 팀은 피트 크루라고 불린다.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during most car races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car and the driver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may only see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behind the driver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pit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called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You may only see the car and the driver during most car races, but there is a team behind the driver. This team is called a pit crew.</a:t>
            </a:r>
            <a:endParaRPr lang="ko-KR" sz="1900"/>
          </a:p>
        </p:txBody>
      </p:sp>
      <p:sp>
        <p:nvSpPr>
          <p:cNvPr id="11" name="item_card_2"/>
          <p:cNvSpPr/>
          <p:nvPr/>
        </p:nvSpPr>
        <p:spPr>
          <a:xfrm>
            <a:off x="457200" y="331825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피트는 경주 트랙의 옆에 있는 공간으로, 레이서들이 경주 도중에 그곳에 여러 번 정지한다.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race track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the side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place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several times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drivers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during a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stop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pit is a place on the side of the race track, and drivers stop there several times during a race.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피트 크루가 하는 주요 역할은 자동차를 점검하고 타이어를 교체하는 것이다.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the pit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main job</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check the car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change the tires.</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main job of the pit crew is to check the car and change the tires.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빠른 속도의 경주에서는 타이어가 쉽게 마모되기 때문에 타이어를 교체하는 것이 특히 중요하다.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especially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Changing the tires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important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because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a high speed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tires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wear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easily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Changing the tires is especially important because the tires wear out easily in a high speed race.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피트에서의 정지는 짧게는 2초 정도가 될 수 있고, 한 크루에 많게는 20명에 이르는 구성원이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as short 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2 seconds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pit stop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as many 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20 members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a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pit stop can be as short as 2 seconds, and there are as many as 20 members on a crew.</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그러므로 피트 크루는 완벽한 조화를 이루며 일해야 한다.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Therefore,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has to work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pit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perfect harmony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Therefore, the pit crew has to work in perfect harmony.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레이서만 모든 주목을 받을지 모르지만 사람들이 말하는 것처럼, “경주의 우승은 피트에서 이루어진다.”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all the attention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driver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may get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as people say, “Races are won in the pits.”</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driver may get all the attention, but as people say, “Races are won in the pits.”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Sherpa라는 단어는 셰르파족에서 유래되었는데, 셰르파족은 네팔의 동쪽 지역에 산다.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comes from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Sherpa tribe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word Sherpa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which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lives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Nepal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eastern part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word Sherpa comes from the Sherpa tribe, which lives in the eastern part of Nepal.</a:t>
            </a:r>
            <a:endParaRPr lang="ko-KR" sz="1900"/>
          </a:p>
        </p:txBody>
      </p:sp>
      <p:sp>
        <p:nvSpPr>
          <p:cNvPr id="11" name="item_card_2"/>
          <p:cNvSpPr/>
          <p:nvPr/>
        </p:nvSpPr>
        <p:spPr>
          <a:xfrm>
            <a:off x="457200" y="3048381"/>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셰르파는 훌륭한 등반 기술을 가졌으며 산의 지리에 밝다.</a:t>
            </a:r>
            <a:endParaRPr lang="ko-KR" sz="1700"/>
          </a:p>
        </p:txBody>
      </p:sp>
      <p:sp>
        <p:nvSpPr>
          <p:cNvPr id="13" name="ex_2"/>
          <p:cNvSpPr txBox="1"/>
          <p:nvPr/>
        </p:nvSpPr>
        <p:spPr>
          <a:xfrm>
            <a:off x="457200" y="348284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good climbing skills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around the mountains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way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well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806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Sherpas have good climbing skills and know their way around the mountains well.</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그들은 또한 산의 높은 곳에서 호흡하는 데 어려움이 거의 없다.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breathing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also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high up in the mountains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little difficulty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also have little difficulty breathing high up in the mountains.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그래서 등산가들은 자신들이 에베레스트산을 등반하는 것을 돕는 셰르파를 고용하기 시작했다.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Therefore,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help 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mountain climbers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climb Mount Everest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hire 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started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Therefore, mountain climbers started to hire Sherpas to help them climb Mount Everest.</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57124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셰르파는 등산가들을 산 정상까지 이끈다. 그들은 여러 방식으로 등산가들을 지원한다. 예를 들어, 그들은 텐트를 치고 등산가들의 가방을 운반한다.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lead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the top of the mountain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mountain climbers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support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climbers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many ways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tents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put up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climbers’ bags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carry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105079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Sherpas lead mountain climbers to the top of the mountain. They support climbers in many ways. For example, they put up tents and carry climbers’ bags.</a:t>
            </a:r>
            <a:endParaRPr lang="ko-KR" sz="1900"/>
          </a:p>
        </p:txBody>
      </p:sp>
      <p:sp>
        <p:nvSpPr>
          <p:cNvPr id="11" name="item_card_2"/>
          <p:cNvSpPr/>
          <p:nvPr/>
        </p:nvSpPr>
        <p:spPr>
          <a:xfrm>
            <a:off x="457200" y="363194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74167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셰르파는 종종 에베레스트산의 보이지 않는 사람들로 불리는데, 왜냐하면 사람들은 흔히 산 정상에서 등산가들만 찍힌 사진을 보기 때문이다.</a:t>
            </a:r>
            <a:endParaRPr lang="ko-KR" sz="1700"/>
          </a:p>
        </p:txBody>
      </p:sp>
      <p:sp>
        <p:nvSpPr>
          <p:cNvPr id="13" name="ex_2"/>
          <p:cNvSpPr txBox="1"/>
          <p:nvPr/>
        </p:nvSpPr>
        <p:spPr>
          <a:xfrm>
            <a:off x="457200" y="433628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 often called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invisible 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Mount Everest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because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only the climbers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often see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 the top of the mountain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picture of</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51341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Sherpas are often called the invisible people of Mount Everest because people often see a picture of only the climbers at the top of the mountain.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