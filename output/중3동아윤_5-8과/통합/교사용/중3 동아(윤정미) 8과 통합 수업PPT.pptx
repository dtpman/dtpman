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8</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L8-1  ·  L8-2  ·  L8-3</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a:t>
            </a:r>
            <a:r>
              <a:rPr lang="en-US" altLang="ko-KR" sz="1500" b="0" dirty="0">
                <a:solidFill>
                  <a:srgbClr val="1F2328"/>
                </a:solidFill>
                <a:latin typeface="Calibri"/>
                <a:ea typeface="맑은 고딕"/>
                <a:cs typeface="Calibri"/>
              </a:rPr>
              <a:t>This kind of painting is called Munjado, and it is a type of folk painting that was popular in the late Joseon dynasty.</a:t>
            </a:r>
            <a:r>
              <a:rPr lang="en-US" altLang="ko-KR" sz="1500" b="0" dirty="0">
                <a:solidFill>
                  <a:srgbClr val="1F2328"/>
                </a:solidFill>
                <a:latin typeface="Calibri"/>
                <a:ea typeface="맑은 고딕"/>
                <a:cs typeface="Calibri"/>
              </a:rPr>
              <a:t>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a:t>
            </a:r>
            <a:r>
              <a:rPr lang="en-US" altLang="ko-KR" sz="1500" b="0" dirty="0">
                <a:solidFill>
                  <a:srgbClr val="1F2328"/>
                </a:solidFill>
                <a:latin typeface="Calibri"/>
                <a:ea typeface="맑은 고딕"/>
                <a:cs typeface="Calibri"/>
              </a:rPr>
              <a:t> that were important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a:t>
            </a:r>
            <a:r>
              <a:rPr lang="en-US" altLang="ko-KR" sz="1500" b="0" dirty="0">
                <a:solidFill>
                  <a:srgbClr val="111111"/>
                </a:solidFill>
                <a:highlight>
                  <a:srgbClr val="FFE45C"/>
                </a:highlight>
                <a:latin typeface="Calibri"/>
                <a:ea typeface="맑은 고딕"/>
                <a:cs typeface="Calibri"/>
              </a:rPr>
              <a:t>This kind of painting is called Munjado, and it is a type of folk painting that was popular in the late Joseon dynasty.</a:t>
            </a:r>
            <a:r>
              <a:rPr lang="en-US" altLang="ko-KR" sz="1500" b="0" dirty="0">
                <a:solidFill>
                  <a:srgbClr val="B3BAC6"/>
                </a:solidFill>
                <a:latin typeface="Calibri"/>
                <a:ea typeface="맑은 고딕"/>
                <a:cs typeface="Calibri"/>
              </a:rPr>
              <a:t>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a:t>
            </a:r>
            <a:r>
              <a:rPr lang="en-US" altLang="ko-KR" sz="1500" b="0" dirty="0">
                <a:solidFill>
                  <a:srgbClr val="B3BAC6"/>
                </a:solidFill>
                <a:latin typeface="Calibri"/>
                <a:ea typeface="맑은 고딕"/>
                <a:cs typeface="Calibri"/>
              </a:rPr>
              <a:t> that were important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history of Chinese characters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tools used to make folk art</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life of painters in Joseon</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reasons fans were popular</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meaning and features of Munjado</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3538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the meaning and features of Munjado</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the meaning and features of Munjado</a:t>
            </a:r>
            <a:endParaRPr lang="en-US" altLang="ko-KR" sz="1900" b="1" dirty="0">
              <a:solidFill>
                <a:srgbClr val="5A4200"/>
              </a:solidFill>
              <a:latin typeface="Calibri"/>
              <a:ea typeface="맑은 고딕"/>
              <a:cs typeface="Calibri"/>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문자도가 어떤 그림이며 그 속 한자가 조선 사람들의 가치를 나타낸다고 설명한다. 정답은 ⑤이다.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Munjado: Characters with Values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7241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Munjado: Characters with Values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to Write Chinese Characters</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Famous Painters of Joseon</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Animals Loved by Joseon People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Folk Music in the Late Joseon</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Munjado: Characters with Values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문자도의 한자는 조선 사람들에게 중요했던 가치('the values')를 나타낸다. 이를 담은 ①이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한자를 정확하게 쓰는 법부터 익혀야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문자도에 담긴 가치의 의미를 살펴보아야 한다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1315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문자도에 담긴 가치의 의미를 살펴보아야 한다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민화보다 궁중 회화를 먼저 감상해야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그림 속 동물의 생김새를 자세히 그려야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조선 시대의 악기 연주법을 배워 보아야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문자도에 담긴 가치의 의미를 살펴보아야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 속 한자가 조선 사람들이 중시한 가치를 나타낸다고 했으니 그 의미를 살펴보자는 ②가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문자도는 조선 왕실만 즐기던 그림이었다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문자도에는 한자가 전혀 등장하지 않는다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문자도는 조선 사람의 가치를 한자로 담았다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5389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문자도는 조선 사람의 가치를 한자로 담았다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문자도는 현대에 새로 만들어진 그림이다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문자도는 동물만 그린 조선의 민화이다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문자도는 조선 사람의 가치를 한자로 담았다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여덟 한자가 조선 사람들에게 중요했던 가치를 나타낸다고 했다. 이를 정리한 ③이 요지이다.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a:t>
            </a:r>
            <a:r>
              <a:rPr lang="en-US" altLang="ko-KR" sz="1500" b="0" dirty="0">
                <a:solidFill>
                  <a:srgbClr val="1F2328"/>
                </a:solidFill>
                <a:latin typeface="Calibri"/>
                <a:ea typeface="맑은 고딕"/>
                <a:cs typeface="Calibri"/>
              </a:rPr>
              <a:t>One of eight Chinese characters</a:t>
            </a:r>
            <a:r>
              <a:rPr lang="en-US" altLang="ko-KR" sz="1500" b="0" dirty="0">
                <a:solidFill>
                  <a:srgbClr val="1F2328"/>
                </a:solidFill>
                <a:latin typeface="Calibri"/>
                <a:ea typeface="맑은 고딕"/>
                <a:cs typeface="Calibri"/>
              </a:rPr>
              <a:t> appears in Munjado. They are hyo (孝), je (悌), chung (忠), sin (信), ye (禮), ui (義), yeom (廉), and chi (恥), and they represent the values that were important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a:t>
            </a:r>
            <a:r>
              <a:rPr lang="en-US" altLang="ko-KR" sz="1500" b="0" dirty="0">
                <a:solidFill>
                  <a:srgbClr val="111111"/>
                </a:solidFill>
                <a:highlight>
                  <a:srgbClr val="FFE45C"/>
                </a:highlight>
                <a:latin typeface="Calibri"/>
                <a:ea typeface="맑은 고딕"/>
                <a:cs typeface="Calibri"/>
              </a:rPr>
              <a:t>One of eight Chinese characters</a:t>
            </a:r>
            <a:r>
              <a:rPr lang="en-US" altLang="ko-KR" sz="1500" b="0" dirty="0">
                <a:solidFill>
                  <a:srgbClr val="B3BAC6"/>
                </a:solidFill>
                <a:latin typeface="Calibri"/>
                <a:ea typeface="맑은 고딕"/>
                <a:cs typeface="Calibri"/>
              </a:rPr>
              <a:t> appears in Munjado. They are hyo (孝), je (悌), chung (忠), sin (信), ye (禮), ui (義), yeom (廉), and chi (恥), and they represent the values that were important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문자도는 민화의 한 종류이다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문자도에는 한자 열 개가 함께 나온다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1315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문자도에는 한자 열 개가 함께 나온다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문자도는 조선 후기에 인기가 있었다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문자도에는 보통 한자가 하나 나온다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문자도에는 동물이나 사물도 함께 나온다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문자도에는 한자 열 개가 함께 나온다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문자도에는 여덟 개의 한자 중 하나('One of eight')가 나온다. 한자 열 개가 함께 나온다는 ②는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효(孝) 그림에는 호랑이가 그려져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문자도의 한자는 모두 열두 개이다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문자도는 조선 초기에만 그려졌다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여덟 한자는 조선 사람의 가치를 나타낸다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39463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여덟 한자는 조선 사람의 가치를 나타낸다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문자도에는 동물이 등장하지 않는다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여덟 한자는 조선 사람의 가치를 나타낸다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여덟 한자는 조선 시대 사람들에게 중요했던 가치를 나타낸다고 했으므로 ④가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Look at the painting on the right.</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6156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615692"/>
          </a:xfrm>
          <a:prstGeom prst="rect">
            <a:avLst/>
          </a:prstGeom>
          <a:noFill/>
        </p:spPr>
        <p:txBody>
          <a:bodyPr wrap="square" lIns="201168" tIns="118872" rIns="201168" bIns="118872" anchor="t" rtlCol="0">
            <a:noAutofit/>
          </a:bodyPr>
          <a:lstStyle/>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Do you see the Chinese character, hyo (孝)? Do you also see a carp, a geomungo, and a fan?</a:t>
            </a:r>
            <a:endParaRPr lang="en-US" altLang="ko-KR" sz="1700" b="0" dirty="0">
              <a:solidFill>
                <a:srgbClr val="1F2328"/>
              </a:solidFill>
              <a:latin typeface="Calibri"/>
              <a:ea typeface="맑은 고딕"/>
              <a:cs typeface="Calibri"/>
            </a:endParaRPr>
          </a:p>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In Munjado, there is usually a Chinese character with some animals or objects.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983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397246"/>
            <a:ext cx="11277295" cy="10218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그림을 보라는 말 → (A) 그림 속 효(孝)와 잉어·부채를 묻는다 → (C) 'This kind of painting'으로 문자도를 소개한다 → (B) 'Munjado'에 나오는 여덟 한자를 설명한다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Look at the painting on the right.</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6156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615692"/>
          </a:xfrm>
          <a:prstGeom prst="rect">
            <a:avLst/>
          </a:prstGeom>
          <a:noFill/>
        </p:spPr>
        <p:txBody>
          <a:bodyPr wrap="square" lIns="201168" tIns="118872" rIns="201168" bIns="118872" anchor="t" rtlCol="0">
            <a:noAutofit/>
          </a:bodyPr>
          <a:lstStyle/>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Do you see the Chinese character, hyo (孝)? Do you also see a carp, a geomungo, and a fan?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In Munjado, there is usually a Chinese character with some animals or objects.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983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397246"/>
            <a:ext cx="11277295" cy="10218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그림을 보라는 말 → (B) 그림 속 효(孝)와 사물을 묻는다 → (C) 'This kind of painting'이 앞의 그림을 받아 문자도라 부른다 → (A) 문자도의 여덟 한자로 이어진다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Do you see the Chinese character, hyo (孝)?</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Look at the painting on the right.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Do you also see a carp, a geomungo, and a fan?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In Munjado, there is usually a Chinese character with some animals or objects.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Look at the painting on the right.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Do you also see a carp, a geomungo, and a fan?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In Munjado, there is usually a Chinese character with some animals or objects.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문장이 그림 속 한자 효(孝)를 먼저 묻고, ② 뒤 문장이 'also'로 잉어·거문고·부채를 덧붙인다. 따라서 ②가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Do you also see a carp, a geomungo, and a fan?</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Look at the painting on the right.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Do you see the Chinese character, hyo (孝)?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In Munjado, there is usually a Chinese character with some animals or objects.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Look at the painting on the right.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Do you see the Chinese character, hyo (孝)?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In Munjado, there is usually a Chinese character with some animals or objects.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② 앞에서 효(孝)를 묻고, 주어진 문장이 'also'로 잉어·거문고·부채를 더 묻는다. ③ 뒤 'This kind of painting'이 이 그림을 받으므로 ③이다.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Look at the painting on the right.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see the Chinese character, hyo (孝)?</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also see a carp, a geomungo, and a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This kind of painting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is called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calls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Munjado, and it is a type of folk painting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what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that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was popular in the late Joseon dynasty.</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Munjado, there is usually a Chinese character with some animals or objects.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One of eight Chinese characters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appear</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appears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Munjado.</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were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was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3개)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Look at the painting on the right.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see the Chinese character, hyo (孝)?</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also see a carp, a geomungo, and a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This kind of painting is called Munjado, and it is a type of folk painting that was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popular</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popularly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the late Joseon dynasty.</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Munjado, there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are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usually a Chinese character with some animals or objects.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One of eight Chinese characters appears in Munjado.</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are hyo (孝), je (悌), chung (忠), sin (信), ye (禮), ui (義), yeom (廉), and chi (恥), and they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represent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represents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is called Munjado, and it is a type of folk painting that was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popular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popularly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appears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represent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represents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is called Munjado, and it is a type of folk painting that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popular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popularly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is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appears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represent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represents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is called Munjado, and it is a type of folk painting that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popular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popularly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appears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represent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represents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a:t>
            </a:r>
            <a:r>
              <a:rPr lang="en-US" altLang="ko-KR" sz="1450" b="0" dirty="0">
                <a:solidFill>
                  <a:srgbClr val="1F2328"/>
                </a:solidFill>
                <a:latin typeface="Calibri"/>
                <a:ea typeface="맑은 고딕"/>
                <a:cs typeface="Calibri"/>
              </a:rPr>
              <a:t>For example, carp in the paintings of hyo symbolize respect for parents because of an old story.</a:t>
            </a:r>
            <a:r>
              <a:rPr lang="en-US" altLang="ko-KR" sz="1450" b="0" dirty="0">
                <a:solidFill>
                  <a:srgbClr val="1F2328"/>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a:t>
            </a:r>
            <a:r>
              <a:rPr lang="en-US" altLang="ko-KR" sz="1450" b="0" dirty="0">
                <a:solidFill>
                  <a:srgbClr val="111111"/>
                </a:solidFill>
                <a:highlight>
                  <a:srgbClr val="FFE45C"/>
                </a:highlight>
                <a:latin typeface="Calibri"/>
                <a:ea typeface="맑은 고딕"/>
                <a:cs typeface="Calibri"/>
              </a:rPr>
              <a:t>For example, carp in the paintings of hyo symbolize respect for parents because of an old story.</a:t>
            </a:r>
            <a:r>
              <a:rPr lang="en-US" altLang="ko-KR" sz="1450" b="0" dirty="0">
                <a:solidFill>
                  <a:srgbClr val="B3BAC6"/>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how carp became a sign of respect for parents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05181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how carp became a sign of respect for parents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why carp live in very cold frozen rivers</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ways to cook fresh fish for sick people</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reason ice melts fast in the winter</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how Joseon men learned to catch fish</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how carp became a sign of respect for parents</a:t>
            </a:r>
            <a:endParaRPr lang="en-US" altLang="ko-KR" sz="1900" b="1" dirty="0">
              <a:solidFill>
                <a:srgbClr val="5A4200"/>
              </a:solidFill>
              <a:latin typeface="Calibri"/>
              <a:ea typeface="맑은 고딕"/>
              <a:cs typeface="Calibri"/>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효 그림 속 잉어가 옛이야기 때문에 부모님에 대한 공경('respect for parents')을 상징한다고 한다. 정답은 ①이다.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a:t>
            </a:r>
            <a:r>
              <a:rPr lang="en-US" altLang="ko-KR" sz="1450" b="0" dirty="0">
                <a:solidFill>
                  <a:srgbClr val="1F2328"/>
                </a:solidFill>
                <a:latin typeface="Calibri"/>
                <a:ea typeface="맑은 고딕"/>
                <a:cs typeface="Calibri"/>
              </a:rPr>
              <a:t>For example, carp in the paintings of hyo symbolize respect for parents because of an old story.</a:t>
            </a:r>
            <a:r>
              <a:rPr lang="en-US" altLang="ko-KR" sz="1450" b="0" dirty="0">
                <a:solidFill>
                  <a:srgbClr val="1F2328"/>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a:t>
            </a:r>
            <a:r>
              <a:rPr lang="en-US" altLang="ko-KR" sz="1450" b="0" dirty="0">
                <a:solidFill>
                  <a:srgbClr val="111111"/>
                </a:solidFill>
                <a:highlight>
                  <a:srgbClr val="FFE45C"/>
                </a:highlight>
                <a:latin typeface="Calibri"/>
                <a:ea typeface="맑은 고딕"/>
                <a:cs typeface="Calibri"/>
              </a:rPr>
              <a:t>For example, carp in the paintings of hyo symbolize respect for parents because of an old story.</a:t>
            </a:r>
            <a:r>
              <a:rPr lang="en-US" altLang="ko-KR" sz="1450" b="0" dirty="0">
                <a:solidFill>
                  <a:srgbClr val="B3BAC6"/>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Fishing Tips for Cold Winter Days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Carp: A Symbol of Filial Respect</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45922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The Carp: A Symbol of Filial Respect</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to Cook Carp for Your Family</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Why Rivers Freeze in Early Winter</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Decorations That Joseon People Loved</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Carp: A Symbol of Filial Respect</a:t>
            </a:r>
            <a:endParaRPr lang="en-US" altLang="ko-KR" sz="1900" b="1" dirty="0">
              <a:solidFill>
                <a:srgbClr val="5A4200"/>
              </a:solidFill>
              <a:latin typeface="Calibri"/>
              <a:ea typeface="맑은 고딕"/>
              <a:cs typeface="Calibri"/>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잉어가 한 옛이야기로 인해 부모 공경을 상징한다는 것이 중심 내용이므로 ②가 제목으로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a:t>
            </a:r>
            <a:r>
              <a:rPr lang="en-US" altLang="ko-KR" sz="1450" b="0" dirty="0">
                <a:solidFill>
                  <a:srgbClr val="1F2328"/>
                </a:solidFill>
                <a:latin typeface="Calibri"/>
                <a:ea typeface="맑은 고딕"/>
                <a:cs typeface="Calibri"/>
              </a:rPr>
              <a:t> </a:t>
            </a:r>
            <a:r>
              <a:rPr lang="en-US" altLang="ko-KR" sz="1450" b="0" dirty="0">
                <a:solidFill>
                  <a:srgbClr val="1F2328"/>
                </a:solidFill>
                <a:latin typeface="Calibri"/>
                <a:ea typeface="맑은 고딕"/>
                <a:cs typeface="Calibri"/>
              </a:rPr>
              <a:t>They often are symbolic.</a:t>
            </a:r>
            <a:r>
              <a:rPr lang="en-US" altLang="ko-KR" sz="1450" b="0" dirty="0">
                <a:solidFill>
                  <a:srgbClr val="1F2328"/>
                </a:solidFill>
                <a:latin typeface="Calibri"/>
                <a:ea typeface="맑은 고딕"/>
                <a:cs typeface="Calibri"/>
              </a:rPr>
              <a:t>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11111"/>
                </a:solidFill>
                <a:highlight>
                  <a:srgbClr val="FFE45C"/>
                </a:highlight>
                <a:latin typeface="Calibri"/>
                <a:ea typeface="맑은 고딕"/>
                <a:cs typeface="Calibri"/>
              </a:rPr>
              <a:t>The animals or objects in Munjado are not just decorations.</a:t>
            </a:r>
            <a:r>
              <a:rPr lang="en-US" altLang="ko-KR" sz="1450" b="0" dirty="0">
                <a:solidFill>
                  <a:srgbClr val="B3BAC6"/>
                </a:solidFill>
                <a:latin typeface="Calibri"/>
                <a:ea typeface="맑은 고딕"/>
                <a:cs typeface="Calibri"/>
              </a:rPr>
              <a:t> </a:t>
            </a:r>
            <a:r>
              <a:rPr lang="en-US" altLang="ko-KR" sz="1450" b="0" dirty="0">
                <a:solidFill>
                  <a:srgbClr val="111111"/>
                </a:solidFill>
                <a:highlight>
                  <a:srgbClr val="FFE45C"/>
                </a:highlight>
                <a:latin typeface="Calibri"/>
                <a:ea typeface="맑은 고딕"/>
                <a:cs typeface="Calibri"/>
              </a:rPr>
              <a:t>They often are symbolic.</a:t>
            </a:r>
            <a:r>
              <a:rPr lang="en-US" altLang="ko-KR" sz="1450" b="0" dirty="0">
                <a:solidFill>
                  <a:srgbClr val="B3BAC6"/>
                </a:solidFill>
                <a:latin typeface="Calibri"/>
                <a:ea typeface="맑은 고딕"/>
                <a:cs typeface="Calibri"/>
              </a:rPr>
              <a:t>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추운 날에는 강에 나가지 말아야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아플 때는 신선한 생선을 먹어야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그림 속 사물의 상징적 의미를 읽어야 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86664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그림 속 사물의 상징적 의미를 읽어야 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민화의 장식은 화려하게 그려야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옛이야기는 사실 여부를 따져 읽어야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그림 속 사물의 상징적 의미를 읽어야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문자도의 동물과 사물은 단순한 장식이 아니라 상징적이라고 했으므로 그 의미를 읽자는 ③이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a:t>
            </a:r>
            <a:r>
              <a:rPr lang="en-US" altLang="ko-KR" sz="1450" b="0" dirty="0">
                <a:solidFill>
                  <a:srgbClr val="1F2328"/>
                </a:solidFill>
                <a:latin typeface="Calibri"/>
                <a:ea typeface="맑은 고딕"/>
                <a:cs typeface="Calibri"/>
              </a:rPr>
              <a:t>For example, carp in the paintings of hyo symbolize respect for parents because of an old story.</a:t>
            </a:r>
            <a:r>
              <a:rPr lang="en-US" altLang="ko-KR" sz="1450" b="0" dirty="0">
                <a:solidFill>
                  <a:srgbClr val="1F2328"/>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a:t>
            </a:r>
            <a:r>
              <a:rPr lang="en-US" altLang="ko-KR" sz="1450" b="0" dirty="0">
                <a:solidFill>
                  <a:srgbClr val="111111"/>
                </a:solidFill>
                <a:highlight>
                  <a:srgbClr val="FFE45C"/>
                </a:highlight>
                <a:latin typeface="Calibri"/>
                <a:ea typeface="맑은 고딕"/>
                <a:cs typeface="Calibri"/>
              </a:rPr>
              <a:t>For example, carp in the paintings of hyo symbolize respect for parents because of an old story.</a:t>
            </a:r>
            <a:r>
              <a:rPr lang="en-US" altLang="ko-KR" sz="1450" b="0" dirty="0">
                <a:solidFill>
                  <a:srgbClr val="B3BAC6"/>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 속 사물은 단순한 장식에 불과하다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잉어는 겨울철 귀한 보양식으로 쓰였다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얼음 낚시는 조선의 대표적 풍습이었다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효 그림의 잉어는 옛이야기로 효를 상징한다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27405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효 그림의 잉어는 옛이야기로 효를 상징한다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잉어는 강물이 녹을 때만 잡을 수 있었다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효 그림의 잉어는 옛이야기로 효를 상징한다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잉어가 옛이야기 때문에 부모님에 대한 공경을 상징한다고 했다. 이를 정리한 ④가 요지이다.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a:t>
            </a:r>
            <a:r>
              <a:rPr lang="en-US" altLang="ko-KR" sz="1450" b="0" dirty="0">
                <a:solidFill>
                  <a:srgbClr val="1F2328"/>
                </a:solidFill>
                <a:latin typeface="Calibri"/>
                <a:ea typeface="맑은 고딕"/>
                <a:cs typeface="Calibri"/>
              </a:rPr>
              <a:t>impossible for him to catch any fish</a:t>
            </a:r>
            <a:r>
              <a:rPr lang="en-US" altLang="ko-KR" sz="1450" b="0" dirty="0">
                <a:solidFill>
                  <a:srgbClr val="1F2328"/>
                </a:solidFill>
                <a:latin typeface="Calibri"/>
                <a:ea typeface="맑은 고딕"/>
                <a:cs typeface="Calibri"/>
              </a:rPr>
              <a:t>. The man was so disappointed that he cried out to the sky, “What should I do? Please help me.” Then the ice melted, and </a:t>
            </a:r>
            <a:r>
              <a:rPr lang="en-US" altLang="ko-KR" sz="1450" b="0" dirty="0">
                <a:solidFill>
                  <a:srgbClr val="1F2328"/>
                </a:solidFill>
                <a:latin typeface="Calibri"/>
                <a:ea typeface="맑은 고딕"/>
                <a:cs typeface="Calibri"/>
              </a:rPr>
              <a:t>three carp suddenly came out of the water</a:t>
            </a:r>
            <a:r>
              <a:rPr lang="en-US" altLang="ko-KR" sz="1450" b="0" dirty="0">
                <a:solidFill>
                  <a:srgbClr val="1F2328"/>
                </a:solidFill>
                <a:latin typeface="Calibri"/>
                <a:ea typeface="맑은 고딕"/>
                <a:cs typeface="Calibri"/>
              </a:rPr>
              <a:t>.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a:t>
            </a:r>
            <a:r>
              <a:rPr lang="en-US" altLang="ko-KR" sz="1450" b="0" dirty="0">
                <a:solidFill>
                  <a:srgbClr val="111111"/>
                </a:solidFill>
                <a:highlight>
                  <a:srgbClr val="FFE45C"/>
                </a:highlight>
                <a:latin typeface="Calibri"/>
                <a:ea typeface="맑은 고딕"/>
                <a:cs typeface="Calibri"/>
              </a:rPr>
              <a:t>impossible for him to catch any fish</a:t>
            </a:r>
            <a:r>
              <a:rPr lang="en-US" altLang="ko-KR" sz="1450" b="0" dirty="0">
                <a:solidFill>
                  <a:srgbClr val="B3BAC6"/>
                </a:solidFill>
                <a:latin typeface="Calibri"/>
                <a:ea typeface="맑은 고딕"/>
                <a:cs typeface="Calibri"/>
              </a:rPr>
              <a:t>. The man was so disappointed that he cried out to the sky, “What should I do? Please help me.” Then the ice melted, and </a:t>
            </a:r>
            <a:r>
              <a:rPr lang="en-US" altLang="ko-KR" sz="1450" b="0" dirty="0">
                <a:solidFill>
                  <a:srgbClr val="111111"/>
                </a:solidFill>
                <a:highlight>
                  <a:srgbClr val="FFE45C"/>
                </a:highlight>
                <a:latin typeface="Calibri"/>
                <a:ea typeface="맑은 고딕"/>
                <a:cs typeface="Calibri"/>
              </a:rPr>
              <a:t>three carp suddenly came out of the water</a:t>
            </a:r>
            <a:r>
              <a:rPr lang="en-US" altLang="ko-KR" sz="1450" b="0" dirty="0">
                <a:solidFill>
                  <a:srgbClr val="B3BAC6"/>
                </a:solidFill>
                <a:latin typeface="Calibri"/>
                <a:ea typeface="맑은 고딕"/>
                <a:cs typeface="Calibri"/>
              </a:rPr>
              <a:t>.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남자는 나이 든 어머니와 함께 살았다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어머니는 어느 겨울에 병이 들었다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남자는 강에서 잉어 다섯 마리를 잡았다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86664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남자는 강에서 잉어 다섯 마리를 잡았다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어머니는 신선한 물고기를 먹고 싶어 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남자가 갔을 때 강은 완전히 얼어 있었다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남자는 강에서 잉어 다섯 마리를 잡았다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남자는 언 강에서 물고기를 잡을 수 없었고 잉어 세 마리가 물 밖으로 나왔다. 다섯 마리를 잡았다는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a:t>
            </a:r>
            <a:r>
              <a:rPr lang="en-US" altLang="ko-KR" sz="1450" b="0" dirty="0">
                <a:solidFill>
                  <a:srgbClr val="1F2328"/>
                </a:solidFill>
                <a:latin typeface="Calibri"/>
                <a:ea typeface="맑은 고딕"/>
                <a:cs typeface="Calibri"/>
              </a:rPr>
              <a:t>Then the ice melted, and three carp suddenly came out of the water.</a:t>
            </a:r>
            <a:r>
              <a:rPr lang="en-US" altLang="ko-KR" sz="1450" b="0" dirty="0">
                <a:solidFill>
                  <a:srgbClr val="1F2328"/>
                </a:solidFill>
                <a:latin typeface="Calibri"/>
                <a:ea typeface="맑은 고딕"/>
                <a:cs typeface="Calibri"/>
              </a:rPr>
              <a:t>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a:t>
            </a:r>
            <a:r>
              <a:rPr lang="en-US" altLang="ko-KR" sz="1450" b="0" dirty="0">
                <a:solidFill>
                  <a:srgbClr val="111111"/>
                </a:solidFill>
                <a:highlight>
                  <a:srgbClr val="FFE45C"/>
                </a:highlight>
                <a:latin typeface="Calibri"/>
                <a:ea typeface="맑은 고딕"/>
                <a:cs typeface="Calibri"/>
              </a:rPr>
              <a:t>Then the ice melted, and three carp suddenly came out of the water.</a:t>
            </a:r>
            <a:r>
              <a:rPr lang="en-US" altLang="ko-KR" sz="1450" b="0" dirty="0">
                <a:solidFill>
                  <a:srgbClr val="B3BAC6"/>
                </a:solidFill>
                <a:latin typeface="Calibri"/>
                <a:ea typeface="맑은 고딕"/>
                <a:cs typeface="Calibri"/>
              </a:rPr>
              <a:t>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문자도의 사물은 단지 장식일 뿐이다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남자는 따뜻한 봄날에 강으로 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어머니는 물고기를 먹고도 낫지 않았다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남자는 시장에서 물고기를 사 왔다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얼음이 녹은 뒤 잉어 세 마리가 나왔다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68147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얼음이 녹은 뒤 잉어 세 마리가 나왔다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얼음이 녹은 뒤 잉어 세 마리가 나왔다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얼음이 녹고 잉어 세 마리가 갑자기 물 밖으로 나왔다고 했으므로 ⑤가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577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57708"/>
          </a:xfrm>
          <a:prstGeom prst="rect">
            <a:avLst/>
          </a:prstGeom>
          <a:noFill/>
        </p:spPr>
        <p:txBody>
          <a:bodyPr wrap="square" lIns="201168" tIns="100584" rIns="201168" bIns="100584" anchor="t" rtlCol="0">
            <a:noAutofit/>
          </a:bodyPr>
          <a:lstStyle/>
          <a:p>
            <a:pPr algn="l">
              <a:lnSpc>
                <a:spcPts val="2020"/>
              </a:lnSpc>
              <a:spcBef>
                <a:spcPts val="0"/>
              </a:spcBef>
              <a:spcAft>
                <a:spcPts val="0"/>
              </a:spcAft>
              <a:buNone/>
            </a:pPr>
            <a:r>
              <a:rPr lang="en-US" altLang="ko-KR" sz="1550" b="0" dirty="0">
                <a:solidFill>
                  <a:srgbClr val="1F2328"/>
                </a:solidFill>
                <a:latin typeface="Calibri"/>
                <a:ea typeface="맑은 고딕"/>
                <a:cs typeface="Calibri"/>
              </a:rPr>
              <a:t>The animals or objects in Munjado are not just decorations.</a:t>
            </a:r>
            <a:endParaRPr lang="en-US" altLang="ko-KR" sz="1550" b="0" dirty="0">
              <a:solidFill>
                <a:srgbClr val="1F2328"/>
              </a:solidFill>
              <a:latin typeface="Calibri"/>
              <a:ea typeface="맑은 고딕"/>
              <a:cs typeface="Calibri"/>
            </a:endParaRPr>
          </a:p>
        </p:txBody>
      </p:sp>
      <p:sp>
        <p:nvSpPr>
          <p:cNvPr id="9" name="parts_card"/>
          <p:cNvSpPr/>
          <p:nvPr/>
        </p:nvSpPr>
        <p:spPr>
          <a:xfrm>
            <a:off x="457200" y="1536700"/>
            <a:ext cx="11277295" cy="25750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36700"/>
            <a:ext cx="11277295" cy="2575051"/>
          </a:xfrm>
          <a:prstGeom prst="rect">
            <a:avLst/>
          </a:prstGeom>
          <a:noFill/>
        </p:spPr>
        <p:txBody>
          <a:bodyPr wrap="square" lIns="201168" tIns="118872" rIns="201168" bIns="118872" anchor="t" rtlCol="0">
            <a:noAutofit/>
          </a:bodyPr>
          <a:lstStyle/>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(A)</a:t>
            </a:r>
            <a:r>
              <a:rPr lang="en-US" altLang="ko-KR" sz="155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(B)</a:t>
            </a:r>
            <a:r>
              <a:rPr lang="en-US" altLang="ko-KR" sz="1550" b="0" dirty="0">
                <a:solidFill>
                  <a:srgbClr val="1F2328"/>
                </a:solidFill>
                <a:latin typeface="Calibri"/>
                <a:ea typeface="맑은 고딕"/>
                <a:cs typeface="Calibri"/>
              </a:rPr>
              <a:t>	They often are symbolic. For example, carp in the paintings of hyo symbolize respect for parents because of an old story. The story goes as follows. Once upon a time, a man lived with his old mother.</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(C)</a:t>
            </a:r>
            <a:r>
              <a:rPr lang="en-US" altLang="ko-KR" sz="1550" b="0" dirty="0">
                <a:solidFill>
                  <a:srgbClr val="1F2328"/>
                </a:solidFill>
                <a:latin typeface="Calibri"/>
                <a:ea typeface="맑은 고딕"/>
                <a:cs typeface="Calibri"/>
              </a:rPr>
              <a:t>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550" b="0" dirty="0">
              <a:solidFill>
                <a:srgbClr val="1F2328"/>
              </a:solidFill>
              <a:latin typeface="Calibri"/>
              <a:ea typeface="맑은 고딕"/>
              <a:cs typeface="Calibri"/>
            </a:endParaRPr>
          </a:p>
        </p:txBody>
      </p:sp>
      <p:sp>
        <p:nvSpPr>
          <p:cNvPr id="11" name="options"/>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33543"/>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332475"/>
            <a:ext cx="11277295" cy="1086612"/>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사물은 장식이 아니라는 말 → (B) 'They often are symbolic'과 잉어 이야기 예고 → (A) 'One winter' 어머니가 병들고 강이 얼었다 → (C) 'The man'이 낙담해 외치자 잉어가 나왔다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577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57708"/>
          </a:xfrm>
          <a:prstGeom prst="rect">
            <a:avLst/>
          </a:prstGeom>
          <a:noFill/>
        </p:spPr>
        <p:txBody>
          <a:bodyPr wrap="square" lIns="201168" tIns="100584" rIns="201168" bIns="100584" anchor="t" rtlCol="0">
            <a:noAutofit/>
          </a:bodyPr>
          <a:lstStyle/>
          <a:p>
            <a:pPr algn="l">
              <a:lnSpc>
                <a:spcPts val="2020"/>
              </a:lnSpc>
              <a:spcBef>
                <a:spcPts val="0"/>
              </a:spcBef>
              <a:spcAft>
                <a:spcPts val="0"/>
              </a:spcAft>
              <a:buNone/>
            </a:pPr>
            <a:r>
              <a:rPr lang="en-US" altLang="ko-KR" sz="1550" b="0" dirty="0">
                <a:solidFill>
                  <a:srgbClr val="1F2328"/>
                </a:solidFill>
                <a:latin typeface="Calibri"/>
                <a:ea typeface="맑은 고딕"/>
                <a:cs typeface="Calibri"/>
              </a:rPr>
              <a:t>The animals or objects in Munjado are not just decorations.</a:t>
            </a:r>
            <a:endParaRPr lang="en-US" altLang="ko-KR" sz="1550" b="0" dirty="0">
              <a:solidFill>
                <a:srgbClr val="1F2328"/>
              </a:solidFill>
              <a:latin typeface="Calibri"/>
              <a:ea typeface="맑은 고딕"/>
              <a:cs typeface="Calibri"/>
            </a:endParaRPr>
          </a:p>
        </p:txBody>
      </p:sp>
      <p:sp>
        <p:nvSpPr>
          <p:cNvPr id="9" name="parts_card"/>
          <p:cNvSpPr/>
          <p:nvPr/>
        </p:nvSpPr>
        <p:spPr>
          <a:xfrm>
            <a:off x="457200" y="1536700"/>
            <a:ext cx="11277295" cy="25750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36700"/>
            <a:ext cx="11277295" cy="2575051"/>
          </a:xfrm>
          <a:prstGeom prst="rect">
            <a:avLst/>
          </a:prstGeom>
          <a:noFill/>
        </p:spPr>
        <p:txBody>
          <a:bodyPr wrap="square" lIns="201168" tIns="118872" rIns="201168" bIns="118872" anchor="t" rtlCol="0">
            <a:noAutofit/>
          </a:bodyPr>
          <a:lstStyle/>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(A)</a:t>
            </a:r>
            <a:r>
              <a:rPr lang="en-US" altLang="ko-KR" sz="155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(B)</a:t>
            </a:r>
            <a:r>
              <a:rPr lang="en-US" altLang="ko-KR" sz="1550" b="0" dirty="0">
                <a:solidFill>
                  <a:srgbClr val="1F2328"/>
                </a:solidFill>
                <a:latin typeface="Calibri"/>
                <a:ea typeface="맑은 고딕"/>
                <a:cs typeface="Calibri"/>
              </a:rPr>
              <a:t>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(C)</a:t>
            </a:r>
            <a:r>
              <a:rPr lang="en-US" altLang="ko-KR" sz="1550" b="0" dirty="0">
                <a:solidFill>
                  <a:srgbClr val="1F2328"/>
                </a:solidFill>
                <a:latin typeface="Calibri"/>
                <a:ea typeface="맑은 고딕"/>
                <a:cs typeface="Calibri"/>
              </a:rPr>
              <a:t>	They often are symbolic. For example, carp in the paintings of hyo symbolize respect for parents because of an old story. The story goes as follows. Once upon a time, a man lived with his old mother.</a:t>
            </a:r>
            <a:endParaRPr lang="en-US" altLang="ko-KR" sz="1550" b="0" dirty="0">
              <a:solidFill>
                <a:srgbClr val="1F2328"/>
              </a:solidFill>
              <a:latin typeface="Calibri"/>
              <a:ea typeface="맑은 고딕"/>
              <a:cs typeface="Calibri"/>
            </a:endParaRPr>
          </a:p>
        </p:txBody>
      </p:sp>
      <p:sp>
        <p:nvSpPr>
          <p:cNvPr id="11" name="options"/>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33543"/>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332475"/>
            <a:ext cx="11277295" cy="1086612"/>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사물은 장식이 아니라는 말 → (C) 'They'가 그 사물을 받아 상징적이라 하고 이야기를 예고한다 → (A) 'One winter' 어머니가 병든다 → (B) 낙담한 남자에게 잉어가 나타난다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example, carp in the paintings of hyo symbolize respect for parents because of an old story.</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animals or objects in Munjado are not just decorations.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often are symbolic.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The story goes as follows.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Once upon a time, a man lived with his old mother.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animals or objects in Munjado are not just decorations.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often are symbolic.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The story goes as follows.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Once upon a time, a man lived with his old mother.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8955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494528"/>
            <a:ext cx="11277295" cy="9245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문장이 잉어가 'an old story' 때문에 효를 상징한다고 한다. ③ 뒤 'The story goes as follows'의 The story가 이 옛이야기를 받으므로 ③이다.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 story goes as follows.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320040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320040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animals or objects in Munjado are not just decorations.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often are symbolic.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For example, carp in the paintings of hyo symbolize respect for parents because of an old story.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Once upon a time, a man lived with his old mother.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320040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animals or objects in Munjado are not just decorations.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often are symbolic.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For example, carp in the paintings of hyo symbolize respect for parents because of an old story.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Once upon a time, a man lived with his old mother.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9146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513578"/>
            <a:ext cx="11277295" cy="9055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앞 문장이 'an old story'를 언급하고, 주어진 문장 'The story goes as follows'가 그 이야기를 받아 ④ 뒤의 'Once upon a time'을 연다. 정답은 ④이다.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12673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solidFill>
                <a:latin typeface="맑은 고딕"/>
                <a:ea typeface="맑은 고딕"/>
                <a:cs typeface="맑은 고딕"/>
              </a:rPr>
              <a:t>①</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animals or objects in Munjado are not just decorations.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②</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They often are symbolic.</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③</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For example, carp in the paintings of hyo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symbolizes</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symbolize</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respect for parents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because of</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because</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an old story.</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④</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story goes as follows.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⑤</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Once upon a time, a man lived with his old mother.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⑥</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One winter, the man’s mother became ill and couldn’t eat anything.</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⑦</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 one very cold day, the mother said to the man, “It would be wonderful if I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can</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could</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eat fresh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⑧</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out to the river, but it was completely frozen.</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⑨</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It was impossible for him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to catch</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catching</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any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⑩</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was so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disappointed</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disappointing</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that he cried out to the sky, “What should I do? Please help me.”</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⑪</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the ice melted, and three carp suddenly came out of the water.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⑫</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back home and cooked the fish for his mother.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⑬</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9" name="rv_g01"/>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C00000"/>
                </a:solidFill>
                <a:highlight>
                  <a:srgbClr val="F3F5F9"/>
                </a:highlight>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0" name="rv_g02"/>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1" name="rv_g03"/>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C00000"/>
                </a:solidFill>
                <a:highlight>
                  <a:srgbClr val="F3F5F9"/>
                </a:highlight>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2" name="rv_g04"/>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3" name="rv_g05"/>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72541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solidFill>
                <a:latin typeface="맑은 고딕"/>
                <a:ea typeface="맑은 고딕"/>
                <a:cs typeface="맑은 고딕"/>
              </a:rPr>
              <a:t>①</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animals or objects in Munjado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are not</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is not</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just decorations.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②</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They often are symbolic.</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③</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For example, carp in the paintings of hyo symbolize respect for parents because of an old story.</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④</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story goes as follows.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⑤</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Once upon a time, a man lived with his old mother.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⑥</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One winter, the man’s mother became ill and couldn’t eat anything.</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⑦</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 one very cold day, the mother said to the man, “It would be wonderful if I could eat fresh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⑧</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out to the river, but it was completely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frozen</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freezing</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⑨</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It was impossible for him to catch any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⑩</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was so disappointed that he cried out to the sky, “What should I do? Please help me.”</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⑪</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the ice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melted</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was melted</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and three carp suddenly came out of the water.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⑫</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back home and cooked the fish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for his mother</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to his mother</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⑬</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9" name="rv_g01"/>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0" name="rv_g02"/>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1" name="rv_g03"/>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2" name="rv_g04"/>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a:t>
            </a:r>
            <a:r>
              <a:rPr lang="en-US" altLang="ko-KR" sz="1450" b="0" dirty="0">
                <a:solidFill>
                  <a:srgbClr val="1F2328"/>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11111"/>
                </a:solidFill>
                <a:highlight>
                  <a:srgbClr val="FFE45C"/>
                </a:highlight>
                <a:latin typeface="Calibri"/>
                <a:ea typeface="맑은 고딕"/>
                <a:cs typeface="Calibri"/>
              </a:rPr>
              <a:t>There are other examples of symbolic objects in Munjado.</a:t>
            </a:r>
            <a:r>
              <a:rPr lang="en-US" altLang="ko-KR" sz="1450" b="0" dirty="0">
                <a:solidFill>
                  <a:srgbClr val="B3BAC6"/>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the best ways to grow bamboo at home</a:t>
            </a:r>
            <a:endParaRPr lang="en-US" altLang="ko-KR" sz="1750" b="0" dirty="0">
              <a:solidFill>
                <a:srgbClr val="1F2328"/>
              </a:solidFill>
              <a:latin typeface="Calibri"/>
              <a:ea typeface="맑은 고딕"/>
              <a:cs typeface="Calibri"/>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the meanings of symbols and roles of Munjado</a:t>
            </a:r>
            <a:endParaRPr lang="en-US" altLang="ko-KR" sz="1750" b="0" dirty="0">
              <a:solidFill>
                <a:srgbClr val="1F2328"/>
              </a:solidFill>
              <a:latin typeface="Calibri"/>
              <a:ea typeface="맑은 고딕"/>
              <a:cs typeface="Calibri"/>
            </a:endParaRPr>
          </a:p>
        </p:txBody>
      </p:sp>
      <p:sp>
        <p:nvSpPr>
          <p:cNvPr id="13" name="rv_pick"/>
          <p:cNvSpPr txBox="1"/>
          <p:nvPr/>
        </p:nvSpPr>
        <p:spPr>
          <a:xfrm>
            <a:off x="457200" y="3600196"/>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②</a:t>
            </a:r>
            <a:r>
              <a:rPr lang="en-US" altLang="ko-KR" sz="1750" b="0" dirty="0">
                <a:solidFill>
                  <a:srgbClr val="C00000"/>
                </a:solidFill>
                <a:latin typeface="Calibri"/>
                <a:ea typeface="맑은 고딕"/>
                <a:cs typeface="Calibri"/>
              </a:rPr>
              <a:t>	the meanings of symbols and roles of Munjado</a:t>
            </a:r>
            <a:endParaRPr lang="en-US" altLang="ko-KR" sz="1750" b="0" dirty="0">
              <a:solidFill>
                <a:srgbClr val="C00000"/>
              </a:solidFill>
              <a:latin typeface="Calibri"/>
              <a:ea typeface="맑은 고딕"/>
              <a:cs typeface="Calibri"/>
            </a:endParaRPr>
          </a:p>
        </p:txBody>
      </p:sp>
      <p:sp>
        <p:nvSpPr>
          <p:cNvPr id="14"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the history of muddy ponds in Korea</a:t>
            </a:r>
            <a:endParaRPr lang="en-US" altLang="ko-KR" sz="1750" b="0" dirty="0">
              <a:solidFill>
                <a:srgbClr val="1F2328"/>
              </a:solidFill>
              <a:latin typeface="Calibri"/>
              <a:ea typeface="맑은 고딕"/>
              <a:cs typeface="Calibri"/>
            </a:endParaRPr>
          </a:p>
        </p:txBody>
      </p:sp>
      <p:sp>
        <p:nvSpPr>
          <p:cNvPr id="15"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the reasons lotus flowers bloom in summer</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how children drew pictures in Joseon</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meanings of symbols and roles of Munjado</a:t>
            </a:r>
            <a:endParaRPr lang="en-US" altLang="ko-KR" sz="1900" b="1" dirty="0">
              <a:solidFill>
                <a:srgbClr val="5A4200"/>
              </a:solidFill>
              <a:latin typeface="Calibri"/>
              <a:ea typeface="맑은 고딕"/>
              <a:cs typeface="Calibri"/>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 속 상징물의 예를 들고 문자도가 중요한 가치를 상기시켰다고 한다. 상징의 의미와 역할을 다룬 ②가 주제이다.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a:t>
            </a:r>
            <a:r>
              <a:rPr lang="en-US" altLang="ko-KR" sz="1450" b="0" dirty="0">
                <a:solidFill>
                  <a:srgbClr val="1F2328"/>
                </a:solidFill>
                <a:latin typeface="Calibri"/>
                <a:ea typeface="맑은 고딕"/>
                <a:cs typeface="Calibri"/>
              </a:rPr>
              <a:t>In particular, for children, Munjado was a study tool.</a:t>
            </a:r>
            <a:r>
              <a:rPr lang="en-US" altLang="ko-KR" sz="1450" b="0" dirty="0">
                <a:solidFill>
                  <a:srgbClr val="1F2328"/>
                </a:solidFill>
                <a:latin typeface="Calibri"/>
                <a:ea typeface="맑은 고딕"/>
                <a:cs typeface="Calibri"/>
              </a:rPr>
              <a:t>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a:t>
            </a:r>
            <a:r>
              <a:rPr lang="en-US" altLang="ko-KR" sz="1450" b="0" dirty="0">
                <a:solidFill>
                  <a:srgbClr val="111111"/>
                </a:solidFill>
                <a:highlight>
                  <a:srgbClr val="FFE45C"/>
                </a:highlight>
                <a:latin typeface="Calibri"/>
                <a:ea typeface="맑은 고딕"/>
                <a:cs typeface="Calibri"/>
              </a:rPr>
              <a:t>In particular, for children, Munjado was a study tool.</a:t>
            </a:r>
            <a:r>
              <a:rPr lang="en-US" altLang="ko-KR" sz="1450" b="0" dirty="0">
                <a:solidFill>
                  <a:srgbClr val="B3BAC6"/>
                </a:solidFill>
                <a:latin typeface="Calibri"/>
                <a:ea typeface="맑은 고딕"/>
                <a:cs typeface="Calibri"/>
              </a:rPr>
              <a:t>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Growing Lotus Flowers in Muddy Ponds</a:t>
            </a:r>
            <a:endParaRPr lang="en-US" altLang="ko-KR" sz="1750" b="0" dirty="0">
              <a:solidFill>
                <a:srgbClr val="1F2328"/>
              </a:solidFill>
              <a:latin typeface="Calibri"/>
              <a:ea typeface="맑은 고딕"/>
              <a:cs typeface="Calibri"/>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Why Bamboo Stays Green All Year</a:t>
            </a:r>
            <a:endParaRPr lang="en-US" altLang="ko-KR" sz="1750" b="0" dirty="0">
              <a:solidFill>
                <a:srgbClr val="1F2328"/>
              </a:solidFill>
              <a:latin typeface="Calibri"/>
              <a:ea typeface="맑은 고딕"/>
              <a:cs typeface="Calibri"/>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Munjado: Symbols That Taught Values</a:t>
            </a:r>
            <a:endParaRPr lang="en-US" altLang="ko-KR" sz="1750" b="0" dirty="0">
              <a:solidFill>
                <a:srgbClr val="1F2328"/>
              </a:solidFill>
              <a:latin typeface="Calibri"/>
              <a:ea typeface="맑은 고딕"/>
              <a:cs typeface="Calibri"/>
            </a:endParaRPr>
          </a:p>
        </p:txBody>
      </p:sp>
      <p:sp>
        <p:nvSpPr>
          <p:cNvPr id="14" name="rv_pick"/>
          <p:cNvSpPr txBox="1"/>
          <p:nvPr/>
        </p:nvSpPr>
        <p:spPr>
          <a:xfrm>
            <a:off x="457200" y="3997452"/>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③</a:t>
            </a:r>
            <a:r>
              <a:rPr lang="en-US" altLang="ko-KR" sz="1750" b="0" dirty="0">
                <a:solidFill>
                  <a:srgbClr val="C00000"/>
                </a:solidFill>
                <a:latin typeface="Calibri"/>
                <a:ea typeface="맑은 고딕"/>
                <a:cs typeface="Calibri"/>
              </a:rPr>
              <a:t>	Munjado: Symbols That Taught Values</a:t>
            </a:r>
            <a:endParaRPr lang="en-US" altLang="ko-KR" sz="1750" b="0" dirty="0">
              <a:solidFill>
                <a:srgbClr val="C00000"/>
              </a:solidFill>
              <a:latin typeface="Calibri"/>
              <a:ea typeface="맑은 고딕"/>
              <a:cs typeface="Calibri"/>
            </a:endParaRPr>
          </a:p>
        </p:txBody>
      </p:sp>
      <p:sp>
        <p:nvSpPr>
          <p:cNvPr id="15"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Kings and Their Loyal Servants</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Games Children Played in Joseon</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Munjado: Symbols That Taught Values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문자도는 중요한 가치를 상기시키고 아이들에게는 학습 도구였다. 이를 담은 ③이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In particular, for children, Munjado was a study tool. </a:t>
            </a:r>
            <a:r>
              <a:rPr lang="en-US" altLang="ko-KR" sz="1450" b="0" dirty="0">
                <a:solidFill>
                  <a:srgbClr val="1F2328"/>
                </a:solidFill>
                <a:latin typeface="Calibri"/>
                <a:ea typeface="맑은 고딕"/>
                <a:cs typeface="Calibri"/>
              </a:rPr>
              <a:t>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In particular, for children, Munjado was a study tool. </a:t>
            </a:r>
            <a:r>
              <a:rPr lang="en-US" altLang="ko-KR" sz="1450" b="0" dirty="0">
                <a:solidFill>
                  <a:srgbClr val="111111"/>
                </a:solidFill>
                <a:highlight>
                  <a:srgbClr val="FFE45C"/>
                </a:highlight>
                <a:latin typeface="Calibri"/>
                <a:ea typeface="맑은 고딕"/>
                <a:cs typeface="Calibri"/>
              </a:rPr>
              <a:t>Through it, children in the Joseon dynasty could learn the importance of harmony in family and society.</a:t>
            </a:r>
            <a:endParaRPr lang="en-US" altLang="ko-KR" sz="1450" b="0" dirty="0">
              <a:solidFill>
                <a:srgbClr val="111111"/>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대나무는 날씨에 따라 다르게 심어야 한다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연꽃은 맑은 연못에서만 길러야 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왕에 대한 충성심을 최우선으로 삼아야 한다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문자도의 상징에 담긴 가치를 배워야 한다</a:t>
            </a:r>
            <a:endParaRPr lang="ko-KR" altLang="en-US" sz="1750" b="0" dirty="0">
              <a:solidFill>
                <a:srgbClr val="1F2328"/>
              </a:solidFill>
              <a:latin typeface="맑은 고딕"/>
              <a:ea typeface="맑은 고딕"/>
              <a:cs typeface="맑은 고딕"/>
            </a:endParaRPr>
          </a:p>
        </p:txBody>
      </p:sp>
      <p:sp>
        <p:nvSpPr>
          <p:cNvPr id="15" name="rv_pick"/>
          <p:cNvSpPr txBox="1"/>
          <p:nvPr/>
        </p:nvSpPr>
        <p:spPr>
          <a:xfrm>
            <a:off x="457200" y="4394708"/>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④</a:t>
            </a:r>
            <a:r>
              <a:rPr lang="ko-KR" altLang="en-US" sz="1750" b="0" dirty="0">
                <a:solidFill>
                  <a:srgbClr val="C00000"/>
                </a:solidFill>
                <a:latin typeface="맑은 고딕"/>
                <a:ea typeface="맑은 고딕"/>
                <a:cs typeface="맑은 고딕"/>
              </a:rPr>
              <a:t>	문자도의 상징에 담긴 가치를 배워야 한다</a:t>
            </a:r>
            <a:endParaRPr lang="ko-KR" altLang="en-US" sz="1750" b="0" dirty="0">
              <a:solidFill>
                <a:srgbClr val="C00000"/>
              </a:solidFill>
              <a:latin typeface="맑은 고딕"/>
              <a:ea typeface="맑은 고딕"/>
              <a:cs typeface="맑은 고딕"/>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아이들은 그림보다 글을 먼저 익혀야 한다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문자도의 상징에 담긴 가치를 배워야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문자도의 상징이 중요한 가치를 일깨우고 아이들이 조화의 중요성을 배웠다고 했으므로 ④가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대나무와 연꽃은 조선에서 귀한 식물이었다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연꽃은 진흙 연못에서 자라지 못하는 꽃이다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문자도는 아이들이 싫어하던 그림이었다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대나무는 날씨가 추우면 색이 쉽게 변한다</a:t>
            </a:r>
            <a:endParaRPr lang="ko-KR" altLang="en-US" sz="1750" b="0" dirty="0">
              <a:solidFill>
                <a:srgbClr val="1F2328"/>
              </a:solidFill>
              <a:latin typeface="맑은 고딕"/>
              <a:ea typeface="맑은 고딕"/>
              <a:cs typeface="맑은 고딕"/>
            </a:endParaRPr>
          </a:p>
        </p:txBody>
      </p:sp>
      <p:sp>
        <p:nvSpPr>
          <p:cNvPr id="15"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문자도의 상징은 사람들에게 가치를 일깨웠다</a:t>
            </a:r>
            <a:endParaRPr lang="ko-KR" altLang="en-US" sz="1750" b="0" dirty="0">
              <a:solidFill>
                <a:srgbClr val="1F2328"/>
              </a:solidFill>
              <a:latin typeface="맑은 고딕"/>
              <a:ea typeface="맑은 고딕"/>
              <a:cs typeface="맑은 고딕"/>
            </a:endParaRPr>
          </a:p>
        </p:txBody>
      </p:sp>
      <p:sp>
        <p:nvSpPr>
          <p:cNvPr id="16" name="rv_pick"/>
          <p:cNvSpPr txBox="1"/>
          <p:nvPr/>
        </p:nvSpPr>
        <p:spPr>
          <a:xfrm>
            <a:off x="457200" y="4791964"/>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⑤</a:t>
            </a:r>
            <a:r>
              <a:rPr lang="ko-KR" altLang="en-US" sz="1750" b="0" dirty="0">
                <a:solidFill>
                  <a:srgbClr val="C00000"/>
                </a:solidFill>
                <a:latin typeface="맑은 고딕"/>
                <a:ea typeface="맑은 고딕"/>
                <a:cs typeface="맑은 고딕"/>
              </a:rPr>
              <a:t>	문자도의 상징은 사람들에게 가치를 일깨웠다</a:t>
            </a:r>
            <a:endParaRPr lang="ko-KR" altLang="en-US" sz="1750" b="0" dirty="0">
              <a:solidFill>
                <a:srgbClr val="C00000"/>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문자도의 상징은 사람들에게 가치를 일깨웠다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문자도가 사람들의 행동과 태도에 영향을 준 중요한 가치를 상기시켰다고 했다. 정답은 ⑤이다.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t>
            </a:r>
            <a:r>
              <a:rPr lang="en-US" altLang="ko-KR" sz="1450" b="0" dirty="0">
                <a:solidFill>
                  <a:srgbClr val="1F2328"/>
                </a:solidFill>
                <a:latin typeface="Calibri"/>
                <a:ea typeface="맑은 고딕"/>
                <a:cs typeface="Calibri"/>
              </a:rPr>
              <a:t>a person’s will to fight for justice</a:t>
            </a:r>
            <a:r>
              <a:rPr lang="en-US" altLang="ko-KR" sz="1450" b="0" dirty="0">
                <a:solidFill>
                  <a:srgbClr val="1F2328"/>
                </a:solidFill>
                <a:latin typeface="Calibri"/>
                <a:ea typeface="맑은 고딕"/>
                <a:cs typeface="Calibri"/>
              </a:rPr>
              <a:t>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t>
            </a:r>
            <a:r>
              <a:rPr lang="en-US" altLang="ko-KR" sz="1450" b="0" dirty="0">
                <a:solidFill>
                  <a:srgbClr val="111111"/>
                </a:solidFill>
                <a:highlight>
                  <a:srgbClr val="FFE45C"/>
                </a:highlight>
                <a:latin typeface="Calibri"/>
                <a:ea typeface="맑은 고딕"/>
                <a:cs typeface="Calibri"/>
              </a:rPr>
              <a:t>a person’s will to fight for justice</a:t>
            </a:r>
            <a:r>
              <a:rPr lang="en-US" altLang="ko-KR" sz="1450" b="0" dirty="0">
                <a:solidFill>
                  <a:srgbClr val="B3BAC6"/>
                </a:solidFill>
                <a:latin typeface="Calibri"/>
                <a:ea typeface="맑은 고딕"/>
                <a:cs typeface="Calibri"/>
              </a:rPr>
              <a:t>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충 그림에는 대나무가 그려져 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대나무는 어떤 날씨에도 푸르름을 유지한다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연꽃은 진흙투성이 연못에서 자란다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연꽃은 아이들의 학습 의지를 상징한다</a:t>
            </a:r>
            <a:endParaRPr lang="ko-KR" altLang="en-US" sz="1750" b="0" dirty="0">
              <a:solidFill>
                <a:srgbClr val="1F2328"/>
              </a:solidFill>
              <a:latin typeface="맑은 고딕"/>
              <a:ea typeface="맑은 고딕"/>
              <a:cs typeface="맑은 고딕"/>
            </a:endParaRPr>
          </a:p>
        </p:txBody>
      </p:sp>
      <p:sp>
        <p:nvSpPr>
          <p:cNvPr id="15" name="rv_pick"/>
          <p:cNvSpPr txBox="1"/>
          <p:nvPr/>
        </p:nvSpPr>
        <p:spPr>
          <a:xfrm>
            <a:off x="457200" y="4394708"/>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④</a:t>
            </a:r>
            <a:r>
              <a:rPr lang="ko-KR" altLang="en-US" sz="1750" b="0" dirty="0">
                <a:solidFill>
                  <a:srgbClr val="C00000"/>
                </a:solidFill>
                <a:latin typeface="맑은 고딕"/>
                <a:ea typeface="맑은 고딕"/>
                <a:cs typeface="맑은 고딕"/>
              </a:rPr>
              <a:t>	연꽃은 아이들의 학습 의지를 상징한다</a:t>
            </a:r>
            <a:endParaRPr lang="ko-KR" altLang="en-US" sz="1750" b="0" dirty="0">
              <a:solidFill>
                <a:srgbClr val="C00000"/>
              </a:solidFill>
              <a:latin typeface="맑은 고딕"/>
              <a:ea typeface="맑은 고딕"/>
              <a:cs typeface="맑은 고딕"/>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대나무는 왕에 대한 충성심을 상징한다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연꽃은 아이들의 학습 의지를 상징한다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연꽃은 정의를 위해 싸우려는 한 사람의 의지를 상징한다. 아이들의 학습 의지를 상징한다는 ④는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a:t>
            </a:r>
            <a:r>
              <a:rPr lang="en-US" altLang="ko-KR" sz="1450" b="0" dirty="0">
                <a:solidFill>
                  <a:srgbClr val="1F2328"/>
                </a:solidFill>
                <a:latin typeface="Calibri"/>
                <a:ea typeface="맑은 고딕"/>
                <a:cs typeface="Calibri"/>
              </a:rPr>
              <a:t>In particular, for children, Munjado was a study tool.</a:t>
            </a:r>
            <a:r>
              <a:rPr lang="en-US" altLang="ko-KR" sz="1450" b="0" dirty="0">
                <a:solidFill>
                  <a:srgbClr val="1F2328"/>
                </a:solidFill>
                <a:latin typeface="Calibri"/>
                <a:ea typeface="맑은 고딕"/>
                <a:cs typeface="Calibri"/>
              </a:rPr>
              <a:t>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a:t>
            </a:r>
            <a:r>
              <a:rPr lang="en-US" altLang="ko-KR" sz="1450" b="0" dirty="0">
                <a:solidFill>
                  <a:srgbClr val="111111"/>
                </a:solidFill>
                <a:highlight>
                  <a:srgbClr val="FFE45C"/>
                </a:highlight>
                <a:latin typeface="Calibri"/>
                <a:ea typeface="맑은 고딕"/>
                <a:cs typeface="Calibri"/>
              </a:rPr>
              <a:t>In particular, for children, Munjado was a study tool.</a:t>
            </a:r>
            <a:r>
              <a:rPr lang="en-US" altLang="ko-KR" sz="1450" b="0" dirty="0">
                <a:solidFill>
                  <a:srgbClr val="B3BAC6"/>
                </a:solidFill>
                <a:latin typeface="Calibri"/>
                <a:ea typeface="맑은 고딕"/>
                <a:cs typeface="Calibri"/>
              </a:rPr>
              <a:t>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문자도는 아이들의 학습 도구였다</a:t>
            </a:r>
            <a:endParaRPr lang="ko-KR" altLang="en-US" sz="1750" b="0" dirty="0">
              <a:solidFill>
                <a:srgbClr val="1F2328"/>
              </a:solidFill>
              <a:latin typeface="맑은 고딕"/>
              <a:ea typeface="맑은 고딕"/>
              <a:cs typeface="맑은 고딕"/>
            </a:endParaRPr>
          </a:p>
        </p:txBody>
      </p:sp>
      <p:sp>
        <p:nvSpPr>
          <p:cNvPr id="12" name="rv_pick"/>
          <p:cNvSpPr txBox="1"/>
          <p:nvPr/>
        </p:nvSpPr>
        <p:spPr>
          <a:xfrm>
            <a:off x="457200" y="3202940"/>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①</a:t>
            </a:r>
            <a:r>
              <a:rPr lang="ko-KR" altLang="en-US" sz="1750" b="0" dirty="0">
                <a:solidFill>
                  <a:srgbClr val="C00000"/>
                </a:solidFill>
                <a:latin typeface="맑은 고딕"/>
                <a:ea typeface="맑은 고딕"/>
                <a:cs typeface="맑은 고딕"/>
              </a:rPr>
              <a:t>	문자도는 아이들의 학습 도구였다</a:t>
            </a:r>
            <a:endParaRPr lang="ko-KR" altLang="en-US" sz="1750" b="0" dirty="0">
              <a:solidFill>
                <a:srgbClr val="C00000"/>
              </a:solidFill>
              <a:latin typeface="맑은 고딕"/>
              <a:ea typeface="맑은 고딕"/>
              <a:cs typeface="맑은 고딕"/>
            </a:endParaRPr>
          </a:p>
        </p:txBody>
      </p:sp>
      <p:sp>
        <p:nvSpPr>
          <p:cNvPr id="13"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의 그림에는 대나무가 그려져 있다</a:t>
            </a:r>
            <a:endParaRPr lang="ko-KR" altLang="en-US" sz="1750" b="0" dirty="0">
              <a:solidFill>
                <a:srgbClr val="1F2328"/>
              </a:solidFill>
              <a:latin typeface="맑은 고딕"/>
              <a:ea typeface="맑은 고딕"/>
              <a:cs typeface="맑은 고딕"/>
            </a:endParaRPr>
          </a:p>
        </p:txBody>
      </p:sp>
      <p:sp>
        <p:nvSpPr>
          <p:cNvPr id="14"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대나무는 바람이 불면 쉽게 구부러진다</a:t>
            </a:r>
            <a:endParaRPr lang="ko-KR" altLang="en-US" sz="1750" b="0" dirty="0">
              <a:solidFill>
                <a:srgbClr val="1F2328"/>
              </a:solidFill>
              <a:latin typeface="맑은 고딕"/>
              <a:ea typeface="맑은 고딕"/>
              <a:cs typeface="맑은 고딕"/>
            </a:endParaRPr>
          </a:p>
        </p:txBody>
      </p:sp>
      <p:sp>
        <p:nvSpPr>
          <p:cNvPr id="15"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연꽃은 맑은 연못에서만 꽃을 피운다</a:t>
            </a:r>
            <a:endParaRPr lang="ko-KR" altLang="en-US" sz="1750" b="0" dirty="0">
              <a:solidFill>
                <a:srgbClr val="1F2328"/>
              </a:solidFill>
              <a:latin typeface="맑은 고딕"/>
              <a:ea typeface="맑은 고딕"/>
              <a:cs typeface="맑은 고딕"/>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문자도는 어른만 보던 그림이었다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문자도는 아이들의 학습 도구였다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특히 아이들에게 문자도는 학습 도구('a study tool')였다고 했으므로 ①이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881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8818"/>
          </a:xfrm>
          <a:prstGeom prst="rect">
            <a:avLst/>
          </a:prstGeom>
          <a:noFill/>
        </p:spPr>
        <p:txBody>
          <a:bodyPr wrap="square" lIns="201168" tIns="100584" rIns="201168" bIns="100584" anchor="t" rtlCol="0">
            <a:noAutofit/>
          </a:bodyPr>
          <a:lstStyle/>
          <a:p>
            <a:pPr algn="l">
              <a:lnSpc>
                <a:spcPts val="1950"/>
              </a:lnSpc>
              <a:spcBef>
                <a:spcPts val="0"/>
              </a:spcBef>
              <a:spcAft>
                <a:spcPts val="0"/>
              </a:spcAft>
              <a:buNone/>
            </a:pPr>
            <a:r>
              <a:rPr lang="en-US" altLang="ko-KR" sz="1500" b="0" dirty="0">
                <a:solidFill>
                  <a:srgbClr val="1F2328"/>
                </a:solidFill>
                <a:latin typeface="Calibri"/>
                <a:ea typeface="맑은 고딕"/>
                <a:cs typeface="Calibri"/>
              </a:rPr>
              <a:t>There are other examples of symbolic objects in Munjado.</a:t>
            </a:r>
            <a:endParaRPr lang="en-US" altLang="ko-KR" sz="1500" b="0" dirty="0">
              <a:solidFill>
                <a:srgbClr val="1F2328"/>
              </a:solidFill>
              <a:latin typeface="Calibri"/>
              <a:ea typeface="맑은 고딕"/>
              <a:cs typeface="Calibri"/>
            </a:endParaRPr>
          </a:p>
        </p:txBody>
      </p:sp>
      <p:sp>
        <p:nvSpPr>
          <p:cNvPr id="9" name="parts_card"/>
          <p:cNvSpPr/>
          <p:nvPr/>
        </p:nvSpPr>
        <p:spPr>
          <a:xfrm>
            <a:off x="457200" y="1527810"/>
            <a:ext cx="11277295" cy="281254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7810"/>
            <a:ext cx="11277295" cy="2812542"/>
          </a:xfrm>
          <a:prstGeom prst="rect">
            <a:avLst/>
          </a:prstGeom>
          <a:noFill/>
        </p:spPr>
        <p:txBody>
          <a:bodyPr wrap="square" lIns="201168" tIns="118872" rIns="201168" bIns="118872" anchor="t" rtlCol="0">
            <a:noAutofit/>
          </a:bodyPr>
          <a:lstStyle/>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(A)</a:t>
            </a:r>
            <a:r>
              <a:rPr lang="en-US" altLang="ko-KR" sz="1500" b="0" dirty="0">
                <a:solidFill>
                  <a:srgbClr val="1F2328"/>
                </a:solidFill>
                <a:latin typeface="Calibri"/>
                <a:ea typeface="맑은 고딕"/>
                <a:cs typeface="Calibri"/>
              </a:rPr>
              <a:t>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500" b="0" dirty="0">
              <a:solidFill>
                <a:srgbClr val="1F2328"/>
              </a:solidFill>
              <a:latin typeface="Calibri"/>
              <a:ea typeface="맑은 고딕"/>
              <a:cs typeface="Calibri"/>
            </a:endParaRPr>
          </a:p>
          <a:p>
            <a:pPr algn="just" marL="400050" indent="-400050">
              <a:lnSpc>
                <a:spcPts val="213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(B)</a:t>
            </a:r>
            <a:r>
              <a:rPr lang="en-US" altLang="ko-KR" sz="1500" b="0" dirty="0">
                <a:solidFill>
                  <a:srgbClr val="1F2328"/>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a:t>
            </a:r>
            <a:endParaRPr lang="en-US" altLang="ko-KR" sz="1500" b="0" dirty="0">
              <a:solidFill>
                <a:srgbClr val="1F2328"/>
              </a:solidFill>
              <a:latin typeface="Calibri"/>
              <a:ea typeface="맑은 고딕"/>
              <a:cs typeface="Calibri"/>
            </a:endParaRPr>
          </a:p>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(C)</a:t>
            </a:r>
            <a:r>
              <a:rPr lang="en-US" altLang="ko-KR" sz="15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a:t>
            </a:r>
            <a:endParaRPr lang="en-US" altLang="ko-KR" sz="1500" b="0" dirty="0">
              <a:solidFill>
                <a:srgbClr val="1F2328"/>
              </a:solidFill>
              <a:latin typeface="Calibri"/>
              <a:ea typeface="맑은 고딕"/>
              <a:cs typeface="Calibri"/>
            </a:endParaRPr>
          </a:p>
        </p:txBody>
      </p:sp>
      <p:sp>
        <p:nvSpPr>
          <p:cNvPr id="11" name="options"/>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621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561076"/>
            <a:ext cx="11277295" cy="8580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상징적 사물의 다른 예 → (B) 'They'가 대나무와 연꽃을 가리키고 대나무를 설명한다 → (C) 'In the case of lotus flowers'로 연꽃 설명 → (A) 'It'이 문자도를 받아 가치를 정리한다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881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8818"/>
          </a:xfrm>
          <a:prstGeom prst="rect">
            <a:avLst/>
          </a:prstGeom>
          <a:noFill/>
        </p:spPr>
        <p:txBody>
          <a:bodyPr wrap="square" lIns="201168" tIns="100584" rIns="201168" bIns="100584" anchor="t" rtlCol="0">
            <a:noAutofit/>
          </a:bodyPr>
          <a:lstStyle/>
          <a:p>
            <a:pPr algn="l">
              <a:lnSpc>
                <a:spcPts val="1950"/>
              </a:lnSpc>
              <a:spcBef>
                <a:spcPts val="0"/>
              </a:spcBef>
              <a:spcAft>
                <a:spcPts val="0"/>
              </a:spcAft>
              <a:buNone/>
            </a:pPr>
            <a:r>
              <a:rPr lang="en-US" altLang="ko-KR" sz="1500" b="0" dirty="0">
                <a:solidFill>
                  <a:srgbClr val="1F2328"/>
                </a:solidFill>
                <a:latin typeface="Calibri"/>
                <a:ea typeface="맑은 고딕"/>
                <a:cs typeface="Calibri"/>
              </a:rPr>
              <a:t>There are other examples of symbolic objects in Munjado.</a:t>
            </a:r>
            <a:endParaRPr lang="en-US" altLang="ko-KR" sz="1500" b="0" dirty="0">
              <a:solidFill>
                <a:srgbClr val="1F2328"/>
              </a:solidFill>
              <a:latin typeface="Calibri"/>
              <a:ea typeface="맑은 고딕"/>
              <a:cs typeface="Calibri"/>
            </a:endParaRPr>
          </a:p>
        </p:txBody>
      </p:sp>
      <p:sp>
        <p:nvSpPr>
          <p:cNvPr id="9" name="parts_card"/>
          <p:cNvSpPr/>
          <p:nvPr/>
        </p:nvSpPr>
        <p:spPr>
          <a:xfrm>
            <a:off x="457200" y="1527810"/>
            <a:ext cx="11277295" cy="281254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7810"/>
            <a:ext cx="11277295" cy="2812542"/>
          </a:xfrm>
          <a:prstGeom prst="rect">
            <a:avLst/>
          </a:prstGeom>
          <a:noFill/>
        </p:spPr>
        <p:txBody>
          <a:bodyPr wrap="square" lIns="201168" tIns="118872" rIns="201168" bIns="118872" anchor="t" rtlCol="0">
            <a:noAutofit/>
          </a:bodyPr>
          <a:lstStyle/>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(A)</a:t>
            </a:r>
            <a:r>
              <a:rPr lang="en-US" altLang="ko-KR" sz="1500" b="0" dirty="0">
                <a:solidFill>
                  <a:srgbClr val="1F2328"/>
                </a:solidFill>
                <a:latin typeface="Calibri"/>
                <a:ea typeface="맑은 고딕"/>
                <a:cs typeface="Calibri"/>
              </a:rPr>
              <a:t>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500" b="0" dirty="0">
              <a:solidFill>
                <a:srgbClr val="1F2328"/>
              </a:solidFill>
              <a:latin typeface="Calibri"/>
              <a:ea typeface="맑은 고딕"/>
              <a:cs typeface="Calibri"/>
            </a:endParaRPr>
          </a:p>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(B)</a:t>
            </a:r>
            <a:r>
              <a:rPr lang="en-US" altLang="ko-KR" sz="15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a:t>
            </a:r>
            <a:endParaRPr lang="en-US" altLang="ko-KR" sz="1500" b="0" dirty="0">
              <a:solidFill>
                <a:srgbClr val="1F2328"/>
              </a:solidFill>
              <a:latin typeface="Calibri"/>
              <a:ea typeface="맑은 고딕"/>
              <a:cs typeface="Calibri"/>
            </a:endParaRPr>
          </a:p>
          <a:p>
            <a:pPr algn="just" marL="400050" indent="-400050">
              <a:lnSpc>
                <a:spcPts val="213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(C)</a:t>
            </a:r>
            <a:r>
              <a:rPr lang="en-US" altLang="ko-KR" sz="1500" b="0" dirty="0">
                <a:solidFill>
                  <a:srgbClr val="1F2328"/>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a:t>
            </a:r>
            <a:endParaRPr lang="en-US" altLang="ko-KR" sz="1500" b="0" dirty="0">
              <a:solidFill>
                <a:srgbClr val="1F2328"/>
              </a:solidFill>
              <a:latin typeface="Calibri"/>
              <a:ea typeface="맑은 고딕"/>
              <a:cs typeface="Calibri"/>
            </a:endParaRPr>
          </a:p>
        </p:txBody>
      </p:sp>
      <p:sp>
        <p:nvSpPr>
          <p:cNvPr id="11" name="options"/>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49621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561076"/>
            <a:ext cx="11277295" cy="8580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상징적 사물의 다른 예 → (C) 'They are bamboo'로 두 예를 밝히고 대나무를 먼저 설명한다 → (B) 연꽃의 경우를 이어서 말한다 → (A) 문자도가 일깨운 가치로 마무리한다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It stays green in all kinds of weather.</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There are other examples of symbolic objects in Munjado.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are bamboo in the paintings of the character chung (忠) and lotus flowers in the paintings of ui (義).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Bamboo does not bend.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For these reasons, bamboo came to symbolize loyalty to the king.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There are other examples of symbolic objects in Munjado.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are bamboo in the paintings of the character chung (忠) and lotus flowers in the paintings of ui (義).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Bamboo does not bend.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For these reasons, bamboo came to symbolize loyalty to the king.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앞 'does not bend'에 이어 주어진 문장이 늘 푸르다는 이유를 더한다. ④ 뒤 'For these reasons'가 두 이유를 받으므로 ④이다.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these reasons, bamboo came to symbolize loyalty to the king.</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There are other examples of symbolic objects in Munjado.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are bamboo in the paintings of the character chung (忠) and lotus flowers in the paintings of ui (義).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Bamboo does not bend.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It stays green in all kinds of weather.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There are other examples of symbolic objects in Munjado.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are bamboo in the paintings of the character chung (忠) and lotus flowers in the paintings of ui (義).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Bamboo does not bend.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It stays green in all kinds of weather.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'For these reasons'는 ④ 앞의 구부러지지 않고 늘 푸르다는 두 이유를 받는다. ⑤ 뒤는 연꽃 이야기이므로 ⑤이다.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3705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There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are</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is</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other examples of symbolic objects in Munjado.</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are bamboo in the paintings of the character chung (忠) and lotus flowers in the paintings of ui (義).</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Bamboo does not bend.</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stays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greenly</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green</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in all kinds of weather.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For these reasons, bamboo came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symbolizing</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to symbolize</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loyalty to the king.</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the case of lotus flowers, they grow in muddy ponds but still bloom beautifully.</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thus became a symbol of a person’s will to fight for justice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despite</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although</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difficulties.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Munjado was much more than a painting to people of the Joseon dynasty.</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reminded them of important values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that</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what</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greatly influenced their behaviors and attitudes.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particular, for children, Munjado was a study tool.</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3" name="rv_g05"/>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3705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There are other examples of symbolic objects in Munjado.</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are bamboo in the paintings of the character chung (忠) and lotus flowers in the paintings of ui (義).</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Bamboo does not bend.</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stays green in all kinds of weather.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For these reasons, bamboo came to symbolize loyalty to the king.</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the case of lotus flowers, they grow in muddy ponds but still bloom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beautifully</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beautiful</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thus became a symbol of a person’s will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to fight</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fighting</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for justice despite difficulties.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Munjado was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much</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very</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more than a painting to people of the Joseon dynasty.</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reminded them of important values that greatly influenced their behaviors and attitudes.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particular, for children, Munjado was a study tool.</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Through it, children in the Joseon dynasty could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learn</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learned</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4  </a:t>
            </a:r>
            <a:r>
              <a:rPr lang="ko-KR" altLang="en-US" sz="4000" b="1" dirty="0">
                <a:solidFill>
                  <a:srgbClr val="FFFFFF"/>
                </a:solidFill>
                <a:latin typeface="맑은 고딕"/>
                <a:ea typeface="맑은 고딕"/>
                <a:cs typeface="맑은 고딕"/>
              </a:rPr>
              <a:t>내용이해 T/F</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8</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L8-1  ·  L8-2  ·  L8-3</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본문 단락을 읽고, 우리말 진술이 본문과 일치하면 T, 아니면 F</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5문항의 정답(T/F)이 빨간색으로 한꺼번에 공개</a:t>
            </a:r>
            <a:endParaRPr lang="ko-KR" sz="160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Look at the painting on the right. Do you see the Chinese character, hyo (孝)?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Do you also see a carp, a geomungo, and a fan?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This kind of painting is called Munjado, and it is a type of folk painting that was popular in the late Joseon dynasty.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In Munjado, there is usually a Chinese character with some animals or objects.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One of eight Chinese characters appears in Munjado. </a:t>
            </a: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They are hyo (孝), je (悌), chung (忠), sin (信), ye (禮), ui (義), yeom (廉), and chi (恥), and they represent the values that were important to people of the Joseon dynasty.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  </a:t>
            </a:r>
            <a:r>
              <a:rPr lang="ko-KR" altLang="en-US" sz="1900" b="0" dirty="0">
                <a:solidFill>
                  <a:srgbClr val="1F2328"/>
                </a:solidFill>
                <a:latin typeface="맑은 고딕"/>
                <a:ea typeface="맑은 고딕"/>
                <a:cs typeface="맑은 고딕"/>
              </a:rPr>
              <a:t>오른쪽 그림에는 한자 효(孝)가 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  </a:t>
            </a:r>
            <a:r>
              <a:rPr lang="ko-KR" altLang="en-US" sz="1900" b="0" dirty="0">
                <a:solidFill>
                  <a:srgbClr val="1F2328"/>
                </a:solidFill>
                <a:latin typeface="맑은 고딕"/>
                <a:ea typeface="맑은 고딕"/>
                <a:cs typeface="맑은 고딕"/>
              </a:rPr>
              <a:t>그림에는 잉어, 거문고, 부채가 보인다.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  </a:t>
            </a:r>
            <a:r>
              <a:rPr lang="ko-KR" altLang="en-US" sz="1900" b="0" dirty="0">
                <a:solidFill>
                  <a:srgbClr val="1F2328"/>
                </a:solidFill>
                <a:latin typeface="맑은 고딕"/>
                <a:ea typeface="맑은 고딕"/>
                <a:cs typeface="맑은 고딕"/>
              </a:rPr>
              <a:t>그림에는 호랑이와 소나무가 보인다고 나와 있다.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  </a:t>
            </a:r>
            <a:r>
              <a:rPr lang="ko-KR" altLang="en-US" sz="1900" b="0" dirty="0">
                <a:solidFill>
                  <a:srgbClr val="1F2328"/>
                </a:solidFill>
                <a:latin typeface="맑은 고딕"/>
                <a:ea typeface="맑은 고딕"/>
                <a:cs typeface="맑은 고딕"/>
              </a:rPr>
              <a:t>이런 종류의 그림을 문자도라고 한다.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12775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5.  </a:t>
            </a:r>
            <a:r>
              <a:rPr lang="ko-KR" altLang="en-US" sz="1900" b="0" dirty="0">
                <a:solidFill>
                  <a:srgbClr val="1F2328"/>
                </a:solidFill>
                <a:latin typeface="맑은 고딕"/>
                <a:ea typeface="맑은 고딕"/>
                <a:cs typeface="맑은 고딕"/>
              </a:rPr>
              <a:t>문자도는 조선 시대 초기에 인기 있었던 민화이다.</a:t>
            </a:r>
            <a:endParaRPr lang="ko-KR" sz="1900"/>
          </a:p>
        </p:txBody>
      </p:sp>
      <p:sp>
        <p:nvSpPr>
          <p:cNvPr id="27" name="tf_5"/>
          <p:cNvSpPr txBox="1"/>
          <p:nvPr/>
        </p:nvSpPr>
        <p:spPr>
          <a:xfrm>
            <a:off x="9765792" y="51277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Look at the painting on the right. Do you see the Chinese character, hyo (孝)?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Do you also see a carp, a geomungo, and a fan?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This kind of painting is called Munjado, and it is a type of folk painting that was popular in the late Joseon dynasty.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In Munjado, there is usually a Chinese character with some animals or objects.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One of eight Chinese characters appears in Munjado. </a:t>
            </a: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They are hyo (孝), je (悌), chung (忠), sin (信), ye (禮), ui (義), yeom (廉), and chi (恥), and they represent the values that were important to people of the Joseon dynasty.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6.  </a:t>
            </a:r>
            <a:r>
              <a:rPr lang="ko-KR" altLang="en-US" sz="1900" b="0" dirty="0">
                <a:solidFill>
                  <a:srgbClr val="1F2328"/>
                </a:solidFill>
                <a:latin typeface="맑은 고딕"/>
                <a:ea typeface="맑은 고딕"/>
                <a:cs typeface="맑은 고딕"/>
              </a:rPr>
              <a:t>문자도는 민화의 한 종류이다.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7.  </a:t>
            </a:r>
            <a:r>
              <a:rPr lang="ko-KR" altLang="en-US" sz="1900" b="0" dirty="0">
                <a:solidFill>
                  <a:srgbClr val="1F2328"/>
                </a:solidFill>
                <a:latin typeface="맑은 고딕"/>
                <a:ea typeface="맑은 고딕"/>
                <a:cs typeface="맑은 고딕"/>
              </a:rPr>
              <a:t>문자도에는 보통 한자 하나가 동물이나 사물과 함께 나온다.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8.  </a:t>
            </a:r>
            <a:r>
              <a:rPr lang="ko-KR" altLang="en-US" sz="1900" b="0" dirty="0">
                <a:solidFill>
                  <a:srgbClr val="1F2328"/>
                </a:solidFill>
                <a:latin typeface="맑은 고딕"/>
                <a:ea typeface="맑은 고딕"/>
                <a:cs typeface="맑은 고딕"/>
              </a:rPr>
              <a:t>문자도에는 열 개의 한자 중 하나가 나온다.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9.  </a:t>
            </a:r>
            <a:r>
              <a:rPr lang="ko-KR" altLang="en-US" sz="1900" b="0" dirty="0">
                <a:solidFill>
                  <a:srgbClr val="1F2328"/>
                </a:solidFill>
                <a:latin typeface="맑은 고딕"/>
                <a:ea typeface="맑은 고딕"/>
                <a:cs typeface="맑은 고딕"/>
              </a:rPr>
              <a:t>문자도의 한자에는 충(忠)과 신(信)이 포함된다.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127752"/>
            <a:ext cx="11274552" cy="767842"/>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10.  </a:t>
            </a:r>
            <a:r>
              <a:rPr lang="ko-KR" altLang="en-US" sz="1900" b="0" dirty="0">
                <a:solidFill>
                  <a:srgbClr val="1F2328"/>
                </a:solidFill>
                <a:latin typeface="맑은 고딕"/>
                <a:ea typeface="맑은 고딕"/>
                <a:cs typeface="맑은 고딕"/>
              </a:rPr>
              <a:t>문자도의 한자들은 조선 시대 사람들에게 중요하지 않았던 가치를 나타낸다.</a:t>
            </a:r>
            <a:endParaRPr lang="ko-KR" sz="1900"/>
          </a:p>
        </p:txBody>
      </p:sp>
      <p:sp>
        <p:nvSpPr>
          <p:cNvPr id="27" name="tf_5"/>
          <p:cNvSpPr txBox="1"/>
          <p:nvPr/>
        </p:nvSpPr>
        <p:spPr>
          <a:xfrm>
            <a:off x="9765792" y="5127752"/>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505456"/>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505456"/>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⑦ </a:t>
            </a:r>
            <a:r>
              <a:rPr lang="en-US" altLang="en-US" sz="1600" b="0" dirty="0">
                <a:solidFill>
                  <a:srgbClr val="1F2328"/>
                </a:solidFill>
                <a:latin typeface="Calibri"/>
                <a:ea typeface="맑은 고딕"/>
                <a:cs typeface="Calibri"/>
              </a:rPr>
              <a:t>The animals or objects in Munjado are not just decorations. They often are symbolic. </a:t>
            </a:r>
            <a:r>
              <a:rPr lang="ko-KR" altLang="en-US" sz="1600" b="1" dirty="0">
                <a:solidFill>
                  <a:srgbClr val="1E2A5A"/>
                </a:solidFill>
                <a:latin typeface="맑은 고딕"/>
                <a:ea typeface="맑은 고딕"/>
                <a:cs typeface="맑은 고딕"/>
              </a:rPr>
              <a:t>⑧ </a:t>
            </a:r>
            <a:r>
              <a:rPr lang="en-US" altLang="en-US" sz="1600" b="0" dirty="0">
                <a:solidFill>
                  <a:srgbClr val="1F2328"/>
                </a:solidFill>
                <a:latin typeface="Calibri"/>
                <a:ea typeface="맑은 고딕"/>
                <a:cs typeface="Calibri"/>
              </a:rPr>
              <a:t>For example, carp in the paintings of hyo symbolize respect for parents because of an old story. </a:t>
            </a:r>
            <a:r>
              <a:rPr lang="ko-KR" altLang="en-US" sz="1600" b="1" dirty="0">
                <a:solidFill>
                  <a:srgbClr val="1E2A5A"/>
                </a:solidFill>
                <a:latin typeface="맑은 고딕"/>
                <a:ea typeface="맑은 고딕"/>
                <a:cs typeface="맑은 고딕"/>
              </a:rPr>
              <a:t>⑨ </a:t>
            </a:r>
            <a:r>
              <a:rPr lang="en-US" altLang="en-US" sz="1600" b="0" dirty="0">
                <a:solidFill>
                  <a:srgbClr val="1F2328"/>
                </a:solidFill>
                <a:latin typeface="Calibri"/>
                <a:ea typeface="맑은 고딕"/>
                <a:cs typeface="Calibri"/>
              </a:rPr>
              <a:t>The story goes as follows. Once upon a time, a man lived with his old mother. </a:t>
            </a:r>
            <a:r>
              <a:rPr lang="ko-KR" altLang="en-US" sz="1600" b="1" dirty="0">
                <a:solidFill>
                  <a:srgbClr val="1E2A5A"/>
                </a:solidFill>
                <a:latin typeface="맑은 고딕"/>
                <a:ea typeface="맑은 고딕"/>
                <a:cs typeface="맑은 고딕"/>
              </a:rPr>
              <a:t>⑩ </a:t>
            </a:r>
            <a:r>
              <a:rPr lang="en-US" altLang="en-US" sz="1600" b="0" dirty="0">
                <a:solidFill>
                  <a:srgbClr val="1F2328"/>
                </a:solidFill>
                <a:latin typeface="Calibri"/>
                <a:ea typeface="맑은 고딕"/>
                <a:cs typeface="Calibri"/>
              </a:rPr>
              <a:t>One winter, the man’s mother became ill and couldn’t eat anything. </a:t>
            </a:r>
            <a:r>
              <a:rPr lang="ko-KR" altLang="en-US" sz="1600" b="1" dirty="0">
                <a:solidFill>
                  <a:srgbClr val="1E2A5A"/>
                </a:solidFill>
                <a:latin typeface="맑은 고딕"/>
                <a:ea typeface="맑은 고딕"/>
                <a:cs typeface="맑은 고딕"/>
              </a:rPr>
              <a:t>⑪ </a:t>
            </a:r>
            <a:r>
              <a:rPr lang="en-US" altLang="en-US" sz="1600" b="0" dirty="0">
                <a:solidFill>
                  <a:srgbClr val="1F2328"/>
                </a:solidFill>
                <a:latin typeface="Calibri"/>
                <a:ea typeface="맑은 고딕"/>
                <a:cs typeface="Calibri"/>
              </a:rPr>
              <a:t>On one very cold day, the mother said to the man, “It would be wonderful if I could eat fresh fish.” </a:t>
            </a: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The man went out to the river, but it was completely frozen.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It was impossible for him to catch any fish.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The man was so disappointed that he cried out to the sky, “What should I do? Please help me.”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Then the ice melted, and three carp suddenly came out of the water.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The man went back home and cooked the fish for his mother. Then his mother got well. </a:t>
            </a:r>
            <a:endParaRPr lang="ko-KR" sz="1600"/>
          </a:p>
        </p:txBody>
      </p:sp>
      <p:sp>
        <p:nvSpPr>
          <p:cNvPr id="9" name="q_card_1"/>
          <p:cNvSpPr/>
          <p:nvPr/>
        </p:nvSpPr>
        <p:spPr>
          <a:xfrm>
            <a:off x="457200" y="362102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62102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11.  </a:t>
            </a:r>
            <a:r>
              <a:rPr lang="ko-KR" altLang="en-US" sz="1900" b="0" dirty="0">
                <a:solidFill>
                  <a:srgbClr val="1F2328"/>
                </a:solidFill>
                <a:latin typeface="맑은 고딕"/>
                <a:ea typeface="맑은 고딕"/>
                <a:cs typeface="맑은 고딕"/>
              </a:rPr>
              <a:t>문자도의 동물이나 사물은 단순한 장식일 뿐이다.</a:t>
            </a:r>
            <a:endParaRPr lang="ko-KR" sz="1900"/>
          </a:p>
        </p:txBody>
      </p:sp>
      <p:sp>
        <p:nvSpPr>
          <p:cNvPr id="11" name="tf_1"/>
          <p:cNvSpPr txBox="1"/>
          <p:nvPr/>
        </p:nvSpPr>
        <p:spPr>
          <a:xfrm>
            <a:off x="9765792" y="362102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66674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416039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16039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12.  </a:t>
            </a:r>
            <a:r>
              <a:rPr lang="ko-KR" altLang="en-US" sz="1900" b="0" dirty="0">
                <a:solidFill>
                  <a:srgbClr val="1F2328"/>
                </a:solidFill>
                <a:latin typeface="맑은 고딕"/>
                <a:ea typeface="맑은 고딕"/>
                <a:cs typeface="맑은 고딕"/>
              </a:rPr>
              <a:t>문자도의 동물이나 사물은 종종 상징적이다.</a:t>
            </a:r>
            <a:endParaRPr lang="ko-KR" sz="1900"/>
          </a:p>
        </p:txBody>
      </p:sp>
      <p:sp>
        <p:nvSpPr>
          <p:cNvPr id="15" name="tf_2"/>
          <p:cNvSpPr txBox="1"/>
          <p:nvPr/>
        </p:nvSpPr>
        <p:spPr>
          <a:xfrm>
            <a:off x="9765792" y="416039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20611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69976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9976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13.  </a:t>
            </a:r>
            <a:r>
              <a:rPr lang="ko-KR" altLang="en-US" sz="1900" b="0" dirty="0">
                <a:solidFill>
                  <a:srgbClr val="1F2328"/>
                </a:solidFill>
                <a:latin typeface="맑은 고딕"/>
                <a:ea typeface="맑은 고딕"/>
                <a:cs typeface="맑은 고딕"/>
              </a:rPr>
              <a:t>'효' 그림의 잉어는 부모님에 대한 공경을 상징한다.</a:t>
            </a:r>
            <a:endParaRPr lang="ko-KR" sz="1900"/>
          </a:p>
        </p:txBody>
      </p:sp>
      <p:sp>
        <p:nvSpPr>
          <p:cNvPr id="19" name="tf_3"/>
          <p:cNvSpPr txBox="1"/>
          <p:nvPr/>
        </p:nvSpPr>
        <p:spPr>
          <a:xfrm>
            <a:off x="9765792" y="469976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4548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23913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3913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14.  </a:t>
            </a:r>
            <a:r>
              <a:rPr lang="ko-KR" altLang="en-US" sz="1900" b="0" dirty="0">
                <a:solidFill>
                  <a:srgbClr val="1F2328"/>
                </a:solidFill>
                <a:latin typeface="맑은 고딕"/>
                <a:ea typeface="맑은 고딕"/>
                <a:cs typeface="맑은 고딕"/>
              </a:rPr>
              <a:t>옛이야기 속 남자는 나이 든 아버지와 살았다.</a:t>
            </a:r>
            <a:endParaRPr lang="ko-KR" sz="1900"/>
          </a:p>
        </p:txBody>
      </p:sp>
      <p:sp>
        <p:nvSpPr>
          <p:cNvPr id="23" name="tf_4"/>
          <p:cNvSpPr txBox="1"/>
          <p:nvPr/>
        </p:nvSpPr>
        <p:spPr>
          <a:xfrm>
            <a:off x="9765792" y="523913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8485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77850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7850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15.  </a:t>
            </a:r>
            <a:r>
              <a:rPr lang="ko-KR" altLang="en-US" sz="1900" b="0" dirty="0">
                <a:solidFill>
                  <a:srgbClr val="1F2328"/>
                </a:solidFill>
                <a:latin typeface="맑은 고딕"/>
                <a:ea typeface="맑은 고딕"/>
                <a:cs typeface="맑은 고딕"/>
              </a:rPr>
              <a:t>어느 겨울, 남자의 어머니는 병이 들어 아무것도 먹을 수 없었다.</a:t>
            </a:r>
            <a:endParaRPr lang="ko-KR" sz="1900"/>
          </a:p>
        </p:txBody>
      </p:sp>
      <p:sp>
        <p:nvSpPr>
          <p:cNvPr id="27" name="tf_5"/>
          <p:cNvSpPr txBox="1"/>
          <p:nvPr/>
        </p:nvSpPr>
        <p:spPr>
          <a:xfrm>
            <a:off x="9765792" y="577850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2422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505456"/>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505456"/>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⑦ </a:t>
            </a:r>
            <a:r>
              <a:rPr lang="en-US" altLang="en-US" sz="1600" b="0" dirty="0">
                <a:solidFill>
                  <a:srgbClr val="1F2328"/>
                </a:solidFill>
                <a:latin typeface="Calibri"/>
                <a:ea typeface="맑은 고딕"/>
                <a:cs typeface="Calibri"/>
              </a:rPr>
              <a:t>The animals or objects in Munjado are not just decorations. They often are symbolic. </a:t>
            </a:r>
            <a:r>
              <a:rPr lang="ko-KR" altLang="en-US" sz="1600" b="1" dirty="0">
                <a:solidFill>
                  <a:srgbClr val="1E2A5A"/>
                </a:solidFill>
                <a:latin typeface="맑은 고딕"/>
                <a:ea typeface="맑은 고딕"/>
                <a:cs typeface="맑은 고딕"/>
              </a:rPr>
              <a:t>⑧ </a:t>
            </a:r>
            <a:r>
              <a:rPr lang="en-US" altLang="en-US" sz="1600" b="0" dirty="0">
                <a:solidFill>
                  <a:srgbClr val="1F2328"/>
                </a:solidFill>
                <a:latin typeface="Calibri"/>
                <a:ea typeface="맑은 고딕"/>
                <a:cs typeface="Calibri"/>
              </a:rPr>
              <a:t>For example, carp in the paintings of hyo symbolize respect for parents because of an old story. </a:t>
            </a:r>
            <a:r>
              <a:rPr lang="ko-KR" altLang="en-US" sz="1600" b="1" dirty="0">
                <a:solidFill>
                  <a:srgbClr val="1E2A5A"/>
                </a:solidFill>
                <a:latin typeface="맑은 고딕"/>
                <a:ea typeface="맑은 고딕"/>
                <a:cs typeface="맑은 고딕"/>
              </a:rPr>
              <a:t>⑨ </a:t>
            </a:r>
            <a:r>
              <a:rPr lang="en-US" altLang="en-US" sz="1600" b="0" dirty="0">
                <a:solidFill>
                  <a:srgbClr val="1F2328"/>
                </a:solidFill>
                <a:latin typeface="Calibri"/>
                <a:ea typeface="맑은 고딕"/>
                <a:cs typeface="Calibri"/>
              </a:rPr>
              <a:t>The story goes as follows. Once upon a time, a man lived with his old mother. </a:t>
            </a:r>
            <a:r>
              <a:rPr lang="ko-KR" altLang="en-US" sz="1600" b="1" dirty="0">
                <a:solidFill>
                  <a:srgbClr val="1E2A5A"/>
                </a:solidFill>
                <a:latin typeface="맑은 고딕"/>
                <a:ea typeface="맑은 고딕"/>
                <a:cs typeface="맑은 고딕"/>
              </a:rPr>
              <a:t>⑩ </a:t>
            </a:r>
            <a:r>
              <a:rPr lang="en-US" altLang="en-US" sz="1600" b="0" dirty="0">
                <a:solidFill>
                  <a:srgbClr val="1F2328"/>
                </a:solidFill>
                <a:latin typeface="Calibri"/>
                <a:ea typeface="맑은 고딕"/>
                <a:cs typeface="Calibri"/>
              </a:rPr>
              <a:t>One winter, the man’s mother became ill and couldn’t eat anything. </a:t>
            </a:r>
            <a:r>
              <a:rPr lang="ko-KR" altLang="en-US" sz="1600" b="1" dirty="0">
                <a:solidFill>
                  <a:srgbClr val="1E2A5A"/>
                </a:solidFill>
                <a:latin typeface="맑은 고딕"/>
                <a:ea typeface="맑은 고딕"/>
                <a:cs typeface="맑은 고딕"/>
              </a:rPr>
              <a:t>⑪ </a:t>
            </a:r>
            <a:r>
              <a:rPr lang="en-US" altLang="en-US" sz="1600" b="0" dirty="0">
                <a:solidFill>
                  <a:srgbClr val="1F2328"/>
                </a:solidFill>
                <a:latin typeface="Calibri"/>
                <a:ea typeface="맑은 고딕"/>
                <a:cs typeface="Calibri"/>
              </a:rPr>
              <a:t>On one very cold day, the mother said to the man, “It would be wonderful if I could eat fresh fish.” </a:t>
            </a: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The man went out to the river, but it was completely frozen.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It was impossible for him to catch any fish.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The man was so disappointed that he cried out to the sky, “What should I do? Please help me.”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Then the ice melted, and three carp suddenly came out of the water.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The man went back home and cooked the fish for his mother. Then his mother got well. </a:t>
            </a:r>
            <a:endParaRPr lang="ko-KR" sz="1600"/>
          </a:p>
        </p:txBody>
      </p:sp>
      <p:sp>
        <p:nvSpPr>
          <p:cNvPr id="9" name="q_card_1"/>
          <p:cNvSpPr/>
          <p:nvPr/>
        </p:nvSpPr>
        <p:spPr>
          <a:xfrm>
            <a:off x="457200" y="362102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62102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16.  </a:t>
            </a:r>
            <a:r>
              <a:rPr lang="ko-KR" altLang="en-US" sz="1900" b="0" dirty="0">
                <a:solidFill>
                  <a:srgbClr val="1F2328"/>
                </a:solidFill>
                <a:latin typeface="맑은 고딕"/>
                <a:ea typeface="맑은 고딕"/>
                <a:cs typeface="맑은 고딕"/>
              </a:rPr>
              <a:t>어머니는 신선한 과일을 먹고 싶다고 말했다.</a:t>
            </a:r>
            <a:endParaRPr lang="ko-KR" sz="1900"/>
          </a:p>
        </p:txBody>
      </p:sp>
      <p:sp>
        <p:nvSpPr>
          <p:cNvPr id="11" name="tf_1"/>
          <p:cNvSpPr txBox="1"/>
          <p:nvPr/>
        </p:nvSpPr>
        <p:spPr>
          <a:xfrm>
            <a:off x="9765792" y="362102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66674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416039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16039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17.  </a:t>
            </a:r>
            <a:r>
              <a:rPr lang="ko-KR" altLang="en-US" sz="1900" b="0" dirty="0">
                <a:solidFill>
                  <a:srgbClr val="1F2328"/>
                </a:solidFill>
                <a:latin typeface="맑은 고딕"/>
                <a:ea typeface="맑은 고딕"/>
                <a:cs typeface="맑은 고딕"/>
              </a:rPr>
              <a:t>남자가 강에 갔을 때 강은 완전히 얼어 있었다.</a:t>
            </a:r>
            <a:endParaRPr lang="ko-KR" sz="1900"/>
          </a:p>
        </p:txBody>
      </p:sp>
      <p:sp>
        <p:nvSpPr>
          <p:cNvPr id="15" name="tf_2"/>
          <p:cNvSpPr txBox="1"/>
          <p:nvPr/>
        </p:nvSpPr>
        <p:spPr>
          <a:xfrm>
            <a:off x="9765792" y="416039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20611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69976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9976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18.  </a:t>
            </a:r>
            <a:r>
              <a:rPr lang="ko-KR" altLang="en-US" sz="1900" b="0" dirty="0">
                <a:solidFill>
                  <a:srgbClr val="1F2328"/>
                </a:solidFill>
                <a:latin typeface="맑은 고딕"/>
                <a:ea typeface="맑은 고딕"/>
                <a:cs typeface="맑은 고딕"/>
              </a:rPr>
              <a:t>남자는 강에서 쉽게 물고기를 잡았다.</a:t>
            </a:r>
            <a:endParaRPr lang="ko-KR" sz="1900"/>
          </a:p>
        </p:txBody>
      </p:sp>
      <p:sp>
        <p:nvSpPr>
          <p:cNvPr id="19" name="tf_3"/>
          <p:cNvSpPr txBox="1"/>
          <p:nvPr/>
        </p:nvSpPr>
        <p:spPr>
          <a:xfrm>
            <a:off x="9765792" y="469976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4548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523913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3913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19.  </a:t>
            </a:r>
            <a:r>
              <a:rPr lang="ko-KR" altLang="en-US" sz="1900" b="0" dirty="0">
                <a:solidFill>
                  <a:srgbClr val="1F2328"/>
                </a:solidFill>
                <a:latin typeface="맑은 고딕"/>
                <a:ea typeface="맑은 고딕"/>
                <a:cs typeface="맑은 고딕"/>
              </a:rPr>
              <a:t>얼음이 녹자 잉어 세 마리가 물 밖으로 나왔다.</a:t>
            </a:r>
            <a:endParaRPr lang="ko-KR" sz="1900"/>
          </a:p>
        </p:txBody>
      </p:sp>
      <p:sp>
        <p:nvSpPr>
          <p:cNvPr id="23" name="tf_4"/>
          <p:cNvSpPr txBox="1"/>
          <p:nvPr/>
        </p:nvSpPr>
        <p:spPr>
          <a:xfrm>
            <a:off x="9765792" y="523913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8485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77850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7850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20.  </a:t>
            </a:r>
            <a:r>
              <a:rPr lang="ko-KR" altLang="en-US" sz="1900" b="0" dirty="0">
                <a:solidFill>
                  <a:srgbClr val="1F2328"/>
                </a:solidFill>
                <a:latin typeface="맑은 고딕"/>
                <a:ea typeface="맑은 고딕"/>
                <a:cs typeface="맑은 고딕"/>
              </a:rPr>
              <a:t>물고기를 먹은 후에도 어머니의 병은 낫지 않았다.</a:t>
            </a:r>
            <a:endParaRPr lang="ko-KR" sz="1900"/>
          </a:p>
        </p:txBody>
      </p:sp>
      <p:sp>
        <p:nvSpPr>
          <p:cNvPr id="27" name="tf_5"/>
          <p:cNvSpPr txBox="1"/>
          <p:nvPr/>
        </p:nvSpPr>
        <p:spPr>
          <a:xfrm>
            <a:off x="9765792" y="577850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2422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505456"/>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505456"/>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There are other examples of symbolic objects in Munjado.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They are bamboo in the paintings of the character chung (忠) and lotus flowers in the paintings of ui (義). </a:t>
            </a:r>
            <a:r>
              <a:rPr lang="ko-KR" altLang="en-US" sz="1600" b="1" dirty="0">
                <a:solidFill>
                  <a:srgbClr val="1E2A5A"/>
                </a:solidFill>
                <a:latin typeface="맑은 고딕"/>
                <a:ea typeface="맑은 고딕"/>
                <a:cs typeface="맑은 고딕"/>
              </a:rPr>
              <a:t>⑲ </a:t>
            </a:r>
            <a:r>
              <a:rPr lang="en-US" altLang="en-US" sz="1600" b="0" dirty="0">
                <a:solidFill>
                  <a:srgbClr val="1F2328"/>
                </a:solidFill>
                <a:latin typeface="Calibri"/>
                <a:ea typeface="맑은 고딕"/>
                <a:cs typeface="Calibri"/>
              </a:rPr>
              <a:t>Bamboo does not bend. It stays green in all kinds of weather. </a:t>
            </a:r>
            <a:r>
              <a:rPr lang="ko-KR" altLang="en-US" sz="1600" b="1" dirty="0">
                <a:solidFill>
                  <a:srgbClr val="1E2A5A"/>
                </a:solidFill>
                <a:latin typeface="맑은 고딕"/>
                <a:ea typeface="맑은 고딕"/>
                <a:cs typeface="맑은 고딕"/>
              </a:rPr>
              <a:t>⑳ </a:t>
            </a:r>
            <a:r>
              <a:rPr lang="en-US" altLang="en-US" sz="1600" b="0" dirty="0">
                <a:solidFill>
                  <a:srgbClr val="1F2328"/>
                </a:solidFill>
                <a:latin typeface="Calibri"/>
                <a:ea typeface="맑은 고딕"/>
                <a:cs typeface="Calibri"/>
              </a:rPr>
              <a:t>For these reasons, bamboo came to symbolize loyalty to the king. </a:t>
            </a:r>
            <a:r>
              <a:rPr lang="en-US" altLang="en-US" sz="1600" b="1" dirty="0">
                <a:solidFill>
                  <a:srgbClr val="1E2A5A"/>
                </a:solidFill>
                <a:latin typeface="Calibri"/>
                <a:ea typeface="맑은 고딕"/>
                <a:cs typeface="Calibri"/>
              </a:rPr>
              <a:t>21. </a:t>
            </a:r>
            <a:r>
              <a:rPr lang="en-US" altLang="en-US" sz="1600" b="0" dirty="0">
                <a:solidFill>
                  <a:srgbClr val="1F2328"/>
                </a:solidFill>
                <a:latin typeface="Calibri"/>
                <a:ea typeface="맑은 고딕"/>
                <a:cs typeface="Calibri"/>
              </a:rPr>
              <a:t>In the case of lotus flowers, they grow in muddy ponds but still bloom beautifully. </a:t>
            </a:r>
            <a:r>
              <a:rPr lang="en-US" altLang="en-US" sz="1600" b="1" dirty="0">
                <a:solidFill>
                  <a:srgbClr val="1E2A5A"/>
                </a:solidFill>
                <a:latin typeface="Calibri"/>
                <a:ea typeface="맑은 고딕"/>
                <a:cs typeface="Calibri"/>
              </a:rPr>
              <a:t>22. </a:t>
            </a:r>
            <a:r>
              <a:rPr lang="en-US" altLang="en-US" sz="1600" b="0" dirty="0">
                <a:solidFill>
                  <a:srgbClr val="1F2328"/>
                </a:solidFill>
                <a:latin typeface="Calibri"/>
                <a:ea typeface="맑은 고딕"/>
                <a:cs typeface="Calibri"/>
              </a:rPr>
              <a:t>They thus became a symbol of a person’s will to fight for justice despite difficulties. </a:t>
            </a:r>
            <a:r>
              <a:rPr lang="en-US" altLang="en-US" sz="1600" b="1" dirty="0">
                <a:solidFill>
                  <a:srgbClr val="1E2A5A"/>
                </a:solidFill>
                <a:latin typeface="Calibri"/>
                <a:ea typeface="맑은 고딕"/>
                <a:cs typeface="Calibri"/>
              </a:rPr>
              <a:t>23. </a:t>
            </a:r>
            <a:r>
              <a:rPr lang="en-US" altLang="en-US" sz="1600" b="0" dirty="0">
                <a:solidFill>
                  <a:srgbClr val="1F2328"/>
                </a:solidFill>
                <a:latin typeface="Calibri"/>
                <a:ea typeface="맑은 고딕"/>
                <a:cs typeface="Calibri"/>
              </a:rPr>
              <a:t>Munjado was much more than a painting to people of the Joseon dynasty. </a:t>
            </a:r>
            <a:r>
              <a:rPr lang="en-US" altLang="en-US" sz="1600" b="1" dirty="0">
                <a:solidFill>
                  <a:srgbClr val="1E2A5A"/>
                </a:solidFill>
                <a:latin typeface="Calibri"/>
                <a:ea typeface="맑은 고딕"/>
                <a:cs typeface="Calibri"/>
              </a:rPr>
              <a:t>24. </a:t>
            </a:r>
            <a:r>
              <a:rPr lang="en-US" altLang="en-US" sz="1600" b="0" dirty="0">
                <a:solidFill>
                  <a:srgbClr val="1F2328"/>
                </a:solidFill>
                <a:latin typeface="Calibri"/>
                <a:ea typeface="맑은 고딕"/>
                <a:cs typeface="Calibri"/>
              </a:rPr>
              <a:t>It reminded them of important values that greatly influenced their behaviors and attitudes. </a:t>
            </a:r>
            <a:r>
              <a:rPr lang="en-US" altLang="en-US" sz="1600" b="1" dirty="0">
                <a:solidFill>
                  <a:srgbClr val="1E2A5A"/>
                </a:solidFill>
                <a:latin typeface="Calibri"/>
                <a:ea typeface="맑은 고딕"/>
                <a:cs typeface="Calibri"/>
              </a:rPr>
              <a:t>25. </a:t>
            </a:r>
            <a:r>
              <a:rPr lang="en-US" altLang="en-US" sz="1600" b="0" dirty="0">
                <a:solidFill>
                  <a:srgbClr val="1F2328"/>
                </a:solidFill>
                <a:latin typeface="Calibri"/>
                <a:ea typeface="맑은 고딕"/>
                <a:cs typeface="Calibri"/>
              </a:rPr>
              <a:t>In particular, for children, Munjado was a study tool. </a:t>
            </a:r>
            <a:r>
              <a:rPr lang="en-US" altLang="en-US" sz="1600" b="1" dirty="0">
                <a:solidFill>
                  <a:srgbClr val="1E2A5A"/>
                </a:solidFill>
                <a:latin typeface="Calibri"/>
                <a:ea typeface="맑은 고딕"/>
                <a:cs typeface="Calibri"/>
              </a:rPr>
              <a:t>26. </a:t>
            </a:r>
            <a:r>
              <a:rPr lang="en-US" altLang="en-US" sz="1600" b="0" dirty="0">
                <a:solidFill>
                  <a:srgbClr val="1F2328"/>
                </a:solidFill>
                <a:latin typeface="Calibri"/>
                <a:ea typeface="맑은 고딕"/>
                <a:cs typeface="Calibri"/>
              </a:rPr>
              <a:t>Through it, children in the Joseon dynasty could learn the importance of harmony in family and society. </a:t>
            </a:r>
            <a:endParaRPr lang="ko-KR" sz="1600"/>
          </a:p>
        </p:txBody>
      </p:sp>
      <p:sp>
        <p:nvSpPr>
          <p:cNvPr id="9" name="q_card_1"/>
          <p:cNvSpPr/>
          <p:nvPr/>
        </p:nvSpPr>
        <p:spPr>
          <a:xfrm>
            <a:off x="457200" y="362102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62102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21.  </a:t>
            </a:r>
            <a:r>
              <a:rPr lang="ko-KR" altLang="en-US" sz="1900" b="0" dirty="0">
                <a:solidFill>
                  <a:srgbClr val="1F2328"/>
                </a:solidFill>
                <a:latin typeface="맑은 고딕"/>
                <a:ea typeface="맑은 고딕"/>
                <a:cs typeface="맑은 고딕"/>
              </a:rPr>
              <a:t>'충(忠)' 그림에는 대나무가 있다.</a:t>
            </a:r>
            <a:endParaRPr lang="ko-KR" sz="1900"/>
          </a:p>
        </p:txBody>
      </p:sp>
      <p:sp>
        <p:nvSpPr>
          <p:cNvPr id="11" name="tf_1"/>
          <p:cNvSpPr txBox="1"/>
          <p:nvPr/>
        </p:nvSpPr>
        <p:spPr>
          <a:xfrm>
            <a:off x="9765792" y="362102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66674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416039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16039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22.  </a:t>
            </a:r>
            <a:r>
              <a:rPr lang="ko-KR" altLang="en-US" sz="1900" b="0" dirty="0">
                <a:solidFill>
                  <a:srgbClr val="1F2328"/>
                </a:solidFill>
                <a:latin typeface="맑은 고딕"/>
                <a:ea typeface="맑은 고딕"/>
                <a:cs typeface="맑은 고딕"/>
              </a:rPr>
              <a:t>'의(義)' 그림에는 대나무가 있다.</a:t>
            </a:r>
            <a:endParaRPr lang="ko-KR" sz="1900"/>
          </a:p>
        </p:txBody>
      </p:sp>
      <p:sp>
        <p:nvSpPr>
          <p:cNvPr id="15" name="tf_2"/>
          <p:cNvSpPr txBox="1"/>
          <p:nvPr/>
        </p:nvSpPr>
        <p:spPr>
          <a:xfrm>
            <a:off x="9765792" y="416039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20611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69976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9976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23.  </a:t>
            </a:r>
            <a:r>
              <a:rPr lang="ko-KR" altLang="en-US" sz="1900" b="0" dirty="0">
                <a:solidFill>
                  <a:srgbClr val="1F2328"/>
                </a:solidFill>
                <a:latin typeface="맑은 고딕"/>
                <a:ea typeface="맑은 고딕"/>
                <a:cs typeface="맑은 고딕"/>
              </a:rPr>
              <a:t>대나무는 구부러지지 않는다.</a:t>
            </a:r>
            <a:endParaRPr lang="ko-KR" sz="1900"/>
          </a:p>
        </p:txBody>
      </p:sp>
      <p:sp>
        <p:nvSpPr>
          <p:cNvPr id="19" name="tf_3"/>
          <p:cNvSpPr txBox="1"/>
          <p:nvPr/>
        </p:nvSpPr>
        <p:spPr>
          <a:xfrm>
            <a:off x="9765792" y="469976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4548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23913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3913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24.  </a:t>
            </a:r>
            <a:r>
              <a:rPr lang="ko-KR" altLang="en-US" sz="1900" b="0" dirty="0">
                <a:solidFill>
                  <a:srgbClr val="1F2328"/>
                </a:solidFill>
                <a:latin typeface="맑은 고딕"/>
                <a:ea typeface="맑은 고딕"/>
                <a:cs typeface="맑은 고딕"/>
              </a:rPr>
              <a:t>대나무는 추운 날씨에는 색이 누렇게 변한다.</a:t>
            </a:r>
            <a:endParaRPr lang="ko-KR" sz="1900"/>
          </a:p>
        </p:txBody>
      </p:sp>
      <p:sp>
        <p:nvSpPr>
          <p:cNvPr id="23" name="tf_4"/>
          <p:cNvSpPr txBox="1"/>
          <p:nvPr/>
        </p:nvSpPr>
        <p:spPr>
          <a:xfrm>
            <a:off x="9765792" y="523913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8485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77850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7850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25.  </a:t>
            </a:r>
            <a:r>
              <a:rPr lang="ko-KR" altLang="en-US" sz="1900" b="0" dirty="0">
                <a:solidFill>
                  <a:srgbClr val="1F2328"/>
                </a:solidFill>
                <a:latin typeface="맑은 고딕"/>
                <a:ea typeface="맑은 고딕"/>
                <a:cs typeface="맑은 고딕"/>
              </a:rPr>
              <a:t>대나무는 왕에 대한 충성심을 상징하게 되었다.</a:t>
            </a:r>
            <a:endParaRPr lang="ko-KR" sz="1900"/>
          </a:p>
        </p:txBody>
      </p:sp>
      <p:sp>
        <p:nvSpPr>
          <p:cNvPr id="27" name="tf_5"/>
          <p:cNvSpPr txBox="1"/>
          <p:nvPr/>
        </p:nvSpPr>
        <p:spPr>
          <a:xfrm>
            <a:off x="9765792" y="577850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2422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505456"/>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505456"/>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There are other examples of symbolic objects in Munjado.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They are bamboo in the paintings of the character chung (忠) and lotus flowers in the paintings of ui (義). </a:t>
            </a:r>
            <a:r>
              <a:rPr lang="ko-KR" altLang="en-US" sz="1600" b="1" dirty="0">
                <a:solidFill>
                  <a:srgbClr val="1E2A5A"/>
                </a:solidFill>
                <a:latin typeface="맑은 고딕"/>
                <a:ea typeface="맑은 고딕"/>
                <a:cs typeface="맑은 고딕"/>
              </a:rPr>
              <a:t>⑲ </a:t>
            </a:r>
            <a:r>
              <a:rPr lang="en-US" altLang="en-US" sz="1600" b="0" dirty="0">
                <a:solidFill>
                  <a:srgbClr val="1F2328"/>
                </a:solidFill>
                <a:latin typeface="Calibri"/>
                <a:ea typeface="맑은 고딕"/>
                <a:cs typeface="Calibri"/>
              </a:rPr>
              <a:t>Bamboo does not bend. It stays green in all kinds of weather. </a:t>
            </a:r>
            <a:r>
              <a:rPr lang="ko-KR" altLang="en-US" sz="1600" b="1" dirty="0">
                <a:solidFill>
                  <a:srgbClr val="1E2A5A"/>
                </a:solidFill>
                <a:latin typeface="맑은 고딕"/>
                <a:ea typeface="맑은 고딕"/>
                <a:cs typeface="맑은 고딕"/>
              </a:rPr>
              <a:t>⑳ </a:t>
            </a:r>
            <a:r>
              <a:rPr lang="en-US" altLang="en-US" sz="1600" b="0" dirty="0">
                <a:solidFill>
                  <a:srgbClr val="1F2328"/>
                </a:solidFill>
                <a:latin typeface="Calibri"/>
                <a:ea typeface="맑은 고딕"/>
                <a:cs typeface="Calibri"/>
              </a:rPr>
              <a:t>For these reasons, bamboo came to symbolize loyalty to the king. </a:t>
            </a:r>
            <a:r>
              <a:rPr lang="en-US" altLang="en-US" sz="1600" b="1" dirty="0">
                <a:solidFill>
                  <a:srgbClr val="1E2A5A"/>
                </a:solidFill>
                <a:latin typeface="Calibri"/>
                <a:ea typeface="맑은 고딕"/>
                <a:cs typeface="Calibri"/>
              </a:rPr>
              <a:t>21. </a:t>
            </a:r>
            <a:r>
              <a:rPr lang="en-US" altLang="en-US" sz="1600" b="0" dirty="0">
                <a:solidFill>
                  <a:srgbClr val="1F2328"/>
                </a:solidFill>
                <a:latin typeface="Calibri"/>
                <a:ea typeface="맑은 고딕"/>
                <a:cs typeface="Calibri"/>
              </a:rPr>
              <a:t>In the case of lotus flowers, they grow in muddy ponds but still bloom beautifully. </a:t>
            </a:r>
            <a:r>
              <a:rPr lang="en-US" altLang="en-US" sz="1600" b="1" dirty="0">
                <a:solidFill>
                  <a:srgbClr val="1E2A5A"/>
                </a:solidFill>
                <a:latin typeface="Calibri"/>
                <a:ea typeface="맑은 고딕"/>
                <a:cs typeface="Calibri"/>
              </a:rPr>
              <a:t>22. </a:t>
            </a:r>
            <a:r>
              <a:rPr lang="en-US" altLang="en-US" sz="1600" b="0" dirty="0">
                <a:solidFill>
                  <a:srgbClr val="1F2328"/>
                </a:solidFill>
                <a:latin typeface="Calibri"/>
                <a:ea typeface="맑은 고딕"/>
                <a:cs typeface="Calibri"/>
              </a:rPr>
              <a:t>They thus became a symbol of a person’s will to fight for justice despite difficulties. </a:t>
            </a:r>
            <a:r>
              <a:rPr lang="en-US" altLang="en-US" sz="1600" b="1" dirty="0">
                <a:solidFill>
                  <a:srgbClr val="1E2A5A"/>
                </a:solidFill>
                <a:latin typeface="Calibri"/>
                <a:ea typeface="맑은 고딕"/>
                <a:cs typeface="Calibri"/>
              </a:rPr>
              <a:t>23. </a:t>
            </a:r>
            <a:r>
              <a:rPr lang="en-US" altLang="en-US" sz="1600" b="0" dirty="0">
                <a:solidFill>
                  <a:srgbClr val="1F2328"/>
                </a:solidFill>
                <a:latin typeface="Calibri"/>
                <a:ea typeface="맑은 고딕"/>
                <a:cs typeface="Calibri"/>
              </a:rPr>
              <a:t>Munjado was much more than a painting to people of the Joseon dynasty. </a:t>
            </a:r>
            <a:r>
              <a:rPr lang="en-US" altLang="en-US" sz="1600" b="1" dirty="0">
                <a:solidFill>
                  <a:srgbClr val="1E2A5A"/>
                </a:solidFill>
                <a:latin typeface="Calibri"/>
                <a:ea typeface="맑은 고딕"/>
                <a:cs typeface="Calibri"/>
              </a:rPr>
              <a:t>24. </a:t>
            </a:r>
            <a:r>
              <a:rPr lang="en-US" altLang="en-US" sz="1600" b="0" dirty="0">
                <a:solidFill>
                  <a:srgbClr val="1F2328"/>
                </a:solidFill>
                <a:latin typeface="Calibri"/>
                <a:ea typeface="맑은 고딕"/>
                <a:cs typeface="Calibri"/>
              </a:rPr>
              <a:t>It reminded them of important values that greatly influenced their behaviors and attitudes. </a:t>
            </a:r>
            <a:r>
              <a:rPr lang="en-US" altLang="en-US" sz="1600" b="1" dirty="0">
                <a:solidFill>
                  <a:srgbClr val="1E2A5A"/>
                </a:solidFill>
                <a:latin typeface="Calibri"/>
                <a:ea typeface="맑은 고딕"/>
                <a:cs typeface="Calibri"/>
              </a:rPr>
              <a:t>25. </a:t>
            </a:r>
            <a:r>
              <a:rPr lang="en-US" altLang="en-US" sz="1600" b="0" dirty="0">
                <a:solidFill>
                  <a:srgbClr val="1F2328"/>
                </a:solidFill>
                <a:latin typeface="Calibri"/>
                <a:ea typeface="맑은 고딕"/>
                <a:cs typeface="Calibri"/>
              </a:rPr>
              <a:t>In particular, for children, Munjado was a study tool. </a:t>
            </a:r>
            <a:r>
              <a:rPr lang="en-US" altLang="en-US" sz="1600" b="1" dirty="0">
                <a:solidFill>
                  <a:srgbClr val="1E2A5A"/>
                </a:solidFill>
                <a:latin typeface="Calibri"/>
                <a:ea typeface="맑은 고딕"/>
                <a:cs typeface="Calibri"/>
              </a:rPr>
              <a:t>26. </a:t>
            </a:r>
            <a:r>
              <a:rPr lang="en-US" altLang="en-US" sz="1600" b="0" dirty="0">
                <a:solidFill>
                  <a:srgbClr val="1F2328"/>
                </a:solidFill>
                <a:latin typeface="Calibri"/>
                <a:ea typeface="맑은 고딕"/>
                <a:cs typeface="Calibri"/>
              </a:rPr>
              <a:t>Through it, children in the Joseon dynasty could learn the importance of harmony in family and society. </a:t>
            </a:r>
            <a:endParaRPr lang="ko-KR" sz="1600"/>
          </a:p>
        </p:txBody>
      </p:sp>
      <p:sp>
        <p:nvSpPr>
          <p:cNvPr id="9" name="q_card_1"/>
          <p:cNvSpPr/>
          <p:nvPr/>
        </p:nvSpPr>
        <p:spPr>
          <a:xfrm>
            <a:off x="457200" y="362102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62102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26.  </a:t>
            </a:r>
            <a:r>
              <a:rPr lang="ko-KR" altLang="en-US" sz="1900" b="0" dirty="0">
                <a:solidFill>
                  <a:srgbClr val="1F2328"/>
                </a:solidFill>
                <a:latin typeface="맑은 고딕"/>
                <a:ea typeface="맑은 고딕"/>
                <a:cs typeface="맑은 고딕"/>
              </a:rPr>
              <a:t>연꽃은 진흙투성이의 연못에서 자란다.</a:t>
            </a:r>
            <a:endParaRPr lang="ko-KR" sz="1900"/>
          </a:p>
        </p:txBody>
      </p:sp>
      <p:sp>
        <p:nvSpPr>
          <p:cNvPr id="11" name="tf_1"/>
          <p:cNvSpPr txBox="1"/>
          <p:nvPr/>
        </p:nvSpPr>
        <p:spPr>
          <a:xfrm>
            <a:off x="9765792" y="362102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66674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416039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16039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27.  </a:t>
            </a:r>
            <a:r>
              <a:rPr lang="ko-KR" altLang="en-US" sz="1900" b="0" dirty="0">
                <a:solidFill>
                  <a:srgbClr val="1F2328"/>
                </a:solidFill>
                <a:latin typeface="맑은 고딕"/>
                <a:ea typeface="맑은 고딕"/>
                <a:cs typeface="맑은 고딕"/>
              </a:rPr>
              <a:t>연꽃은 부모님에 대한 공경을 상징한다.</a:t>
            </a:r>
            <a:endParaRPr lang="ko-KR" sz="1900"/>
          </a:p>
        </p:txBody>
      </p:sp>
      <p:sp>
        <p:nvSpPr>
          <p:cNvPr id="15" name="tf_2"/>
          <p:cNvSpPr txBox="1"/>
          <p:nvPr/>
        </p:nvSpPr>
        <p:spPr>
          <a:xfrm>
            <a:off x="9765792" y="416039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20611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69976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9976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28.  </a:t>
            </a:r>
            <a:r>
              <a:rPr lang="ko-KR" altLang="en-US" sz="1900" b="0" dirty="0">
                <a:solidFill>
                  <a:srgbClr val="1F2328"/>
                </a:solidFill>
                <a:latin typeface="맑은 고딕"/>
                <a:ea typeface="맑은 고딕"/>
                <a:cs typeface="맑은 고딕"/>
              </a:rPr>
              <a:t>연꽃은 어려움에도 정의를 위해 싸우는 의지를 상징한다.</a:t>
            </a:r>
            <a:endParaRPr lang="ko-KR" sz="1900"/>
          </a:p>
        </p:txBody>
      </p:sp>
      <p:sp>
        <p:nvSpPr>
          <p:cNvPr id="19" name="tf_3"/>
          <p:cNvSpPr txBox="1"/>
          <p:nvPr/>
        </p:nvSpPr>
        <p:spPr>
          <a:xfrm>
            <a:off x="9765792" y="469976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4548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23913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3913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29.  </a:t>
            </a:r>
            <a:r>
              <a:rPr lang="ko-KR" altLang="en-US" sz="1900" b="0" dirty="0">
                <a:solidFill>
                  <a:srgbClr val="1F2328"/>
                </a:solidFill>
                <a:latin typeface="맑은 고딕"/>
                <a:ea typeface="맑은 고딕"/>
                <a:cs typeface="맑은 고딕"/>
              </a:rPr>
              <a:t>문자도는 조선 시대 사람들에게 단순한 그림에 불과했다.</a:t>
            </a:r>
            <a:endParaRPr lang="ko-KR" sz="1900"/>
          </a:p>
        </p:txBody>
      </p:sp>
      <p:sp>
        <p:nvSpPr>
          <p:cNvPr id="23" name="tf_4"/>
          <p:cNvSpPr txBox="1"/>
          <p:nvPr/>
        </p:nvSpPr>
        <p:spPr>
          <a:xfrm>
            <a:off x="9765792" y="523913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8485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77850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7850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30.  </a:t>
            </a:r>
            <a:r>
              <a:rPr lang="ko-KR" altLang="en-US" sz="1900" b="0" dirty="0">
                <a:solidFill>
                  <a:srgbClr val="1F2328"/>
                </a:solidFill>
                <a:latin typeface="맑은 고딕"/>
                <a:ea typeface="맑은 고딕"/>
                <a:cs typeface="맑은 고딕"/>
              </a:rPr>
              <a:t>조선 시대 아이들에게 문자도는 학습 도구였다.</a:t>
            </a:r>
            <a:endParaRPr lang="ko-KR" sz="1900"/>
          </a:p>
        </p:txBody>
      </p:sp>
      <p:sp>
        <p:nvSpPr>
          <p:cNvPr id="27" name="tf_5"/>
          <p:cNvSpPr txBox="1"/>
          <p:nvPr/>
        </p:nvSpPr>
        <p:spPr>
          <a:xfrm>
            <a:off x="9765792" y="577850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2422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5  </a:t>
            </a:r>
            <a:r>
              <a:rPr lang="ko-KR" altLang="en-US" sz="4000" b="1" dirty="0">
                <a:solidFill>
                  <a:srgbClr val="FFFFFF"/>
                </a:solidFill>
                <a:latin typeface="맑은 고딕"/>
                <a:ea typeface="맑은 고딕"/>
                <a:cs typeface="맑은 고딕"/>
              </a:rPr>
              <a:t>어법 선택</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8</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1 ~ 26번  ·  9장</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 뜻을 참고하여 [  ] 안에서 어법상 알맞은 것을 고르기</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정답이 빨간색으로 표시되고 문법 포인트가 함께 공개</a:t>
            </a:r>
            <a:endParaRPr lang="ko-KR" sz="160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  </a:t>
            </a:r>
            <a:r>
              <a:rPr lang="ko-KR" altLang="en-US" sz="1600" b="0" dirty="0">
                <a:solidFill>
                  <a:srgbClr val="3C4558"/>
                </a:solidFill>
                <a:latin typeface="맑은 고딕"/>
                <a:ea typeface="맑은 고딕"/>
                <a:cs typeface="맑은 고딕"/>
              </a:rPr>
              <a:t>오른쪽 그림을 보라. 한자 '효(孝)'가 보이는가?</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Looking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Look</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the painting on the right.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see the Chinese character, hyo (孝)?</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Looking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Look</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the painting on the right.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see the Chinese character, hyo (孝)?</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(명령문 → 동사원형) · 동사의 수 일치 (주어 you)</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  </a:t>
            </a:r>
            <a:r>
              <a:rPr lang="ko-KR" altLang="en-US" sz="1600" b="0" dirty="0">
                <a:solidFill>
                  <a:srgbClr val="3C4558"/>
                </a:solidFill>
                <a:latin typeface="맑은 고딕"/>
                <a:ea typeface="맑은 고딕"/>
                <a:cs typeface="맑은 고딕"/>
              </a:rPr>
              <a:t>잉어와 거문고, 부채도 눈에 띄는가?</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also see a carp, a geomungo, and a fan?</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also see a carp, a geomungo, and a fan?</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you)</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  </a:t>
            </a:r>
            <a:r>
              <a:rPr lang="ko-KR" altLang="en-US" sz="1600" b="0" dirty="0">
                <a:solidFill>
                  <a:srgbClr val="3C4558"/>
                </a:solidFill>
                <a:latin typeface="맑은 고딕"/>
                <a:ea typeface="맑은 고딕"/>
                <a:cs typeface="맑은 고딕"/>
              </a:rPr>
              <a:t>이런 그림을 문자도라고 하는데, 조선 후기에 유행한 민화의 한 종류이다.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kind of painting 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calling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called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Munjado, and it is a type of folk painting that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popular in the late Joseon dynasty.</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kind of painting 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calling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called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Munjado, and it is a type of folk painting that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popular in the late Joseon dynasty.</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(그림이 '불리는' 것 → be + p.p.) · 동사의 수 일치 (선행사 a type of folk painting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4.  </a:t>
            </a:r>
            <a:r>
              <a:rPr lang="ko-KR" altLang="en-US" sz="1600" b="0" dirty="0">
                <a:solidFill>
                  <a:srgbClr val="3C4558"/>
                </a:solidFill>
                <a:latin typeface="맑은 고딕"/>
                <a:ea typeface="맑은 고딕"/>
                <a:cs typeface="맑은 고딕"/>
              </a:rPr>
              <a:t>문자도에는 대개 한자 하나가 몇몇 동물이나 사물과 함께 그려져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Munjado, 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usually a Chinese character with some animals or objects.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Munjado, 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usually a Chinese character with some animals or objects.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(there is + 단수 a Chinese character)</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5.  </a:t>
            </a:r>
            <a:r>
              <a:rPr lang="ko-KR" altLang="en-US" sz="1600" b="0" dirty="0">
                <a:solidFill>
                  <a:srgbClr val="3C4558"/>
                </a:solidFill>
                <a:latin typeface="맑은 고딕"/>
                <a:ea typeface="맑은 고딕"/>
                <a:cs typeface="맑은 고딕"/>
              </a:rPr>
              <a:t>문자도에는 여덟 개의 한자 중 하나가 등장한다.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One of eight Chinese characters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appear</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appears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Munjado.</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One of eight Chinese characters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appear</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appears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Munjado.</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(One of + 복수명사 → 단수 취급)</a:t>
            </a:r>
            <a:endParaRPr lang="ko-KR" sz="1400"/>
          </a:p>
        </p:txBody>
      </p:sp>
      <p:sp>
        <p:nvSpPr>
          <p:cNvPr id="17" name="item_card_3"/>
          <p:cNvSpPr/>
          <p:nvPr/>
        </p:nvSpPr>
        <p:spPr>
          <a:xfrm>
            <a:off x="457200" y="3848100"/>
            <a:ext cx="11274552" cy="1872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6.  </a:t>
            </a:r>
            <a:r>
              <a:rPr lang="ko-KR" altLang="en-US" sz="1600" b="0" dirty="0">
                <a:solidFill>
                  <a:srgbClr val="3C4558"/>
                </a:solidFill>
                <a:latin typeface="맑은 고딕"/>
                <a:ea typeface="맑은 고딕"/>
                <a:cs typeface="맑은 고딕"/>
              </a:rPr>
              <a:t>그 글자들은 효, 제, 충, 신, 예, 의, 염, 치로, 조선 시대 사람들이 소중히 여긴 가치를 나타낸다.</a:t>
            </a:r>
            <a:endParaRPr lang="ko-KR" sz="1600"/>
          </a:p>
        </p:txBody>
      </p:sp>
      <p:sp>
        <p:nvSpPr>
          <p:cNvPr id="19" name="eng_3"/>
          <p:cNvSpPr txBox="1"/>
          <p:nvPr/>
        </p:nvSpPr>
        <p:spPr>
          <a:xfrm>
            <a:off x="457200" y="4266692"/>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are hyo (孝), je (悌), chung (忠), sin (信), ye (禮), ui (義), yeom (廉), and chi (恥), and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represent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represents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values that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important to people of the Joseon dynasty.</a:t>
            </a:r>
            <a:endParaRPr lang="ko-KR" sz="2000"/>
          </a:p>
        </p:txBody>
      </p:sp>
      <p:sp>
        <p:nvSpPr>
          <p:cNvPr id="20" name="rv_eng_3"/>
          <p:cNvSpPr txBox="1"/>
          <p:nvPr/>
        </p:nvSpPr>
        <p:spPr>
          <a:xfrm>
            <a:off x="457200" y="4266692"/>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are hyo (孝), je (悌), chung (忠), sin (信), ye (禮), ui (義), yeom (廉), and chi (恥), and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represent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represents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values that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important to people of the Joseon dynasty.</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복수) · 동사의 수 일치 (선행사 the values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7.  </a:t>
            </a:r>
            <a:r>
              <a:rPr lang="ko-KR" altLang="en-US" sz="1600" b="0" dirty="0">
                <a:solidFill>
                  <a:srgbClr val="3C4558"/>
                </a:solidFill>
                <a:latin typeface="맑은 고딕"/>
                <a:ea typeface="맑은 고딕"/>
                <a:cs typeface="맑은 고딕"/>
              </a:rPr>
              <a:t>문자도 속 동물이나 사물은 단순한 장식이 아니다. 그것들은 상징적인 의미를 지닌 경우가 많다.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animals or objects in Munjado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not just decorations. They often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symbolic.</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animals or objects in Munjado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not just decorations. They often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symbolic.</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animals or objects 복수) · 동사의 수 일치 (주어 They)</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8.  </a:t>
            </a:r>
            <a:r>
              <a:rPr lang="ko-KR" altLang="en-US" sz="1600" b="0" dirty="0">
                <a:solidFill>
                  <a:srgbClr val="3C4558"/>
                </a:solidFill>
                <a:latin typeface="맑은 고딕"/>
                <a:ea typeface="맑은 고딕"/>
                <a:cs typeface="맑은 고딕"/>
              </a:rPr>
              <a:t>예를 들어 효 그림 속 잉어는 옛이야기에서 비롯되어 부모에 대한 공경을 상징한다.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example, carp in the paintings of hyo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symbolize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symbolizes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respect for parents because of an old story.</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example, carp in the paintings of hyo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symbolize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symbolizes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respect for parents because of an old story.</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carp 복수, in ~는 수식어)</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9.  </a:t>
            </a:r>
            <a:r>
              <a:rPr lang="ko-KR" altLang="en-US" sz="1600" b="0" dirty="0">
                <a:solidFill>
                  <a:srgbClr val="3C4558"/>
                </a:solidFill>
                <a:latin typeface="맑은 고딕"/>
                <a:ea typeface="맑은 고딕"/>
                <a:cs typeface="맑은 고딕"/>
              </a:rPr>
              <a:t>이야기는 이렇다. 옛날 옛적에 한 남자가 늙은 어머니를 모시고 살았다.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story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go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goes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as follows. Once upon a time, a man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lived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lived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with his old mother.</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story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go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goes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as follows. Once upon a time, a man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lived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lived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with his old mother.</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story 단수) · 수동태(능동/수동 구별) (자동사 live는 수동태 불가)</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10.  </a:t>
            </a:r>
            <a:r>
              <a:rPr lang="ko-KR" altLang="en-US" sz="1600" b="0" dirty="0">
                <a:solidFill>
                  <a:srgbClr val="3C4558"/>
                </a:solidFill>
                <a:latin typeface="맑은 고딕"/>
                <a:ea typeface="맑은 고딕"/>
                <a:cs typeface="맑은 고딕"/>
              </a:rPr>
              <a:t>어느 겨울, 남자의 어머니가 병이 나서 아무것도 드시지 못했다.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One winter, the man’s mother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became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become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ill and couldn’t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eat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eat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anything.</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One winter, the man’s mother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became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become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ill and couldn’t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eat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eat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anything.</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(become은 수동태 불가) · to부정사/동명사/동사원형 (조동사 couldn’t + 동사원형)</a:t>
            </a:r>
            <a:endParaRPr lang="ko-KR" sz="1400"/>
          </a:p>
        </p:txBody>
      </p:sp>
      <p:sp>
        <p:nvSpPr>
          <p:cNvPr id="12" name="item_card_2"/>
          <p:cNvSpPr/>
          <p:nvPr/>
        </p:nvSpPr>
        <p:spPr>
          <a:xfrm>
            <a:off x="457200" y="2577338"/>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11.  </a:t>
            </a:r>
            <a:r>
              <a:rPr lang="ko-KR" altLang="en-US" sz="1600" b="0" dirty="0">
                <a:solidFill>
                  <a:srgbClr val="3C4558"/>
                </a:solidFill>
                <a:latin typeface="맑은 고딕"/>
                <a:ea typeface="맑은 고딕"/>
                <a:cs typeface="맑은 고딕"/>
              </a:rPr>
              <a:t>몹시 추운 어느 날, 어머니가 남자에게 "싱싱한 생선을 먹을 수 있으면 좋겠구나."라고 말했다.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On one very cold day, the mother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said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said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the man, “It would be wonderful if I could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eat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eating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fresh fish.”</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On one very cold day, the mother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said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said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the man, “It would be wonderful if I could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eat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eating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fresh fish.”</a:t>
            </a:r>
            <a:endParaRPr lang="ko-KR" sz="2000"/>
          </a:p>
        </p:txBody>
      </p:sp>
      <p:sp>
        <p:nvSpPr>
          <p:cNvPr id="16" name="rv_point_2"/>
          <p:cNvSpPr txBox="1"/>
          <p:nvPr/>
        </p:nvSpPr>
        <p:spPr>
          <a:xfrm>
            <a:off x="457200" y="3761994"/>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(주어 the mother가 직접 말함 → 능동) · to부정사/동명사/동사원형 (조동사 could + 동사원형)</a:t>
            </a:r>
            <a:endParaRPr lang="ko-KR" sz="1400"/>
          </a:p>
        </p:txBody>
      </p:sp>
      <p:sp>
        <p:nvSpPr>
          <p:cNvPr id="17" name="item_card_3"/>
          <p:cNvSpPr/>
          <p:nvPr/>
        </p:nvSpPr>
        <p:spPr>
          <a:xfrm>
            <a:off x="457200" y="442595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53567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12.  </a:t>
            </a:r>
            <a:r>
              <a:rPr lang="ko-KR" altLang="en-US" sz="1600" b="0" dirty="0">
                <a:solidFill>
                  <a:srgbClr val="3C4558"/>
                </a:solidFill>
                <a:latin typeface="맑은 고딕"/>
                <a:ea typeface="맑은 고딕"/>
                <a:cs typeface="맑은 고딕"/>
              </a:rPr>
              <a:t>남자는 강으로 나갔지만, 강물은 꽁꽁 얼어붙어 있었다.</a:t>
            </a:r>
            <a:endParaRPr lang="ko-KR" sz="1600"/>
          </a:p>
        </p:txBody>
      </p:sp>
      <p:sp>
        <p:nvSpPr>
          <p:cNvPr id="19" name="eng_3"/>
          <p:cNvSpPr txBox="1"/>
          <p:nvPr/>
        </p:nvSpPr>
        <p:spPr>
          <a:xfrm>
            <a:off x="457200" y="48445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man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to the river, but it was completely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freezing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frozen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20" name="rv_eng_3"/>
          <p:cNvSpPr txBox="1"/>
          <p:nvPr/>
        </p:nvSpPr>
        <p:spPr>
          <a:xfrm>
            <a:off x="457200" y="48445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man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to the river, but it was completely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freezing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frozen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21" name="rv_point_3"/>
          <p:cNvSpPr txBox="1"/>
          <p:nvPr/>
        </p:nvSpPr>
        <p:spPr>
          <a:xfrm>
            <a:off x="457200" y="561060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go는 수동태 불가) · 수동태(능동/수동 구별) (강이 '얼려진' 상태 → be + p.p.)</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13.  </a:t>
            </a:r>
            <a:r>
              <a:rPr lang="ko-KR" altLang="en-US" sz="1600" b="0" dirty="0">
                <a:solidFill>
                  <a:srgbClr val="3C4558"/>
                </a:solidFill>
                <a:latin typeface="맑은 고딕"/>
                <a:ea typeface="맑은 고딕"/>
                <a:cs typeface="맑은 고딕"/>
              </a:rPr>
              <a:t>그가 물고기를 잡는 것은 불가능했다.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impossible for him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catch</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catching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any fish.</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impossible for him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catch</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catching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any fish.</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(가주어 It 단수) · to부정사/동명사/동사원형 (가주어 It ~ 진주어 to부정사)</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14.  </a:t>
            </a:r>
            <a:r>
              <a:rPr lang="ko-KR" altLang="en-US" sz="1600" b="0" dirty="0">
                <a:solidFill>
                  <a:srgbClr val="3C4558"/>
                </a:solidFill>
                <a:latin typeface="맑은 고딕"/>
                <a:ea typeface="맑은 고딕"/>
                <a:cs typeface="맑은 고딕"/>
              </a:rPr>
              <a:t>남자는 몹시 낙심하여 하늘을 향해 외쳤다. "어떻게 해야 합니까? 제발 저를 도와주세요."</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man was 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disappointed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disappointing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that he cried out to the sky, “What should I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do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Please help me.”</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man was so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disappointed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disappointing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that he cried out to the sky, “What should I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do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Please help me.”</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(실망을 '느낀' 사람 → 과거분사) · to부정사/동명사/동사원형 (조동사 should + 동사원형)</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15.  </a:t>
            </a:r>
            <a:r>
              <a:rPr lang="ko-KR" altLang="en-US" sz="1600" b="0" dirty="0">
                <a:solidFill>
                  <a:srgbClr val="3C4558"/>
                </a:solidFill>
                <a:latin typeface="맑은 고딕"/>
                <a:ea typeface="맑은 고딕"/>
                <a:cs typeface="맑은 고딕"/>
              </a:rPr>
              <a:t>그러자 얼음이 녹더니 물속에서 잉어 세 마리가 갑자기 튀어나왔다.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Then the ice melted, and three carp suddenly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come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of the water.</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Then the ice melted, and three carp suddenly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come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came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of the water.</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come은 수동태 불가)</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16.  </a:t>
            </a:r>
            <a:r>
              <a:rPr lang="ko-KR" altLang="en-US" sz="1600" b="0" dirty="0">
                <a:solidFill>
                  <a:srgbClr val="3C4558"/>
                </a:solidFill>
                <a:latin typeface="맑은 고딕"/>
                <a:ea typeface="맑은 고딕"/>
                <a:cs typeface="맑은 고딕"/>
              </a:rPr>
              <a:t>남자는 집으로 돌아와 어머니께 그 물고기를 요리해 드렸다. 그러자 어머니의 병이 나았다.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man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back home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cooked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cooked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fish for his mother. Then his mother got well.</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man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back home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cooked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cooked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fish for his mother. Then his mother got well.</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go는 수동태 불가) · 수동태(능동/수동 구별) (목적어 the fish가 있으므로 능동)</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17.  </a:t>
            </a:r>
            <a:r>
              <a:rPr lang="ko-KR" altLang="en-US" sz="1600" b="0" dirty="0">
                <a:solidFill>
                  <a:srgbClr val="3C4558"/>
                </a:solidFill>
                <a:latin typeface="맑은 고딕"/>
                <a:ea typeface="맑은 고딕"/>
                <a:cs typeface="맑은 고딕"/>
              </a:rPr>
              <a:t>문자도에는 상징적인 사물의 예가 또 있다.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other examples of symbolic objects in Munjado.</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other examples of symbolic objects in Munjado.</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(there are + 복수 other examples)</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18.  </a:t>
            </a:r>
            <a:r>
              <a:rPr lang="ko-KR" altLang="en-US" sz="1600" b="0" dirty="0">
                <a:solidFill>
                  <a:srgbClr val="3C4558"/>
                </a:solidFill>
                <a:latin typeface="맑은 고딕"/>
                <a:ea typeface="맑은 고딕"/>
                <a:cs typeface="맑은 고딕"/>
              </a:rPr>
              <a:t>충(忠) 그림의 대나무와 의(義) 그림의 연꽃이 바로 그것이다.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bamboo in the paintings of the character chung (忠) and lotus flowers in the paintings of ui (義).</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bamboo in the paintings of the character chung (忠) and lotus flowers in the paintings of ui (義).</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19.  </a:t>
            </a:r>
            <a:r>
              <a:rPr lang="ko-KR" altLang="en-US" sz="1600" b="0" dirty="0">
                <a:solidFill>
                  <a:srgbClr val="3C4558"/>
                </a:solidFill>
                <a:latin typeface="맑은 고딕"/>
                <a:ea typeface="맑은 고딕"/>
                <a:cs typeface="맑은 고딕"/>
              </a:rPr>
              <a:t>대나무는 휘지 않는다. 그리고 어떤 날씨에도 푸른빛을 잃지 않는다.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Bamboo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not bend. 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stays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stay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green in all kinds of weather.</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Bamboo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not bend. It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stays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stay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green in all kinds of weather.</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Bamboo 단수) · 동사의 수 일치 (주어 It 단수)</a:t>
            </a:r>
            <a:endParaRPr lang="ko-KR" sz="1400"/>
          </a:p>
        </p:txBody>
      </p:sp>
      <p:sp>
        <p:nvSpPr>
          <p:cNvPr id="12" name="item_card_2"/>
          <p:cNvSpPr/>
          <p:nvPr/>
        </p:nvSpPr>
        <p:spPr>
          <a:xfrm>
            <a:off x="457200" y="2221738"/>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20.  </a:t>
            </a:r>
            <a:r>
              <a:rPr lang="ko-KR" altLang="en-US" sz="1600" b="0" dirty="0">
                <a:solidFill>
                  <a:srgbClr val="3C4558"/>
                </a:solidFill>
                <a:latin typeface="맑은 고딕"/>
                <a:ea typeface="맑은 고딕"/>
                <a:cs typeface="맑은 고딕"/>
              </a:rPr>
              <a:t>이런 까닭에 대나무는 임금에 대한 충성을 상징하게 되었다.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these reasons, bamboo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came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come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symbolizing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symbolize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loyalty to the king.</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these reasons, bamboo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came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come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symbolizing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symbolize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loyalty to the king.</a:t>
            </a:r>
            <a:endParaRPr lang="ko-KR" sz="2000"/>
          </a:p>
        </p:txBody>
      </p:sp>
      <p:sp>
        <p:nvSpPr>
          <p:cNvPr id="16" name="rv_point_2"/>
          <p:cNvSpPr txBox="1"/>
          <p:nvPr/>
        </p:nvSpPr>
        <p:spPr>
          <a:xfrm>
            <a:off x="457200" y="3406394"/>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come은 수동태 불가) · to부정사/동명사/동사원형 (come + to부정사: ~하게 되다)</a:t>
            </a:r>
            <a:endParaRPr lang="ko-KR" sz="1400"/>
          </a:p>
        </p:txBody>
      </p:sp>
      <p:sp>
        <p:nvSpPr>
          <p:cNvPr id="17" name="item_card_3"/>
          <p:cNvSpPr/>
          <p:nvPr/>
        </p:nvSpPr>
        <p:spPr>
          <a:xfrm>
            <a:off x="457200" y="407035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18007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21.  </a:t>
            </a:r>
            <a:r>
              <a:rPr lang="ko-KR" altLang="en-US" sz="1600" b="0" dirty="0">
                <a:solidFill>
                  <a:srgbClr val="3C4558"/>
                </a:solidFill>
                <a:latin typeface="맑은 고딕"/>
                <a:ea typeface="맑은 고딕"/>
                <a:cs typeface="맑은 고딕"/>
              </a:rPr>
              <a:t>연꽃의 경우, 진흙 연못에서 자라면서도 아름답게 꽃을 피운다.</a:t>
            </a:r>
            <a:endParaRPr lang="ko-KR" sz="1600"/>
          </a:p>
        </p:txBody>
      </p:sp>
      <p:sp>
        <p:nvSpPr>
          <p:cNvPr id="19" name="eng_3"/>
          <p:cNvSpPr txBox="1"/>
          <p:nvPr/>
        </p:nvSpPr>
        <p:spPr>
          <a:xfrm>
            <a:off x="457200" y="44889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the case of lotus flowers,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grows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grow</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muddy ponds but still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bloom</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blooms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beautifully.</a:t>
            </a:r>
            <a:endParaRPr lang="ko-KR" sz="2000"/>
          </a:p>
        </p:txBody>
      </p:sp>
      <p:sp>
        <p:nvSpPr>
          <p:cNvPr id="20" name="rv_eng_3"/>
          <p:cNvSpPr txBox="1"/>
          <p:nvPr/>
        </p:nvSpPr>
        <p:spPr>
          <a:xfrm>
            <a:off x="457200" y="44889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the case of lotus flowers,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grows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grow</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muddy ponds but still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bloom</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blooms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beautifully.</a:t>
            </a:r>
            <a:endParaRPr lang="ko-KR" sz="2000"/>
          </a:p>
        </p:txBody>
      </p:sp>
      <p:sp>
        <p:nvSpPr>
          <p:cNvPr id="21" name="rv_point_3"/>
          <p:cNvSpPr txBox="1"/>
          <p:nvPr/>
        </p:nvSpPr>
        <p:spPr>
          <a:xfrm>
            <a:off x="457200" y="525500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복수) · 동사의 수 일치 (grow와 병렬, 주어 they)</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22.  </a:t>
            </a:r>
            <a:r>
              <a:rPr lang="ko-KR" altLang="en-US" sz="1600" b="0" dirty="0">
                <a:solidFill>
                  <a:srgbClr val="3C4558"/>
                </a:solidFill>
                <a:latin typeface="맑은 고딕"/>
                <a:ea typeface="맑은 고딕"/>
                <a:cs typeface="맑은 고딕"/>
              </a:rPr>
              <a:t>그래서 연꽃은 어려움 속에서도 정의를 위해 싸우려는 의지의 상징이 되었다.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thus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became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become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symbol of a person’s will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fighting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fight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for justice despite difficulties.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thus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became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become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symbol of a person’s will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fighting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fight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for justice despite difficulties.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(become은 수동태 불가) · to부정사/동명사/동사원형 (명사 will 수식 → to부정사)</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23.  </a:t>
            </a:r>
            <a:r>
              <a:rPr lang="ko-KR" altLang="en-US" sz="1600" b="0" dirty="0">
                <a:solidFill>
                  <a:srgbClr val="3C4558"/>
                </a:solidFill>
                <a:latin typeface="맑은 고딕"/>
                <a:ea typeface="맑은 고딕"/>
                <a:cs typeface="맑은 고딕"/>
              </a:rPr>
              <a:t>조선 시대 사람들에게 문자도는 단순한 그림 이상의 의미를 지녔다.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Munjado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much more than a painting to people of the Joseon dynasty.</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Munjado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much more than a painting to people of the Joseon dynasty.</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Munjado 단수)</a:t>
            </a:r>
            <a:endParaRPr lang="ko-KR" sz="1400"/>
          </a:p>
        </p:txBody>
      </p:sp>
      <p:sp>
        <p:nvSpPr>
          <p:cNvPr id="17" name="item_card_3"/>
          <p:cNvSpPr/>
          <p:nvPr/>
        </p:nvSpPr>
        <p:spPr>
          <a:xfrm>
            <a:off x="457200" y="42037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24.  </a:t>
            </a:r>
            <a:r>
              <a:rPr lang="ko-KR" altLang="en-US" sz="1600" b="0" dirty="0">
                <a:solidFill>
                  <a:srgbClr val="3C4558"/>
                </a:solidFill>
                <a:latin typeface="맑은 고딕"/>
                <a:ea typeface="맑은 고딕"/>
                <a:cs typeface="맑은 고딕"/>
              </a:rPr>
              <a:t>문자도는 사람들의 행동과 태도에 큰 영향을 준 소중한 가치들을 떠올리게 해 주었다.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It reminded them of important values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greatly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influenced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influenced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their behaviors and attitudes.</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It reminded them of important values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greatly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influenced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influenced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their behaviors and attitudes.</a:t>
            </a:r>
            <a:endParaRPr lang="ko-KR" sz="2000"/>
          </a:p>
        </p:txBody>
      </p:sp>
      <p:sp>
        <p:nvSpPr>
          <p:cNvPr id="21" name="rv_point_3"/>
          <p:cNvSpPr txBox="1"/>
          <p:nvPr/>
        </p:nvSpPr>
        <p:spPr>
          <a:xfrm>
            <a:off x="457200" y="53883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important values=사물) · 수동태(능동/수동 구별) (목적어 behaviors and attitudes가 있으므로 능동)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25.  </a:t>
            </a:r>
            <a:r>
              <a:rPr lang="ko-KR" altLang="en-US" sz="1600" b="0" dirty="0">
                <a:solidFill>
                  <a:srgbClr val="3C4558"/>
                </a:solidFill>
                <a:latin typeface="맑은 고딕"/>
                <a:ea typeface="맑은 고딕"/>
                <a:cs typeface="맑은 고딕"/>
              </a:rPr>
              <a:t>특히 아이들에게 문자도는 학습 도구였다.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particular, for children, Munjado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study tool.</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particular, for children, Munjado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study tool.</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Munjado 단수)</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26.  </a:t>
            </a:r>
            <a:r>
              <a:rPr lang="ko-KR" altLang="en-US" sz="1600" b="0" dirty="0">
                <a:solidFill>
                  <a:srgbClr val="3C4558"/>
                </a:solidFill>
                <a:latin typeface="맑은 고딕"/>
                <a:ea typeface="맑은 고딕"/>
                <a:cs typeface="맑은 고딕"/>
              </a:rPr>
              <a:t>조선 시대 아이들은 문자도를 통해 가정과 사회의 화합이 얼마나 중요한지 배울 수 있었다.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Through it, children in the Joseon dynasty could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learn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learn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importance of harmony in family and society.</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Through it, children in the Joseon dynasty could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learn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learn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importance of harmony in family and society.</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could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6  </a:t>
            </a:r>
            <a:r>
              <a:rPr lang="ko-KR" altLang="en-US" sz="4000" b="1" dirty="0">
                <a:solidFill>
                  <a:srgbClr val="FFFFFF"/>
                </a:solidFill>
                <a:latin typeface="맑은 고딕"/>
                <a:ea typeface="맑은 고딕"/>
                <a:cs typeface="맑은 고딕"/>
              </a:rPr>
              <a:t>순서배열 부분영작</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8</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L8-1  ·  L8-2  ·  L8-3</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우리말에 맞게 (  ) 안의 말을 바르게 배열해 영어 문장을 완성</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완성된 영어 문장(정답)이 빨간색으로 공개</a:t>
            </a:r>
            <a:endParaRPr lang="ko-KR" sz="160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오른쪽에 있는 그림을 보라. 한자 효(孝)가 보이는가?</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painting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Look 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the right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Chinese character,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Do you see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hyo (孝)?</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Look at the painting on the right. Do you see the Chinese character, hyo (孝)?</a:t>
            </a:r>
            <a:endParaRPr lang="ko-KR" sz="1900"/>
          </a:p>
        </p:txBody>
      </p:sp>
      <p:sp>
        <p:nvSpPr>
          <p:cNvPr id="11" name="item_card_2"/>
          <p:cNvSpPr/>
          <p:nvPr/>
        </p:nvSpPr>
        <p:spPr>
          <a:xfrm>
            <a:off x="457200" y="272262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잉어, 거문고, 그리고 부채도 보이는가?</a:t>
            </a:r>
            <a:endParaRPr lang="ko-KR" sz="1700"/>
          </a:p>
        </p:txBody>
      </p:sp>
      <p:sp>
        <p:nvSpPr>
          <p:cNvPr id="13" name="ex_2"/>
          <p:cNvSpPr txBox="1"/>
          <p:nvPr/>
        </p:nvSpPr>
        <p:spPr>
          <a:xfrm>
            <a:off x="457200" y="315709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carp,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Do you also see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 geomungo, and a fan?</a:t>
            </a:r>
            <a:endParaRPr lang="ko-KR" sz="1900"/>
          </a:p>
        </p:txBody>
      </p:sp>
      <p:sp>
        <p:nvSpPr>
          <p:cNvPr id="14" name="rv_ans_2"/>
          <p:cNvSpPr txBox="1"/>
          <p:nvPr/>
        </p:nvSpPr>
        <p:spPr>
          <a:xfrm>
            <a:off x="594360" y="362915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Do you also see a carp, a geomungo, and a fan?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이런 종류의 그림을 문자도라고 하며, 그것은 조선 시대 후기에 인기 있었던 민화의 한 종류이다.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is called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Munjado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kind of painting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type of folk painting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 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late Joseon dynasty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popular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kind of painting is called Munjado, and it is a type of folk painting that was popular in the late Joseon dynasty.</a:t>
            </a:r>
            <a:endParaRPr lang="ko-KR" sz="1900"/>
          </a:p>
        </p:txBody>
      </p:sp>
      <p:sp>
        <p:nvSpPr>
          <p:cNvPr id="11" name="item_card_2"/>
          <p:cNvSpPr/>
          <p:nvPr/>
        </p:nvSpPr>
        <p:spPr>
          <a:xfrm>
            <a:off x="457200" y="331825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문자도에는 보통 한자 하나가 동물이나 사물들과 함께 나온다.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Munjado,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with some animals or objects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Chinese character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usually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Munjado, there is usually a Chinese character with some animals or objects.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문자도에는 여덟 개의 한자 중 하나가 나온다.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eight Chinese characters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One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appears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Munjado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One of eight Chinese characters appears in Munjado.</a:t>
            </a:r>
            <a:endParaRPr lang="ko-KR" sz="1900"/>
          </a:p>
        </p:txBody>
      </p:sp>
      <p:sp>
        <p:nvSpPr>
          <p:cNvPr id="11" name="item_card_2"/>
          <p:cNvSpPr/>
          <p:nvPr/>
        </p:nvSpPr>
        <p:spPr>
          <a:xfrm>
            <a:off x="457200" y="2408936"/>
            <a:ext cx="11274552" cy="289699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그것들은 효(孝), 제(悌), 충(忠), 신(信), 예(禮), 의(義), 염(廉), 치(恥)이고, 조선 시대 사람들에게 중요했던 가치들을 나타낸다.</a:t>
            </a:r>
            <a:endParaRPr lang="ko-KR" sz="1700"/>
          </a:p>
        </p:txBody>
      </p:sp>
      <p:sp>
        <p:nvSpPr>
          <p:cNvPr id="13" name="ex_2"/>
          <p:cNvSpPr txBox="1"/>
          <p:nvPr/>
        </p:nvSpPr>
        <p:spPr>
          <a:xfrm>
            <a:off x="457200" y="3113278"/>
            <a:ext cx="11274552" cy="108699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They are hyo (孝), je (悌), chung (忠), sin (信), ye (禮), ui (義), yeom (廉), and chi (恥),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values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represent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people of the Joseon dynasty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important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36847"/>
            <a:ext cx="11000232" cy="105079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are hyo (孝), je (悌), chung (忠), sin (信), ye (禮), ui (義), yeom (廉), and chi (恥), and they represent the values that were important to people of the Joseon dynasty.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문자도에 있는 동물이나 사물은 단순히 장식이 아니다. 그것들은 종종 상징적이다.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just decorations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animals or objects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are not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Munjado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often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symbolic</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animals or objects in Munjado are not just decorations. They often are symbolic.</a:t>
            </a:r>
            <a:endParaRPr lang="ko-KR" sz="1900"/>
          </a:p>
        </p:txBody>
      </p:sp>
      <p:sp>
        <p:nvSpPr>
          <p:cNvPr id="11" name="item_card_2"/>
          <p:cNvSpPr/>
          <p:nvPr/>
        </p:nvSpPr>
        <p:spPr>
          <a:xfrm>
            <a:off x="457200" y="3048381"/>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예를 들어, '효' 그림에 있는 잉어는 한 옛이야기로 인해 부모님에 대한 공경을 상징한다.</a:t>
            </a:r>
            <a:endParaRPr lang="ko-KR" sz="1700"/>
          </a:p>
        </p:txBody>
      </p:sp>
      <p:sp>
        <p:nvSpPr>
          <p:cNvPr id="13" name="ex_2"/>
          <p:cNvSpPr txBox="1"/>
          <p:nvPr/>
        </p:nvSpPr>
        <p:spPr>
          <a:xfrm>
            <a:off x="457200" y="348284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example,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respect for parents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carp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paintings of hyo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symbolize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because of an old story.</a:t>
            </a:r>
            <a:endParaRPr lang="ko-KR" sz="1900"/>
          </a:p>
        </p:txBody>
      </p:sp>
      <p:sp>
        <p:nvSpPr>
          <p:cNvPr id="14" name="rv_ans_2"/>
          <p:cNvSpPr txBox="1"/>
          <p:nvPr/>
        </p:nvSpPr>
        <p:spPr>
          <a:xfrm>
            <a:off x="594360" y="428066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example, carp in the paintings of hyo symbolize respect for parents because of an old story.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 이야기는 다음과 같다. 옛날 옛적에 한 남자가 나이 든 어머니와 살고 있었다.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goes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story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as follows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Once upon a time,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with his old mother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man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lived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story goes as follows. Once upon a time, a man lived with his old mother.</a:t>
            </a:r>
            <a:endParaRPr lang="ko-KR" sz="1900"/>
          </a:p>
        </p:txBody>
      </p:sp>
      <p:sp>
        <p:nvSpPr>
          <p:cNvPr id="11" name="item_card_2"/>
          <p:cNvSpPr/>
          <p:nvPr/>
        </p:nvSpPr>
        <p:spPr>
          <a:xfrm>
            <a:off x="457200" y="272262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어느 겨울, 남자의 어머니는 병이 들어서 아무 것도 먹을 수 없었다.</a:t>
            </a:r>
            <a:endParaRPr lang="ko-KR" sz="1700"/>
          </a:p>
        </p:txBody>
      </p:sp>
      <p:sp>
        <p:nvSpPr>
          <p:cNvPr id="13" name="ex_2"/>
          <p:cNvSpPr txBox="1"/>
          <p:nvPr/>
        </p:nvSpPr>
        <p:spPr>
          <a:xfrm>
            <a:off x="457200" y="315709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One winter,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became ill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man’s mother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anything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couldn’t eat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2915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One winter, the man’s mother became ill and couldn’t eat anything.</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무척 추운 어느 날, 어머니는 남자에게 말했다. “신선한 물고기를 먹을 수 있다면 정말 좋겠구나.”</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On one very cold day,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mother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the man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said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wonderful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 would be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if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fresh fish.”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could eat</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On one very cold day, the mother said to the man, “It would be wonderful if I could eat fresh fish.”</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남자는 강으로 나갔지만, 강은 완전히 얼어붙어 있었다.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man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the river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went out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completely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frozen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man went out to the river, but it was completely frozen.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그가 어떤 물고기라도 잡는 것은 불가능했다.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It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any fish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catch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impossible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him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It was impossible for him to catch any fish.</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남자는 몹시 낙담해서 하늘에 대고 외쳤다. “제가 어떻게 해야 하나요? 제발 저를 도와주세요.”</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the sky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man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so disappointed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cried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“What should I do? Please help me.”</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man was so disappointed that he cried out to the sky, “What should I do? Please help me.”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그러자 얼음이 녹았고, 잉어 세 마리가 갑자기 물 밖으로 나왔다.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melted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ice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three carp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came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suddenly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the water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Then the ice melted, and three carp suddenly came out of the water.</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남자는 집으로 돌아가서 어머니에게 그 물고기들을 요리해 드렸다. 그러자 그의 어머니는 병이 나았다.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went back home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man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for his mother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fish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cooked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his mother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got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man went back home and cooked the fish for his mother. Then his mother got well.</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문자도에 있는 상징적인 사물의 또 다른 예가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There 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Munjado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other examples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symbolic objects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There are other examples of symbolic objects in Munjado.</a:t>
            </a:r>
            <a:endParaRPr lang="ko-KR" sz="1900"/>
          </a:p>
        </p:txBody>
      </p:sp>
      <p:sp>
        <p:nvSpPr>
          <p:cNvPr id="11" name="item_card_2"/>
          <p:cNvSpPr/>
          <p:nvPr/>
        </p:nvSpPr>
        <p:spPr>
          <a:xfrm>
            <a:off x="457200" y="240893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글자 '충(忠)' 그림에 있는 대나무와 '의(義)' 그림에 있는 연꽃이다.</a:t>
            </a:r>
            <a:endParaRPr lang="ko-KR" sz="1700"/>
          </a:p>
        </p:txBody>
      </p:sp>
      <p:sp>
        <p:nvSpPr>
          <p:cNvPr id="13" name="ex_2"/>
          <p:cNvSpPr txBox="1"/>
          <p:nvPr/>
        </p:nvSpPr>
        <p:spPr>
          <a:xfrm>
            <a:off x="457200" y="284340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They are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character chung (忠)</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bamboo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paintings of</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ui (義)</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paintings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lotus flowers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4121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are bamboo in the paintings of the character chung (忠) and lotus flowers in the paintings of ui (義).</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대나무는 구부러지지 않는다. 그것은 어떤 날씨에서도 푸르름을 유지한다.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does not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bend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Bamboo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 all kinds of weather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green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stays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Bamboo does not bend. It stays green in all kinds of weather.</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이런 이유로, 대나무는 왕에 대한 충성심을 상징하게 되었다.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these reasons,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symbolize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came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bamboo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loyalty to the king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these reasons, bamboo came to symbolize loyalty to the king.</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연꽃의 경우, 그것들은 진흙투성이의 연못에서 자라지만 그럼에도 아름답게 꽃을 피운다.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the case of lotus flowers,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 muddy ponds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grow</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still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beautifully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bloom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the case of lotus flowers, they grow in muddy ponds but still bloom beautifully.</a:t>
            </a:r>
            <a:endParaRPr lang="ko-KR" sz="1900"/>
          </a:p>
        </p:txBody>
      </p:sp>
      <p:sp>
        <p:nvSpPr>
          <p:cNvPr id="11" name="item_card_2"/>
          <p:cNvSpPr/>
          <p:nvPr/>
        </p:nvSpPr>
        <p:spPr>
          <a:xfrm>
            <a:off x="457200" y="3048381"/>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그래서 그 꽃들은 어려움에도 불구하고 정의를 위해 싸우는 한 사람의 의지를 상징하게 되었다.</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thus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became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symbol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of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fight for justice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despite difficulties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person’s will</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thus became a symbol of a person’s will to fight for justice despite difficulties.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문자도는 조선 시대 사람들에게 그림 그 훨씬 이상의 것이었다.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much more than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painting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Munjado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to people of the Joseon dynasty.</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Munjado was much more than a painting to people of the Joseon dynasty.</a:t>
            </a:r>
            <a:endParaRPr lang="ko-KR" sz="1900"/>
          </a:p>
        </p:txBody>
      </p:sp>
      <p:sp>
        <p:nvSpPr>
          <p:cNvPr id="11" name="item_card_2"/>
          <p:cNvSpPr/>
          <p:nvPr/>
        </p:nvSpPr>
        <p:spPr>
          <a:xfrm>
            <a:off x="457200" y="272262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그것은 그들에게 자신들의 행동과 태도에 큰 영향을 미치는 중요한 가치를 상기시켰다.</a:t>
            </a:r>
            <a:endParaRPr lang="ko-KR" sz="1700"/>
          </a:p>
        </p:txBody>
      </p:sp>
      <p:sp>
        <p:nvSpPr>
          <p:cNvPr id="13" name="ex_2"/>
          <p:cNvSpPr txBox="1"/>
          <p:nvPr/>
        </p:nvSpPr>
        <p:spPr>
          <a:xfrm>
            <a:off x="457200" y="315709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important values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reminded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their behaviors and attitudes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greatly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influenced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5490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It reminded them of important values that greatly influenced their behaviors and attitudes.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특히 아이들에게 문자도는 학습 도구였다.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particular, for children,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study tool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Munjado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particular, for children, Munjado was a study tool.</a:t>
            </a:r>
            <a:endParaRPr lang="ko-KR" sz="1900"/>
          </a:p>
        </p:txBody>
      </p:sp>
      <p:sp>
        <p:nvSpPr>
          <p:cNvPr id="11" name="item_card_2"/>
          <p:cNvSpPr/>
          <p:nvPr/>
        </p:nvSpPr>
        <p:spPr>
          <a:xfrm>
            <a:off x="457200" y="240893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그것을 통해 조선 시대의 아이들은 가족과 사회에서 조화의 중요성을 배울 수 있었다.</a:t>
            </a:r>
            <a:endParaRPr lang="ko-KR" sz="1700"/>
          </a:p>
        </p:txBody>
      </p:sp>
      <p:sp>
        <p:nvSpPr>
          <p:cNvPr id="13" name="ex_2"/>
          <p:cNvSpPr txBox="1"/>
          <p:nvPr/>
        </p:nvSpPr>
        <p:spPr>
          <a:xfrm>
            <a:off x="457200" y="284340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Through it,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children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Joseon dynasty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family and society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importance of harmony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could learn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4121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Through it, children in the Joseon dynasty could learn the importance of harmony in family and society.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