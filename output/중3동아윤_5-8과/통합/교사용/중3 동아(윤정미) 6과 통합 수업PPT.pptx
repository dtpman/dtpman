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1371600"/>
            <a:ext cx="10515600" cy="868680"/>
          </a:xfrm>
          <a:prstGeom prst="rect">
            <a:avLst/>
          </a:prstGeom>
          <a:noFill/>
        </p:spPr>
        <p:txBody>
          <a:bodyPr wrap="square" lIns="91440" tIns="45720" rIns="91440" bIns="45720" anchor="t" rtlCol="0">
            <a:noAutofit/>
          </a:bodyPr>
          <a:lstStyle/>
          <a:p>
            <a:pPr algn="l">
              <a:lnSpc>
                <a:spcPts val="5680"/>
              </a:lnSpc>
              <a:spcBef>
                <a:spcPts val="0"/>
              </a:spcBef>
              <a:spcAft>
                <a:spcPts val="0"/>
              </a:spcAft>
              <a:buNone/>
            </a:pPr>
            <a:r>
              <a:rPr lang="ko-KR" altLang="en-US" sz="4000" b="1" dirty="0">
                <a:solidFill>
                  <a:srgbClr val="FFFFFF"/>
                </a:solidFill>
                <a:latin typeface="맑은 고딕"/>
                <a:ea typeface="맑은 고딕"/>
                <a:cs typeface="맑은 고딕"/>
              </a:rPr>
              <a:t>문제 풀이 · 정답 확인</a:t>
            </a:r>
            <a:endParaRPr lang="ko-KR" altLang="en-US" sz="4000" b="1" dirty="0">
              <a:solidFill>
                <a:srgbClr val="FFFFFF"/>
              </a:solidFill>
              <a:latin typeface="맑은 고딕"/>
              <a:ea typeface="맑은 고딕"/>
              <a:cs typeface="맑은 고딕"/>
            </a:endParaRPr>
          </a:p>
        </p:txBody>
      </p:sp>
      <p:sp>
        <p:nvSpPr>
          <p:cNvPr id="3" name="cv_exam"/>
          <p:cNvSpPr txBox="1"/>
          <p:nvPr/>
        </p:nvSpPr>
        <p:spPr>
          <a:xfrm>
            <a:off x="822960" y="2240280"/>
            <a:ext cx="10515600" cy="502920"/>
          </a:xfrm>
          <a:prstGeom prst="rect">
            <a:avLst/>
          </a:prstGeom>
          <a:noFill/>
        </p:spPr>
        <p:txBody>
          <a:bodyPr wrap="square" lIns="91440" tIns="45720" rIns="91440" bIns="45720" anchor="t" rtlCol="0">
            <a:noAutofit/>
          </a:bodyPr>
          <a:lstStyle/>
          <a:p>
            <a:pPr algn="l">
              <a:lnSpc>
                <a:spcPts val="284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6</a:t>
            </a:r>
            <a:endParaRPr lang="ko-KR" altLang="en-US" sz="2000" b="0" dirty="0">
              <a:solidFill>
                <a:srgbClr val="CFD8E8"/>
              </a:solidFill>
              <a:latin typeface="맑은 고딕"/>
              <a:ea typeface="맑은 고딕"/>
              <a:cs typeface="맑은 고딕"/>
            </a:endParaRPr>
          </a:p>
        </p:txBody>
      </p:sp>
      <p:sp>
        <p:nvSpPr>
          <p:cNvPr id="4" name="cv_ids"/>
          <p:cNvSpPr txBox="1"/>
          <p:nvPr/>
        </p:nvSpPr>
        <p:spPr>
          <a:xfrm>
            <a:off x="822960" y="2788920"/>
            <a:ext cx="10515600" cy="457200"/>
          </a:xfrm>
          <a:prstGeom prst="rect">
            <a:avLst/>
          </a:prstGeom>
          <a:noFill/>
        </p:spPr>
        <p:txBody>
          <a:bodyPr wrap="square" lIns="91440" tIns="45720" rIns="91440" bIns="45720" anchor="t" rtlCol="0">
            <a:noAutofit/>
          </a:bodyPr>
          <a:lstStyle/>
          <a:p>
            <a:pPr algn="l">
              <a:lnSpc>
                <a:spcPts val="2340"/>
              </a:lnSpc>
              <a:spcBef>
                <a:spcPts val="0"/>
              </a:spcBef>
              <a:spcAft>
                <a:spcPts val="0"/>
              </a:spcAft>
              <a:buNone/>
            </a:pPr>
            <a:r>
              <a:rPr lang="en-US" altLang="ko-KR" sz="1800" b="1" dirty="0">
                <a:solidFill>
                  <a:srgbClr val="AEBBD0"/>
                </a:solidFill>
                <a:latin typeface="Calibri"/>
                <a:ea typeface="맑은 고딕"/>
                <a:cs typeface="Calibri"/>
              </a:rPr>
              <a:t>L6-1  ·  L6-2  ·  L6-3</a:t>
            </a:r>
            <a:endParaRPr lang="en-US" altLang="ko-KR" sz="1800" b="1" dirty="0">
              <a:solidFill>
                <a:srgbClr val="AEBBD0"/>
              </a:solidFill>
              <a:latin typeface="Calibri"/>
              <a:ea typeface="맑은 고딕"/>
              <a:cs typeface="Calibri"/>
            </a:endParaRPr>
          </a:p>
        </p:txBody>
      </p:sp>
      <p:sp>
        <p:nvSpPr>
          <p:cNvPr id="5" name="cv_legend"/>
          <p:cNvSpPr/>
          <p:nvPr/>
        </p:nvSpPr>
        <p:spPr>
          <a:xfrm>
            <a:off x="822960" y="3977639"/>
            <a:ext cx="10515600" cy="1645920"/>
          </a:xfrm>
          <a:prstGeom prst="roundRect">
            <a:avLst>
              <a:gd name="adj" fmla="val 6000"/>
            </a:avLst>
          </a:prstGeom>
          <a:solidFill>
            <a:srgbClr val="27356E"/>
          </a:solidFill>
          <a:ln>
            <a:noFill/>
          </a:ln>
        </p:spPr>
        <p:txBody>
          <a:bodyPr wrap="square" lIns="320040" tIns="201168" rIns="320040" bIns="182880" anchor="t" rtlCol="0">
            <a:noAutofit/>
          </a:bodyPr>
          <a:lstStyle/>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1  5지선다     </a:t>
            </a:r>
            <a:r>
              <a:rPr lang="ko-KR" altLang="en-US" sz="1600" b="0" dirty="0">
                <a:solidFill>
                  <a:srgbClr val="FFFFFF"/>
                </a:solidFill>
                <a:latin typeface="맑은 고딕"/>
                <a:ea typeface="맑은 고딕"/>
                <a:cs typeface="맑은 고딕"/>
              </a:rPr>
              <a:t>클릭 ① 정답  →  클릭 ② 본문 근거 형광 +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2  순서·위치     </a:t>
            </a:r>
            <a:r>
              <a:rPr lang="ko-KR" altLang="en-US" sz="1600" b="0" dirty="0">
                <a:solidFill>
                  <a:srgbClr val="FFFFFF"/>
                </a:solidFill>
                <a:latin typeface="맑은 고딕"/>
                <a:ea typeface="맑은 고딕"/>
                <a:cs typeface="맑은 고딕"/>
              </a:rPr>
              <a:t>클릭 ① 정답  →  클릭 ②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3  어법·어휘     </a:t>
            </a:r>
            <a:r>
              <a:rPr lang="ko-KR" altLang="en-US" sz="1600" b="0" dirty="0">
                <a:solidFill>
                  <a:srgbClr val="FFFFFF"/>
                </a:solidFill>
                <a:latin typeface="맑은 고딕"/>
                <a:ea typeface="맑은 고딕"/>
                <a:cs typeface="맑은 고딕"/>
              </a:rPr>
              <a:t>본문 속 괄호마다, 클릭할 때마다 정답이 빨간색으로</a:t>
            </a:r>
            <a:endParaRPr lang="ko-KR" altLang="en-US" sz="1600" b="0" dirty="0">
              <a:solidFill>
                <a:srgbClr val="FFFFFF"/>
              </a:solidFill>
              <a:latin typeface="맑은 고딕"/>
              <a:ea typeface="맑은 고딕"/>
              <a:cs typeface="맑은 고딕"/>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a:t>
            </a:r>
            <a:r>
              <a:rPr lang="en-US" altLang="ko-KR" sz="1500" b="0" dirty="0">
                <a:solidFill>
                  <a:srgbClr val="1F2328"/>
                </a:solidFill>
                <a:latin typeface="Calibri"/>
                <a:ea typeface="맑은 고딕"/>
                <a:cs typeface="Calibri"/>
              </a:rPr>
              <a:t>Mr. Boggis’ secret was simple. He went to small towns every Sunday and knocked on doors.</a:t>
            </a:r>
            <a:r>
              <a:rPr lang="en-US" altLang="ko-KR" sz="1500" b="0" dirty="0">
                <a:solidFill>
                  <a:srgbClr val="1F2328"/>
                </a:solidFill>
                <a:latin typeface="Calibri"/>
                <a:ea typeface="맑은 고딕"/>
                <a:cs typeface="Calibri"/>
              </a:rPr>
              <a:t> He told people that he was a furniture dealer. </a:t>
            </a:r>
            <a:r>
              <a:rPr lang="en-US" altLang="ko-KR" sz="1500" b="0" dirty="0">
                <a:solidFill>
                  <a:srgbClr val="1F2328"/>
                </a:solidFill>
                <a:latin typeface="Calibri"/>
                <a:ea typeface="맑은 고딕"/>
                <a:cs typeface="Calibri"/>
              </a:rPr>
              <a:t>People didn’t know how valuable their things were, so Mr. Boggis took advantage of them.</a:t>
            </a:r>
            <a:r>
              <a:rPr lang="en-US" altLang="ko-KR" sz="1500" b="0" dirty="0">
                <a:solidFill>
                  <a:srgbClr val="1F2328"/>
                </a:solidFill>
                <a:latin typeface="Calibri"/>
                <a:ea typeface="맑은 고딕"/>
                <a:cs typeface="Calibri"/>
              </a:rPr>
              <a:t>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a:t>
            </a:r>
            <a:r>
              <a:rPr lang="en-US" altLang="ko-KR" sz="1500" b="0" dirty="0">
                <a:solidFill>
                  <a:srgbClr val="111111"/>
                </a:solidFill>
                <a:highlight>
                  <a:srgbClr val="FFE45C"/>
                </a:highlight>
                <a:latin typeface="Calibri"/>
                <a:ea typeface="맑은 고딕"/>
                <a:cs typeface="Calibri"/>
              </a:rPr>
              <a:t>Mr. Boggis’ secret was simple. He went to small towns every Sunday and knocked on doors.</a:t>
            </a:r>
            <a:r>
              <a:rPr lang="en-US" altLang="ko-KR" sz="1500" b="0" dirty="0">
                <a:solidFill>
                  <a:srgbClr val="B3BAC6"/>
                </a:solidFill>
                <a:latin typeface="Calibri"/>
                <a:ea typeface="맑은 고딕"/>
                <a:cs typeface="Calibri"/>
              </a:rPr>
              <a:t> He told people that he was a furniture dealer. </a:t>
            </a:r>
            <a:r>
              <a:rPr lang="en-US" altLang="ko-KR" sz="1500" b="0" dirty="0">
                <a:solidFill>
                  <a:srgbClr val="111111"/>
                </a:solidFill>
                <a:highlight>
                  <a:srgbClr val="FFE45C"/>
                </a:highlight>
                <a:latin typeface="Calibri"/>
                <a:ea typeface="맑은 고딕"/>
                <a:cs typeface="Calibri"/>
              </a:rPr>
              <a:t>People didn’t know how valuable their things were, so Mr. Boggis took advantage of them.</a:t>
            </a:r>
            <a:r>
              <a:rPr lang="en-US" altLang="ko-KR" sz="1500" b="0" dirty="0">
                <a:solidFill>
                  <a:srgbClr val="B3BAC6"/>
                </a:solidFill>
                <a:latin typeface="Calibri"/>
                <a:ea typeface="맑은 고딕"/>
                <a:cs typeface="Calibri"/>
              </a:rPr>
              <a:t>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how Mr. Boggis bought furniture at low prices</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en-US" altLang="ko-KR" sz="1800" b="0" dirty="0">
                <a:solidFill>
                  <a:srgbClr val="C00000"/>
                </a:solidFill>
                <a:latin typeface="Calibri"/>
                <a:ea typeface="맑은 고딕"/>
                <a:cs typeface="Calibri"/>
              </a:rPr>
              <a:t>	how Mr. Boggis bought furniture at low prices</a:t>
            </a:r>
            <a:endParaRPr lang="en-US" altLang="ko-KR" sz="1800" b="0" dirty="0">
              <a:solidFill>
                <a:srgbClr val="C00000"/>
              </a:solidFill>
              <a:latin typeface="Calibri"/>
              <a:ea typeface="맑은 고딕"/>
              <a:cs typeface="Calibri"/>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why antique furniture is valuable in London</a:t>
            </a:r>
            <a:endParaRPr lang="en-US" altLang="ko-KR" sz="1800" b="0" dirty="0">
              <a:solidFill>
                <a:srgbClr val="1F2328"/>
              </a:solidFill>
              <a:latin typeface="Calibri"/>
              <a:ea typeface="맑은 고딕"/>
              <a:cs typeface="Calibri"/>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people in small towns sold old tables</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why Mr. Boggis moved from London to a town</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what makes a good furniture dealer honest</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how Mr. Boggis bought furniture at low prices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Boggis는 일요일마다 작은 마을을 돌며 물건을 매우 싸게 샀다. 싸게 사들인 방법을 다룬 ①이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a:t>
            </a:r>
            <a:r>
              <a:rPr lang="en-US" altLang="ko-KR" sz="1500" b="0" dirty="0">
                <a:solidFill>
                  <a:srgbClr val="1F2328"/>
                </a:solidFill>
                <a:latin typeface="Calibri"/>
                <a:ea typeface="맑은 고딕"/>
                <a:cs typeface="Calibri"/>
              </a:rPr>
              <a:t>Mr. Boggis’ secret was simple</a:t>
            </a:r>
            <a:r>
              <a:rPr lang="en-US" altLang="ko-KR" sz="1500" b="0" dirty="0">
                <a:solidFill>
                  <a:srgbClr val="1F2328"/>
                </a:solidFill>
                <a:latin typeface="Calibri"/>
                <a:ea typeface="맑은 고딕"/>
                <a:cs typeface="Calibri"/>
              </a:rPr>
              <a:t>. He went to small towns every Sunday and knocked on doors. He told people that he was a furniture dealer. People didn’t know how valuable their things were, so Mr. Boggis took advantage of them.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a:t>
            </a:r>
            <a:r>
              <a:rPr lang="en-US" altLang="ko-KR" sz="1500" b="0" dirty="0">
                <a:solidFill>
                  <a:srgbClr val="111111"/>
                </a:solidFill>
                <a:highlight>
                  <a:srgbClr val="FFE45C"/>
                </a:highlight>
                <a:latin typeface="Calibri"/>
                <a:ea typeface="맑은 고딕"/>
                <a:cs typeface="Calibri"/>
              </a:rPr>
              <a:t>Mr. Boggis’ secret was simple</a:t>
            </a:r>
            <a:r>
              <a:rPr lang="en-US" altLang="ko-KR" sz="1500" b="0" dirty="0">
                <a:solidFill>
                  <a:srgbClr val="B3BAC6"/>
                </a:solidFill>
                <a:latin typeface="Calibri"/>
                <a:ea typeface="맑은 고딕"/>
                <a:cs typeface="Calibri"/>
              </a:rPr>
              <a:t>. He went to small towns every Sunday and knocked on doors. He told people that he was a furniture dealer. People didn’t know how valuable their things were, so Mr. Boggis took advantage of them.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Rise of Antique Shops in London</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Simple Secret of a Clever Dealer</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0172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The Simple Secret of a Clever Dealer</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Small Towns and Their Rich Traditions</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to Tell Real Antiques from Fakes</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People Love Buying Old Furniture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The Simple Secret of a Clever Dealer</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Boggis의 비밀은 'simple'했다고 했다. 영리한 판매상의 단순한 비밀이라는 ②가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knocked on doors. He told people that he was a furniture dealer. People didn’t know how valuable their things were, </a:t>
            </a:r>
            <a:r>
              <a:rPr lang="en-US" altLang="ko-KR" sz="1500" b="0" dirty="0">
                <a:solidFill>
                  <a:srgbClr val="1F2328"/>
                </a:solidFill>
                <a:latin typeface="Calibri"/>
                <a:ea typeface="맑은 고딕"/>
                <a:cs typeface="Calibri"/>
              </a:rPr>
              <a:t>so Mr. Boggis took advantage of them</a:t>
            </a:r>
            <a:r>
              <a:rPr lang="en-US" altLang="ko-KR" sz="1500" b="0" dirty="0">
                <a:solidFill>
                  <a:srgbClr val="1F2328"/>
                </a:solidFill>
                <a:latin typeface="Calibri"/>
                <a:ea typeface="맑은 고딕"/>
                <a:cs typeface="Calibri"/>
              </a:rPr>
              <a:t>.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knocked on doors. He told people that he was a furniture dealer. People didn’t know how valuable their things were, </a:t>
            </a:r>
            <a:r>
              <a:rPr lang="en-US" altLang="ko-KR" sz="1500" b="0" dirty="0">
                <a:solidFill>
                  <a:srgbClr val="111111"/>
                </a:solidFill>
                <a:highlight>
                  <a:srgbClr val="FFE45C"/>
                </a:highlight>
                <a:latin typeface="Calibri"/>
                <a:ea typeface="맑은 고딕"/>
                <a:cs typeface="Calibri"/>
              </a:rPr>
              <a:t>so Mr. Boggis took advantage of them</a:t>
            </a:r>
            <a:r>
              <a:rPr lang="en-US" altLang="ko-KR" sz="1500" b="0" dirty="0">
                <a:solidFill>
                  <a:srgbClr val="B3BAC6"/>
                </a:solidFill>
                <a:latin typeface="Calibri"/>
                <a:ea typeface="맑은 고딕"/>
                <a:cs typeface="Calibri"/>
              </a:rPr>
              <a:t>.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골동품은 큰 도시의 전문 가게에서 사야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가구를 살 때는 먼저 가격을 꼼꼼히 비교해야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남의 무지를 이용해 부당한 이익을 얻어선 안 된다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남의 무지를 이용해 부당한 이익을 얻어선 안 된다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작은 마을의 오래된 물건을 잘 보존해야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좋은 물건은 비싼 가격에 팔아야 이익이 남는다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남의 무지를 이용해 부당한 이익을 얻어선 안 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가치를 모르는 사람들을 이용한 Boggis의 행동을 비판하는 ③이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knocked on doors. He told people that he was a furniture dealer. </a:t>
            </a:r>
            <a:r>
              <a:rPr lang="en-US" altLang="ko-KR" sz="1500" b="0" dirty="0">
                <a:solidFill>
                  <a:srgbClr val="1F2328"/>
                </a:solidFill>
                <a:latin typeface="Calibri"/>
                <a:ea typeface="맑은 고딕"/>
                <a:cs typeface="Calibri"/>
              </a:rPr>
              <a:t>People didn’t know how valuable their things were, so Mr. Boggis took advantage of them.</a:t>
            </a:r>
            <a:r>
              <a:rPr lang="en-US" altLang="ko-KR" sz="1500" b="0" dirty="0">
                <a:solidFill>
                  <a:srgbClr val="1F2328"/>
                </a:solidFill>
                <a:latin typeface="Calibri"/>
                <a:ea typeface="맑은 고딕"/>
                <a:cs typeface="Calibri"/>
              </a:rPr>
              <a:t>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knocked on doors. He told people that he was a furniture dealer. </a:t>
            </a:r>
            <a:r>
              <a:rPr lang="en-US" altLang="ko-KR" sz="1500" b="0" dirty="0">
                <a:solidFill>
                  <a:srgbClr val="111111"/>
                </a:solidFill>
                <a:highlight>
                  <a:srgbClr val="FFE45C"/>
                </a:highlight>
                <a:latin typeface="Calibri"/>
                <a:ea typeface="맑은 고딕"/>
                <a:cs typeface="Calibri"/>
              </a:rPr>
              <a:t>People didn’t know how valuable their things were, so Mr. Boggis took advantage of them.</a:t>
            </a:r>
            <a:r>
              <a:rPr lang="en-US" altLang="ko-KR" sz="1500" b="0" dirty="0">
                <a:solidFill>
                  <a:srgbClr val="B3BAC6"/>
                </a:solidFill>
                <a:latin typeface="Calibri"/>
                <a:ea typeface="맑은 고딕"/>
                <a:cs typeface="Calibri"/>
              </a:rPr>
              <a:t>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직접 가구를 만들어 비싸게 팔았다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작은 마을 사람들은 골동품 가치를 잘 알았다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Boggis 씨는 가구 출처를 사람들에게 다 밝혔다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Boggis 씨는 물건값을 모르는 사람들을 이용했다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38320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Boggis 씨는 물건값을 모르는 사람들을 이용했다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런던 사람들은 고가구를 싸게 사는 법을 알았다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Boggis 씨는 물건값을 모르는 사람들을 이용했다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사람들이 물건의 가치를 몰라서 Boggis가 그들을 이용했다고 했다. 이를 옮긴 ④가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a:t>
            </a:r>
            <a:r>
              <a:rPr lang="en-US" altLang="ko-KR" sz="1500" b="0" dirty="0">
                <a:solidFill>
                  <a:srgbClr val="1F2328"/>
                </a:solidFill>
                <a:latin typeface="Calibri"/>
                <a:ea typeface="맑은 고딕"/>
                <a:cs typeface="Calibri"/>
              </a:rPr>
              <a:t>He went to small towns every Sunday</a:t>
            </a:r>
            <a:r>
              <a:rPr lang="en-US" altLang="ko-KR" sz="1500" b="0" dirty="0">
                <a:solidFill>
                  <a:srgbClr val="1F2328"/>
                </a:solidFill>
                <a:latin typeface="Calibri"/>
                <a:ea typeface="맑은 고딕"/>
                <a:cs typeface="Calibri"/>
              </a:rPr>
              <a:t> and knocked on doors. He told people that he was a furniture dealer. People didn’t know how valuable their things were, so Mr. Boggis took advantage of them.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a:t>
            </a:r>
            <a:r>
              <a:rPr lang="en-US" altLang="ko-KR" sz="1500" b="0" dirty="0">
                <a:solidFill>
                  <a:srgbClr val="111111"/>
                </a:solidFill>
                <a:highlight>
                  <a:srgbClr val="FFE45C"/>
                </a:highlight>
                <a:latin typeface="Calibri"/>
                <a:ea typeface="맑은 고딕"/>
                <a:cs typeface="Calibri"/>
              </a:rPr>
              <a:t>He went to small towns every Sunday</a:t>
            </a:r>
            <a:r>
              <a:rPr lang="en-US" altLang="ko-KR" sz="1500" b="0" dirty="0">
                <a:solidFill>
                  <a:srgbClr val="B3BAC6"/>
                </a:solidFill>
                <a:latin typeface="Calibri"/>
                <a:ea typeface="맑은 고딕"/>
                <a:cs typeface="Calibri"/>
              </a:rPr>
              <a:t> and knocked on doors. He told people that he was a furniture dealer. People didn’t know how valuable their things were, so Mr. Boggis took advantage of them.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런던의 골동품 가구 판매상이었다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Boggis 씨는 싸게 사서 비싸게 파는 것으로 유명했다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Boggis 씨는 매주 토요일에 큰 도시를 방문했다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Boggis 씨는 매주 토요일에 큰 도시를 방문했다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Boggis 씨는 가구를 구한 곳을 비밀이라고 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사람들은 자기 물건이 얼마나 값진지 몰랐다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Boggis 씨는 매주 토요일에 큰 도시를 방문했다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Boggis는 일요일마다 작은 마을에 갔다. 토요일에 큰 도시를 방문했다는 ③은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a:t>
            </a:r>
            <a:r>
              <a:rPr lang="en-US" altLang="ko-KR" sz="1500" b="0" dirty="0">
                <a:solidFill>
                  <a:srgbClr val="1F2328"/>
                </a:solidFill>
                <a:latin typeface="Calibri"/>
                <a:ea typeface="맑은 고딕"/>
                <a:cs typeface="Calibri"/>
              </a:rPr>
              <a:t>knocked on doors</a:t>
            </a:r>
            <a:r>
              <a:rPr lang="en-US" altLang="ko-KR" sz="1500" b="0" dirty="0">
                <a:solidFill>
                  <a:srgbClr val="1F2328"/>
                </a:solidFill>
                <a:latin typeface="Calibri"/>
                <a:ea typeface="맑은 고딕"/>
                <a:cs typeface="Calibri"/>
              </a:rPr>
              <a:t>. He told people that he was a furniture dealer. People didn’t know how valuable their things were, so Mr. Boggis took advantage of them. He was able to buy things very cheaply.</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Cyril Boggis was an antique furniture dealer in London. He was known for buying good things at a low price and then selling them at a high price. People asked him where he had got the furniture, but he just said, "It’s a secret." Mr. Boggis’ secret was simple. He went to small towns every Sunday and </a:t>
            </a:r>
            <a:r>
              <a:rPr lang="en-US" altLang="ko-KR" sz="1500" b="0" dirty="0">
                <a:solidFill>
                  <a:srgbClr val="111111"/>
                </a:solidFill>
                <a:highlight>
                  <a:srgbClr val="FFE45C"/>
                </a:highlight>
                <a:latin typeface="Calibri"/>
                <a:ea typeface="맑은 고딕"/>
                <a:cs typeface="Calibri"/>
              </a:rPr>
              <a:t>knocked on doors</a:t>
            </a:r>
            <a:r>
              <a:rPr lang="en-US" altLang="ko-KR" sz="1500" b="0" dirty="0">
                <a:solidFill>
                  <a:srgbClr val="B3BAC6"/>
                </a:solidFill>
                <a:latin typeface="Calibri"/>
                <a:ea typeface="맑은 고딕"/>
                <a:cs typeface="Calibri"/>
              </a:rPr>
              <a:t>. He told people that he was a furniture dealer. People didn’t know how valuable their things were, so Mr. Boggis took advantage of them. He was able to buy things very cheaply.</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자신이 가구 수리공이라고 말했다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사람들은 Boggis 씨에게 가구를 비싸게 팔았다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Boggis 씨는 가구 출처를 신문에 공개했다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Boggis 씨는 매일 런던의 가게를 돌아다녔다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Boggis 씨는 작은 마을의 집 문을 두드렸다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Boggis 씨는 작은 마을의 집 문을 두드렸다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Boggis 씨는 작은 마을의 집 문을 두드렸다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작은 마을에 가서 문을 두드렸다('knocked on doors')고 했으므로 ⑤가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Cyril Boggis was an antique furniture dealer in London.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He was known for buying good things at a low price and then selling them at a high price. People asked him where he had got the furniture, but he just said, "It’s a secret."</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Mr. Boggis’ secret was simple. He went to small towns every Sunday and knocked on doors. He told people that he was a furniture dealer.</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판매상 소개 → (A) 싸게 사서 비싸게 팔고 출처는 비밀이라 한다 → (C) 그 비밀(secret)이 단순했다며 방법을 밝힌다 → (B) 사람들이 가치를 몰라 싸게 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Cyril Boggis was an antique furniture dealer in London.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He was known for buying good things at a low price and then selling them at a high price. People asked him where he had got the furniture, but he just said, "It’s a secret."</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Mr. Boggis’ secret was simple. He went to small towns every Sunday and knocked on doors. He told people that he was a furniture dealer.</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판매상 소개 → (B) 싸게 사서 비싸게 팔고 출처는 'a secret'이라 한다 → (C) 그 비밀이 단순했다며 마을을 돈 방법을 밝힌다 → (A) 가치를 모르는 사람들을 이용했다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He was known for buying good things at a low price and then selling them at a high price.</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Cyril Boggis was an antique furniture dealer in London.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People asked him where he had got the furniture, but he just said, "It’s a secret."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Mr. Boggis’ secret was simple. He went to small towns every Sunday and knocked on doors.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He told people that he was a furniture dealer.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Cyril Boggis was an antique furniture dealer in London.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People asked him where he had got the furniture, but he just said, "It’s a secret."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Mr. Boggis’ secret was simple. He went to small towns every Sunday and knocked on doors.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He told people that he was a furniture dealer.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He는 앞의 Cyril Boggis이고, 유명한 장사 방식을 알아야 사람들이 가구 출처를 물은 이유가 선다. ②가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People asked him where he had got the furniture, but he just said, "It’s a secret."</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Cyril Boggis was an antique furniture dealer in London.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He was known for buying good things at a low price and then selling them at a high price.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Mr. Boggis’ secret was simple. He went to small towns every Sunday and knocked on doors.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He told people that he was a furniture dealer.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Cyril Boggis was an antique furniture dealer in London.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He was known for buying good things at a low price and then selling them at a high price.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Mr. Boggis’ secret was simple. He went to small towns every Sunday and knocked on doors.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He told people that he was a furniture dealer.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People didn’t know how valuable their things were, so Mr. Boggis took advantage of them. He was able to buy things very cheaply.</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61416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213098"/>
            <a:ext cx="11277295" cy="22059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'It’s a secret'이라는 대답이 먼저 나와야 ③ 뒤 'Mr. Boggis’ secret was simple'이 그 비밀을 풀어 준다. ③이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320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Cyril Boggis was an antique furniture dealer in London.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was known for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buying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to buy</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good things at a low price and then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sell</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selling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them at a high price.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People asked him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which</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where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he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had got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has got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furniture, but he just said, "It’s a secret."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Mr. Boggis’ secret was simple. He went to small towns every Sunday and knocked on doors.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told people that he was a furniture dealer.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People didn’t know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how valuably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how valuable</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their things were, so Mr. Boggis took advantage of them.</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was able to buy things very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cheaply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cheap</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3" name="rv_g05"/>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
        <p:nvSpPr>
          <p:cNvPr id="14" name="rv_g06"/>
          <p:cNvSpPr txBox="1"/>
          <p:nvPr/>
        </p:nvSpPr>
        <p:spPr>
          <a:xfrm>
            <a:off x="457200" y="950976"/>
            <a:ext cx="11277295" cy="483209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known for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good things at a low price and then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sell</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selling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which</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where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had got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has got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knocked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that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how valuably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how valuable</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to buy things very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cheaply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cheap</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Cyril Boggis was an antique furniture dealer in London.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was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known</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knowing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for buying good things at a low price and then selling them at a high price.</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People asked him where he had got the furniture, but he just said, "It’s a secret."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Mr. Boggis’ secret was simple. He went to small towns every Sunday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knocked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knocking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on doors.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told people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that</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what</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he was a furniture dealer.</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People didn’t know how valuable their things were, so Mr. Boggis took advantage of them.</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⑦</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He was able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to buy</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buying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known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for buying good things at a low price and then selling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where he had got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knocked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knocking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how valuable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for buying good things at a low price and then selling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where he had got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knocked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knocking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how valuable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for buying good things at a low price and then selling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where he had got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knocked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knocking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how valuable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buy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Cyril Boggis was an antique furniture dealer in London.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known</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knowing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for buying good things at a low price and then selling them at a high price.</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asked him where he had got the furniture, but he just said, "It’s a secret."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Mr. Boggis’ secret was simple. He went to small towns every Sunday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knocked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knocking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on doors.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told people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that</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what</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he was a furniture dealer.</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People didn’t know how valuable their things were, so Mr. Boggis took advantage of them.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⑦</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He was able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to buy</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buying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things very cheaply.</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t>
            </a:r>
            <a:r>
              <a:rPr lang="en-US" altLang="ko-KR" sz="1500" b="0" dirty="0">
                <a:solidFill>
                  <a:srgbClr val="1F2328"/>
                </a:solidFill>
                <a:latin typeface="Calibri"/>
                <a:ea typeface="맑은 고딕"/>
                <a:cs typeface="Calibri"/>
              </a:rPr>
              <a:t>A table which was a priceless piece of eighteenth‑century English furniture.</a:t>
            </a:r>
            <a:r>
              <a:rPr lang="en-US" altLang="ko-KR" sz="1500" b="0" dirty="0">
                <a:solidFill>
                  <a:srgbClr val="1F2328"/>
                </a:solidFill>
                <a:latin typeface="Calibri"/>
                <a:ea typeface="맑은 고딕"/>
                <a:cs typeface="Calibri"/>
              </a:rPr>
              <a:t> He was so excited that he almost fell over. "What’s wrong?" Bert asked. "Oh, nothing. Nothing at all," Mr. Boggis lied. He then said with a straight face, "</a:t>
            </a:r>
            <a:r>
              <a:rPr lang="en-US" altLang="ko-KR" sz="1500" b="0" dirty="0">
                <a:solidFill>
                  <a:srgbClr val="1F2328"/>
                </a:solidFill>
                <a:latin typeface="Calibri"/>
                <a:ea typeface="맑은 고딕"/>
                <a:cs typeface="Calibri"/>
              </a:rPr>
              <a:t>This table is a reproduction</a:t>
            </a:r>
            <a:r>
              <a:rPr lang="en-US" altLang="ko-KR" sz="1500" b="0" dirty="0">
                <a:solidFill>
                  <a:srgbClr val="1F2328"/>
                </a:solidFill>
                <a:latin typeface="Calibri"/>
                <a:ea typeface="맑은 고딕"/>
                <a:cs typeface="Calibri"/>
              </a:rPr>
              <a:t>.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t>
            </a:r>
            <a:r>
              <a:rPr lang="en-US" altLang="ko-KR" sz="1500" b="0" dirty="0">
                <a:solidFill>
                  <a:srgbClr val="111111"/>
                </a:solidFill>
                <a:highlight>
                  <a:srgbClr val="FFE45C"/>
                </a:highlight>
                <a:latin typeface="Calibri"/>
                <a:ea typeface="맑은 고딕"/>
                <a:cs typeface="Calibri"/>
              </a:rPr>
              <a:t>A table which was a priceless piece of eighteenth‑century English furniture.</a:t>
            </a:r>
            <a:r>
              <a:rPr lang="en-US" altLang="ko-KR" sz="1500" b="0" dirty="0">
                <a:solidFill>
                  <a:srgbClr val="B3BAC6"/>
                </a:solidFill>
                <a:latin typeface="Calibri"/>
                <a:ea typeface="맑은 고딕"/>
                <a:cs typeface="Calibri"/>
              </a:rPr>
              <a:t> He was so excited that he almost fell over. "What’s wrong?" Bert asked. "Oh, nothing. Nothing at all," Mr. Boggis lied. He then said with a straight face, "</a:t>
            </a:r>
            <a:r>
              <a:rPr lang="en-US" altLang="ko-KR" sz="1500" b="0" dirty="0">
                <a:solidFill>
                  <a:srgbClr val="111111"/>
                </a:solidFill>
                <a:highlight>
                  <a:srgbClr val="FFE45C"/>
                </a:highlight>
                <a:latin typeface="Calibri"/>
                <a:ea typeface="맑은 고딕"/>
                <a:cs typeface="Calibri"/>
              </a:rPr>
              <a:t>This table is a reproduction</a:t>
            </a:r>
            <a:r>
              <a:rPr lang="en-US" altLang="ko-KR" sz="1500" b="0" dirty="0">
                <a:solidFill>
                  <a:srgbClr val="B3BAC6"/>
                </a:solidFill>
                <a:latin typeface="Calibri"/>
                <a:ea typeface="맑은 고딕"/>
                <a:cs typeface="Calibri"/>
              </a:rPr>
              <a:t>.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a family selling old furniture to a stranger</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a dealer finding a valuable table and lying</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5125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a dealer finding a valuable table and lying</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a man learning to make antique tables</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two men fixing a broken kitchen table</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a dealer buying a cheap copy of a table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a dealer finding a valuable table and lying</a:t>
            </a:r>
            <a:endParaRPr lang="en-US" altLang="ko-KR" sz="1900" b="1" dirty="0">
              <a:solidFill>
                <a:srgbClr val="5A4200"/>
              </a:solidFill>
              <a:latin typeface="Calibri"/>
              <a:ea typeface="맑은 고딕"/>
              <a:cs typeface="Calibri"/>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귀중한 18세기 탁자를 보고 복제품이라고 말했다. 귀한 탁자를 찾고 거짓말한 ②가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t>
            </a:r>
            <a:r>
              <a:rPr lang="en-US" altLang="ko-KR" sz="1500" b="0" dirty="0">
                <a:solidFill>
                  <a:srgbClr val="1F2328"/>
                </a:solidFill>
                <a:latin typeface="Calibri"/>
                <a:ea typeface="맑은 고딕"/>
                <a:cs typeface="Calibri"/>
              </a:rPr>
              <a:t>And there it was!</a:t>
            </a:r>
            <a:r>
              <a:rPr lang="en-US" altLang="ko-KR" sz="1500" b="0" dirty="0">
                <a:solidFill>
                  <a:srgbClr val="1F2328"/>
                </a:solidFill>
                <a:latin typeface="Calibri"/>
                <a:ea typeface="맑은 고딕"/>
                <a:cs typeface="Calibri"/>
              </a:rPr>
              <a:t> A table which was a priceless piece of eighteenth‑century English furniture. He was so excited that he almost fell over. "What’s wrong?" Bert asked. "Oh, nothing. Nothing at all," </a:t>
            </a:r>
            <a:r>
              <a:rPr lang="en-US" altLang="ko-KR" sz="1500" b="0" dirty="0">
                <a:solidFill>
                  <a:srgbClr val="1F2328"/>
                </a:solidFill>
                <a:latin typeface="Calibri"/>
                <a:ea typeface="맑은 고딕"/>
                <a:cs typeface="Calibri"/>
              </a:rPr>
              <a:t>Mr. Boggis lied</a:t>
            </a:r>
            <a:r>
              <a:rPr lang="en-US" altLang="ko-KR" sz="1500" b="0" dirty="0">
                <a:solidFill>
                  <a:srgbClr val="1F2328"/>
                </a:solidFill>
                <a:latin typeface="Calibri"/>
                <a:ea typeface="맑은 고딕"/>
                <a:cs typeface="Calibri"/>
              </a:rPr>
              <a:t>. He then said with a straight face, "This table is a reproduction.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t>
            </a:r>
            <a:r>
              <a:rPr lang="en-US" altLang="ko-KR" sz="1500" b="0" dirty="0">
                <a:solidFill>
                  <a:srgbClr val="111111"/>
                </a:solidFill>
                <a:highlight>
                  <a:srgbClr val="FFE45C"/>
                </a:highlight>
                <a:latin typeface="Calibri"/>
                <a:ea typeface="맑은 고딕"/>
                <a:cs typeface="Calibri"/>
              </a:rPr>
              <a:t>And there it was!</a:t>
            </a:r>
            <a:r>
              <a:rPr lang="en-US" altLang="ko-KR" sz="1500" b="0" dirty="0">
                <a:solidFill>
                  <a:srgbClr val="B3BAC6"/>
                </a:solidFill>
                <a:latin typeface="Calibri"/>
                <a:ea typeface="맑은 고딕"/>
                <a:cs typeface="Calibri"/>
              </a:rPr>
              <a:t> A table which was a priceless piece of eighteenth‑century English furniture. He was so excited that he almost fell over. "What’s wrong?" Bert asked. "Oh, nothing. Nothing at all," </a:t>
            </a:r>
            <a:r>
              <a:rPr lang="en-US" altLang="ko-KR" sz="1500" b="0" dirty="0">
                <a:solidFill>
                  <a:srgbClr val="111111"/>
                </a:solidFill>
                <a:highlight>
                  <a:srgbClr val="FFE45C"/>
                </a:highlight>
                <a:latin typeface="Calibri"/>
                <a:ea typeface="맑은 고딕"/>
                <a:cs typeface="Calibri"/>
              </a:rPr>
              <a:t>Mr. Boggis lied</a:t>
            </a:r>
            <a:r>
              <a:rPr lang="en-US" altLang="ko-KR" sz="1500" b="0" dirty="0">
                <a:solidFill>
                  <a:srgbClr val="B3BAC6"/>
                </a:solidFill>
                <a:latin typeface="Calibri"/>
                <a:ea typeface="맑은 고딕"/>
                <a:cs typeface="Calibri"/>
              </a:rPr>
              <a:t>. He then said with a straight face, "This table is a reproduction.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An Honest Dealer Pays a Fair Price</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Kitchen Full of Old Treasures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A Lucky Find and a Clever Lie</a:t>
            </a:r>
            <a:endParaRPr lang="en-US" altLang="ko-KR" sz="1800" b="0" dirty="0">
              <a:solidFill>
                <a:srgbClr val="1F2328"/>
              </a:solidFill>
              <a:latin typeface="Calibri"/>
              <a:ea typeface="맑은 고딕"/>
              <a:cs typeface="Calibri"/>
            </a:endParaRPr>
          </a:p>
        </p:txBody>
      </p:sp>
      <p:sp>
        <p:nvSpPr>
          <p:cNvPr id="14" name="rv_pick"/>
          <p:cNvSpPr txBox="1"/>
          <p:nvPr/>
        </p:nvSpPr>
        <p:spPr>
          <a:xfrm>
            <a:off x="457200" y="39199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en-US" altLang="ko-KR" sz="1800" b="0" dirty="0">
                <a:solidFill>
                  <a:srgbClr val="C00000"/>
                </a:solidFill>
                <a:latin typeface="Calibri"/>
                <a:ea typeface="맑은 고딕"/>
                <a:cs typeface="Calibri"/>
              </a:rPr>
              <a:t>	A Lucky Find and a Clever Lie</a:t>
            </a:r>
            <a:endParaRPr lang="en-US" altLang="ko-KR" sz="1800" b="0" dirty="0">
              <a:solidFill>
                <a:srgbClr val="C00000"/>
              </a:solidFill>
              <a:latin typeface="Calibri"/>
              <a:ea typeface="맑은 고딕"/>
              <a:cs typeface="Calibri"/>
            </a:endParaRPr>
          </a:p>
        </p:txBody>
      </p:sp>
      <p:sp>
        <p:nvSpPr>
          <p:cNvPr id="15"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Bert Found a Priceless Table</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A Sunday Trip to a Big City Shop</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A Lucky Find and a Clever Lie</a:t>
            </a:r>
            <a:endParaRPr lang="en-US" altLang="ko-KR" sz="1900" b="1" dirty="0">
              <a:solidFill>
                <a:srgbClr val="5A4200"/>
              </a:solidFill>
              <a:latin typeface="Calibri"/>
              <a:ea typeface="맑은 고딕"/>
              <a:cs typeface="Calibri"/>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뜻밖에 귀한 탁자를 찾고('there it was') 거짓말했다('lied'). ③이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a:t>
            </a:r>
            <a:r>
              <a:rPr lang="en-US" altLang="ko-KR" sz="1500" b="0" dirty="0">
                <a:solidFill>
                  <a:srgbClr val="1F2328"/>
                </a:solidFill>
                <a:latin typeface="Calibri"/>
                <a:ea typeface="맑은 고딕"/>
                <a:cs typeface="Calibri"/>
              </a:rPr>
              <a:t>This table is a reproduction</a:t>
            </a:r>
            <a:r>
              <a:rPr lang="en-US" altLang="ko-KR" sz="1500" b="0" dirty="0">
                <a:solidFill>
                  <a:srgbClr val="1F2328"/>
                </a:solidFill>
                <a:latin typeface="Calibri"/>
                <a:ea typeface="맑은 고딕"/>
                <a:cs typeface="Calibri"/>
              </a:rPr>
              <a:t>.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a:t>
            </a:r>
            <a:r>
              <a:rPr lang="en-US" altLang="ko-KR" sz="1500" b="0" dirty="0">
                <a:solidFill>
                  <a:srgbClr val="111111"/>
                </a:solidFill>
                <a:highlight>
                  <a:srgbClr val="FFE45C"/>
                </a:highlight>
                <a:latin typeface="Calibri"/>
                <a:ea typeface="맑은 고딕"/>
                <a:cs typeface="Calibri"/>
              </a:rPr>
              <a:t>This table is a reproduction</a:t>
            </a:r>
            <a:r>
              <a:rPr lang="en-US" altLang="ko-KR" sz="1500" b="0" dirty="0">
                <a:solidFill>
                  <a:srgbClr val="B3BAC6"/>
                </a:solidFill>
                <a:latin typeface="Calibri"/>
                <a:ea typeface="맑은 고딕"/>
                <a:cs typeface="Calibri"/>
              </a:rPr>
              <a:t>.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오래된 가구는 부엌에 두는 것이 좋다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낯선 사람을 집에 들이지 말아야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복제품은 진품보다 싸게 사야 한다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물건의 가치를 정직하게 알려 주어야 한다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3273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물건의 가치를 정직하게 알려 주어야 한다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가구를 살 때 전문가와 동행해야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물건의 가치를 정직하게 알려 주어야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귀한 탁자를 복제품이라 속인 행동을 비판하면 ④가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a:t>
            </a:r>
            <a:r>
              <a:rPr lang="en-US" altLang="ko-KR" sz="1500" b="0" dirty="0">
                <a:solidFill>
                  <a:srgbClr val="1F2328"/>
                </a:solidFill>
                <a:latin typeface="Calibri"/>
                <a:ea typeface="맑은 고딕"/>
                <a:cs typeface="Calibri"/>
              </a:rPr>
              <a:t>Mr. Boggis lied</a:t>
            </a:r>
            <a:r>
              <a:rPr lang="en-US" altLang="ko-KR" sz="1500" b="0" dirty="0">
                <a:solidFill>
                  <a:srgbClr val="1F2328"/>
                </a:solidFill>
                <a:latin typeface="Calibri"/>
                <a:ea typeface="맑은 고딕"/>
                <a:cs typeface="Calibri"/>
              </a:rPr>
              <a:t>. He then said with a straight face, "</a:t>
            </a:r>
            <a:r>
              <a:rPr lang="en-US" altLang="ko-KR" sz="1500" b="0" dirty="0">
                <a:solidFill>
                  <a:srgbClr val="1F2328"/>
                </a:solidFill>
                <a:latin typeface="Calibri"/>
                <a:ea typeface="맑은 고딕"/>
                <a:cs typeface="Calibri"/>
              </a:rPr>
              <a:t>This table is a reproduction</a:t>
            </a:r>
            <a:r>
              <a:rPr lang="en-US" altLang="ko-KR" sz="1500" b="0" dirty="0">
                <a:solidFill>
                  <a:srgbClr val="1F2328"/>
                </a:solidFill>
                <a:latin typeface="Calibri"/>
                <a:ea typeface="맑은 고딕"/>
                <a:cs typeface="Calibri"/>
              </a:rPr>
              <a:t>.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a:t>
            </a:r>
            <a:r>
              <a:rPr lang="en-US" altLang="ko-KR" sz="1500" b="0" dirty="0">
                <a:solidFill>
                  <a:srgbClr val="111111"/>
                </a:solidFill>
                <a:highlight>
                  <a:srgbClr val="FFE45C"/>
                </a:highlight>
                <a:latin typeface="Calibri"/>
                <a:ea typeface="맑은 고딕"/>
                <a:cs typeface="Calibri"/>
              </a:rPr>
              <a:t>Mr. Boggis lied</a:t>
            </a:r>
            <a:r>
              <a:rPr lang="en-US" altLang="ko-KR" sz="1500" b="0" dirty="0">
                <a:solidFill>
                  <a:srgbClr val="B3BAC6"/>
                </a:solidFill>
                <a:latin typeface="Calibri"/>
                <a:ea typeface="맑은 고딕"/>
                <a:cs typeface="Calibri"/>
              </a:rPr>
              <a:t>. He then said with a straight face, "</a:t>
            </a:r>
            <a:r>
              <a:rPr lang="en-US" altLang="ko-KR" sz="1500" b="0" dirty="0">
                <a:solidFill>
                  <a:srgbClr val="111111"/>
                </a:solidFill>
                <a:highlight>
                  <a:srgbClr val="FFE45C"/>
                </a:highlight>
                <a:latin typeface="Calibri"/>
                <a:ea typeface="맑은 고딕"/>
                <a:cs typeface="Calibri"/>
              </a:rPr>
              <a:t>This table is a reproduction</a:t>
            </a:r>
            <a:r>
              <a:rPr lang="en-US" altLang="ko-KR" sz="1500" b="0" dirty="0">
                <a:solidFill>
                  <a:srgbClr val="B3BAC6"/>
                </a:solidFill>
                <a:latin typeface="Calibri"/>
                <a:ea typeface="맑은 고딕"/>
                <a:cs typeface="Calibri"/>
              </a:rPr>
              <a:t>.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Bert는 탁자의 진짜 가치를 알고 있었다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Rummins는 탁자를 비싼 값에 팔았다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부엌에 18세기 영국 가구가 놓여 있었다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Boggis 씨는 탁자가 진품이라고 말했다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Boggis 씨는 귀한 탁자를 보고 거짓말했다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7348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Boggis 씨는 귀한 탁자를 보고 거짓말했다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Boggis 씨는 귀한 탁자를 보고 거짓말했다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Boggis는 귀한 탁자를 보고 거짓말을 하며 복제품이라 했다. ⑤가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a:t>
            </a:r>
            <a:r>
              <a:rPr lang="en-US" altLang="ko-KR" sz="1500" b="0" dirty="0">
                <a:solidFill>
                  <a:srgbClr val="1F2328"/>
                </a:solidFill>
                <a:latin typeface="Calibri"/>
                <a:ea typeface="맑은 고딕"/>
                <a:cs typeface="Calibri"/>
              </a:rPr>
              <a:t>the other was his son Bert</a:t>
            </a:r>
            <a:r>
              <a:rPr lang="en-US" altLang="ko-KR" sz="1500" b="0" dirty="0">
                <a:solidFill>
                  <a:srgbClr val="1F2328"/>
                </a:solidFill>
                <a:latin typeface="Calibri"/>
                <a:ea typeface="맑은 고딕"/>
                <a:cs typeface="Calibri"/>
              </a:rPr>
              <a: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a:t>
            </a:r>
            <a:r>
              <a:rPr lang="en-US" altLang="ko-KR" sz="1500" b="0" dirty="0">
                <a:solidFill>
                  <a:srgbClr val="111111"/>
                </a:solidFill>
                <a:highlight>
                  <a:srgbClr val="FFE45C"/>
                </a:highlight>
                <a:latin typeface="Calibri"/>
                <a:ea typeface="맑은 고딕"/>
                <a:cs typeface="Calibri"/>
              </a:rPr>
              <a:t>the other was his son Bert</a:t>
            </a:r>
            <a:r>
              <a:rPr lang="en-US" altLang="ko-KR" sz="1500" b="0" dirty="0">
                <a:solidFill>
                  <a:srgbClr val="B3BAC6"/>
                </a:solidFill>
                <a:latin typeface="Calibri"/>
                <a:ea typeface="맑은 고딕"/>
                <a:cs typeface="Calibri"/>
              </a:rPr>
              <a: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일요일에 작은 마을에 있었다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Rummins는 그 집의 주인이었다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Boggis 씨는 먼저 부엌에 들어갔다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Bert는 Rummins의 형이었다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3273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Bert는 Rummins의 형이었다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거실에서 귀중한 탁자를 발견했다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Bert는 Rummins의 형이었다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Bert는 Rummins의 아들('his son')이다. 형이라고 한 ④는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a:t>
            </a:r>
            <a:r>
              <a:rPr lang="en-US" altLang="ko-KR" sz="1500" b="0" dirty="0">
                <a:solidFill>
                  <a:srgbClr val="1F2328"/>
                </a:solidFill>
                <a:latin typeface="Calibri"/>
                <a:ea typeface="맑은 고딕"/>
                <a:cs typeface="Calibri"/>
              </a:rPr>
              <a:t>This table is a reproduction</a:t>
            </a:r>
            <a:r>
              <a:rPr lang="en-US" altLang="ko-KR" sz="1500" b="0" dirty="0">
                <a:solidFill>
                  <a:srgbClr val="1F2328"/>
                </a:solidFill>
                <a:latin typeface="Calibri"/>
                <a:ea typeface="맑은 고딕"/>
                <a:cs typeface="Calibri"/>
              </a:rPr>
              <a:t>. It’s worth only a few pounds."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20078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0078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Now it was another Sunday, and Mr. Boggis was in a small town again. At a house he visited, he met two men. One was Rummins, the owner, and the other was his son Bert. "I buy old furniture. Do you have any?" asked Mr. Boggis. "No, I don’t," said Rummins. "Can I just take a look?" asked Mr. Boggis. "Sure. Please come in," said Rummins.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a:t>
            </a:r>
            <a:r>
              <a:rPr lang="en-US" altLang="ko-KR" sz="1500" b="0" dirty="0">
                <a:solidFill>
                  <a:srgbClr val="111111"/>
                </a:solidFill>
                <a:highlight>
                  <a:srgbClr val="FFE45C"/>
                </a:highlight>
                <a:latin typeface="Calibri"/>
                <a:ea typeface="맑은 고딕"/>
                <a:cs typeface="Calibri"/>
              </a:rPr>
              <a:t>This table is a reproduction</a:t>
            </a:r>
            <a:r>
              <a:rPr lang="en-US" altLang="ko-KR" sz="1500" b="0" dirty="0">
                <a:solidFill>
                  <a:srgbClr val="B3BAC6"/>
                </a:solidFill>
                <a:latin typeface="Calibri"/>
                <a:ea typeface="맑은 고딕"/>
                <a:cs typeface="Calibri"/>
              </a:rPr>
              <a:t>. It’s worth only a few pounds."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31051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Boggis 씨는 탁자가 복제품이라고 했다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31051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Boggis 씨는 탁자가 복제품이라고 했다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5125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Rummins는 고가구가 있다고 말했다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9199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부엌에서 18세기 탁자를 발견했다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3273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Bert는 탁자가 진품이라고 말했다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7348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Boggis 씨는 흥분해서 실제로 넘어졌다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5224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Boggis 씨는 탁자가 복제품이라고 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23458"/>
            <a:ext cx="11277295" cy="595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Boggis는 정색하며 탁자가 복제품이라고 말했다. ①이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7294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72948"/>
          </a:xfrm>
          <a:prstGeom prst="rect">
            <a:avLst/>
          </a:prstGeom>
          <a:noFill/>
        </p:spPr>
        <p:txBody>
          <a:bodyPr wrap="square" lIns="201168" tIns="100584" rIns="201168" bIns="100584" anchor="t" rtlCol="0">
            <a:noAutofit/>
          </a:bodyPr>
          <a:lstStyle/>
          <a:p>
            <a:pPr algn="l">
              <a:lnSpc>
                <a:spcPts val="2140"/>
              </a:lnSpc>
              <a:spcBef>
                <a:spcPts val="0"/>
              </a:spcBef>
              <a:spcAft>
                <a:spcPts val="0"/>
              </a:spcAft>
              <a:buNone/>
            </a:pPr>
            <a:r>
              <a:rPr lang="en-US" altLang="ko-KR" sz="1650" b="0" dirty="0">
                <a:solidFill>
                  <a:srgbClr val="1F2328"/>
                </a:solidFill>
                <a:latin typeface="Calibri"/>
                <a:ea typeface="맑은 고딕"/>
                <a:cs typeface="Calibri"/>
              </a:rPr>
              <a:t>Now it was another Sunday, and Mr. Boggis was in a small town again.</a:t>
            </a:r>
            <a:endParaRPr lang="en-US" altLang="ko-KR" sz="1650" b="0" dirty="0">
              <a:solidFill>
                <a:srgbClr val="1F2328"/>
              </a:solidFill>
              <a:latin typeface="Calibri"/>
              <a:ea typeface="맑은 고딕"/>
              <a:cs typeface="Calibri"/>
            </a:endParaRPr>
          </a:p>
        </p:txBody>
      </p:sp>
      <p:sp>
        <p:nvSpPr>
          <p:cNvPr id="9" name="parts_card"/>
          <p:cNvSpPr/>
          <p:nvPr/>
        </p:nvSpPr>
        <p:spPr>
          <a:xfrm>
            <a:off x="457200" y="1551940"/>
            <a:ext cx="11277295" cy="271221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51940"/>
            <a:ext cx="11277295" cy="2712211"/>
          </a:xfrm>
          <a:prstGeom prst="rect">
            <a:avLst/>
          </a:prstGeom>
          <a:noFill/>
        </p:spPr>
        <p:txBody>
          <a:bodyPr wrap="square" lIns="201168" tIns="118872" rIns="201168" bIns="118872" anchor="t" rtlCol="0">
            <a:noAutofit/>
          </a:bodyPr>
          <a:lstStyle/>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(A)</a:t>
            </a:r>
            <a:r>
              <a:rPr lang="en-US" altLang="ko-KR" sz="1650" b="0" dirty="0">
                <a:solidFill>
                  <a:srgbClr val="1F2328"/>
                </a:solidFill>
                <a:latin typeface="Calibri"/>
                <a:ea typeface="맑은 고딕"/>
                <a:cs typeface="Calibri"/>
              </a:rPr>
              <a:t>	Mr. Boggis first went to the kitchen, and there was nothing. He then moved to the living room. And there it was! A table which was a priceless piece of eighteenth‑century English furniture.</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(B)</a:t>
            </a:r>
            <a:r>
              <a:rPr lang="en-US" altLang="ko-KR" sz="1650" b="0" dirty="0">
                <a:solidFill>
                  <a:srgbClr val="1F2328"/>
                </a:solidFill>
                <a:latin typeface="Calibri"/>
                <a:ea typeface="맑은 고딕"/>
                <a:cs typeface="Calibri"/>
              </a:rPr>
              <a:t>	At a house he visited, he met two men. One was Rummins, the owner, and the other was his son Bert. "I buy old furniture. Do you have any?" asked Mr. Boggis. "No, I don’t," said Rummins. "Can I just take a look?" asked Mr. Boggis. "Sure. Please come in," said Rummins.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(C)</a:t>
            </a:r>
            <a:r>
              <a:rPr lang="en-US" altLang="ko-KR" sz="1650" b="0" dirty="0">
                <a:solidFill>
                  <a:srgbClr val="1F2328"/>
                </a:solidFill>
                <a:latin typeface="Calibri"/>
                <a:ea typeface="맑은 고딕"/>
                <a:cs typeface="Calibri"/>
              </a:rPr>
              <a:t>	He was so excited that he almost fell over. "What’s wrong?" Bert asked. "Oh, nothing. Nothing at all," Mr. Boggis lied. He then said with a straight face, "This table is a reproduction. It’s worth only a few pounds."</a:t>
            </a:r>
            <a:endParaRPr lang="en-US" altLang="ko-KR" sz="1650" b="0" dirty="0">
              <a:solidFill>
                <a:srgbClr val="1F2328"/>
              </a:solidFill>
              <a:latin typeface="Calibri"/>
              <a:ea typeface="맑은 고딕"/>
              <a:cs typeface="Calibri"/>
            </a:endParaRPr>
          </a:p>
        </p:txBody>
      </p:sp>
      <p:sp>
        <p:nvSpPr>
          <p:cNvPr id="11" name="options"/>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② </a:t>
            </a:r>
            <a:r>
              <a:rPr lang="en-US" altLang="ko-KR" sz="1800" b="0" dirty="0">
                <a:solidFill>
                  <a:srgbClr val="C00000"/>
                </a:solidFill>
                <a:highlight>
                  <a:srgbClr val="FFFFFF"/>
                </a:highlight>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859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 - (A) - (C)</a:t>
            </a:r>
            <a:endParaRPr lang="en-US" altLang="ko-KR" sz="1900" b="1" dirty="0">
              <a:solidFill>
                <a:srgbClr val="5A4200"/>
              </a:solidFill>
              <a:latin typeface="Calibri"/>
              <a:ea typeface="맑은 고딕"/>
              <a:cs typeface="Calibri"/>
            </a:endParaRPr>
          </a:p>
        </p:txBody>
      </p:sp>
      <p:sp>
        <p:nvSpPr>
          <p:cNvPr id="14" name="rv_why"/>
          <p:cNvSpPr/>
          <p:nvPr/>
        </p:nvSpPr>
        <p:spPr>
          <a:xfrm>
            <a:off x="457200" y="5484876"/>
            <a:ext cx="11277295" cy="9342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일요일 작은 마을 → (B) 한 집에서 Rummins 부자를 만나 둘러봐도 되냐고 묻는다 → (A) 부엌을 거쳐 거실에서 탁자를 찾는다 → (C) 흥분했지만 복제품이라고 속인다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7294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72948"/>
          </a:xfrm>
          <a:prstGeom prst="rect">
            <a:avLst/>
          </a:prstGeom>
          <a:noFill/>
        </p:spPr>
        <p:txBody>
          <a:bodyPr wrap="square" lIns="201168" tIns="100584" rIns="201168" bIns="100584" anchor="t" rtlCol="0">
            <a:noAutofit/>
          </a:bodyPr>
          <a:lstStyle/>
          <a:p>
            <a:pPr algn="l">
              <a:lnSpc>
                <a:spcPts val="2140"/>
              </a:lnSpc>
              <a:spcBef>
                <a:spcPts val="0"/>
              </a:spcBef>
              <a:spcAft>
                <a:spcPts val="0"/>
              </a:spcAft>
              <a:buNone/>
            </a:pPr>
            <a:r>
              <a:rPr lang="en-US" altLang="ko-KR" sz="1650" b="0" dirty="0">
                <a:solidFill>
                  <a:srgbClr val="1F2328"/>
                </a:solidFill>
                <a:latin typeface="Calibri"/>
                <a:ea typeface="맑은 고딕"/>
                <a:cs typeface="Calibri"/>
              </a:rPr>
              <a:t>Now it was another Sunday, and Mr. Boggis was in a small town again.</a:t>
            </a:r>
            <a:endParaRPr lang="en-US" altLang="ko-KR" sz="1650" b="0" dirty="0">
              <a:solidFill>
                <a:srgbClr val="1F2328"/>
              </a:solidFill>
              <a:latin typeface="Calibri"/>
              <a:ea typeface="맑은 고딕"/>
              <a:cs typeface="Calibri"/>
            </a:endParaRPr>
          </a:p>
        </p:txBody>
      </p:sp>
      <p:sp>
        <p:nvSpPr>
          <p:cNvPr id="9" name="parts_card"/>
          <p:cNvSpPr/>
          <p:nvPr/>
        </p:nvSpPr>
        <p:spPr>
          <a:xfrm>
            <a:off x="457200" y="1551940"/>
            <a:ext cx="11277295" cy="271221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51940"/>
            <a:ext cx="11277295" cy="2712211"/>
          </a:xfrm>
          <a:prstGeom prst="rect">
            <a:avLst/>
          </a:prstGeom>
          <a:noFill/>
        </p:spPr>
        <p:txBody>
          <a:bodyPr wrap="square" lIns="201168" tIns="118872" rIns="201168" bIns="118872" anchor="t" rtlCol="0">
            <a:noAutofit/>
          </a:bodyPr>
          <a:lstStyle/>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(A)</a:t>
            </a:r>
            <a:r>
              <a:rPr lang="en-US" altLang="ko-KR" sz="1650" b="0" dirty="0">
                <a:solidFill>
                  <a:srgbClr val="1F2328"/>
                </a:solidFill>
                <a:latin typeface="Calibri"/>
                <a:ea typeface="맑은 고딕"/>
                <a:cs typeface="Calibri"/>
              </a:rPr>
              <a:t>	Mr. Boggis first went to the kitchen, and there was nothing. He then moved to the living room. And there it was! A table which was a priceless piece of eighteenth‑century English furniture.</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(B)</a:t>
            </a:r>
            <a:r>
              <a:rPr lang="en-US" altLang="ko-KR" sz="1650" b="0" dirty="0">
                <a:solidFill>
                  <a:srgbClr val="1F2328"/>
                </a:solidFill>
                <a:latin typeface="Calibri"/>
                <a:ea typeface="맑은 고딕"/>
                <a:cs typeface="Calibri"/>
              </a:rPr>
              <a:t>	He was so excited that he almost fell over. "What’s wrong?" Bert asked. "Oh, nothing. Nothing at all," Mr. Boggis lied. He then said with a straight face, "This table is a reproduction. It’s worth only a few pounds."</a:t>
            </a:r>
            <a:endParaRPr lang="en-US" altLang="ko-KR" sz="1650" b="0" dirty="0">
              <a:solidFill>
                <a:srgbClr val="1F2328"/>
              </a:solidFill>
              <a:latin typeface="Calibri"/>
              <a:ea typeface="맑은 고딕"/>
              <a:cs typeface="Calibri"/>
            </a:endParaRPr>
          </a:p>
          <a:p>
            <a:pPr algn="just" marL="439420" indent="-439420">
              <a:lnSpc>
                <a:spcPts val="2140"/>
              </a:lnSpc>
              <a:spcBef>
                <a:spcPts val="0"/>
              </a:spcBef>
              <a:spcAft>
                <a:spcPts val="740"/>
              </a:spcAft>
              <a:buNone/>
              <a:tabLst>
                <a:tab pos="439420" algn="l"/>
              </a:tabLst>
            </a:pPr>
            <a:r>
              <a:rPr lang="en-US" altLang="ko-KR" sz="1650" b="1" dirty="0">
                <a:solidFill>
                  <a:srgbClr val="1E2A5A"/>
                </a:solidFill>
                <a:latin typeface="Calibri"/>
                <a:ea typeface="맑은 고딕"/>
                <a:cs typeface="Calibri"/>
              </a:rPr>
              <a:t>(C)</a:t>
            </a:r>
            <a:r>
              <a:rPr lang="en-US" altLang="ko-KR" sz="1650" b="0" dirty="0">
                <a:solidFill>
                  <a:srgbClr val="1F2328"/>
                </a:solidFill>
                <a:latin typeface="Calibri"/>
                <a:ea typeface="맑은 고딕"/>
                <a:cs typeface="Calibri"/>
              </a:rPr>
              <a:t>	At a house he visited, he met two men. One was Rummins, the owner, and the other was his son Bert. "I buy old furniture. Do you have any?" asked Mr. Boggis. "No, I don’t," said Rummins. "Can I just take a look?" asked Mr. Boggis. "Sure. Please come in," said Rummins.</a:t>
            </a:r>
            <a:endParaRPr lang="en-US" altLang="ko-KR" sz="1650" b="0" dirty="0">
              <a:solidFill>
                <a:srgbClr val="1F2328"/>
              </a:solidFill>
              <a:latin typeface="Calibri"/>
              <a:ea typeface="맑은 고딕"/>
              <a:cs typeface="Calibri"/>
            </a:endParaRPr>
          </a:p>
        </p:txBody>
      </p:sp>
      <p:sp>
        <p:nvSpPr>
          <p:cNvPr id="11" name="options"/>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3738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859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484876"/>
            <a:ext cx="11277295" cy="9342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일요일 작은 마을 → (C) 한 집에서 두 남자를 만나 집 안으로 들어간다 → (A) 부엌에 이어 거실에서 귀한 탁자를 찾는다 → (B) 너무 흥분했지만 복제품이라고 거짓말한다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"I buy old furniture. Do you have any?" asked Mr. Boggis.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Now it was another Sunday, and Mr. Boggis was in a small town again.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At a house he visited, he met two men. One was Rummins, the owner, and the other was his son Bert.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"No, I don’t," said Rummins. "Can I just take a look?" asked Mr. Boggis.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"Sure. Please come in," said Rummins.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Now it was another Sunday, and Mr. Boggis was in a small town again.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 house he visited, he met two men. One was Rummins, the owner, and the other was his son Bert.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"No, I don’t," said Rummins. "Can I just take a look?" asked Mr. Boggis.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"Sure. Please come in," said Rummins.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589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188458"/>
            <a:ext cx="11277295" cy="1230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'Do you have any?'에 대한 대답이 ③ 뒤 'No, I don’t'이다. 질문이 먼저 와야 하므로 ③이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"No, I don’t," said Rummins. "Can I just take a look?" asked Mr. Boggis.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87528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Now it was another Sunday, and Mr. Boggis was in a small town again.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At a house he visited, he met two men. One was Rummins, the owner, and the other was his son Bert.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"I buy old furniture. Do you have any?" asked Mr. Boggis.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"Sure. Please come in," said Rummins.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87528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Now it was another Sunday, and Mr. Boggis was in a small town again.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 house he visited, he met two men. One was Rummins, the owner, and the other was his son Bert.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"I buy old furniture. Do you have any?" asked Mr. Boggis.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"Sure. Please come in," said Rummins.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Mr. Boggis first went to the kitchen, and there was nothing. He then moved to the living room. And there it was! A table which was a priceless piece of eighteenth‑century English furniture. He was so excited that he almost fell over. "What’s wrong?" Bert asked. "Oh, nothing. Nothing at all," Mr. Boggis lied. He then said with a straight face, "This table is a reproduction. It’s worth only a few pounds."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45895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188458"/>
            <a:ext cx="11277295" cy="12306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'Can I just take a look?'에 ④ 뒤 'Sure. Please come in'이 답한다. 고가구를 묻는 말 다음인 ④가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94893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solidFill>
                <a:latin typeface="맑은 고딕"/>
                <a:ea typeface="맑은 고딕"/>
                <a:cs typeface="맑은 고딕"/>
              </a:rPr>
              <a:t>①</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Now it was another Sunday, and Mr. Boggis was in a small town again.</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②</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 house he visited, he met two men. One was Rummins, the owner, and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another</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the other</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was his son Bert.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③</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 buy old furniture. Do you have any?" asked Mr. Boggis.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④</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"No, I don’t," said Rummins. "Can I just take a look?" asked Mr. Boggis.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⑤</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"Sure. Please come in," said Rummins.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⑥</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Mr. Boggis first went to the kitchen, and there was nothing.</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⑦</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then moved to the living room. And there it was!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⑧</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 table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which</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where</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was a priceless piece of eighteenth‑century English furniture.</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⑨</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was so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exciting</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excited</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that he almost fell over.</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⑩</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"What’s wrong?" Bert asked. "Oh, nothing. Nothing at all," Mr. Boggis lied.</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⑪</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then said with a straight face, "This table is a reproduction. It’s worth only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a few</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a little</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
        <p:nvSpPr>
          <p:cNvPr id="9" name="rv_g01"/>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another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C00000"/>
                </a:solidFill>
                <a:highlight>
                  <a:srgbClr val="F3F5F9"/>
                </a:highlight>
                <a:latin typeface="Calibri"/>
                <a:ea typeface="맑은 고딕"/>
                <a:cs typeface="Calibri"/>
              </a:rPr>
              <a:t>the 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was nothing.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which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where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so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exciting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excited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lied.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 few</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 little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
        <p:nvSpPr>
          <p:cNvPr id="10" name="rv_g02"/>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another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the 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was nothing.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which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where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so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exciting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excited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lied.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 few</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 little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
        <p:nvSpPr>
          <p:cNvPr id="11" name="rv_g03"/>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another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the 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was nothing.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which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where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so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exciting</a:t>
            </a:r>
            <a:r>
              <a:rPr lang="en-US" altLang="ko-KR" sz="2050" b="1" dirty="0">
                <a:solidFill>
                  <a:srgbClr val="1F2328">
                    <a:alpha val="0"/>
                  </a:srgbClr>
                </a:solidFill>
                <a:latin typeface="Calibri"/>
                <a:ea typeface="맑은 고딕"/>
                <a:cs typeface="Calibri"/>
              </a:rPr>
              <a:t> / </a:t>
            </a:r>
            <a:r>
              <a:rPr lang="en-US" altLang="ko-KR" sz="2050" b="1" dirty="0">
                <a:solidFill>
                  <a:srgbClr val="C00000"/>
                </a:solidFill>
                <a:highlight>
                  <a:srgbClr val="F3F5F9"/>
                </a:highlight>
                <a:latin typeface="Calibri"/>
                <a:ea typeface="맑은 고딕"/>
                <a:cs typeface="Calibri"/>
              </a:rPr>
              <a:t>excited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lied.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 few</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 little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
        <p:nvSpPr>
          <p:cNvPr id="12" name="rv_g04"/>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another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the 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was nothing.</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which</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where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so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exciting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excited</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lied.</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a few</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a little</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pounds."</a:t>
            </a:r>
            <a:endParaRPr lang="en-US" altLang="ko-KR" sz="20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94893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solidFill>
                <a:latin typeface="맑은 고딕"/>
                <a:ea typeface="맑은 고딕"/>
                <a:cs typeface="맑은 고딕"/>
              </a:rPr>
              <a:t>①</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Now it was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another</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other</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Sunday, and Mr. Boggis was in a small town again.</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②</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 house he visited, he met two men. One was Rummins, the owner, and the other was his son Bert.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③</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"I buy old furniture. Do you have any?" asked Mr. Boggis.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④</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"No, I don’t," said Rummins. "Can I just take a look?" asked Mr. Boggis.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⑤</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"Sure. Please come in," said Rummins.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⑥</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Mr. Boggis first went to the kitchen, and there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was nothing</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were nothing</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⑦</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then moved to the living room. And there it was!</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⑧</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 table which was a priceless piece of eighteenth‑century English furniture.</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⑨</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was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so</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such</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 excited that he almost fell over.</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⑩</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"What’s wrong?" Bert asked. "Oh, nothing. Nothing at all," Mr. Boggis </a:t>
            </a:r>
            <a:r>
              <a:rPr lang="en-US" altLang="ko-KR" sz="2050" b="1" dirty="0">
                <a:solidFill>
                  <a:srgbClr val="1F2328"/>
                </a:solidFill>
                <a:latin typeface="Calibri"/>
                <a:ea typeface="맑은 고딕"/>
                <a:cs typeface="Calibri"/>
              </a:rPr>
              <a:t>[ </a:t>
            </a:r>
            <a:r>
              <a:rPr lang="en-US" altLang="ko-KR" sz="2050" b="1" dirty="0">
                <a:solidFill>
                  <a:srgbClr val="1F2328"/>
                </a:solidFill>
                <a:latin typeface="Calibri"/>
                <a:ea typeface="맑은 고딕"/>
                <a:cs typeface="Calibri"/>
              </a:rPr>
              <a:t>lied</a:t>
            </a:r>
            <a:r>
              <a:rPr lang="en-US" altLang="ko-KR" sz="2050" b="1" dirty="0">
                <a:solidFill>
                  <a:srgbClr val="1F2328"/>
                </a:solidFill>
                <a:latin typeface="Calibri"/>
                <a:ea typeface="맑은 고딕"/>
                <a:cs typeface="Calibri"/>
              </a:rPr>
              <a:t> / </a:t>
            </a:r>
            <a:r>
              <a:rPr lang="en-US" altLang="ko-KR" sz="2050" b="1" dirty="0">
                <a:solidFill>
                  <a:srgbClr val="1F2328"/>
                </a:solidFill>
                <a:latin typeface="Calibri"/>
                <a:ea typeface="맑은 고딕"/>
                <a:cs typeface="Calibri"/>
              </a:rPr>
              <a:t>lay</a:t>
            </a:r>
            <a:r>
              <a:rPr lang="en-US" altLang="ko-KR" sz="2050" b="1"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a:t>
            </a:r>
            <a:r>
              <a:rPr lang="en-US" altLang="ko-KR" sz="2050" b="0" dirty="0">
                <a:solidFill>
                  <a:srgbClr val="1F2328"/>
                </a:solidFill>
                <a:latin typeface="Calibri"/>
                <a:ea typeface="맑은 고딕"/>
                <a:cs typeface="Calibri"/>
              </a:rPr>
              <a:t>   </a:t>
            </a:r>
            <a:r>
              <a:rPr lang="ko-KR" altLang="en-US" sz="2050" b="1" dirty="0">
                <a:solidFill>
                  <a:srgbClr val="1E2A5A"/>
                </a:solidFill>
                <a:latin typeface="맑은 고딕"/>
                <a:ea typeface="맑은 고딕"/>
                <a:cs typeface="맑은 고딕"/>
              </a:rPr>
              <a:t>⑪</a:t>
            </a:r>
            <a:r>
              <a:rPr lang="en-US" altLang="ko-KR" sz="2050" b="0" dirty="0">
                <a:solidFill>
                  <a:srgbClr val="1F2328"/>
                </a:solidFill>
                <a:latin typeface="Calibri"/>
                <a:ea typeface="맑은 고딕"/>
                <a:cs typeface="Calibri"/>
              </a:rPr>
              <a:t> </a:t>
            </a:r>
            <a:r>
              <a:rPr lang="en-US" altLang="ko-KR" sz="2050" b="0" dirty="0">
                <a:solidFill>
                  <a:srgbClr val="1F2328"/>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
        <p:nvSpPr>
          <p:cNvPr id="9" name="rv_g01"/>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the other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was nothing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were nothing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which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so</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such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excited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lied</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lay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
        <p:nvSpPr>
          <p:cNvPr id="10" name="rv_g02"/>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the other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was nothing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were nothing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which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so</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such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excited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lied</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lay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
        <p:nvSpPr>
          <p:cNvPr id="11" name="rv_g03"/>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the other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was nothing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were nothing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which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so</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such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excited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lied</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lay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
        <p:nvSpPr>
          <p:cNvPr id="12" name="rv_g04"/>
          <p:cNvSpPr txBox="1"/>
          <p:nvPr/>
        </p:nvSpPr>
        <p:spPr>
          <a:xfrm>
            <a:off x="457200" y="950976"/>
            <a:ext cx="11277295" cy="4948936"/>
          </a:xfrm>
          <a:prstGeom prst="rect">
            <a:avLst/>
          </a:prstGeom>
          <a:noFill/>
        </p:spPr>
        <p:txBody>
          <a:bodyPr wrap="square" lIns="228600" tIns="155448" rIns="228600" bIns="155448" anchor="t" rtlCol="0">
            <a:noAutofit/>
          </a:bodyPr>
          <a:lstStyle/>
          <a:p>
            <a:pPr algn="l">
              <a:lnSpc>
                <a:spcPts val="3320"/>
              </a:lnSpc>
              <a:spcBef>
                <a:spcPts val="0"/>
              </a:spcBef>
              <a:spcAft>
                <a:spcPts val="0"/>
              </a:spcAft>
              <a:buNone/>
            </a:pPr>
            <a:r>
              <a:rPr lang="ko-KR" altLang="en-US" sz="2050" b="1" dirty="0">
                <a:solidFill>
                  <a:srgbClr val="1E2A5A">
                    <a:alpha val="0"/>
                  </a:srgbClr>
                </a:solidFill>
                <a:latin typeface="맑은 고딕"/>
                <a:ea typeface="맑은 고딕"/>
                <a:cs typeface="맑은 고딕"/>
              </a:rPr>
              <a:t>①</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Now it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another</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other</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Sunday, and Mr. Boggis was in a small town again.</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②</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 house he visited, he met two men. One was Rummins, the owner, and the other was his son Bert.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③</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"I buy old furniture. Do you have any?"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④</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"No, I don’t," said Rummins. "Can I just take a look?" asked Mr. Boggis.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⑤</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"Sure. Please come in," said Rummins.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⑥</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Mr. Boggis first went to the kitchen, and there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was nothing</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were nothing</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⑦</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moved to the living room. And there it was!</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⑧</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 table which was a priceless piece of eighteenth‑century English furniture.</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⑨</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was </a:t>
            </a:r>
            <a:r>
              <a:rPr lang="en-US" altLang="ko-KR" sz="2050" b="1" dirty="0">
                <a:solidFill>
                  <a:srgbClr val="1F2328">
                    <a:alpha val="0"/>
                  </a:srgbClr>
                </a:solidFill>
                <a:latin typeface="Calibri"/>
                <a:ea typeface="맑은 고딕"/>
                <a:cs typeface="Calibri"/>
              </a:rPr>
              <a:t>[ </a:t>
            </a:r>
            <a:r>
              <a:rPr lang="en-US" altLang="ko-KR" sz="2050" b="1" dirty="0">
                <a:solidFill>
                  <a:srgbClr val="1F2328">
                    <a:alpha val="0"/>
                  </a:srgbClr>
                </a:solidFill>
                <a:latin typeface="Calibri"/>
                <a:ea typeface="맑은 고딕"/>
                <a:cs typeface="Calibri"/>
              </a:rPr>
              <a:t>so</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such</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 excited that he almost fell over.</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⑩</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"What’s wrong?" Bert asked. "Oh, nothing. Nothing at all," Mr. Boggis </a:t>
            </a:r>
            <a:r>
              <a:rPr lang="en-US" altLang="ko-KR" sz="2050" b="1" dirty="0">
                <a:solidFill>
                  <a:srgbClr val="1F2328">
                    <a:alpha val="0"/>
                  </a:srgbClr>
                </a:solidFill>
                <a:latin typeface="Calibri"/>
                <a:ea typeface="맑은 고딕"/>
                <a:cs typeface="Calibri"/>
              </a:rPr>
              <a:t>[ </a:t>
            </a:r>
            <a:r>
              <a:rPr lang="en-US" altLang="ko-KR" sz="2050" b="1" dirty="0">
                <a:solidFill>
                  <a:srgbClr val="C00000"/>
                </a:solidFill>
                <a:highlight>
                  <a:srgbClr val="F3F5F9"/>
                </a:highlight>
                <a:latin typeface="Calibri"/>
                <a:ea typeface="맑은 고딕"/>
                <a:cs typeface="Calibri"/>
              </a:rPr>
              <a:t>lied</a:t>
            </a:r>
            <a:r>
              <a:rPr lang="en-US" altLang="ko-KR" sz="2050" b="1" dirty="0">
                <a:solidFill>
                  <a:srgbClr val="1F2328">
                    <a:alpha val="0"/>
                  </a:srgbClr>
                </a:solidFill>
                <a:latin typeface="Calibri"/>
                <a:ea typeface="맑은 고딕"/>
                <a:cs typeface="Calibri"/>
              </a:rPr>
              <a:t> / </a:t>
            </a:r>
            <a:r>
              <a:rPr lang="en-US" altLang="ko-KR" sz="2050" b="1" dirty="0">
                <a:solidFill>
                  <a:srgbClr val="1F2328">
                    <a:alpha val="0"/>
                  </a:srgbClr>
                </a:solidFill>
                <a:latin typeface="Calibri"/>
                <a:ea typeface="맑은 고딕"/>
                <a:cs typeface="Calibri"/>
              </a:rPr>
              <a:t>lay</a:t>
            </a:r>
            <a:r>
              <a:rPr lang="en-US" altLang="ko-KR" sz="2050" b="1"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a:t>
            </a:r>
            <a:r>
              <a:rPr lang="en-US" altLang="ko-KR" sz="2050" b="0" dirty="0">
                <a:solidFill>
                  <a:srgbClr val="1F2328">
                    <a:alpha val="0"/>
                  </a:srgbClr>
                </a:solidFill>
                <a:latin typeface="Calibri"/>
                <a:ea typeface="맑은 고딕"/>
                <a:cs typeface="Calibri"/>
              </a:rPr>
              <a:t>   </a:t>
            </a:r>
            <a:r>
              <a:rPr lang="ko-KR" altLang="en-US" sz="2050" b="1" dirty="0">
                <a:solidFill>
                  <a:srgbClr val="1E2A5A">
                    <a:alpha val="0"/>
                  </a:srgbClr>
                </a:solidFill>
                <a:latin typeface="맑은 고딕"/>
                <a:ea typeface="맑은 고딕"/>
                <a:cs typeface="맑은 고딕"/>
              </a:rPr>
              <a:t>⑪</a:t>
            </a:r>
            <a:r>
              <a:rPr lang="en-US" altLang="ko-KR" sz="2050" b="0" dirty="0">
                <a:solidFill>
                  <a:srgbClr val="1F2328">
                    <a:alpha val="0"/>
                  </a:srgbClr>
                </a:solidFill>
                <a:latin typeface="Calibri"/>
                <a:ea typeface="맑은 고딕"/>
                <a:cs typeface="Calibri"/>
              </a:rPr>
              <a:t> </a:t>
            </a:r>
            <a:r>
              <a:rPr lang="en-US" altLang="ko-KR" sz="2050" b="0" dirty="0">
                <a:solidFill>
                  <a:srgbClr val="1F2328">
                    <a:alpha val="0"/>
                  </a:srgbClr>
                </a:solidFill>
                <a:latin typeface="Calibri"/>
                <a:ea typeface="맑은 고딕"/>
                <a:cs typeface="Calibri"/>
              </a:rPr>
              <a:t>He then said with a straight face, "This table is a reproduction. It’s worth only a few pounds."</a:t>
            </a:r>
            <a:endParaRPr lang="en-US" altLang="ko-KR" sz="20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a:t>
            </a:r>
            <a:r>
              <a:rPr lang="en-US" altLang="ko-KR" sz="1300" b="0" dirty="0">
                <a:solidFill>
                  <a:srgbClr val="1F2328"/>
                </a:solidFill>
                <a:latin typeface="Calibri"/>
                <a:ea typeface="맑은 고딕"/>
                <a:cs typeface="Calibri"/>
              </a:rPr>
              <a:t>I can cut off the legs of your table</a:t>
            </a:r>
            <a:r>
              <a:rPr lang="en-US" altLang="ko-KR" sz="1300" b="0" dirty="0">
                <a:solidFill>
                  <a:srgbClr val="1F2328"/>
                </a:solidFill>
                <a:latin typeface="Calibri"/>
                <a:ea typeface="맑은 고딕"/>
                <a:cs typeface="Calibri"/>
              </a:rPr>
              <a:t>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a:t>
            </a:r>
            <a:r>
              <a:rPr lang="en-US" altLang="ko-KR" sz="1300" b="0" dirty="0">
                <a:solidFill>
                  <a:srgbClr val="1F2328"/>
                </a:solidFill>
                <a:latin typeface="Calibri"/>
                <a:ea typeface="맑은 고딕"/>
                <a:cs typeface="Calibri"/>
              </a:rPr>
              <a:t>When Mr. Boggis came back, the legs had been cut off.</a:t>
            </a:r>
            <a:r>
              <a:rPr lang="en-US" altLang="ko-KR" sz="1300" b="0" dirty="0">
                <a:solidFill>
                  <a:srgbClr val="1F2328"/>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a:t>
            </a:r>
            <a:r>
              <a:rPr lang="en-US" altLang="ko-KR" sz="1300" b="0" dirty="0">
                <a:solidFill>
                  <a:srgbClr val="111111"/>
                </a:solidFill>
                <a:highlight>
                  <a:srgbClr val="FFE45C"/>
                </a:highlight>
                <a:latin typeface="Calibri"/>
                <a:ea typeface="맑은 고딕"/>
                <a:cs typeface="Calibri"/>
              </a:rPr>
              <a:t>I can cut off the legs of your table</a:t>
            </a:r>
            <a:r>
              <a:rPr lang="en-US" altLang="ko-KR" sz="1300" b="0" dirty="0">
                <a:solidFill>
                  <a:srgbClr val="B3BAC6"/>
                </a:solidFill>
                <a:latin typeface="Calibri"/>
                <a:ea typeface="맑은 고딕"/>
                <a:cs typeface="Calibri"/>
              </a:rPr>
              <a:t>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a:t>
            </a:r>
            <a:r>
              <a:rPr lang="en-US" altLang="ko-KR" sz="1300" b="0" dirty="0">
                <a:solidFill>
                  <a:srgbClr val="111111"/>
                </a:solidFill>
                <a:highlight>
                  <a:srgbClr val="FFE45C"/>
                </a:highlight>
                <a:latin typeface="Calibri"/>
                <a:ea typeface="맑은 고딕"/>
                <a:cs typeface="Calibri"/>
              </a:rPr>
              <a:t>When Mr. Boggis came back, the legs had been cut off.</a:t>
            </a:r>
            <a:r>
              <a:rPr lang="en-US" altLang="ko-KR" sz="1300" b="0" dirty="0">
                <a:solidFill>
                  <a:srgbClr val="B3BAC6"/>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en-US" altLang="ko-KR" sz="1650" b="0" dirty="0">
                <a:solidFill>
                  <a:srgbClr val="1F2328"/>
                </a:solidFill>
                <a:latin typeface="Calibri"/>
                <a:ea typeface="맑은 고딕"/>
                <a:cs typeface="Calibri"/>
              </a:rPr>
              <a:t>	how Bert fixed the broken legs of a table</a:t>
            </a:r>
            <a:endParaRPr lang="en-US" altLang="ko-KR" sz="1650" b="0" dirty="0">
              <a:solidFill>
                <a:srgbClr val="1F2328"/>
              </a:solidFill>
              <a:latin typeface="Calibri"/>
              <a:ea typeface="맑은 고딕"/>
              <a:cs typeface="Calibri"/>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en-US" altLang="ko-KR" sz="1650" b="0" dirty="0">
                <a:solidFill>
                  <a:srgbClr val="1F2328"/>
                </a:solidFill>
                <a:latin typeface="Calibri"/>
                <a:ea typeface="맑은 고딕"/>
                <a:cs typeface="Calibri"/>
              </a:rPr>
              <a:t>	why the dealer paid fifty pounds for a table</a:t>
            </a:r>
            <a:endParaRPr lang="en-US" altLang="ko-KR" sz="1650" b="0" dirty="0">
              <a:solidFill>
                <a:srgbClr val="1F2328"/>
              </a:solidFill>
              <a:latin typeface="Calibri"/>
              <a:ea typeface="맑은 고딕"/>
              <a:cs typeface="Calibri"/>
            </a:endParaRPr>
          </a:p>
        </p:txBody>
      </p:sp>
      <p:sp>
        <p:nvSpPr>
          <p:cNvPr id="13"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en-US" altLang="ko-KR" sz="1650" b="0" dirty="0">
                <a:solidFill>
                  <a:srgbClr val="1F2328"/>
                </a:solidFill>
                <a:latin typeface="Calibri"/>
                <a:ea typeface="맑은 고딕"/>
                <a:cs typeface="Calibri"/>
              </a:rPr>
              <a:t>	how a dealer's lie ruined the deal he wanted</a:t>
            </a:r>
            <a:endParaRPr lang="en-US" altLang="ko-KR" sz="1650" b="0" dirty="0">
              <a:solidFill>
                <a:srgbClr val="1F2328"/>
              </a:solidFill>
              <a:latin typeface="Calibri"/>
              <a:ea typeface="맑은 고딕"/>
              <a:cs typeface="Calibri"/>
            </a:endParaRPr>
          </a:p>
        </p:txBody>
      </p:sp>
      <p:sp>
        <p:nvSpPr>
          <p:cNvPr id="14" name="rv_pick"/>
          <p:cNvSpPr txBox="1"/>
          <p:nvPr/>
        </p:nvSpPr>
        <p:spPr>
          <a:xfrm>
            <a:off x="457200" y="4062222"/>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③</a:t>
            </a:r>
            <a:r>
              <a:rPr lang="en-US" altLang="ko-KR" sz="1650" b="0" dirty="0">
                <a:solidFill>
                  <a:srgbClr val="C00000"/>
                </a:solidFill>
                <a:latin typeface="Calibri"/>
                <a:ea typeface="맑은 고딕"/>
                <a:cs typeface="Calibri"/>
              </a:rPr>
              <a:t>	how a dealer's lie ruined the deal he wanted</a:t>
            </a:r>
            <a:endParaRPr lang="en-US" altLang="ko-KR" sz="1650" b="0" dirty="0">
              <a:solidFill>
                <a:srgbClr val="C00000"/>
              </a:solidFill>
              <a:latin typeface="Calibri"/>
              <a:ea typeface="맑은 고딕"/>
              <a:cs typeface="Calibri"/>
            </a:endParaRPr>
          </a:p>
        </p:txBody>
      </p:sp>
      <p:sp>
        <p:nvSpPr>
          <p:cNvPr id="15"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en-US" altLang="ko-KR" sz="1650" b="0" dirty="0">
                <a:solidFill>
                  <a:srgbClr val="1F2328"/>
                </a:solidFill>
                <a:latin typeface="Calibri"/>
                <a:ea typeface="맑은 고딕"/>
                <a:cs typeface="Calibri"/>
              </a:rPr>
              <a:t>	how Rummins got a new car from the dealer</a:t>
            </a:r>
            <a:endParaRPr lang="en-US" altLang="ko-KR" sz="1650" b="0" dirty="0">
              <a:solidFill>
                <a:srgbClr val="1F2328"/>
              </a:solidFill>
              <a:latin typeface="Calibri"/>
              <a:ea typeface="맑은 고딕"/>
              <a:cs typeface="Calibri"/>
            </a:endParaRPr>
          </a:p>
        </p:txBody>
      </p:sp>
      <p:sp>
        <p:nvSpPr>
          <p:cNvPr id="16"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en-US" altLang="ko-KR" sz="1650" b="0" dirty="0">
                <a:solidFill>
                  <a:srgbClr val="1F2328"/>
                </a:solidFill>
                <a:latin typeface="Calibri"/>
                <a:ea typeface="맑은 고딕"/>
                <a:cs typeface="Calibri"/>
              </a:rPr>
              <a:t>	why the table could not go into the car</a:t>
            </a:r>
            <a:endParaRPr lang="en-US" altLang="ko-KR" sz="1650" b="0" dirty="0">
              <a:solidFill>
                <a:srgbClr val="1F2328"/>
              </a:solidFill>
              <a:latin typeface="Calibri"/>
              <a:ea typeface="맑은 고딕"/>
              <a:cs typeface="Calibri"/>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how a dealer's lie ruined the deal he wanted</a:t>
            </a:r>
            <a:endParaRPr lang="en-US" altLang="ko-KR" sz="1900" b="1" dirty="0">
              <a:solidFill>
                <a:srgbClr val="5A4200"/>
              </a:solidFill>
              <a:latin typeface="Calibri"/>
              <a:ea typeface="맑은 고딕"/>
              <a:cs typeface="Calibri"/>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다리만 쓰겠다는 거짓말 때문에 다리가 잘려 거래를 망쳤다. ③이 주제다.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a:t>
            </a:r>
            <a:r>
              <a:rPr lang="en-US" altLang="ko-KR" sz="1300" b="0" dirty="0">
                <a:solidFill>
                  <a:srgbClr val="1F2328"/>
                </a:solidFill>
                <a:latin typeface="Calibri"/>
                <a:ea typeface="맑은 고딕"/>
                <a:cs typeface="Calibri"/>
              </a:rPr>
              <a:t>What he wants is only the legs</a:t>
            </a:r>
            <a:r>
              <a:rPr lang="en-US" altLang="ko-KR" sz="1300" b="0" dirty="0">
                <a:solidFill>
                  <a:srgbClr val="1F2328"/>
                </a:solidFill>
                <a:latin typeface="Calibri"/>
                <a:ea typeface="맑은 고딕"/>
                <a:cs typeface="Calibri"/>
              </a:rPr>
              <a:t>. Let’s cut the legs off for him," said Rummins. "Great idea!" said Bert. Bert then took out a saw and began to cut off the legs. </a:t>
            </a:r>
            <a:r>
              <a:rPr lang="en-US" altLang="ko-KR" sz="1300" b="0" dirty="0">
                <a:solidFill>
                  <a:srgbClr val="1F2328"/>
                </a:solidFill>
                <a:latin typeface="Calibri"/>
                <a:ea typeface="맑은 고딕"/>
                <a:cs typeface="Calibri"/>
              </a:rPr>
              <a:t>When Mr. Boggis came back, the legs had been cut off.</a:t>
            </a:r>
            <a:r>
              <a:rPr lang="en-US" altLang="ko-KR" sz="1300" b="0" dirty="0">
                <a:solidFill>
                  <a:srgbClr val="1F2328"/>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a:t>
            </a:r>
            <a:r>
              <a:rPr lang="en-US" altLang="ko-KR" sz="1300" b="0" dirty="0">
                <a:solidFill>
                  <a:srgbClr val="111111"/>
                </a:solidFill>
                <a:highlight>
                  <a:srgbClr val="FFE45C"/>
                </a:highlight>
                <a:latin typeface="Calibri"/>
                <a:ea typeface="맑은 고딕"/>
                <a:cs typeface="Calibri"/>
              </a:rPr>
              <a:t>What he wants is only the legs</a:t>
            </a:r>
            <a:r>
              <a:rPr lang="en-US" altLang="ko-KR" sz="1300" b="0" dirty="0">
                <a:solidFill>
                  <a:srgbClr val="B3BAC6"/>
                </a:solidFill>
                <a:latin typeface="Calibri"/>
                <a:ea typeface="맑은 고딕"/>
                <a:cs typeface="Calibri"/>
              </a:rPr>
              <a:t>. Let’s cut the legs off for him," said Rummins. "Great idea!" said Bert. Bert then took out a saw and began to cut off the legs. </a:t>
            </a:r>
            <a:r>
              <a:rPr lang="en-US" altLang="ko-KR" sz="1300" b="0" dirty="0">
                <a:solidFill>
                  <a:srgbClr val="111111"/>
                </a:solidFill>
                <a:highlight>
                  <a:srgbClr val="FFE45C"/>
                </a:highlight>
                <a:latin typeface="Calibri"/>
                <a:ea typeface="맑은 고딕"/>
                <a:cs typeface="Calibri"/>
              </a:rPr>
              <a:t>When Mr. Boggis came back, the legs had been cut off.</a:t>
            </a:r>
            <a:r>
              <a:rPr lang="en-US" altLang="ko-KR" sz="1300" b="0" dirty="0">
                <a:solidFill>
                  <a:srgbClr val="B3BAC6"/>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en-US" altLang="ko-KR" sz="1650" b="0" dirty="0">
                <a:solidFill>
                  <a:srgbClr val="1F2328"/>
                </a:solidFill>
                <a:latin typeface="Calibri"/>
                <a:ea typeface="맑은 고딕"/>
                <a:cs typeface="Calibri"/>
              </a:rPr>
              <a:t>	A Generous Gift from Mr. Boggis</a:t>
            </a:r>
            <a:endParaRPr lang="en-US" altLang="ko-KR" sz="1650" b="0" dirty="0">
              <a:solidFill>
                <a:srgbClr val="1F2328"/>
              </a:solidFill>
              <a:latin typeface="Calibri"/>
              <a:ea typeface="맑은 고딕"/>
              <a:cs typeface="Calibri"/>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en-US" altLang="ko-KR" sz="1650" b="0" dirty="0">
                <a:solidFill>
                  <a:srgbClr val="1F2328"/>
                </a:solidFill>
                <a:latin typeface="Calibri"/>
                <a:ea typeface="맑은 고딕"/>
                <a:cs typeface="Calibri"/>
              </a:rPr>
              <a:t>	How to Fit Furniture into a Car</a:t>
            </a:r>
            <a:endParaRPr lang="en-US" altLang="ko-KR" sz="1650" b="0" dirty="0">
              <a:solidFill>
                <a:srgbClr val="1F2328"/>
              </a:solidFill>
              <a:latin typeface="Calibri"/>
              <a:ea typeface="맑은 고딕"/>
              <a:cs typeface="Calibri"/>
            </a:endParaRPr>
          </a:p>
        </p:txBody>
      </p:sp>
      <p:sp>
        <p:nvSpPr>
          <p:cNvPr id="13"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en-US" altLang="ko-KR" sz="1650" b="0" dirty="0">
                <a:solidFill>
                  <a:srgbClr val="1F2328"/>
                </a:solidFill>
                <a:latin typeface="Calibri"/>
                <a:ea typeface="맑은 고딕"/>
                <a:cs typeface="Calibri"/>
              </a:rPr>
              <a:t>	The Best Way to Repair Old Tables</a:t>
            </a:r>
            <a:endParaRPr lang="en-US" altLang="ko-KR" sz="1650" b="0" dirty="0">
              <a:solidFill>
                <a:srgbClr val="1F2328"/>
              </a:solidFill>
              <a:latin typeface="Calibri"/>
              <a:ea typeface="맑은 고딕"/>
              <a:cs typeface="Calibri"/>
            </a:endParaRPr>
          </a:p>
        </p:txBody>
      </p:sp>
      <p:sp>
        <p:nvSpPr>
          <p:cNvPr id="14"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en-US" altLang="ko-KR" sz="1650" b="0" dirty="0">
                <a:solidFill>
                  <a:srgbClr val="1F2328"/>
                </a:solidFill>
                <a:latin typeface="Calibri"/>
                <a:ea typeface="맑은 고딕"/>
                <a:cs typeface="Calibri"/>
              </a:rPr>
              <a:t>	A Lie That Cut Off His Own Luck</a:t>
            </a:r>
            <a:endParaRPr lang="en-US" altLang="ko-KR" sz="1650" b="0" dirty="0">
              <a:solidFill>
                <a:srgbClr val="1F2328"/>
              </a:solidFill>
              <a:latin typeface="Calibri"/>
              <a:ea typeface="맑은 고딕"/>
              <a:cs typeface="Calibri"/>
            </a:endParaRPr>
          </a:p>
        </p:txBody>
      </p:sp>
      <p:sp>
        <p:nvSpPr>
          <p:cNvPr id="15" name="rv_pick"/>
          <p:cNvSpPr txBox="1"/>
          <p:nvPr/>
        </p:nvSpPr>
        <p:spPr>
          <a:xfrm>
            <a:off x="457200" y="4441698"/>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④</a:t>
            </a:r>
            <a:r>
              <a:rPr lang="en-US" altLang="ko-KR" sz="1650" b="0" dirty="0">
                <a:solidFill>
                  <a:srgbClr val="C00000"/>
                </a:solidFill>
                <a:latin typeface="Calibri"/>
                <a:ea typeface="맑은 고딕"/>
                <a:cs typeface="Calibri"/>
              </a:rPr>
              <a:t>	A Lie That Cut Off His Own Luck</a:t>
            </a:r>
            <a:endParaRPr lang="en-US" altLang="ko-KR" sz="1650" b="0" dirty="0">
              <a:solidFill>
                <a:srgbClr val="C00000"/>
              </a:solidFill>
              <a:latin typeface="Calibri"/>
              <a:ea typeface="맑은 고딕"/>
              <a:cs typeface="Calibri"/>
            </a:endParaRPr>
          </a:p>
        </p:txBody>
      </p:sp>
      <p:sp>
        <p:nvSpPr>
          <p:cNvPr id="16"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en-US" altLang="ko-KR" sz="1650" b="0" dirty="0">
                <a:solidFill>
                  <a:srgbClr val="1F2328"/>
                </a:solidFill>
                <a:latin typeface="Calibri"/>
                <a:ea typeface="맑은 고딕"/>
                <a:cs typeface="Calibri"/>
              </a:rPr>
              <a:t>	Rummins Sells His Table for Fifty</a:t>
            </a:r>
            <a:endParaRPr lang="en-US" altLang="ko-KR" sz="1650" b="0" dirty="0">
              <a:solidFill>
                <a:srgbClr val="1F2328"/>
              </a:solidFill>
              <a:latin typeface="Calibri"/>
              <a:ea typeface="맑은 고딕"/>
              <a:cs typeface="Calibri"/>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A Lie That Cut Off His Own Luck</a:t>
            </a:r>
            <a:endParaRPr lang="en-US" altLang="ko-KR" sz="1900" b="1" dirty="0">
              <a:solidFill>
                <a:srgbClr val="5A4200"/>
              </a:solidFill>
              <a:latin typeface="Calibri"/>
              <a:ea typeface="맑은 고딕"/>
              <a:cs typeface="Calibri"/>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Boggis의 거짓말대로 다리를 잘라 주어 그의 행운이 잘려 나갔다. ④가 제목이다.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a:t>
            </a:r>
            <a:r>
              <a:rPr lang="en-US" altLang="ko-KR" sz="1300" b="0" dirty="0">
                <a:solidFill>
                  <a:srgbClr val="1F2328"/>
                </a:solidFill>
                <a:latin typeface="Calibri"/>
                <a:ea typeface="맑은 고딕"/>
                <a:cs typeface="Calibri"/>
              </a:rPr>
              <a:t>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a:t>
            </a:r>
            <a:r>
              <a:rPr lang="en-US" altLang="ko-KR" sz="1300" b="0" dirty="0">
                <a:solidFill>
                  <a:srgbClr val="111111"/>
                </a:solidFill>
                <a:highlight>
                  <a:srgbClr val="FFE45C"/>
                </a:highlight>
                <a:latin typeface="Calibri"/>
                <a:ea typeface="맑은 고딕"/>
                <a:cs typeface="Calibri"/>
              </a:rPr>
              <a:t>Mr. Boggis was so shocked that he couldn’t say anything.</a:t>
            </a:r>
            <a:endParaRPr lang="en-US" altLang="ko-KR" sz="1300" b="0" dirty="0">
              <a:solidFill>
                <a:srgbClr val="111111"/>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ko-KR" altLang="en-US" sz="1650" b="0" dirty="0">
                <a:solidFill>
                  <a:srgbClr val="1F2328"/>
                </a:solidFill>
                <a:latin typeface="맑은 고딕"/>
                <a:ea typeface="맑은 고딕"/>
                <a:cs typeface="맑은 고딕"/>
              </a:rPr>
              <a:t>	가구는 운반하기 쉬운 크기로 만들어야 한다</a:t>
            </a:r>
            <a:endParaRPr lang="ko-KR" altLang="en-US" sz="1650" b="0" dirty="0">
              <a:solidFill>
                <a:srgbClr val="1F2328"/>
              </a:solidFill>
              <a:latin typeface="맑은 고딕"/>
              <a:ea typeface="맑은 고딕"/>
              <a:cs typeface="맑은 고딕"/>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ko-KR" altLang="en-US" sz="1650" b="0" dirty="0">
                <a:solidFill>
                  <a:srgbClr val="1F2328"/>
                </a:solidFill>
                <a:latin typeface="맑은 고딕"/>
                <a:ea typeface="맑은 고딕"/>
                <a:cs typeface="맑은 고딕"/>
              </a:rPr>
              <a:t>	거래할 때는 반드시 계약서를 써야 한다</a:t>
            </a:r>
            <a:endParaRPr lang="ko-KR" altLang="en-US" sz="1650" b="0" dirty="0">
              <a:solidFill>
                <a:srgbClr val="1F2328"/>
              </a:solidFill>
              <a:latin typeface="맑은 고딕"/>
              <a:ea typeface="맑은 고딕"/>
              <a:cs typeface="맑은 고딕"/>
            </a:endParaRPr>
          </a:p>
        </p:txBody>
      </p:sp>
      <p:sp>
        <p:nvSpPr>
          <p:cNvPr id="13"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ko-KR" altLang="en-US" sz="1650" b="0" dirty="0">
                <a:solidFill>
                  <a:srgbClr val="1F2328"/>
                </a:solidFill>
                <a:latin typeface="맑은 고딕"/>
                <a:ea typeface="맑은 고딕"/>
                <a:cs typeface="맑은 고딕"/>
              </a:rPr>
              <a:t>	부탁받지 않은 일은 하지 않아야 한다</a:t>
            </a:r>
            <a:endParaRPr lang="ko-KR" altLang="en-US" sz="1650" b="0" dirty="0">
              <a:solidFill>
                <a:srgbClr val="1F2328"/>
              </a:solidFill>
              <a:latin typeface="맑은 고딕"/>
              <a:ea typeface="맑은 고딕"/>
              <a:cs typeface="맑은 고딕"/>
            </a:endParaRPr>
          </a:p>
        </p:txBody>
      </p:sp>
      <p:sp>
        <p:nvSpPr>
          <p:cNvPr id="14"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ko-KR" altLang="en-US" sz="1650" b="0" dirty="0">
                <a:solidFill>
                  <a:srgbClr val="1F2328"/>
                </a:solidFill>
                <a:latin typeface="맑은 고딕"/>
                <a:ea typeface="맑은 고딕"/>
                <a:cs typeface="맑은 고딕"/>
              </a:rPr>
              <a:t>	물건값은 처음 제시한 대로 지켜야 한다</a:t>
            </a:r>
            <a:endParaRPr lang="ko-KR" altLang="en-US" sz="1650" b="0" dirty="0">
              <a:solidFill>
                <a:srgbClr val="1F2328"/>
              </a:solidFill>
              <a:latin typeface="맑은 고딕"/>
              <a:ea typeface="맑은 고딕"/>
              <a:cs typeface="맑은 고딕"/>
            </a:endParaRPr>
          </a:p>
        </p:txBody>
      </p:sp>
      <p:sp>
        <p:nvSpPr>
          <p:cNvPr id="15"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ko-KR" altLang="en-US" sz="1650" b="0" dirty="0">
                <a:solidFill>
                  <a:srgbClr val="1F2328"/>
                </a:solidFill>
                <a:latin typeface="맑은 고딕"/>
                <a:ea typeface="맑은 고딕"/>
                <a:cs typeface="맑은 고딕"/>
              </a:rPr>
              <a:t>	거짓말은 결국 자신에게 해가 될 수 있다</a:t>
            </a:r>
            <a:endParaRPr lang="ko-KR" altLang="en-US" sz="1650" b="0" dirty="0">
              <a:solidFill>
                <a:srgbClr val="1F2328"/>
              </a:solidFill>
              <a:latin typeface="맑은 고딕"/>
              <a:ea typeface="맑은 고딕"/>
              <a:cs typeface="맑은 고딕"/>
            </a:endParaRPr>
          </a:p>
        </p:txBody>
      </p:sp>
      <p:sp>
        <p:nvSpPr>
          <p:cNvPr id="16" name="rv_pick"/>
          <p:cNvSpPr txBox="1"/>
          <p:nvPr/>
        </p:nvSpPr>
        <p:spPr>
          <a:xfrm>
            <a:off x="457200" y="4821174"/>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⑤</a:t>
            </a:r>
            <a:r>
              <a:rPr lang="ko-KR" altLang="en-US" sz="1650" b="0" dirty="0">
                <a:solidFill>
                  <a:srgbClr val="C00000"/>
                </a:solidFill>
                <a:latin typeface="맑은 고딕"/>
                <a:ea typeface="맑은 고딕"/>
                <a:cs typeface="맑은 고딕"/>
              </a:rPr>
              <a:t>	거짓말은 결국 자신에게 해가 될 수 있다</a:t>
            </a:r>
            <a:endParaRPr lang="ko-KR" altLang="en-US" sz="1650" b="0" dirty="0">
              <a:solidFill>
                <a:srgbClr val="C00000"/>
              </a:solidFill>
              <a:latin typeface="맑은 고딕"/>
              <a:ea typeface="맑은 고딕"/>
              <a:cs typeface="맑은 고딕"/>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거짓말은 결국 자신에게 해가 될 수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자신의 거짓말 때문에 귀한 탁자를 잃고 충격을 받았다. 거짓말이 자신에게 해가 된다는 ⑤가 주장이다.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a:t>
            </a:r>
            <a:r>
              <a:rPr lang="en-US" altLang="ko-KR" sz="1300" b="0" dirty="0">
                <a:solidFill>
                  <a:srgbClr val="1F2328"/>
                </a:solidFill>
                <a:latin typeface="Calibri"/>
                <a:ea typeface="맑은 고딕"/>
                <a:cs typeface="Calibri"/>
              </a:rPr>
              <a:t>What he wants is only the legs</a:t>
            </a:r>
            <a:r>
              <a:rPr lang="en-US" altLang="ko-KR" sz="1300" b="0" dirty="0">
                <a:solidFill>
                  <a:srgbClr val="1F2328"/>
                </a:solidFill>
                <a:latin typeface="Calibri"/>
                <a:ea typeface="맑은 고딕"/>
                <a:cs typeface="Calibri"/>
              </a:rPr>
              <a:t>. Let’s cut the legs off for him," said Rummins. "Great idea!" said Bert. Bert then took out a saw and began to cut off the legs. </a:t>
            </a:r>
            <a:r>
              <a:rPr lang="en-US" altLang="ko-KR" sz="1300" b="0" dirty="0">
                <a:solidFill>
                  <a:srgbClr val="1F2328"/>
                </a:solidFill>
                <a:latin typeface="Calibri"/>
                <a:ea typeface="맑은 고딕"/>
                <a:cs typeface="Calibri"/>
              </a:rPr>
              <a:t>When Mr. Boggis came back, the legs had been cut off.</a:t>
            </a:r>
            <a:r>
              <a:rPr lang="en-US" altLang="ko-KR" sz="1300" b="0" dirty="0">
                <a:solidFill>
                  <a:srgbClr val="1F2328"/>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a:t>
            </a:r>
            <a:r>
              <a:rPr lang="en-US" altLang="ko-KR" sz="1300" b="0" dirty="0">
                <a:solidFill>
                  <a:srgbClr val="111111"/>
                </a:solidFill>
                <a:highlight>
                  <a:srgbClr val="FFE45C"/>
                </a:highlight>
                <a:latin typeface="Calibri"/>
                <a:ea typeface="맑은 고딕"/>
                <a:cs typeface="Calibri"/>
              </a:rPr>
              <a:t>What he wants is only the legs</a:t>
            </a:r>
            <a:r>
              <a:rPr lang="en-US" altLang="ko-KR" sz="1300" b="0" dirty="0">
                <a:solidFill>
                  <a:srgbClr val="B3BAC6"/>
                </a:solidFill>
                <a:latin typeface="Calibri"/>
                <a:ea typeface="맑은 고딕"/>
                <a:cs typeface="Calibri"/>
              </a:rPr>
              <a:t>. Let’s cut the legs off for him," said Rummins. "Great idea!" said Bert. Bert then took out a saw and began to cut off the legs. </a:t>
            </a:r>
            <a:r>
              <a:rPr lang="en-US" altLang="ko-KR" sz="1300" b="0" dirty="0">
                <a:solidFill>
                  <a:srgbClr val="111111"/>
                </a:solidFill>
                <a:highlight>
                  <a:srgbClr val="FFE45C"/>
                </a:highlight>
                <a:latin typeface="Calibri"/>
                <a:ea typeface="맑은 고딕"/>
                <a:cs typeface="Calibri"/>
              </a:rPr>
              <a:t>When Mr. Boggis came back, the legs had been cut off.</a:t>
            </a:r>
            <a:r>
              <a:rPr lang="en-US" altLang="ko-KR" sz="1300" b="0" dirty="0">
                <a:solidFill>
                  <a:srgbClr val="B3BAC6"/>
                </a:solidFill>
                <a:latin typeface="Calibri"/>
                <a:ea typeface="맑은 고딕"/>
                <a:cs typeface="Calibri"/>
              </a:rPr>
              <a:t> "Don’t worry, this was a favor. I won’t charge you for this,"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ko-KR" altLang="en-US" sz="1650" b="0" dirty="0">
                <a:solidFill>
                  <a:srgbClr val="1F2328"/>
                </a:solidFill>
                <a:latin typeface="맑은 고딕"/>
                <a:ea typeface="맑은 고딕"/>
                <a:cs typeface="맑은 고딕"/>
              </a:rPr>
              <a:t>	Boggis 씨의 거짓말이 귀한 탁자를 망쳤다</a:t>
            </a:r>
            <a:endParaRPr lang="ko-KR" altLang="en-US" sz="1650" b="0" dirty="0">
              <a:solidFill>
                <a:srgbClr val="1F2328"/>
              </a:solidFill>
              <a:latin typeface="맑은 고딕"/>
              <a:ea typeface="맑은 고딕"/>
              <a:cs typeface="맑은 고딕"/>
            </a:endParaRPr>
          </a:p>
        </p:txBody>
      </p:sp>
      <p:sp>
        <p:nvSpPr>
          <p:cNvPr id="12" name="rv_pick"/>
          <p:cNvSpPr txBox="1"/>
          <p:nvPr/>
        </p:nvSpPr>
        <p:spPr>
          <a:xfrm>
            <a:off x="457200" y="3303270"/>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①</a:t>
            </a:r>
            <a:r>
              <a:rPr lang="ko-KR" altLang="en-US" sz="1650" b="0" dirty="0">
                <a:solidFill>
                  <a:srgbClr val="C00000"/>
                </a:solidFill>
                <a:latin typeface="맑은 고딕"/>
                <a:ea typeface="맑은 고딕"/>
                <a:cs typeface="맑은 고딕"/>
              </a:rPr>
              <a:t>	Boggis 씨의 거짓말이 귀한 탁자를 망쳤다</a:t>
            </a:r>
            <a:endParaRPr lang="ko-KR" altLang="en-US" sz="1650" b="0" dirty="0">
              <a:solidFill>
                <a:srgbClr val="C00000"/>
              </a:solidFill>
              <a:latin typeface="맑은 고딕"/>
              <a:ea typeface="맑은 고딕"/>
              <a:cs typeface="맑은 고딕"/>
            </a:endParaRPr>
          </a:p>
        </p:txBody>
      </p:sp>
      <p:sp>
        <p:nvSpPr>
          <p:cNvPr id="13"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ko-KR" altLang="en-US" sz="1650" b="0" dirty="0">
                <a:solidFill>
                  <a:srgbClr val="1F2328"/>
                </a:solidFill>
                <a:latin typeface="맑은 고딕"/>
                <a:ea typeface="맑은 고딕"/>
                <a:cs typeface="맑은 고딕"/>
              </a:rPr>
              <a:t>	Boggis 씨는 탁자를 50파운드에 샀다</a:t>
            </a:r>
            <a:endParaRPr lang="ko-KR" altLang="en-US" sz="1650" b="0" dirty="0">
              <a:solidFill>
                <a:srgbClr val="1F2328"/>
              </a:solidFill>
              <a:latin typeface="맑은 고딕"/>
              <a:ea typeface="맑은 고딕"/>
              <a:cs typeface="맑은 고딕"/>
            </a:endParaRPr>
          </a:p>
        </p:txBody>
      </p:sp>
      <p:sp>
        <p:nvSpPr>
          <p:cNvPr id="14"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ko-KR" altLang="en-US" sz="1650" b="0" dirty="0">
                <a:solidFill>
                  <a:srgbClr val="1F2328"/>
                </a:solidFill>
                <a:latin typeface="맑은 고딕"/>
                <a:ea typeface="맑은 고딕"/>
                <a:cs typeface="맑은 고딕"/>
              </a:rPr>
              <a:t>	Bert는 Boggis 씨의 차를 고쳐 주었다</a:t>
            </a:r>
            <a:endParaRPr lang="ko-KR" altLang="en-US" sz="1650" b="0" dirty="0">
              <a:solidFill>
                <a:srgbClr val="1F2328"/>
              </a:solidFill>
              <a:latin typeface="맑은 고딕"/>
              <a:ea typeface="맑은 고딕"/>
              <a:cs typeface="맑은 고딕"/>
            </a:endParaRPr>
          </a:p>
        </p:txBody>
      </p:sp>
      <p:sp>
        <p:nvSpPr>
          <p:cNvPr id="15"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ko-KR" altLang="en-US" sz="1650" b="0" dirty="0">
                <a:solidFill>
                  <a:srgbClr val="1F2328"/>
                </a:solidFill>
                <a:latin typeface="맑은 고딕"/>
                <a:ea typeface="맑은 고딕"/>
                <a:cs typeface="맑은 고딕"/>
              </a:rPr>
              <a:t>	Rummins는 탁자 다리를 비싸게 팔았다</a:t>
            </a:r>
            <a:endParaRPr lang="ko-KR" altLang="en-US" sz="1650" b="0" dirty="0">
              <a:solidFill>
                <a:srgbClr val="1F2328"/>
              </a:solidFill>
              <a:latin typeface="맑은 고딕"/>
              <a:ea typeface="맑은 고딕"/>
              <a:cs typeface="맑은 고딕"/>
            </a:endParaRPr>
          </a:p>
        </p:txBody>
      </p:sp>
      <p:sp>
        <p:nvSpPr>
          <p:cNvPr id="16"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ko-KR" altLang="en-US" sz="1650" b="0" dirty="0">
                <a:solidFill>
                  <a:srgbClr val="1F2328"/>
                </a:solidFill>
                <a:latin typeface="맑은 고딕"/>
                <a:ea typeface="맑은 고딕"/>
                <a:cs typeface="맑은 고딕"/>
              </a:rPr>
              <a:t>	Boggis 씨는 탁자를 차에 쉽게 실었다</a:t>
            </a:r>
            <a:endParaRPr lang="ko-KR" altLang="en-US" sz="1650" b="0" dirty="0">
              <a:solidFill>
                <a:srgbClr val="1F2328"/>
              </a:solidFill>
              <a:latin typeface="맑은 고딕"/>
              <a:ea typeface="맑은 고딕"/>
              <a:cs typeface="맑은 고딕"/>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Boggis 씨의 거짓말이 귀한 탁자를 망쳤다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다리만 원한다는 거짓말을 믿은 부자가 다리를 잘라 탁자를 망쳤다. ①이 요지다.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a:t>
            </a:r>
            <a:r>
              <a:rPr lang="en-US" altLang="ko-KR" sz="1300" b="0" dirty="0">
                <a:solidFill>
                  <a:srgbClr val="1F2328"/>
                </a:solidFill>
                <a:latin typeface="Calibri"/>
                <a:ea typeface="맑은 고딕"/>
                <a:cs typeface="Calibri"/>
              </a:rPr>
              <a:t>I won’t charge you for this</a:t>
            </a:r>
            <a:r>
              <a:rPr lang="en-US" altLang="ko-KR" sz="1300" b="0" dirty="0">
                <a:solidFill>
                  <a:srgbClr val="1F2328"/>
                </a:solidFill>
                <a:latin typeface="Calibri"/>
                <a:ea typeface="맑은 고딕"/>
                <a:cs typeface="Calibri"/>
              </a:rPr>
              <a:t>,"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a:t>
            </a:r>
            <a:r>
              <a:rPr lang="en-US" altLang="ko-KR" sz="1300" b="0" dirty="0">
                <a:solidFill>
                  <a:srgbClr val="111111"/>
                </a:solidFill>
                <a:highlight>
                  <a:srgbClr val="FFE45C"/>
                </a:highlight>
                <a:latin typeface="Calibri"/>
                <a:ea typeface="맑은 고딕"/>
                <a:cs typeface="Calibri"/>
              </a:rPr>
              <a:t>I won’t charge you for this</a:t>
            </a:r>
            <a:r>
              <a:rPr lang="en-US" altLang="ko-KR" sz="1300" b="0" dirty="0">
                <a:solidFill>
                  <a:srgbClr val="B3BAC6"/>
                </a:solidFill>
                <a:latin typeface="Calibri"/>
                <a:ea typeface="맑은 고딕"/>
                <a:cs typeface="Calibri"/>
              </a:rPr>
              <a:t>,"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ko-KR" altLang="en-US" sz="1650" b="0" dirty="0">
                <a:solidFill>
                  <a:srgbClr val="1F2328"/>
                </a:solidFill>
                <a:latin typeface="맑은 고딕"/>
                <a:ea typeface="맑은 고딕"/>
                <a:cs typeface="맑은 고딕"/>
              </a:rPr>
              <a:t>	Boggis 씨는 탁자 다리만 필요하다고 했다</a:t>
            </a:r>
            <a:endParaRPr lang="ko-KR" altLang="en-US" sz="1650" b="0" dirty="0">
              <a:solidFill>
                <a:srgbClr val="1F2328"/>
              </a:solidFill>
              <a:latin typeface="맑은 고딕"/>
              <a:ea typeface="맑은 고딕"/>
              <a:cs typeface="맑은 고딕"/>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ko-KR" altLang="en-US" sz="1650" b="0" dirty="0">
                <a:solidFill>
                  <a:srgbClr val="1F2328"/>
                </a:solidFill>
                <a:latin typeface="맑은 고딕"/>
                <a:ea typeface="맑은 고딕"/>
                <a:cs typeface="맑은 고딕"/>
              </a:rPr>
              <a:t>	Boggis 씨는 마지막으로 30파운드를 제안했다</a:t>
            </a:r>
            <a:endParaRPr lang="ko-KR" altLang="en-US" sz="1650" b="0" dirty="0">
              <a:solidFill>
                <a:srgbClr val="1F2328"/>
              </a:solidFill>
              <a:latin typeface="맑은 고딕"/>
              <a:ea typeface="맑은 고딕"/>
              <a:cs typeface="맑은 고딕"/>
            </a:endParaRPr>
          </a:p>
        </p:txBody>
      </p:sp>
      <p:sp>
        <p:nvSpPr>
          <p:cNvPr id="13"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ko-KR" altLang="en-US" sz="1650" b="0" dirty="0">
                <a:solidFill>
                  <a:srgbClr val="1F2328"/>
                </a:solidFill>
                <a:latin typeface="맑은 고딕"/>
                <a:ea typeface="맑은 고딕"/>
                <a:cs typeface="맑은 고딕"/>
              </a:rPr>
              <a:t>	Boggis 씨는 차를 가지러 밖으로 나갔다</a:t>
            </a:r>
            <a:endParaRPr lang="ko-KR" altLang="en-US" sz="1650" b="0" dirty="0">
              <a:solidFill>
                <a:srgbClr val="1F2328"/>
              </a:solidFill>
              <a:latin typeface="맑은 고딕"/>
              <a:ea typeface="맑은 고딕"/>
              <a:cs typeface="맑은 고딕"/>
            </a:endParaRPr>
          </a:p>
        </p:txBody>
      </p:sp>
      <p:sp>
        <p:nvSpPr>
          <p:cNvPr id="14"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ko-KR" altLang="en-US" sz="1650" b="0" dirty="0">
                <a:solidFill>
                  <a:srgbClr val="1F2328"/>
                </a:solidFill>
                <a:latin typeface="맑은 고딕"/>
                <a:ea typeface="맑은 고딕"/>
                <a:cs typeface="맑은 고딕"/>
              </a:rPr>
              <a:t>	Bert가 톱으로 탁자 다리를 잘랐다</a:t>
            </a:r>
            <a:endParaRPr lang="ko-KR" altLang="en-US" sz="1650" b="0" dirty="0">
              <a:solidFill>
                <a:srgbClr val="1F2328"/>
              </a:solidFill>
              <a:latin typeface="맑은 고딕"/>
              <a:ea typeface="맑은 고딕"/>
              <a:cs typeface="맑은 고딕"/>
            </a:endParaRPr>
          </a:p>
        </p:txBody>
      </p:sp>
      <p:sp>
        <p:nvSpPr>
          <p:cNvPr id="15"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ko-KR" altLang="en-US" sz="1650" b="0" dirty="0">
                <a:solidFill>
                  <a:srgbClr val="1F2328"/>
                </a:solidFill>
                <a:latin typeface="맑은 고딕"/>
                <a:ea typeface="맑은 고딕"/>
                <a:cs typeface="맑은 고딕"/>
              </a:rPr>
              <a:t>	Rummins는 다리 자른 비용을 청구했다</a:t>
            </a:r>
            <a:endParaRPr lang="ko-KR" altLang="en-US" sz="1650" b="0" dirty="0">
              <a:solidFill>
                <a:srgbClr val="1F2328"/>
              </a:solidFill>
              <a:latin typeface="맑은 고딕"/>
              <a:ea typeface="맑은 고딕"/>
              <a:cs typeface="맑은 고딕"/>
            </a:endParaRPr>
          </a:p>
        </p:txBody>
      </p:sp>
      <p:sp>
        <p:nvSpPr>
          <p:cNvPr id="16" name="rv_pick"/>
          <p:cNvSpPr txBox="1"/>
          <p:nvPr/>
        </p:nvSpPr>
        <p:spPr>
          <a:xfrm>
            <a:off x="457200" y="4821174"/>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⑤</a:t>
            </a:r>
            <a:r>
              <a:rPr lang="ko-KR" altLang="en-US" sz="1650" b="0" dirty="0">
                <a:solidFill>
                  <a:srgbClr val="C00000"/>
                </a:solidFill>
                <a:latin typeface="맑은 고딕"/>
                <a:ea typeface="맑은 고딕"/>
                <a:cs typeface="맑은 고딕"/>
              </a:rPr>
              <a:t>	Rummins는 다리 자른 비용을 청구했다</a:t>
            </a:r>
            <a:endParaRPr lang="ko-KR" altLang="en-US" sz="1650" b="0" dirty="0">
              <a:solidFill>
                <a:srgbClr val="C00000"/>
              </a:solidFill>
              <a:latin typeface="맑은 고딕"/>
              <a:ea typeface="맑은 고딕"/>
              <a:cs typeface="맑은 고딕"/>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Rummins는 다리 자른 비용을 청구했다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Rummins는 호의였다며 비용을 청구하지 않겠다고 했다. 청구했다는 ⑤는 틀리다.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1F2328"/>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a:t>
            </a:r>
            <a:r>
              <a:rPr lang="en-US" altLang="ko-KR" sz="1300" b="0" dirty="0">
                <a:solidFill>
                  <a:srgbClr val="1F2328"/>
                </a:solidFill>
                <a:latin typeface="Calibri"/>
                <a:ea typeface="맑은 고딕"/>
                <a:cs typeface="Calibri"/>
              </a:rPr>
              <a:t>what if this thing doesn’t go in his car?</a:t>
            </a:r>
            <a:r>
              <a:rPr lang="en-US" altLang="ko-KR" sz="1300" b="0" dirty="0">
                <a:solidFill>
                  <a:srgbClr val="1F2328"/>
                </a:solidFill>
                <a:latin typeface="Calibri"/>
                <a:ea typeface="맑은 고딕"/>
                <a:cs typeface="Calibri"/>
              </a:rPr>
              <a:t>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300" b="0" dirty="0">
              <a:solidFill>
                <a:srgbClr val="1F2328"/>
              </a:solidFill>
              <a:latin typeface="Calibri"/>
              <a:ea typeface="맑은 고딕"/>
              <a:cs typeface="Calibri"/>
            </a:endParaRPr>
          </a:p>
        </p:txBody>
      </p:sp>
      <p:sp>
        <p:nvSpPr>
          <p:cNvPr id="9" name="rv_evidence_card"/>
          <p:cNvSpPr/>
          <p:nvPr/>
        </p:nvSpPr>
        <p:spPr>
          <a:xfrm>
            <a:off x="457200" y="950976"/>
            <a:ext cx="11277295" cy="220598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205989"/>
          </a:xfrm>
          <a:prstGeom prst="rect">
            <a:avLst/>
          </a:prstGeom>
          <a:noFill/>
        </p:spPr>
        <p:txBody>
          <a:bodyPr wrap="square" lIns="201168" tIns="118872" rIns="201168" bIns="118872" anchor="t" rtlCol="0">
            <a:noAutofit/>
          </a:bodyPr>
          <a:lstStyle/>
          <a:p>
            <a:pPr algn="just">
              <a:lnSpc>
                <a:spcPts val="1690"/>
              </a:lnSpc>
              <a:spcBef>
                <a:spcPts val="0"/>
              </a:spcBef>
              <a:spcAft>
                <a:spcPts val="0"/>
              </a:spcAft>
              <a:buNone/>
            </a:pPr>
            <a:r>
              <a:rPr lang="en-US" altLang="ko-KR" sz="1300" b="0" dirty="0">
                <a:solidFill>
                  <a:srgbClr val="B3BAC6"/>
                </a:solidFill>
                <a:latin typeface="Calibri"/>
                <a:ea typeface="맑은 고딕"/>
                <a:cs typeface="Calibri"/>
              </a:rPr>
              <a:t>He then added, "Hmm, I think I may buy it. The legs of my table at home are broken. I can cut off the legs of your table and attach them to mine."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 On his way to the car, Mr. Boggis couldn’t help smiling. The table was what every dealer dreamed of. He couldn’t believe his luck. "Dad, </a:t>
            </a:r>
            <a:r>
              <a:rPr lang="en-US" altLang="ko-KR" sz="1300" b="0" dirty="0">
                <a:solidFill>
                  <a:srgbClr val="111111"/>
                </a:solidFill>
                <a:highlight>
                  <a:srgbClr val="FFE45C"/>
                </a:highlight>
                <a:latin typeface="Calibri"/>
                <a:ea typeface="맑은 고딕"/>
                <a:cs typeface="Calibri"/>
              </a:rPr>
              <a:t>what if this thing doesn’t go in his car?</a:t>
            </a:r>
            <a:r>
              <a:rPr lang="en-US" altLang="ko-KR" sz="1300" b="0" dirty="0">
                <a:solidFill>
                  <a:srgbClr val="B3BAC6"/>
                </a:solidFill>
                <a:latin typeface="Calibri"/>
                <a:ea typeface="맑은 고딕"/>
                <a:cs typeface="Calibri"/>
              </a:rPr>
              <a:t>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300" b="0" dirty="0">
              <a:solidFill>
                <a:srgbClr val="B3BAC6"/>
              </a:solidFill>
              <a:latin typeface="Calibri"/>
              <a:ea typeface="맑은 고딕"/>
              <a:cs typeface="Calibri"/>
            </a:endParaRPr>
          </a:p>
        </p:txBody>
      </p:sp>
      <p:sp>
        <p:nvSpPr>
          <p:cNvPr id="11" name="choice_1"/>
          <p:cNvSpPr txBox="1"/>
          <p:nvPr/>
        </p:nvSpPr>
        <p:spPr>
          <a:xfrm>
            <a:off x="457200" y="3303270"/>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①</a:t>
            </a:r>
            <a:r>
              <a:rPr lang="ko-KR" altLang="en-US" sz="1650" b="0" dirty="0">
                <a:solidFill>
                  <a:srgbClr val="1F2328"/>
                </a:solidFill>
                <a:latin typeface="맑은 고딕"/>
                <a:ea typeface="맑은 고딕"/>
                <a:cs typeface="맑은 고딕"/>
              </a:rPr>
              <a:t>	Rummins는 처음에 10파운드를 요구했다</a:t>
            </a:r>
            <a:endParaRPr lang="ko-KR" altLang="en-US" sz="1650" b="0" dirty="0">
              <a:solidFill>
                <a:srgbClr val="1F2328"/>
              </a:solidFill>
              <a:latin typeface="맑은 고딕"/>
              <a:ea typeface="맑은 고딕"/>
              <a:cs typeface="맑은 고딕"/>
            </a:endParaRPr>
          </a:p>
        </p:txBody>
      </p:sp>
      <p:sp>
        <p:nvSpPr>
          <p:cNvPr id="12" name="choice_2"/>
          <p:cNvSpPr txBox="1"/>
          <p:nvPr/>
        </p:nvSpPr>
        <p:spPr>
          <a:xfrm>
            <a:off x="457200" y="3682746"/>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②</a:t>
            </a:r>
            <a:r>
              <a:rPr lang="ko-KR" altLang="en-US" sz="1650" b="0" dirty="0">
                <a:solidFill>
                  <a:srgbClr val="1F2328"/>
                </a:solidFill>
                <a:latin typeface="맑은 고딕"/>
                <a:ea typeface="맑은 고딕"/>
                <a:cs typeface="맑은 고딕"/>
              </a:rPr>
              <a:t>	Bert는 탁자가 차에 안 들어갈까 걱정했다</a:t>
            </a:r>
            <a:endParaRPr lang="ko-KR" altLang="en-US" sz="1650" b="0" dirty="0">
              <a:solidFill>
                <a:srgbClr val="1F2328"/>
              </a:solidFill>
              <a:latin typeface="맑은 고딕"/>
              <a:ea typeface="맑은 고딕"/>
              <a:cs typeface="맑은 고딕"/>
            </a:endParaRPr>
          </a:p>
        </p:txBody>
      </p:sp>
      <p:sp>
        <p:nvSpPr>
          <p:cNvPr id="13" name="rv_pick"/>
          <p:cNvSpPr txBox="1"/>
          <p:nvPr/>
        </p:nvSpPr>
        <p:spPr>
          <a:xfrm>
            <a:off x="457200" y="3682746"/>
            <a:ext cx="11277295" cy="352044"/>
          </a:xfrm>
          <a:prstGeom prst="rect">
            <a:avLst/>
          </a:prstGeom>
          <a:solidFill>
            <a:srgbClr val="FFF3C4"/>
          </a:solid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C00000"/>
                </a:solidFill>
                <a:latin typeface="맑은 고딕"/>
                <a:ea typeface="맑은 고딕"/>
                <a:cs typeface="맑은 고딕"/>
              </a:rPr>
              <a:t>②</a:t>
            </a:r>
            <a:r>
              <a:rPr lang="ko-KR" altLang="en-US" sz="1650" b="0" dirty="0">
                <a:solidFill>
                  <a:srgbClr val="C00000"/>
                </a:solidFill>
                <a:latin typeface="맑은 고딕"/>
                <a:ea typeface="맑은 고딕"/>
                <a:cs typeface="맑은 고딕"/>
              </a:rPr>
              <a:t>	Bert는 탁자가 차에 안 들어갈까 걱정했다</a:t>
            </a:r>
            <a:endParaRPr lang="ko-KR" altLang="en-US" sz="1650" b="0" dirty="0">
              <a:solidFill>
                <a:srgbClr val="C00000"/>
              </a:solidFill>
              <a:latin typeface="맑은 고딕"/>
              <a:ea typeface="맑은 고딕"/>
              <a:cs typeface="맑은 고딕"/>
            </a:endParaRPr>
          </a:p>
        </p:txBody>
      </p:sp>
      <p:sp>
        <p:nvSpPr>
          <p:cNvPr id="14" name="choice_3"/>
          <p:cNvSpPr txBox="1"/>
          <p:nvPr/>
        </p:nvSpPr>
        <p:spPr>
          <a:xfrm>
            <a:off x="457200" y="4062222"/>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③</a:t>
            </a:r>
            <a:r>
              <a:rPr lang="ko-KR" altLang="en-US" sz="1650" b="0" dirty="0">
                <a:solidFill>
                  <a:srgbClr val="1F2328"/>
                </a:solidFill>
                <a:latin typeface="맑은 고딕"/>
                <a:ea typeface="맑은 고딕"/>
                <a:cs typeface="맑은 고딕"/>
              </a:rPr>
              <a:t>	Boggis 씨는 차로 가며 화를 냈다</a:t>
            </a:r>
            <a:endParaRPr lang="ko-KR" altLang="en-US" sz="1650" b="0" dirty="0">
              <a:solidFill>
                <a:srgbClr val="1F2328"/>
              </a:solidFill>
              <a:latin typeface="맑은 고딕"/>
              <a:ea typeface="맑은 고딕"/>
              <a:cs typeface="맑은 고딕"/>
            </a:endParaRPr>
          </a:p>
        </p:txBody>
      </p:sp>
      <p:sp>
        <p:nvSpPr>
          <p:cNvPr id="15" name="choice_4"/>
          <p:cNvSpPr txBox="1"/>
          <p:nvPr/>
        </p:nvSpPr>
        <p:spPr>
          <a:xfrm>
            <a:off x="457200" y="4441698"/>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④</a:t>
            </a:r>
            <a:r>
              <a:rPr lang="ko-KR" altLang="en-US" sz="1650" b="0" dirty="0">
                <a:solidFill>
                  <a:srgbClr val="1F2328"/>
                </a:solidFill>
                <a:latin typeface="맑은 고딕"/>
                <a:ea typeface="맑은 고딕"/>
                <a:cs typeface="맑은 고딕"/>
              </a:rPr>
              <a:t>	Boggis 씨는 돌아와서 크게 기뻐했다</a:t>
            </a:r>
            <a:endParaRPr lang="ko-KR" altLang="en-US" sz="1650" b="0" dirty="0">
              <a:solidFill>
                <a:srgbClr val="1F2328"/>
              </a:solidFill>
              <a:latin typeface="맑은 고딕"/>
              <a:ea typeface="맑은 고딕"/>
              <a:cs typeface="맑은 고딕"/>
            </a:endParaRPr>
          </a:p>
        </p:txBody>
      </p:sp>
      <p:sp>
        <p:nvSpPr>
          <p:cNvPr id="16" name="choice_5"/>
          <p:cNvSpPr txBox="1"/>
          <p:nvPr/>
        </p:nvSpPr>
        <p:spPr>
          <a:xfrm>
            <a:off x="457200" y="4821174"/>
            <a:ext cx="11277295" cy="352044"/>
          </a:xfrm>
          <a:prstGeom prst="rect">
            <a:avLst/>
          </a:prstGeom>
          <a:noFill/>
        </p:spPr>
        <p:txBody>
          <a:bodyPr wrap="square" lIns="137160" tIns="27432" rIns="137160" bIns="27432" anchor="t" rtlCol="0">
            <a:noAutofit/>
          </a:bodyPr>
          <a:lstStyle/>
          <a:p>
            <a:pPr algn="l" marL="335280" indent="-335280">
              <a:lnSpc>
                <a:spcPts val="2340"/>
              </a:lnSpc>
              <a:spcBef>
                <a:spcPts val="0"/>
              </a:spcBef>
              <a:spcAft>
                <a:spcPts val="0"/>
              </a:spcAft>
              <a:buNone/>
              <a:tabLst>
                <a:tab pos="335280" algn="l"/>
              </a:tabLst>
            </a:pPr>
            <a:r>
              <a:rPr lang="ko-KR" altLang="en-US" sz="1650" b="1" dirty="0">
                <a:solidFill>
                  <a:srgbClr val="1E2A5A"/>
                </a:solidFill>
                <a:latin typeface="맑은 고딕"/>
                <a:ea typeface="맑은 고딕"/>
                <a:cs typeface="맑은 고딕"/>
              </a:rPr>
              <a:t>⑤</a:t>
            </a:r>
            <a:r>
              <a:rPr lang="ko-KR" altLang="en-US" sz="1650" b="0" dirty="0">
                <a:solidFill>
                  <a:srgbClr val="1F2328"/>
                </a:solidFill>
                <a:latin typeface="맑은 고딕"/>
                <a:ea typeface="맑은 고딕"/>
                <a:cs typeface="맑은 고딕"/>
              </a:rPr>
              <a:t>	Rummins는 탁자를 차에 직접 실어 주었다</a:t>
            </a:r>
            <a:endParaRPr lang="ko-KR" altLang="en-US" sz="1650" b="0" dirty="0">
              <a:solidFill>
                <a:srgbClr val="1F2328"/>
              </a:solidFill>
              <a:latin typeface="맑은 고딕"/>
              <a:ea typeface="맑은 고딕"/>
              <a:cs typeface="맑은 고딕"/>
            </a:endParaRPr>
          </a:p>
        </p:txBody>
      </p:sp>
      <p:sp>
        <p:nvSpPr>
          <p:cNvPr id="17" name="rv_answer"/>
          <p:cNvSpPr/>
          <p:nvPr/>
        </p:nvSpPr>
        <p:spPr>
          <a:xfrm>
            <a:off x="457200" y="528294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Bert는 탁자가 차에 안 들어갈까 걱정했다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1878"/>
            <a:ext cx="11277295" cy="53720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340"/>
              </a:lnSpc>
              <a:spcBef>
                <a:spcPts val="0"/>
              </a:spcBef>
              <a:spcAft>
                <a:spcPts val="0"/>
              </a:spcAft>
              <a:buNone/>
            </a:pPr>
            <a:r>
              <a:rPr lang="ko-KR" altLang="en-US" sz="1650" b="1" dirty="0">
                <a:solidFill>
                  <a:srgbClr val="1E2A5A"/>
                </a:solidFill>
                <a:latin typeface="맑은 고딕"/>
                <a:ea typeface="맑은 고딕"/>
                <a:cs typeface="맑은 고딕"/>
              </a:rPr>
              <a:t>정답 원리   </a:t>
            </a:r>
            <a:r>
              <a:rPr lang="ko-KR" altLang="en-US" sz="1650" b="0" dirty="0">
                <a:solidFill>
                  <a:srgbClr val="16284A"/>
                </a:solidFill>
                <a:latin typeface="맑은 고딕"/>
                <a:ea typeface="맑은 고딕"/>
                <a:cs typeface="맑은 고딕"/>
              </a:rPr>
              <a:t>Bert는 탁자가 차에 안 들어가 돈을 못 받을까 걱정했다. ②가 일치한다.</a:t>
            </a:r>
            <a:endParaRPr lang="ko-KR" altLang="en-US" sz="165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681227"/>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681227"/>
          </a:xfrm>
          <a:prstGeom prst="rect">
            <a:avLst/>
          </a:prstGeom>
          <a:noFill/>
        </p:spPr>
        <p:txBody>
          <a:bodyPr wrap="square" lIns="201168" tIns="100584" rIns="201168" bIns="100584" anchor="t" rtlCol="0">
            <a:noAutofit/>
          </a:bodyPr>
          <a:lstStyle/>
          <a:p>
            <a:pPr algn="l">
              <a:lnSpc>
                <a:spcPts val="1890"/>
              </a:lnSpc>
              <a:spcBef>
                <a:spcPts val="0"/>
              </a:spcBef>
              <a:spcAft>
                <a:spcPts val="0"/>
              </a:spcAft>
              <a:buNone/>
            </a:pPr>
            <a:r>
              <a:rPr lang="en-US" altLang="ko-KR" sz="1450" b="0" dirty="0">
                <a:solidFill>
                  <a:srgbClr val="1F2328"/>
                </a:solidFill>
                <a:latin typeface="Calibri"/>
                <a:ea typeface="맑은 고딕"/>
                <a:cs typeface="Calibri"/>
              </a:rPr>
              <a:t>He then added, "Hmm, I think I may buy it. The legs of my table at home are broken. I can cut off the legs of your table and attach them to mine."</a:t>
            </a:r>
            <a:endParaRPr lang="en-US" altLang="ko-KR" sz="1450" b="0" dirty="0">
              <a:solidFill>
                <a:srgbClr val="1F2328"/>
              </a:solidFill>
              <a:latin typeface="Calibri"/>
              <a:ea typeface="맑은 고딕"/>
              <a:cs typeface="Calibri"/>
            </a:endParaRPr>
          </a:p>
        </p:txBody>
      </p:sp>
      <p:sp>
        <p:nvSpPr>
          <p:cNvPr id="9" name="parts_card"/>
          <p:cNvSpPr/>
          <p:nvPr/>
        </p:nvSpPr>
        <p:spPr>
          <a:xfrm>
            <a:off x="457200" y="1760219"/>
            <a:ext cx="11277295" cy="290398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760219"/>
            <a:ext cx="11277295" cy="2903981"/>
          </a:xfrm>
          <a:prstGeom prst="rect">
            <a:avLst/>
          </a:prstGeom>
          <a:noFill/>
        </p:spPr>
        <p:txBody>
          <a:bodyPr wrap="square" lIns="201168" tIns="118872" rIns="201168" bIns="118872" anchor="t" rtlCol="0">
            <a:noAutofit/>
          </a:bodyPr>
          <a:lstStyle/>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(A)</a:t>
            </a:r>
            <a:r>
              <a:rPr lang="en-US" altLang="ko-KR" sz="1450" b="0" dirty="0">
                <a:solidFill>
                  <a:srgbClr val="1F2328"/>
                </a:solidFill>
                <a:latin typeface="Calibri"/>
                <a:ea typeface="맑은 고딕"/>
                <a:cs typeface="Calibri"/>
              </a:rPr>
              <a:t>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(B)</a:t>
            </a:r>
            <a:r>
              <a:rPr lang="en-US" altLang="ko-KR" sz="1450" b="0" dirty="0">
                <a:solidFill>
                  <a:srgbClr val="1F2328"/>
                </a:solidFill>
                <a:latin typeface="Calibri"/>
                <a:ea typeface="맑은 고딕"/>
                <a:cs typeface="Calibri"/>
              </a:rPr>
              <a:t>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(C)</a:t>
            </a:r>
            <a:r>
              <a:rPr lang="en-US" altLang="ko-KR" sz="1450" b="0" dirty="0">
                <a:solidFill>
                  <a:srgbClr val="1F2328"/>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a:t>
            </a:r>
            <a:endParaRPr lang="en-US" altLang="ko-KR" sz="1450" b="0" dirty="0">
              <a:solidFill>
                <a:srgbClr val="1F2328"/>
              </a:solidFill>
              <a:latin typeface="Calibri"/>
              <a:ea typeface="맑은 고딕"/>
              <a:cs typeface="Calibri"/>
            </a:endParaRPr>
          </a:p>
        </p:txBody>
      </p:sp>
      <p:sp>
        <p:nvSpPr>
          <p:cNvPr id="11" name="options"/>
          <p:cNvSpPr txBox="1"/>
          <p:nvPr/>
        </p:nvSpPr>
        <p:spPr>
          <a:xfrm>
            <a:off x="457200" y="477393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77393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528599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884926"/>
            <a:ext cx="11277295" cy="53416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 흥정하고 차를 가지러 간다 → (C) 그사이 다리를 잘라 주기로 한다 → (A) 잘린 다리에 놀란다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681227"/>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681227"/>
          </a:xfrm>
          <a:prstGeom prst="rect">
            <a:avLst/>
          </a:prstGeom>
          <a:noFill/>
        </p:spPr>
        <p:txBody>
          <a:bodyPr wrap="square" lIns="201168" tIns="100584" rIns="201168" bIns="100584" anchor="t" rtlCol="0">
            <a:noAutofit/>
          </a:bodyPr>
          <a:lstStyle/>
          <a:p>
            <a:pPr algn="l">
              <a:lnSpc>
                <a:spcPts val="1890"/>
              </a:lnSpc>
              <a:spcBef>
                <a:spcPts val="0"/>
              </a:spcBef>
              <a:spcAft>
                <a:spcPts val="0"/>
              </a:spcAft>
              <a:buNone/>
            </a:pPr>
            <a:r>
              <a:rPr lang="en-US" altLang="ko-KR" sz="1450" b="0" dirty="0">
                <a:solidFill>
                  <a:srgbClr val="1F2328"/>
                </a:solidFill>
                <a:latin typeface="Calibri"/>
                <a:ea typeface="맑은 고딕"/>
                <a:cs typeface="Calibri"/>
              </a:rPr>
              <a:t>He then added, "Hmm, I think I may buy it. The legs of my table at home are broken. I can cut off the legs of your table and attach them to mine."</a:t>
            </a:r>
            <a:endParaRPr lang="en-US" altLang="ko-KR" sz="1450" b="0" dirty="0">
              <a:solidFill>
                <a:srgbClr val="1F2328"/>
              </a:solidFill>
              <a:latin typeface="Calibri"/>
              <a:ea typeface="맑은 고딕"/>
              <a:cs typeface="Calibri"/>
            </a:endParaRPr>
          </a:p>
        </p:txBody>
      </p:sp>
      <p:sp>
        <p:nvSpPr>
          <p:cNvPr id="9" name="parts_card"/>
          <p:cNvSpPr/>
          <p:nvPr/>
        </p:nvSpPr>
        <p:spPr>
          <a:xfrm>
            <a:off x="457200" y="1760219"/>
            <a:ext cx="11277295" cy="290398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760219"/>
            <a:ext cx="11277295" cy="2903981"/>
          </a:xfrm>
          <a:prstGeom prst="rect">
            <a:avLst/>
          </a:prstGeom>
          <a:noFill/>
        </p:spPr>
        <p:txBody>
          <a:bodyPr wrap="square" lIns="201168" tIns="118872" rIns="201168" bIns="118872" anchor="t" rtlCol="0">
            <a:noAutofit/>
          </a:bodyPr>
          <a:lstStyle/>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(A)</a:t>
            </a:r>
            <a:r>
              <a:rPr lang="en-US" altLang="ko-KR" sz="1450" b="0" dirty="0">
                <a:solidFill>
                  <a:srgbClr val="1F2328"/>
                </a:solidFill>
                <a:latin typeface="Calibri"/>
                <a:ea typeface="맑은 고딕"/>
                <a:cs typeface="Calibri"/>
              </a:rPr>
              <a:t>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(B)</a:t>
            </a:r>
            <a:r>
              <a:rPr lang="en-US" altLang="ko-KR" sz="1450" b="0" dirty="0">
                <a:solidFill>
                  <a:srgbClr val="1F2328"/>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(C)</a:t>
            </a:r>
            <a:r>
              <a:rPr lang="en-US" altLang="ko-KR" sz="1450" b="0" dirty="0">
                <a:solidFill>
                  <a:srgbClr val="1F2328"/>
                </a:solidFill>
                <a:latin typeface="Calibri"/>
                <a:ea typeface="맑은 고딕"/>
                <a:cs typeface="Calibri"/>
              </a:rPr>
              <a:t>	"How much?" Rummins asked. "Not much, I’m afraid. This is just a reproduction," said Mr. Boggis. "So how much?" "Ten pounds." "Ten? It’s worth more than that." "How about fifteen?" "Make it fifty." "Well, thirty. This is my final offer." "OK, it’s yours, but how are you going to take it? This thing will not go in a car!" "We’ll see," Mr. Boggis said and went out to bring his car.</a:t>
            </a:r>
            <a:endParaRPr lang="en-US" altLang="ko-KR" sz="1450" b="0" dirty="0">
              <a:solidFill>
                <a:srgbClr val="1F2328"/>
              </a:solidFill>
              <a:latin typeface="Calibri"/>
              <a:ea typeface="맑은 고딕"/>
              <a:cs typeface="Calibri"/>
            </a:endParaRPr>
          </a:p>
        </p:txBody>
      </p:sp>
      <p:sp>
        <p:nvSpPr>
          <p:cNvPr id="11" name="options"/>
          <p:cNvSpPr txBox="1"/>
          <p:nvPr/>
        </p:nvSpPr>
        <p:spPr>
          <a:xfrm>
            <a:off x="457200" y="477393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77393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⑤ </a:t>
            </a:r>
            <a:r>
              <a:rPr lang="en-US" altLang="ko-KR" sz="1800" b="0" dirty="0">
                <a:solidFill>
                  <a:srgbClr val="C00000"/>
                </a:solidFill>
                <a:highlight>
                  <a:srgbClr val="FFFFFF"/>
                </a:highlight>
                <a:latin typeface="Calibri"/>
                <a:ea typeface="맑은 고딕"/>
                <a:cs typeface="Calibri"/>
              </a:rPr>
              <a:t>(C) - (B) - (A)</a:t>
            </a:r>
            <a:endParaRPr lang="en-US" altLang="ko-KR" sz="1800" b="0" dirty="0">
              <a:solidFill>
                <a:srgbClr val="C00000"/>
              </a:solidFill>
              <a:latin typeface="Calibri"/>
              <a:ea typeface="맑은 고딕"/>
              <a:cs typeface="Calibri"/>
            </a:endParaRPr>
          </a:p>
        </p:txBody>
      </p:sp>
      <p:sp>
        <p:nvSpPr>
          <p:cNvPr id="13" name="rv_answer"/>
          <p:cNvSpPr/>
          <p:nvPr/>
        </p:nvSpPr>
        <p:spPr>
          <a:xfrm>
            <a:off x="457200" y="528599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(C) - (B)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884926"/>
            <a:ext cx="11277295" cy="53416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(C) 흥정하고 차를 가지러 간다 → (B) 그사이 다리를 잘라 주기로 한다 → (A) 잘린 다리에 놀란다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7167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71678"/>
          </a:xfrm>
          <a:prstGeom prst="rect">
            <a:avLst/>
          </a:prstGeom>
          <a:noFill/>
        </p:spPr>
        <p:txBody>
          <a:bodyPr wrap="square" lIns="201168" tIns="100584" rIns="201168" bIns="100584" anchor="t" rtlCol="0">
            <a:noAutofit/>
          </a:bodyPr>
          <a:lstStyle/>
          <a:p>
            <a:pPr algn="l">
              <a:lnSpc>
                <a:spcPts val="2130"/>
              </a:lnSpc>
              <a:spcBef>
                <a:spcPts val="0"/>
              </a:spcBef>
              <a:spcAft>
                <a:spcPts val="0"/>
              </a:spcAft>
              <a:buNone/>
            </a:pPr>
            <a:r>
              <a:rPr lang="ko-KR" altLang="en-US" sz="1500" b="1" dirty="0">
                <a:solidFill>
                  <a:srgbClr val="1E2A5A"/>
                </a:solidFill>
                <a:latin typeface="맑은 고딕"/>
                <a:ea typeface="맑은 고딕"/>
                <a:cs typeface="맑은 고딕"/>
              </a:rPr>
              <a:t>주어진 문장</a:t>
            </a:r>
            <a:r>
              <a:rPr lang="en-US" altLang="ko-KR" sz="1500" b="0" dirty="0">
                <a:solidFill>
                  <a:srgbClr val="1F2328"/>
                </a:solidFill>
                <a:latin typeface="Calibri"/>
                <a:ea typeface="맑은 고딕"/>
                <a:cs typeface="Calibri"/>
              </a:rPr>
              <a:t>   "OK, it’s yours, but how are you going to take it? This thing will not go in a car!"</a:t>
            </a:r>
            <a:endParaRPr lang="en-US" altLang="ko-KR" sz="1500" b="0" dirty="0">
              <a:solidFill>
                <a:srgbClr val="1F2328"/>
              </a:solidFill>
              <a:latin typeface="Calibri"/>
              <a:ea typeface="맑은 고딕"/>
              <a:cs typeface="Calibri"/>
            </a:endParaRPr>
          </a:p>
        </p:txBody>
      </p:sp>
      <p:sp>
        <p:nvSpPr>
          <p:cNvPr id="9" name="passage_card"/>
          <p:cNvSpPr/>
          <p:nvPr/>
        </p:nvSpPr>
        <p:spPr>
          <a:xfrm>
            <a:off x="457200" y="1568958"/>
            <a:ext cx="11277295" cy="3157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568958"/>
            <a:ext cx="11277295" cy="3157219"/>
          </a:xfrm>
          <a:prstGeom prst="rect">
            <a:avLst/>
          </a:prstGeom>
          <a:noFill/>
        </p:spPr>
        <p:txBody>
          <a:bodyPr wrap="square" lIns="201168" tIns="118872" rIns="201168" bIns="118872" anchor="t" rtlCol="0">
            <a:noAutofit/>
          </a:bodyPr>
          <a:lstStyle/>
          <a:p>
            <a:pPr algn="just">
              <a:lnSpc>
                <a:spcPts val="2270"/>
              </a:lnSpc>
              <a:spcBef>
                <a:spcPts val="0"/>
              </a:spcBef>
              <a:spcAft>
                <a:spcPts val="0"/>
              </a:spcAft>
              <a:buNone/>
            </a:pPr>
            <a:r>
              <a:rPr lang="en-US" altLang="ko-KR" sz="1500" b="0" dirty="0">
                <a:solidFill>
                  <a:srgbClr val="1F2328"/>
                </a:solidFill>
                <a:latin typeface="Calibri"/>
                <a:ea typeface="맑은 고딕"/>
                <a:cs typeface="Calibri"/>
              </a:rPr>
              <a:t>He then added, "Hmm, I think I may buy it. The legs of my table at home are broken. I can cut off the legs of your table and attach them to mine." </a:t>
            </a:r>
            <a:r>
              <a:rPr lang="ko-KR" altLang="en-US" sz="1600" b="1" dirty="0">
                <a:solidFill>
                  <a:srgbClr val="1E2A5A"/>
                </a:solidFill>
                <a:latin typeface="맑은 고딕"/>
                <a:ea typeface="맑은 고딕"/>
                <a:cs typeface="맑은 고딕"/>
              </a:rPr>
              <a:t>②</a:t>
            </a:r>
            <a:r>
              <a:rPr lang="en-US" altLang="ko-KR" sz="1500" b="0" dirty="0">
                <a:solidFill>
                  <a:srgbClr val="1F2328"/>
                </a:solidFill>
                <a:latin typeface="Calibri"/>
                <a:ea typeface="맑은 고딕"/>
                <a:cs typeface="Calibri"/>
              </a:rPr>
              <a:t> "How much?" Rummins asked. "Not much, I’m afraid. This is just a reproduction," said Mr. Boggis. </a:t>
            </a:r>
            <a:r>
              <a:rPr lang="ko-KR" altLang="en-US" sz="1600" b="1" dirty="0">
                <a:solidFill>
                  <a:srgbClr val="1E2A5A"/>
                </a:solidFill>
                <a:latin typeface="맑은 고딕"/>
                <a:ea typeface="맑은 고딕"/>
                <a:cs typeface="맑은 고딕"/>
              </a:rPr>
              <a:t>③</a:t>
            </a:r>
            <a:r>
              <a:rPr lang="en-US" altLang="ko-KR" sz="1500" b="0" dirty="0">
                <a:solidFill>
                  <a:srgbClr val="1F2328"/>
                </a:solidFill>
                <a:latin typeface="Calibri"/>
                <a:ea typeface="맑은 고딕"/>
                <a:cs typeface="Calibri"/>
              </a:rPr>
              <a:t> "So how much?" "Ten pounds." "Ten? It’s worth more than that." "How about fifteen?" "Make it fifty." "Well, thirty. This is my final offer." </a:t>
            </a:r>
            <a:r>
              <a:rPr lang="ko-KR" altLang="en-US" sz="1600" b="1" dirty="0">
                <a:solidFill>
                  <a:srgbClr val="1E2A5A"/>
                </a:solidFill>
                <a:latin typeface="맑은 고딕"/>
                <a:ea typeface="맑은 고딕"/>
                <a:cs typeface="맑은 고딕"/>
              </a:rPr>
              <a:t>④</a:t>
            </a:r>
            <a:r>
              <a:rPr lang="en-US" altLang="ko-KR" sz="1500" b="0" dirty="0">
                <a:solidFill>
                  <a:srgbClr val="1F2328"/>
                </a:solidFill>
                <a:latin typeface="Calibri"/>
                <a:ea typeface="맑은 고딕"/>
                <a:cs typeface="Calibri"/>
              </a:rPr>
              <a:t> "We’ll see," Mr. Boggis said and went out to bring his car. </a:t>
            </a:r>
            <a:r>
              <a:rPr lang="ko-KR" altLang="en-US" sz="1600" b="1" dirty="0">
                <a:solidFill>
                  <a:srgbClr val="1E2A5A"/>
                </a:solidFill>
                <a:latin typeface="맑은 고딕"/>
                <a:ea typeface="맑은 고딕"/>
                <a:cs typeface="맑은 고딕"/>
              </a:rPr>
              <a:t>⑤</a:t>
            </a:r>
            <a:r>
              <a:rPr lang="en-US" altLang="ko-KR" sz="1500" b="0" dirty="0">
                <a:solidFill>
                  <a:srgbClr val="1F2328"/>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500" b="0" dirty="0">
              <a:solidFill>
                <a:srgbClr val="1F2328"/>
              </a:solidFill>
              <a:latin typeface="Calibri"/>
              <a:ea typeface="맑은 고딕"/>
              <a:cs typeface="Calibri"/>
            </a:endParaRPr>
          </a:p>
        </p:txBody>
      </p:sp>
      <p:sp>
        <p:nvSpPr>
          <p:cNvPr id="11" name="rv_pick"/>
          <p:cNvSpPr txBox="1"/>
          <p:nvPr/>
        </p:nvSpPr>
        <p:spPr>
          <a:xfrm>
            <a:off x="457200" y="1568958"/>
            <a:ext cx="11277295" cy="3157219"/>
          </a:xfrm>
          <a:prstGeom prst="rect">
            <a:avLst/>
          </a:prstGeom>
          <a:noFill/>
        </p:spPr>
        <p:txBody>
          <a:bodyPr wrap="square" lIns="201168" tIns="118872" rIns="201168" bIns="118872" anchor="t" rtlCol="0">
            <a:noAutofit/>
          </a:bodyPr>
          <a:lstStyle/>
          <a:p>
            <a:pPr algn="just">
              <a:lnSpc>
                <a:spcPts val="2270"/>
              </a:lnSpc>
              <a:spcBef>
                <a:spcPts val="0"/>
              </a:spcBef>
              <a:spcAft>
                <a:spcPts val="0"/>
              </a:spcAft>
              <a:buNone/>
            </a:pPr>
            <a:r>
              <a:rPr lang="en-US" altLang="ko-KR" sz="1500" b="0" dirty="0">
                <a:solidFill>
                  <a:srgbClr val="1F2328">
                    <a:alpha val="0"/>
                  </a:srgbClr>
                </a:solidFill>
                <a:latin typeface="Calibri"/>
                <a:ea typeface="맑은 고딕"/>
                <a:cs typeface="Calibri"/>
              </a:rPr>
              <a:t>He then added, "Hmm, I think I may buy it. The legs of my table at home are broken. I can cut off the legs of your table and attach them to mine." </a:t>
            </a:r>
            <a:r>
              <a:rPr lang="ko-KR" altLang="en-US" sz="1600" b="1" dirty="0">
                <a:solidFill>
                  <a:srgbClr val="1E2A5A">
                    <a:alpha val="0"/>
                  </a:srgbClr>
                </a:solidFill>
                <a:latin typeface="맑은 고딕"/>
                <a:ea typeface="맑은 고딕"/>
                <a:cs typeface="맑은 고딕"/>
              </a:rPr>
              <a:t>②</a:t>
            </a:r>
            <a:r>
              <a:rPr lang="en-US" altLang="ko-KR" sz="1500" b="0" dirty="0">
                <a:solidFill>
                  <a:srgbClr val="1F2328">
                    <a:alpha val="0"/>
                  </a:srgbClr>
                </a:solidFill>
                <a:latin typeface="Calibri"/>
                <a:ea typeface="맑은 고딕"/>
                <a:cs typeface="Calibri"/>
              </a:rPr>
              <a:t> "How much?" Rummins asked. "Not much, I’m afraid. This is just a reproduction," said Mr. Boggis. </a:t>
            </a:r>
            <a:r>
              <a:rPr lang="ko-KR" altLang="en-US" sz="1600" b="1" dirty="0">
                <a:solidFill>
                  <a:srgbClr val="1E2A5A">
                    <a:alpha val="0"/>
                  </a:srgbClr>
                </a:solidFill>
                <a:latin typeface="맑은 고딕"/>
                <a:ea typeface="맑은 고딕"/>
                <a:cs typeface="맑은 고딕"/>
              </a:rPr>
              <a:t>③</a:t>
            </a:r>
            <a:r>
              <a:rPr lang="en-US" altLang="ko-KR" sz="1500" b="0" dirty="0">
                <a:solidFill>
                  <a:srgbClr val="1F2328">
                    <a:alpha val="0"/>
                  </a:srgbClr>
                </a:solidFill>
                <a:latin typeface="Calibri"/>
                <a:ea typeface="맑은 고딕"/>
                <a:cs typeface="Calibri"/>
              </a:rPr>
              <a:t> "So how much?" "Ten pounds." "Ten? It’s worth more than that." "How about fifteen?" "Make it fifty." "Well, thirty. This is my final offer." </a:t>
            </a:r>
            <a:r>
              <a:rPr lang="ko-KR" altLang="en-US" sz="1600" b="1" dirty="0">
                <a:solidFill>
                  <a:srgbClr val="C00000"/>
                </a:solidFill>
                <a:highlight>
                  <a:srgbClr val="F3F5F9"/>
                </a:highlight>
                <a:latin typeface="맑은 고딕"/>
                <a:ea typeface="맑은 고딕"/>
                <a:cs typeface="맑은 고딕"/>
              </a:rPr>
              <a:t>④</a:t>
            </a:r>
            <a:r>
              <a:rPr lang="en-US" altLang="ko-KR" sz="1500" b="0" dirty="0">
                <a:solidFill>
                  <a:srgbClr val="1F2328">
                    <a:alpha val="0"/>
                  </a:srgbClr>
                </a:solidFill>
                <a:latin typeface="Calibri"/>
                <a:ea typeface="맑은 고딕"/>
                <a:cs typeface="Calibri"/>
              </a:rPr>
              <a:t> "We’ll see," Mr. Boggis said and went out to bring his car. </a:t>
            </a:r>
            <a:r>
              <a:rPr lang="ko-KR" altLang="en-US" sz="1600" b="1" dirty="0">
                <a:solidFill>
                  <a:srgbClr val="1E2A5A">
                    <a:alpha val="0"/>
                  </a:srgbClr>
                </a:solidFill>
                <a:latin typeface="맑은 고딕"/>
                <a:ea typeface="맑은 고딕"/>
                <a:cs typeface="맑은 고딕"/>
              </a:rPr>
              <a:t>⑤</a:t>
            </a:r>
            <a:r>
              <a:rPr lang="en-US" altLang="ko-KR" sz="1500" b="0" dirty="0">
                <a:solidFill>
                  <a:srgbClr val="1F2328">
                    <a:alpha val="0"/>
                  </a:srgbClr>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500" b="0" dirty="0">
              <a:solidFill>
                <a:srgbClr val="1F2328"/>
              </a:solidFill>
              <a:latin typeface="Calibri"/>
              <a:ea typeface="맑은 고딕"/>
              <a:cs typeface="Calibri"/>
            </a:endParaRPr>
          </a:p>
        </p:txBody>
      </p:sp>
      <p:sp>
        <p:nvSpPr>
          <p:cNvPr id="12" name="rv_answer"/>
          <p:cNvSpPr/>
          <p:nvPr/>
        </p:nvSpPr>
        <p:spPr>
          <a:xfrm>
            <a:off x="457200" y="483590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434838"/>
            <a:ext cx="11277295" cy="98424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30파운드 최종 제안 뒤 'it’s yours'로 거래를 받아들이고 어떻게 가져가냐고 묻는다. ④ 뒤 'We’ll see'가 이 질문에 답하므로 ④가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7167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71678"/>
          </a:xfrm>
          <a:prstGeom prst="rect">
            <a:avLst/>
          </a:prstGeom>
          <a:noFill/>
        </p:spPr>
        <p:txBody>
          <a:bodyPr wrap="square" lIns="201168" tIns="100584" rIns="201168" bIns="100584" anchor="t" rtlCol="0">
            <a:noAutofit/>
          </a:bodyPr>
          <a:lstStyle/>
          <a:p>
            <a:pPr algn="l">
              <a:lnSpc>
                <a:spcPts val="2130"/>
              </a:lnSpc>
              <a:spcBef>
                <a:spcPts val="0"/>
              </a:spcBef>
              <a:spcAft>
                <a:spcPts val="0"/>
              </a:spcAft>
              <a:buNone/>
            </a:pPr>
            <a:r>
              <a:rPr lang="ko-KR" altLang="en-US" sz="1500" b="1" dirty="0">
                <a:solidFill>
                  <a:srgbClr val="1E2A5A"/>
                </a:solidFill>
                <a:latin typeface="맑은 고딕"/>
                <a:ea typeface="맑은 고딕"/>
                <a:cs typeface="맑은 고딕"/>
              </a:rPr>
              <a:t>주어진 문장</a:t>
            </a:r>
            <a:r>
              <a:rPr lang="en-US" altLang="ko-KR" sz="1500" b="0" dirty="0">
                <a:solidFill>
                  <a:srgbClr val="1F2328"/>
                </a:solidFill>
                <a:latin typeface="Calibri"/>
                <a:ea typeface="맑은 고딕"/>
                <a:cs typeface="Calibri"/>
              </a:rPr>
              <a:t>   "We’ll see," Mr. Boggis said and went out to bring his car.</a:t>
            </a:r>
            <a:endParaRPr lang="en-US" altLang="ko-KR" sz="1500" b="0" dirty="0">
              <a:solidFill>
                <a:srgbClr val="1F2328"/>
              </a:solidFill>
              <a:latin typeface="Calibri"/>
              <a:ea typeface="맑은 고딕"/>
              <a:cs typeface="Calibri"/>
            </a:endParaRPr>
          </a:p>
        </p:txBody>
      </p:sp>
      <p:sp>
        <p:nvSpPr>
          <p:cNvPr id="9" name="passage_card"/>
          <p:cNvSpPr/>
          <p:nvPr/>
        </p:nvSpPr>
        <p:spPr>
          <a:xfrm>
            <a:off x="457200" y="1568958"/>
            <a:ext cx="11277295" cy="3157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568958"/>
            <a:ext cx="11277295" cy="3157219"/>
          </a:xfrm>
          <a:prstGeom prst="rect">
            <a:avLst/>
          </a:prstGeom>
          <a:noFill/>
        </p:spPr>
        <p:txBody>
          <a:bodyPr wrap="square" lIns="201168" tIns="118872" rIns="201168" bIns="118872" anchor="t" rtlCol="0">
            <a:noAutofit/>
          </a:bodyPr>
          <a:lstStyle/>
          <a:p>
            <a:pPr algn="just">
              <a:lnSpc>
                <a:spcPts val="2270"/>
              </a:lnSpc>
              <a:spcBef>
                <a:spcPts val="0"/>
              </a:spcBef>
              <a:spcAft>
                <a:spcPts val="0"/>
              </a:spcAft>
              <a:buNone/>
            </a:pPr>
            <a:r>
              <a:rPr lang="en-US" altLang="ko-KR" sz="1500" b="0" dirty="0">
                <a:solidFill>
                  <a:srgbClr val="1F2328"/>
                </a:solidFill>
                <a:latin typeface="Calibri"/>
                <a:ea typeface="맑은 고딕"/>
                <a:cs typeface="Calibri"/>
              </a:rPr>
              <a:t>He then added, "Hmm, I think I may buy it. The legs of my table at home are broken. I can cut off the legs of your table and attach them to mine." </a:t>
            </a:r>
            <a:r>
              <a:rPr lang="ko-KR" altLang="en-US" sz="1600" b="1" dirty="0">
                <a:solidFill>
                  <a:srgbClr val="1E2A5A"/>
                </a:solidFill>
                <a:latin typeface="맑은 고딕"/>
                <a:ea typeface="맑은 고딕"/>
                <a:cs typeface="맑은 고딕"/>
              </a:rPr>
              <a:t>②</a:t>
            </a:r>
            <a:r>
              <a:rPr lang="en-US" altLang="ko-KR" sz="1500" b="0" dirty="0">
                <a:solidFill>
                  <a:srgbClr val="1F2328"/>
                </a:solidFill>
                <a:latin typeface="Calibri"/>
                <a:ea typeface="맑은 고딕"/>
                <a:cs typeface="Calibri"/>
              </a:rPr>
              <a:t> "How much?" Rummins asked. "Not much, I’m afraid. This is just a reproduction," said Mr. Boggis. </a:t>
            </a:r>
            <a:r>
              <a:rPr lang="ko-KR" altLang="en-US" sz="1600" b="1" dirty="0">
                <a:solidFill>
                  <a:srgbClr val="1E2A5A"/>
                </a:solidFill>
                <a:latin typeface="맑은 고딕"/>
                <a:ea typeface="맑은 고딕"/>
                <a:cs typeface="맑은 고딕"/>
              </a:rPr>
              <a:t>③</a:t>
            </a:r>
            <a:r>
              <a:rPr lang="en-US" altLang="ko-KR" sz="1500" b="0" dirty="0">
                <a:solidFill>
                  <a:srgbClr val="1F2328"/>
                </a:solidFill>
                <a:latin typeface="Calibri"/>
                <a:ea typeface="맑은 고딕"/>
                <a:cs typeface="Calibri"/>
              </a:rPr>
              <a:t> "So how much?" "Ten pounds." "Ten? It’s worth more than that." "How about fifteen?" "Make it fifty." "Well, thirty. This is my final offer." </a:t>
            </a:r>
            <a:r>
              <a:rPr lang="ko-KR" altLang="en-US" sz="1600" b="1" dirty="0">
                <a:solidFill>
                  <a:srgbClr val="1E2A5A"/>
                </a:solidFill>
                <a:latin typeface="맑은 고딕"/>
                <a:ea typeface="맑은 고딕"/>
                <a:cs typeface="맑은 고딕"/>
              </a:rPr>
              <a:t>④</a:t>
            </a:r>
            <a:r>
              <a:rPr lang="en-US" altLang="ko-KR" sz="1500" b="0" dirty="0">
                <a:solidFill>
                  <a:srgbClr val="1F2328"/>
                </a:solidFill>
                <a:latin typeface="Calibri"/>
                <a:ea typeface="맑은 고딕"/>
                <a:cs typeface="Calibri"/>
              </a:rPr>
              <a:t> "OK, it’s yours, but how are you going to take it? This thing will not go in a car!" </a:t>
            </a:r>
            <a:r>
              <a:rPr lang="ko-KR" altLang="en-US" sz="1600" b="1" dirty="0">
                <a:solidFill>
                  <a:srgbClr val="1E2A5A"/>
                </a:solidFill>
                <a:latin typeface="맑은 고딕"/>
                <a:ea typeface="맑은 고딕"/>
                <a:cs typeface="맑은 고딕"/>
              </a:rPr>
              <a:t>⑤</a:t>
            </a:r>
            <a:r>
              <a:rPr lang="en-US" altLang="ko-KR" sz="1500" b="0" dirty="0">
                <a:solidFill>
                  <a:srgbClr val="1F2328"/>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500" b="0" dirty="0">
              <a:solidFill>
                <a:srgbClr val="1F2328"/>
              </a:solidFill>
              <a:latin typeface="Calibri"/>
              <a:ea typeface="맑은 고딕"/>
              <a:cs typeface="Calibri"/>
            </a:endParaRPr>
          </a:p>
        </p:txBody>
      </p:sp>
      <p:sp>
        <p:nvSpPr>
          <p:cNvPr id="11" name="rv_pick"/>
          <p:cNvSpPr txBox="1"/>
          <p:nvPr/>
        </p:nvSpPr>
        <p:spPr>
          <a:xfrm>
            <a:off x="457200" y="1568958"/>
            <a:ext cx="11277295" cy="3157219"/>
          </a:xfrm>
          <a:prstGeom prst="rect">
            <a:avLst/>
          </a:prstGeom>
          <a:noFill/>
        </p:spPr>
        <p:txBody>
          <a:bodyPr wrap="square" lIns="201168" tIns="118872" rIns="201168" bIns="118872" anchor="t" rtlCol="0">
            <a:noAutofit/>
          </a:bodyPr>
          <a:lstStyle/>
          <a:p>
            <a:pPr algn="just">
              <a:lnSpc>
                <a:spcPts val="2270"/>
              </a:lnSpc>
              <a:spcBef>
                <a:spcPts val="0"/>
              </a:spcBef>
              <a:spcAft>
                <a:spcPts val="0"/>
              </a:spcAft>
              <a:buNone/>
            </a:pPr>
            <a:r>
              <a:rPr lang="en-US" altLang="ko-KR" sz="1500" b="0" dirty="0">
                <a:solidFill>
                  <a:srgbClr val="1F2328">
                    <a:alpha val="0"/>
                  </a:srgbClr>
                </a:solidFill>
                <a:latin typeface="Calibri"/>
                <a:ea typeface="맑은 고딕"/>
                <a:cs typeface="Calibri"/>
              </a:rPr>
              <a:t>He then added, "Hmm, I think I may buy it. The legs of my table at home are broken. I can cut off the legs of your table and attach them to mine." </a:t>
            </a:r>
            <a:r>
              <a:rPr lang="ko-KR" altLang="en-US" sz="1600" b="1" dirty="0">
                <a:solidFill>
                  <a:srgbClr val="1E2A5A">
                    <a:alpha val="0"/>
                  </a:srgbClr>
                </a:solidFill>
                <a:latin typeface="맑은 고딕"/>
                <a:ea typeface="맑은 고딕"/>
                <a:cs typeface="맑은 고딕"/>
              </a:rPr>
              <a:t>②</a:t>
            </a:r>
            <a:r>
              <a:rPr lang="en-US" altLang="ko-KR" sz="1500" b="0" dirty="0">
                <a:solidFill>
                  <a:srgbClr val="1F2328">
                    <a:alpha val="0"/>
                  </a:srgbClr>
                </a:solidFill>
                <a:latin typeface="Calibri"/>
                <a:ea typeface="맑은 고딕"/>
                <a:cs typeface="Calibri"/>
              </a:rPr>
              <a:t> "How much?" Rummins asked. "Not much, I’m afraid. This is just a reproduction," said Mr. Boggis. </a:t>
            </a:r>
            <a:r>
              <a:rPr lang="ko-KR" altLang="en-US" sz="1600" b="1" dirty="0">
                <a:solidFill>
                  <a:srgbClr val="1E2A5A">
                    <a:alpha val="0"/>
                  </a:srgbClr>
                </a:solidFill>
                <a:latin typeface="맑은 고딕"/>
                <a:ea typeface="맑은 고딕"/>
                <a:cs typeface="맑은 고딕"/>
              </a:rPr>
              <a:t>③</a:t>
            </a:r>
            <a:r>
              <a:rPr lang="en-US" altLang="ko-KR" sz="1500" b="0" dirty="0">
                <a:solidFill>
                  <a:srgbClr val="1F2328">
                    <a:alpha val="0"/>
                  </a:srgbClr>
                </a:solidFill>
                <a:latin typeface="Calibri"/>
                <a:ea typeface="맑은 고딕"/>
                <a:cs typeface="Calibri"/>
              </a:rPr>
              <a:t> "So how much?" "Ten pounds." "Ten? It’s worth more than that." "How about fifteen?" "Make it fifty." "Well, thirty. This is my final offer." </a:t>
            </a:r>
            <a:r>
              <a:rPr lang="ko-KR" altLang="en-US" sz="1600" b="1" dirty="0">
                <a:solidFill>
                  <a:srgbClr val="1E2A5A">
                    <a:alpha val="0"/>
                  </a:srgbClr>
                </a:solidFill>
                <a:latin typeface="맑은 고딕"/>
                <a:ea typeface="맑은 고딕"/>
                <a:cs typeface="맑은 고딕"/>
              </a:rPr>
              <a:t>④</a:t>
            </a:r>
            <a:r>
              <a:rPr lang="en-US" altLang="ko-KR" sz="1500" b="0" dirty="0">
                <a:solidFill>
                  <a:srgbClr val="1F2328">
                    <a:alpha val="0"/>
                  </a:srgbClr>
                </a:solidFill>
                <a:latin typeface="Calibri"/>
                <a:ea typeface="맑은 고딕"/>
                <a:cs typeface="Calibri"/>
              </a:rPr>
              <a:t> "OK, it’s yours, but how are you going to take it? This thing will not go in a car!" </a:t>
            </a:r>
            <a:r>
              <a:rPr lang="ko-KR" altLang="en-US" sz="1600" b="1" dirty="0">
                <a:solidFill>
                  <a:srgbClr val="C00000"/>
                </a:solidFill>
                <a:highlight>
                  <a:srgbClr val="F3F5F9"/>
                </a:highlight>
                <a:latin typeface="맑은 고딕"/>
                <a:ea typeface="맑은 고딕"/>
                <a:cs typeface="맑은 고딕"/>
              </a:rPr>
              <a:t>⑤</a:t>
            </a:r>
            <a:r>
              <a:rPr lang="en-US" altLang="ko-KR" sz="1500" b="0" dirty="0">
                <a:solidFill>
                  <a:srgbClr val="1F2328">
                    <a:alpha val="0"/>
                  </a:srgbClr>
                </a:solidFill>
                <a:latin typeface="Calibri"/>
                <a:ea typeface="맑은 고딕"/>
                <a:cs typeface="Calibri"/>
              </a:rPr>
              <a:t> On his way to the car, Mr. Boggis couldn’t help smiling. The table was what every dealer dreamed of. He couldn’t believe his luck. "Dad, what if this thing doesn’t go in his car? He might not pay you," said Bert. Rummins then had an idea. "What he wants is only the legs. Let’s cut the legs off for him," said Rummins. "Great idea!" said Bert. Bert then took out a saw and began to cut off the legs. When Mr. Boggis came back, the legs had been cut off. "Don’t worry, this was a favor. I won’t charge you for this," said Rummins. Mr. Boggis was so shocked that he couldn’t say anything.</a:t>
            </a:r>
            <a:endParaRPr lang="en-US" altLang="ko-KR" sz="1500" b="0" dirty="0">
              <a:solidFill>
                <a:srgbClr val="1F2328"/>
              </a:solidFill>
              <a:latin typeface="Calibri"/>
              <a:ea typeface="맑은 고딕"/>
              <a:cs typeface="Calibri"/>
            </a:endParaRPr>
          </a:p>
        </p:txBody>
      </p:sp>
      <p:sp>
        <p:nvSpPr>
          <p:cNvPr id="12" name="rv_answer"/>
          <p:cNvSpPr/>
          <p:nvPr/>
        </p:nvSpPr>
        <p:spPr>
          <a:xfrm>
            <a:off x="457200" y="483590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434838"/>
            <a:ext cx="11277295" cy="98424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어떻게 가져가냐는 물음에 'We’ll see'로 답하고 차를 가지러 나가야 ⑤ 뒤 'On his way to the car'가 이어진다. ⑤가 정답이다.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6개)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2003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solidFill>
                <a:latin typeface="맑은 고딕"/>
                <a:ea typeface="맑은 고딕"/>
                <a:cs typeface="맑은 고딕"/>
              </a:rPr>
              <a:t>①</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He then added, "Hmm, I think I may buy it. The legs of my table at home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are broken</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is broken</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I can cut off the legs of your table and attach them to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me</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mine</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"How much?" Rummins asked. "Not much, I’m afraid. This is just a reproduction," said Mr. Boggis.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"OK, it’s yours, but how are you going to take it? This thing will not go in a car!"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"We’ll see," Mr. Boggis said and went out to bring his car.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⑥</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On his way to the car, Mr. Boggis couldn’t help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smiling</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to smile</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⑦</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The table was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which</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what</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every dealer dreamed of. He couldn’t believe his luck.</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⑧</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"Dad, what if this thing doesn’t go in his car? He might not pay you," said Bert.</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⑨</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Rummins then had an idea. "What he wants is only the legs. Let’s cut the legs off for him," said Rummins.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⑩</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"Great idea!" said Bert. Bert then took out a saw and began to cut off the legs.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⑪</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When Mr. Boggis came back, the legs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had cut</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had been cut</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off.</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⑫</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"Don’t worry, this was a favor. I won’t charge you for this," said Rummins.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⑬</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Mr. Boggis was so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shocked</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shocking</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9" name="rv_g01"/>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0" name="rv_g02"/>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C00000"/>
                </a:solidFill>
                <a:highlight>
                  <a:srgbClr val="F3F5F9"/>
                </a:highlight>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1" name="rv_g03"/>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2" name="rv_g04"/>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C00000"/>
                </a:solidFill>
                <a:highlight>
                  <a:srgbClr val="F3F5F9"/>
                </a:highlight>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3" name="rv_g05"/>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C00000"/>
                </a:solidFill>
                <a:highlight>
                  <a:srgbClr val="F3F5F9"/>
                </a:highlight>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
        <p:nvSpPr>
          <p:cNvPr id="14" name="rv_g06"/>
          <p:cNvSpPr txBox="1"/>
          <p:nvPr/>
        </p:nvSpPr>
        <p:spPr>
          <a:xfrm>
            <a:off x="457200" y="950976"/>
            <a:ext cx="11277295" cy="520039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are broken</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is broken</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I can cut off the legs of your table and attach them to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me</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mine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yours,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to bring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smiling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to smile</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which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what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is only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had cut</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had been cut</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shocked</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shocking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that he couldn’t say anything.</a:t>
            </a:r>
            <a:endParaRPr lang="en-US" altLang="ko-KR" sz="17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L6-3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85114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solidFill>
                <a:latin typeface="맑은 고딕"/>
                <a:ea typeface="맑은 고딕"/>
                <a:cs typeface="맑은 고딕"/>
              </a:rPr>
              <a:t>①</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attach</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attaching</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them to mine."</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"How much?" Rummins asked. "Not much, I’m afraid. This is just a reproduction," said Mr. Boggis.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"OK, it’s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yours</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your</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but how are you going to take it? This thing will not go in a car!"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"We’ll see," Mr. Boggis said and went out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to bring</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bringing</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his car.</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⑥</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On his way to the car, Mr. Boggis couldn’t help smiling.</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⑦</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The table was what every dealer dreamed of. He couldn’t believe his luck.</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⑧</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"Dad, what if this thing doesn’t go in his car? He might not pay you," said Bert.</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⑨</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Rummins then had an idea. "What he wants </a:t>
            </a:r>
            <a:r>
              <a:rPr lang="en-US" altLang="ko-KR" sz="1700" b="1" dirty="0">
                <a:solidFill>
                  <a:srgbClr val="1F2328"/>
                </a:solidFill>
                <a:latin typeface="Calibri"/>
                <a:ea typeface="맑은 고딕"/>
                <a:cs typeface="Calibri"/>
              </a:rPr>
              <a:t>[ </a:t>
            </a:r>
            <a:r>
              <a:rPr lang="en-US" altLang="ko-KR" sz="1700" b="1" dirty="0">
                <a:solidFill>
                  <a:srgbClr val="1F2328"/>
                </a:solidFill>
                <a:latin typeface="Calibri"/>
                <a:ea typeface="맑은 고딕"/>
                <a:cs typeface="Calibri"/>
              </a:rPr>
              <a:t>is only</a:t>
            </a:r>
            <a:r>
              <a:rPr lang="en-US" altLang="ko-KR" sz="1700" b="1" dirty="0">
                <a:solidFill>
                  <a:srgbClr val="1F2328"/>
                </a:solidFill>
                <a:latin typeface="Calibri"/>
                <a:ea typeface="맑은 고딕"/>
                <a:cs typeface="Calibri"/>
              </a:rPr>
              <a:t> / </a:t>
            </a:r>
            <a:r>
              <a:rPr lang="en-US" altLang="ko-KR" sz="1700" b="1" dirty="0">
                <a:solidFill>
                  <a:srgbClr val="1F2328"/>
                </a:solidFill>
                <a:latin typeface="Calibri"/>
                <a:ea typeface="맑은 고딕"/>
                <a:cs typeface="Calibri"/>
              </a:rPr>
              <a:t>are only</a:t>
            </a:r>
            <a:r>
              <a:rPr lang="en-US" altLang="ko-KR" sz="1700" b="1"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 the legs. Let’s cut the legs off for him," said Rummins.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⑩</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"Great idea!" said Bert. Bert then took out a saw and began to cut off the legs.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⑪</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When Mr. Boggis came back, the legs had been cut off.</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⑫</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"Don’t worry, this was a favor. I won’t charge you for this," said Rummins.</a:t>
            </a:r>
            <a:r>
              <a:rPr lang="en-US" altLang="ko-KR" sz="1700" b="0" dirty="0">
                <a:solidFill>
                  <a:srgbClr val="1F2328"/>
                </a:solidFill>
                <a:latin typeface="Calibri"/>
                <a:ea typeface="맑은 고딕"/>
                <a:cs typeface="Calibri"/>
              </a:rPr>
              <a:t>   </a:t>
            </a:r>
            <a:r>
              <a:rPr lang="ko-KR" altLang="en-US" sz="1700" b="1" dirty="0">
                <a:solidFill>
                  <a:srgbClr val="1E2A5A"/>
                </a:solidFill>
                <a:latin typeface="맑은 고딕"/>
                <a:ea typeface="맑은 고딕"/>
                <a:cs typeface="맑은 고딕"/>
              </a:rPr>
              <a:t>⑬</a:t>
            </a:r>
            <a:r>
              <a:rPr lang="en-US" altLang="ko-KR" sz="1700" b="0" dirty="0">
                <a:solidFill>
                  <a:srgbClr val="1F2328"/>
                </a:solidFill>
                <a:latin typeface="Calibri"/>
                <a:ea typeface="맑은 고딕"/>
                <a:cs typeface="Calibri"/>
              </a:rPr>
              <a:t> </a:t>
            </a:r>
            <a:r>
              <a:rPr lang="en-US" altLang="ko-KR" sz="1700" b="0" dirty="0">
                <a:solidFill>
                  <a:srgbClr val="1F2328"/>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
        <p:nvSpPr>
          <p:cNvPr id="9" name="rv_g01"/>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attach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attaching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them to mine."</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yours</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your</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to bring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bringing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smiling.</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what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is only</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are only</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had been cut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
        <p:nvSpPr>
          <p:cNvPr id="10" name="rv_g02"/>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attach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attaching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them to mine."</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yours</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your</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to bring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bringing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smiling.</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what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is only</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are only</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had been cut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
        <p:nvSpPr>
          <p:cNvPr id="11" name="rv_g03"/>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attach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attaching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them to mine."</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yours</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your</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to bring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bringing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smiling.</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what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is only</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are only</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had been cut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
        <p:nvSpPr>
          <p:cNvPr id="12" name="rv_g04"/>
          <p:cNvSpPr txBox="1"/>
          <p:nvPr/>
        </p:nvSpPr>
        <p:spPr>
          <a:xfrm>
            <a:off x="457200" y="950976"/>
            <a:ext cx="11277295" cy="4851146"/>
          </a:xfrm>
          <a:prstGeom prst="rect">
            <a:avLst/>
          </a:prstGeom>
          <a:noFill/>
        </p:spPr>
        <p:txBody>
          <a:bodyPr wrap="square" lIns="228600" tIns="155448" rIns="228600" bIns="155448" anchor="t" rtlCol="0">
            <a:noAutofit/>
          </a:bodyPr>
          <a:lstStyle/>
          <a:p>
            <a:pPr algn="l">
              <a:lnSpc>
                <a:spcPts val="2750"/>
              </a:lnSpc>
              <a:spcBef>
                <a:spcPts val="0"/>
              </a:spcBef>
              <a:spcAft>
                <a:spcPts val="0"/>
              </a:spcAft>
              <a:buNone/>
            </a:pPr>
            <a:r>
              <a:rPr lang="ko-KR" altLang="en-US" sz="1700" b="1" dirty="0">
                <a:solidFill>
                  <a:srgbClr val="1E2A5A">
                    <a:alpha val="0"/>
                  </a:srgbClr>
                </a:solidFill>
                <a:latin typeface="맑은 고딕"/>
                <a:ea typeface="맑은 고딕"/>
                <a:cs typeface="맑은 고딕"/>
              </a:rPr>
              <a:t>①</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He then added, "Hmm, I think I may buy it. The legs of my table at home are broken. I can cut off the legs of your table and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attach</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attaching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them to mine."</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"How much?" Rummins asked. "Not much, I’m afraid. This is just a reproduction," said Mr. Boggis.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"So how much?" "Ten pounds." "Ten? It’s worth more than that." "How about fifteen?" "Make it fifty." "Well, thirty. This is my final offer."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"OK, it’s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yours</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your</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but how are you going to take it? This thing will not go in a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"We’ll see," Mr. Boggis said and went out </a:t>
            </a:r>
            <a:r>
              <a:rPr lang="en-US" altLang="ko-KR" sz="1700" b="1" dirty="0">
                <a:solidFill>
                  <a:srgbClr val="1F2328">
                    <a:alpha val="0"/>
                  </a:srgbClr>
                </a:solidFill>
                <a:latin typeface="Calibri"/>
                <a:ea typeface="맑은 고딕"/>
                <a:cs typeface="Calibri"/>
              </a:rPr>
              <a:t>[ </a:t>
            </a:r>
            <a:r>
              <a:rPr lang="en-US" altLang="ko-KR" sz="1700" b="1" dirty="0">
                <a:solidFill>
                  <a:srgbClr val="1F2328">
                    <a:alpha val="0"/>
                  </a:srgbClr>
                </a:solidFill>
                <a:latin typeface="Calibri"/>
                <a:ea typeface="맑은 고딕"/>
                <a:cs typeface="Calibri"/>
              </a:rPr>
              <a:t>to bring</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bringing</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his car.</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⑥</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On his way to the car, Mr. Boggis couldn’t help smiling.</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⑦</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The table was what every dealer dreamed of. He couldn’t believe his luck.</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⑧</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"Dad, what if this thing doesn’t go in his car? He might not pay you," said Bert.</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⑨</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Rummins then had an idea. "What he wants </a:t>
            </a:r>
            <a:r>
              <a:rPr lang="en-US" altLang="ko-KR" sz="1700" b="1" dirty="0">
                <a:solidFill>
                  <a:srgbClr val="1F2328">
                    <a:alpha val="0"/>
                  </a:srgbClr>
                </a:solidFill>
                <a:latin typeface="Calibri"/>
                <a:ea typeface="맑은 고딕"/>
                <a:cs typeface="Calibri"/>
              </a:rPr>
              <a:t>[ </a:t>
            </a:r>
            <a:r>
              <a:rPr lang="en-US" altLang="ko-KR" sz="1700" b="1" dirty="0">
                <a:solidFill>
                  <a:srgbClr val="C00000"/>
                </a:solidFill>
                <a:highlight>
                  <a:srgbClr val="F3F5F9"/>
                </a:highlight>
                <a:latin typeface="Calibri"/>
                <a:ea typeface="맑은 고딕"/>
                <a:cs typeface="Calibri"/>
              </a:rPr>
              <a:t>is only</a:t>
            </a:r>
            <a:r>
              <a:rPr lang="en-US" altLang="ko-KR" sz="1700" b="1" dirty="0">
                <a:solidFill>
                  <a:srgbClr val="1F2328">
                    <a:alpha val="0"/>
                  </a:srgbClr>
                </a:solidFill>
                <a:latin typeface="Calibri"/>
                <a:ea typeface="맑은 고딕"/>
                <a:cs typeface="Calibri"/>
              </a:rPr>
              <a:t> / </a:t>
            </a:r>
            <a:r>
              <a:rPr lang="en-US" altLang="ko-KR" sz="1700" b="1" dirty="0">
                <a:solidFill>
                  <a:srgbClr val="1F2328">
                    <a:alpha val="0"/>
                  </a:srgbClr>
                </a:solidFill>
                <a:latin typeface="Calibri"/>
                <a:ea typeface="맑은 고딕"/>
                <a:cs typeface="Calibri"/>
              </a:rPr>
              <a:t>are only</a:t>
            </a:r>
            <a:r>
              <a:rPr lang="en-US" altLang="ko-KR" sz="1700" b="1"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 the legs. Let’s cut the legs off for him,"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⑩</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"Great idea!" said Bert. Bert then took out a saw and began to cut off the legs.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⑪</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When Mr. Boggis came back, the legs had been cut off.</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⑫</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"Don’t worry, this was a favor. I won’t charge you for this," said Rummins.</a:t>
            </a:r>
            <a:r>
              <a:rPr lang="en-US" altLang="ko-KR" sz="1700" b="0" dirty="0">
                <a:solidFill>
                  <a:srgbClr val="1F2328">
                    <a:alpha val="0"/>
                  </a:srgbClr>
                </a:solidFill>
                <a:latin typeface="Calibri"/>
                <a:ea typeface="맑은 고딕"/>
                <a:cs typeface="Calibri"/>
              </a:rPr>
              <a:t>   </a:t>
            </a:r>
            <a:r>
              <a:rPr lang="ko-KR" altLang="en-US" sz="1700" b="1" dirty="0">
                <a:solidFill>
                  <a:srgbClr val="1E2A5A">
                    <a:alpha val="0"/>
                  </a:srgbClr>
                </a:solidFill>
                <a:latin typeface="맑은 고딕"/>
                <a:ea typeface="맑은 고딕"/>
                <a:cs typeface="맑은 고딕"/>
              </a:rPr>
              <a:t>⑬</a:t>
            </a:r>
            <a:r>
              <a:rPr lang="en-US" altLang="ko-KR" sz="1700" b="0" dirty="0">
                <a:solidFill>
                  <a:srgbClr val="1F2328">
                    <a:alpha val="0"/>
                  </a:srgbClr>
                </a:solidFill>
                <a:latin typeface="Calibri"/>
                <a:ea typeface="맑은 고딕"/>
                <a:cs typeface="Calibri"/>
              </a:rPr>
              <a:t> </a:t>
            </a:r>
            <a:r>
              <a:rPr lang="en-US" altLang="ko-KR" sz="1700" b="0" dirty="0">
                <a:solidFill>
                  <a:srgbClr val="1F2328">
                    <a:alpha val="0"/>
                  </a:srgbClr>
                </a:solidFill>
                <a:latin typeface="Calibri"/>
                <a:ea typeface="맑은 고딕"/>
                <a:cs typeface="Calibri"/>
              </a:rPr>
              <a:t>Mr. Boggis was so shocked that he couldn’t say anything.</a:t>
            </a:r>
            <a:endParaRPr lang="en-US" altLang="ko-KR" sz="17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4  </a:t>
            </a:r>
            <a:r>
              <a:rPr lang="ko-KR" altLang="en-US" sz="4000" b="1" dirty="0">
                <a:solidFill>
                  <a:srgbClr val="FFFFFF"/>
                </a:solidFill>
                <a:latin typeface="맑은 고딕"/>
                <a:ea typeface="맑은 고딕"/>
                <a:cs typeface="맑은 고딕"/>
              </a:rPr>
              <a:t>내용이해 T/F</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6</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L6-1  ·  L6-2  ·  L6-3</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본문 단락을 읽고, 우리말 진술이 본문과 일치하면 T, 아니면 F</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5문항의 정답(T/F)이 빨간색으로 한꺼번에 공개</a:t>
            </a:r>
            <a:endParaRPr lang="ko-KR" sz="160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① </a:t>
            </a:r>
            <a:r>
              <a:rPr lang="en-US" altLang="en-US" sz="1700" b="0" dirty="0">
                <a:solidFill>
                  <a:srgbClr val="1F2328"/>
                </a:solidFill>
                <a:latin typeface="Calibri"/>
                <a:ea typeface="맑은 고딕"/>
                <a:cs typeface="Calibri"/>
              </a:rPr>
              <a:t>Cyril Boggis was an antique furniture dealer in London. </a:t>
            </a:r>
            <a:r>
              <a:rPr lang="ko-KR" altLang="en-US" sz="1700" b="1" dirty="0">
                <a:solidFill>
                  <a:srgbClr val="1E2A5A"/>
                </a:solidFill>
                <a:latin typeface="맑은 고딕"/>
                <a:ea typeface="맑은 고딕"/>
                <a:cs typeface="맑은 고딕"/>
              </a:rPr>
              <a:t>② </a:t>
            </a:r>
            <a:r>
              <a:rPr lang="en-US" altLang="en-US" sz="1700" b="0" dirty="0">
                <a:solidFill>
                  <a:srgbClr val="1F2328"/>
                </a:solidFill>
                <a:latin typeface="Calibri"/>
                <a:ea typeface="맑은 고딕"/>
                <a:cs typeface="Calibri"/>
              </a:rPr>
              <a:t>He was known for buying good things at a low price and then selling them at a high price. </a:t>
            </a:r>
            <a:r>
              <a:rPr lang="ko-KR" altLang="en-US" sz="1700" b="1" dirty="0">
                <a:solidFill>
                  <a:srgbClr val="1E2A5A"/>
                </a:solidFill>
                <a:latin typeface="맑은 고딕"/>
                <a:ea typeface="맑은 고딕"/>
                <a:cs typeface="맑은 고딕"/>
              </a:rPr>
              <a:t>③ </a:t>
            </a:r>
            <a:r>
              <a:rPr lang="en-US" altLang="en-US" sz="1700" b="0" dirty="0">
                <a:solidFill>
                  <a:srgbClr val="1F2328"/>
                </a:solidFill>
                <a:latin typeface="Calibri"/>
                <a:ea typeface="맑은 고딕"/>
                <a:cs typeface="Calibri"/>
              </a:rPr>
              <a:t>People asked him where he had got the furniture, but he just said, "It’s a secret." </a:t>
            </a:r>
            <a:r>
              <a:rPr lang="ko-KR" altLang="en-US" sz="1700" b="1" dirty="0">
                <a:solidFill>
                  <a:srgbClr val="1E2A5A"/>
                </a:solidFill>
                <a:latin typeface="맑은 고딕"/>
                <a:ea typeface="맑은 고딕"/>
                <a:cs typeface="맑은 고딕"/>
              </a:rPr>
              <a:t>④ </a:t>
            </a:r>
            <a:r>
              <a:rPr lang="en-US" altLang="en-US" sz="1700" b="0" dirty="0">
                <a:solidFill>
                  <a:srgbClr val="1F2328"/>
                </a:solidFill>
                <a:latin typeface="Calibri"/>
                <a:ea typeface="맑은 고딕"/>
                <a:cs typeface="Calibri"/>
              </a:rPr>
              <a:t>Mr. Boggis’ secret was simple. He went to small towns every Sunday and knocked on doors. </a:t>
            </a:r>
            <a:r>
              <a:rPr lang="ko-KR" altLang="en-US" sz="1700" b="1" dirty="0">
                <a:solidFill>
                  <a:srgbClr val="1E2A5A"/>
                </a:solidFill>
                <a:latin typeface="맑은 고딕"/>
                <a:ea typeface="맑은 고딕"/>
                <a:cs typeface="맑은 고딕"/>
              </a:rPr>
              <a:t>⑤ </a:t>
            </a:r>
            <a:r>
              <a:rPr lang="en-US" altLang="en-US" sz="1700" b="0" dirty="0">
                <a:solidFill>
                  <a:srgbClr val="1F2328"/>
                </a:solidFill>
                <a:latin typeface="Calibri"/>
                <a:ea typeface="맑은 고딕"/>
                <a:cs typeface="Calibri"/>
              </a:rPr>
              <a:t>He told people that he was a furniture dealer. </a:t>
            </a:r>
            <a:r>
              <a:rPr lang="ko-KR" altLang="en-US" sz="1700" b="1" dirty="0">
                <a:solidFill>
                  <a:srgbClr val="1E2A5A"/>
                </a:solidFill>
                <a:latin typeface="맑은 고딕"/>
                <a:ea typeface="맑은 고딕"/>
                <a:cs typeface="맑은 고딕"/>
              </a:rPr>
              <a:t>⑥ </a:t>
            </a:r>
            <a:r>
              <a:rPr lang="en-US" altLang="en-US" sz="1700" b="0" dirty="0">
                <a:solidFill>
                  <a:srgbClr val="1F2328"/>
                </a:solidFill>
                <a:latin typeface="Calibri"/>
                <a:ea typeface="맑은 고딕"/>
                <a:cs typeface="Calibri"/>
              </a:rPr>
              <a:t>People didn’t know how valuable their things were, so Mr. Boggis took advantage of them. </a:t>
            </a:r>
            <a:r>
              <a:rPr lang="ko-KR" altLang="en-US" sz="1700" b="1" dirty="0">
                <a:solidFill>
                  <a:srgbClr val="1E2A5A"/>
                </a:solidFill>
                <a:latin typeface="맑은 고딕"/>
                <a:ea typeface="맑은 고딕"/>
                <a:cs typeface="맑은 고딕"/>
              </a:rPr>
              <a:t>⑦ </a:t>
            </a:r>
            <a:r>
              <a:rPr lang="en-US" altLang="en-US" sz="1700" b="0" dirty="0">
                <a:solidFill>
                  <a:srgbClr val="1F2328"/>
                </a:solidFill>
                <a:latin typeface="Calibri"/>
                <a:ea typeface="맑은 고딕"/>
                <a:cs typeface="Calibri"/>
              </a:rPr>
              <a:t>He was able to buy things very cheaply.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  </a:t>
            </a:r>
            <a:r>
              <a:rPr lang="ko-KR" altLang="en-US" sz="1900" b="0" dirty="0">
                <a:solidFill>
                  <a:srgbClr val="1F2328"/>
                </a:solidFill>
                <a:latin typeface="맑은 고딕"/>
                <a:ea typeface="맑은 고딕"/>
                <a:cs typeface="맑은 고딕"/>
              </a:rPr>
              <a:t>Cyril Boggis는 런던의 골동품 가구 판매상이었다.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  </a:t>
            </a:r>
            <a:r>
              <a:rPr lang="ko-KR" altLang="en-US" sz="1900" b="0" dirty="0">
                <a:solidFill>
                  <a:srgbClr val="1F2328"/>
                </a:solidFill>
                <a:latin typeface="맑은 고딕"/>
                <a:ea typeface="맑은 고딕"/>
                <a:cs typeface="맑은 고딕"/>
              </a:rPr>
              <a:t>Boggis는 물건을 비싸게 사서 싸게 파는 것으로 유명했다.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7" name="q_card_3"/>
          <p:cNvSpPr/>
          <p:nvPr/>
        </p:nvSpPr>
        <p:spPr>
          <a:xfrm>
            <a:off x="457200" y="4049014"/>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3.  </a:t>
            </a:r>
            <a:r>
              <a:rPr lang="ko-KR" altLang="en-US" sz="1900" b="0" dirty="0">
                <a:solidFill>
                  <a:srgbClr val="1F2328"/>
                </a:solidFill>
                <a:latin typeface="맑은 고딕"/>
                <a:ea typeface="맑은 고딕"/>
                <a:cs typeface="맑은 고딕"/>
              </a:rPr>
              <a:t>사람들은 Boggis에게 가구를 어디서 구했는지 물었다.</a:t>
            </a:r>
            <a:endParaRPr lang="ko-KR" sz="1900"/>
          </a:p>
        </p:txBody>
      </p:sp>
      <p:sp>
        <p:nvSpPr>
          <p:cNvPr id="19" name="tf_3"/>
          <p:cNvSpPr txBox="1"/>
          <p:nvPr/>
        </p:nvSpPr>
        <p:spPr>
          <a:xfrm>
            <a:off x="9765792" y="404901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588383"/>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58838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4.  </a:t>
            </a:r>
            <a:r>
              <a:rPr lang="ko-KR" altLang="en-US" sz="1900" b="0" dirty="0">
                <a:solidFill>
                  <a:srgbClr val="1F2328"/>
                </a:solidFill>
                <a:latin typeface="맑은 고딕"/>
                <a:ea typeface="맑은 고딕"/>
                <a:cs typeface="맑은 고딕"/>
              </a:rPr>
              <a:t>Boggis는 가구를 구한 곳을 사람들에게 자세히 알려 주었다.</a:t>
            </a:r>
            <a:endParaRPr lang="ko-KR" sz="1900"/>
          </a:p>
        </p:txBody>
      </p:sp>
      <p:sp>
        <p:nvSpPr>
          <p:cNvPr id="23" name="tf_4"/>
          <p:cNvSpPr txBox="1"/>
          <p:nvPr/>
        </p:nvSpPr>
        <p:spPr>
          <a:xfrm>
            <a:off x="9765792" y="458838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63410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127752"/>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12775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5.  </a:t>
            </a:r>
            <a:r>
              <a:rPr lang="ko-KR" altLang="en-US" sz="1900" b="0" dirty="0">
                <a:solidFill>
                  <a:srgbClr val="1F2328"/>
                </a:solidFill>
                <a:latin typeface="맑은 고딕"/>
                <a:ea typeface="맑은 고딕"/>
                <a:cs typeface="맑은 고딕"/>
              </a:rPr>
              <a:t>Boggis의 비밀은 단순했다.</a:t>
            </a:r>
            <a:endParaRPr lang="ko-KR" sz="1900"/>
          </a:p>
        </p:txBody>
      </p:sp>
      <p:sp>
        <p:nvSpPr>
          <p:cNvPr id="27" name="tf_5"/>
          <p:cNvSpPr txBox="1"/>
          <p:nvPr/>
        </p:nvSpPr>
        <p:spPr>
          <a:xfrm>
            <a:off x="9765792" y="512775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17347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1854708"/>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1854708"/>
          </a:xfrm>
          <a:prstGeom prst="rect">
            <a:avLst/>
          </a:prstGeom>
          <a:noFill/>
        </p:spPr>
        <p:txBody>
          <a:bodyPr wrap="square" lIns="182880" tIns="137160" rIns="182880" bIns="137160" anchor="t" rtlCol="0">
            <a:noAutofit/>
          </a:bodyPr>
          <a:lstStyle/>
          <a:p>
            <a:pPr algn="l">
              <a:lnSpc>
                <a:spcPts val="2074"/>
              </a:lnSpc>
              <a:spcBef>
                <a:spcPts val="0"/>
              </a:spcBef>
              <a:spcAft>
                <a:spcPts val="0"/>
              </a:spcAft>
              <a:buNone/>
            </a:pPr>
            <a:r>
              <a:rPr lang="ko-KR" altLang="en-US" sz="1700" b="1" dirty="0">
                <a:solidFill>
                  <a:srgbClr val="1E2A5A"/>
                </a:solidFill>
                <a:latin typeface="맑은 고딕"/>
                <a:ea typeface="맑은 고딕"/>
                <a:cs typeface="맑은 고딕"/>
              </a:rPr>
              <a:t>① </a:t>
            </a:r>
            <a:r>
              <a:rPr lang="en-US" altLang="en-US" sz="1700" b="0" dirty="0">
                <a:solidFill>
                  <a:srgbClr val="1F2328"/>
                </a:solidFill>
                <a:latin typeface="Calibri"/>
                <a:ea typeface="맑은 고딕"/>
                <a:cs typeface="Calibri"/>
              </a:rPr>
              <a:t>Cyril Boggis was an antique furniture dealer in London. </a:t>
            </a:r>
            <a:r>
              <a:rPr lang="ko-KR" altLang="en-US" sz="1700" b="1" dirty="0">
                <a:solidFill>
                  <a:srgbClr val="1E2A5A"/>
                </a:solidFill>
                <a:latin typeface="맑은 고딕"/>
                <a:ea typeface="맑은 고딕"/>
                <a:cs typeface="맑은 고딕"/>
              </a:rPr>
              <a:t>② </a:t>
            </a:r>
            <a:r>
              <a:rPr lang="en-US" altLang="en-US" sz="1700" b="0" dirty="0">
                <a:solidFill>
                  <a:srgbClr val="1F2328"/>
                </a:solidFill>
                <a:latin typeface="Calibri"/>
                <a:ea typeface="맑은 고딕"/>
                <a:cs typeface="Calibri"/>
              </a:rPr>
              <a:t>He was known for buying good things at a low price and then selling them at a high price. </a:t>
            </a:r>
            <a:r>
              <a:rPr lang="ko-KR" altLang="en-US" sz="1700" b="1" dirty="0">
                <a:solidFill>
                  <a:srgbClr val="1E2A5A"/>
                </a:solidFill>
                <a:latin typeface="맑은 고딕"/>
                <a:ea typeface="맑은 고딕"/>
                <a:cs typeface="맑은 고딕"/>
              </a:rPr>
              <a:t>③ </a:t>
            </a:r>
            <a:r>
              <a:rPr lang="en-US" altLang="en-US" sz="1700" b="0" dirty="0">
                <a:solidFill>
                  <a:srgbClr val="1F2328"/>
                </a:solidFill>
                <a:latin typeface="Calibri"/>
                <a:ea typeface="맑은 고딕"/>
                <a:cs typeface="Calibri"/>
              </a:rPr>
              <a:t>People asked him where he had got the furniture, but he just said, "It’s a secret." </a:t>
            </a:r>
            <a:r>
              <a:rPr lang="ko-KR" altLang="en-US" sz="1700" b="1" dirty="0">
                <a:solidFill>
                  <a:srgbClr val="1E2A5A"/>
                </a:solidFill>
                <a:latin typeface="맑은 고딕"/>
                <a:ea typeface="맑은 고딕"/>
                <a:cs typeface="맑은 고딕"/>
              </a:rPr>
              <a:t>④ </a:t>
            </a:r>
            <a:r>
              <a:rPr lang="en-US" altLang="en-US" sz="1700" b="0" dirty="0">
                <a:solidFill>
                  <a:srgbClr val="1F2328"/>
                </a:solidFill>
                <a:latin typeface="Calibri"/>
                <a:ea typeface="맑은 고딕"/>
                <a:cs typeface="Calibri"/>
              </a:rPr>
              <a:t>Mr. Boggis’ secret was simple. He went to small towns every Sunday and knocked on doors. </a:t>
            </a:r>
            <a:r>
              <a:rPr lang="ko-KR" altLang="en-US" sz="1700" b="1" dirty="0">
                <a:solidFill>
                  <a:srgbClr val="1E2A5A"/>
                </a:solidFill>
                <a:latin typeface="맑은 고딕"/>
                <a:ea typeface="맑은 고딕"/>
                <a:cs typeface="맑은 고딕"/>
              </a:rPr>
              <a:t>⑤ </a:t>
            </a:r>
            <a:r>
              <a:rPr lang="en-US" altLang="en-US" sz="1700" b="0" dirty="0">
                <a:solidFill>
                  <a:srgbClr val="1F2328"/>
                </a:solidFill>
                <a:latin typeface="Calibri"/>
                <a:ea typeface="맑은 고딕"/>
                <a:cs typeface="Calibri"/>
              </a:rPr>
              <a:t>He told people that he was a furniture dealer. </a:t>
            </a:r>
            <a:r>
              <a:rPr lang="ko-KR" altLang="en-US" sz="1700" b="1" dirty="0">
                <a:solidFill>
                  <a:srgbClr val="1E2A5A"/>
                </a:solidFill>
                <a:latin typeface="맑은 고딕"/>
                <a:ea typeface="맑은 고딕"/>
                <a:cs typeface="맑은 고딕"/>
              </a:rPr>
              <a:t>⑥ </a:t>
            </a:r>
            <a:r>
              <a:rPr lang="en-US" altLang="en-US" sz="1700" b="0" dirty="0">
                <a:solidFill>
                  <a:srgbClr val="1F2328"/>
                </a:solidFill>
                <a:latin typeface="Calibri"/>
                <a:ea typeface="맑은 고딕"/>
                <a:cs typeface="Calibri"/>
              </a:rPr>
              <a:t>People didn’t know how valuable their things were, so Mr. Boggis took advantage of them. </a:t>
            </a:r>
            <a:r>
              <a:rPr lang="ko-KR" altLang="en-US" sz="1700" b="1" dirty="0">
                <a:solidFill>
                  <a:srgbClr val="1E2A5A"/>
                </a:solidFill>
                <a:latin typeface="맑은 고딕"/>
                <a:ea typeface="맑은 고딕"/>
                <a:cs typeface="맑은 고딕"/>
              </a:rPr>
              <a:t>⑦ </a:t>
            </a:r>
            <a:r>
              <a:rPr lang="en-US" altLang="en-US" sz="1700" b="0" dirty="0">
                <a:solidFill>
                  <a:srgbClr val="1F2328"/>
                </a:solidFill>
                <a:latin typeface="Calibri"/>
                <a:ea typeface="맑은 고딕"/>
                <a:cs typeface="Calibri"/>
              </a:rPr>
              <a:t>He was able to buy things very cheaply. </a:t>
            </a:r>
            <a:endParaRPr lang="ko-KR" sz="1700"/>
          </a:p>
        </p:txBody>
      </p:sp>
      <p:sp>
        <p:nvSpPr>
          <p:cNvPr id="9" name="q_card_1"/>
          <p:cNvSpPr/>
          <p:nvPr/>
        </p:nvSpPr>
        <p:spPr>
          <a:xfrm>
            <a:off x="457200" y="2970276"/>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297027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6.  </a:t>
            </a:r>
            <a:r>
              <a:rPr lang="ko-KR" altLang="en-US" sz="1900" b="0" dirty="0">
                <a:solidFill>
                  <a:srgbClr val="1F2328"/>
                </a:solidFill>
                <a:latin typeface="맑은 고딕"/>
                <a:ea typeface="맑은 고딕"/>
                <a:cs typeface="맑은 고딕"/>
              </a:rPr>
              <a:t>Boggis는 매주 토요일에 큰 도시들을 방문했다.</a:t>
            </a:r>
            <a:endParaRPr lang="ko-KR" sz="1900"/>
          </a:p>
        </p:txBody>
      </p:sp>
      <p:sp>
        <p:nvSpPr>
          <p:cNvPr id="11" name="tf_1"/>
          <p:cNvSpPr txBox="1"/>
          <p:nvPr/>
        </p:nvSpPr>
        <p:spPr>
          <a:xfrm>
            <a:off x="9765792" y="297027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01599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3509645"/>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509645"/>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7.  </a:t>
            </a:r>
            <a:r>
              <a:rPr lang="ko-KR" altLang="en-US" sz="1900" b="0" dirty="0">
                <a:solidFill>
                  <a:srgbClr val="1F2328"/>
                </a:solidFill>
                <a:latin typeface="맑은 고딕"/>
                <a:ea typeface="맑은 고딕"/>
                <a:cs typeface="맑은 고딕"/>
              </a:rPr>
              <a:t>Boggis는 작은 마을에서 집집마다 문을 두드렸다.</a:t>
            </a:r>
            <a:endParaRPr lang="ko-KR" sz="1900"/>
          </a:p>
        </p:txBody>
      </p:sp>
      <p:sp>
        <p:nvSpPr>
          <p:cNvPr id="15" name="tf_2"/>
          <p:cNvSpPr txBox="1"/>
          <p:nvPr/>
        </p:nvSpPr>
        <p:spPr>
          <a:xfrm>
            <a:off x="9765792" y="3509645"/>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555365"/>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049014"/>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049014"/>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8.  </a:t>
            </a:r>
            <a:r>
              <a:rPr lang="ko-KR" altLang="en-US" sz="1900" b="0" dirty="0">
                <a:solidFill>
                  <a:srgbClr val="1F2328"/>
                </a:solidFill>
                <a:latin typeface="맑은 고딕"/>
                <a:ea typeface="맑은 고딕"/>
                <a:cs typeface="맑은 고딕"/>
              </a:rPr>
              <a:t>Boggis는 사람들에게 자신이 가구 판매상이라는 사실을 숨겼다.</a:t>
            </a:r>
            <a:endParaRPr lang="ko-KR" sz="1900"/>
          </a:p>
        </p:txBody>
      </p:sp>
      <p:sp>
        <p:nvSpPr>
          <p:cNvPr id="19" name="tf_3"/>
          <p:cNvSpPr txBox="1"/>
          <p:nvPr/>
        </p:nvSpPr>
        <p:spPr>
          <a:xfrm>
            <a:off x="9765792" y="4049014"/>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094734"/>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4588383"/>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58838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9.  </a:t>
            </a:r>
            <a:r>
              <a:rPr lang="ko-KR" altLang="en-US" sz="1900" b="0" dirty="0">
                <a:solidFill>
                  <a:srgbClr val="1F2328"/>
                </a:solidFill>
                <a:latin typeface="맑은 고딕"/>
                <a:ea typeface="맑은 고딕"/>
                <a:cs typeface="맑은 고딕"/>
              </a:rPr>
              <a:t>사람들은 자신의 물건이 얼마나 값진지 몰랐다.</a:t>
            </a:r>
            <a:endParaRPr lang="ko-KR" sz="1900"/>
          </a:p>
        </p:txBody>
      </p:sp>
      <p:sp>
        <p:nvSpPr>
          <p:cNvPr id="23" name="tf_4"/>
          <p:cNvSpPr txBox="1"/>
          <p:nvPr/>
        </p:nvSpPr>
        <p:spPr>
          <a:xfrm>
            <a:off x="9765792" y="458838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4634103"/>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127752"/>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12775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10.  </a:t>
            </a:r>
            <a:r>
              <a:rPr lang="ko-KR" altLang="en-US" sz="1900" b="0" dirty="0">
                <a:solidFill>
                  <a:srgbClr val="1F2328"/>
                </a:solidFill>
                <a:latin typeface="맑은 고딕"/>
                <a:ea typeface="맑은 고딕"/>
                <a:cs typeface="맑은 고딕"/>
              </a:rPr>
              <a:t>Boggis는 물건들을 매우 싸게 살 수 있었다.</a:t>
            </a:r>
            <a:endParaRPr lang="ko-KR" sz="1900"/>
          </a:p>
        </p:txBody>
      </p:sp>
      <p:sp>
        <p:nvSpPr>
          <p:cNvPr id="27" name="tf_5"/>
          <p:cNvSpPr txBox="1"/>
          <p:nvPr/>
        </p:nvSpPr>
        <p:spPr>
          <a:xfrm>
            <a:off x="9765792" y="512775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17347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257551"/>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257551"/>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⑧ </a:t>
            </a:r>
            <a:r>
              <a:rPr lang="en-US" altLang="en-US" sz="1600" b="0" dirty="0">
                <a:solidFill>
                  <a:srgbClr val="1F2328"/>
                </a:solidFill>
                <a:latin typeface="Calibri"/>
                <a:ea typeface="맑은 고딕"/>
                <a:cs typeface="Calibri"/>
              </a:rPr>
              <a:t>Now it was another Sunday, and Mr. Boggis was in a small town again. </a:t>
            </a:r>
            <a:r>
              <a:rPr lang="ko-KR" altLang="en-US" sz="1600" b="1" dirty="0">
                <a:solidFill>
                  <a:srgbClr val="1E2A5A"/>
                </a:solidFill>
                <a:latin typeface="맑은 고딕"/>
                <a:ea typeface="맑은 고딕"/>
                <a:cs typeface="맑은 고딕"/>
              </a:rPr>
              <a:t>⑨ </a:t>
            </a:r>
            <a:r>
              <a:rPr lang="en-US" altLang="en-US" sz="1600" b="0" dirty="0">
                <a:solidFill>
                  <a:srgbClr val="1F2328"/>
                </a:solidFill>
                <a:latin typeface="Calibri"/>
                <a:ea typeface="맑은 고딕"/>
                <a:cs typeface="Calibri"/>
              </a:rPr>
              <a:t>At a house he visited, he met two men. One was Rummins, the owner, and the other was his son Bert. </a:t>
            </a:r>
            <a:r>
              <a:rPr lang="ko-KR" altLang="en-US" sz="1600" b="1" dirty="0">
                <a:solidFill>
                  <a:srgbClr val="1E2A5A"/>
                </a:solidFill>
                <a:latin typeface="맑은 고딕"/>
                <a:ea typeface="맑은 고딕"/>
                <a:cs typeface="맑은 고딕"/>
              </a:rPr>
              <a:t>⑩ </a:t>
            </a:r>
            <a:r>
              <a:rPr lang="en-US" altLang="en-US" sz="1600" b="0" dirty="0">
                <a:solidFill>
                  <a:srgbClr val="1F2328"/>
                </a:solidFill>
                <a:latin typeface="Calibri"/>
                <a:ea typeface="맑은 고딕"/>
                <a:cs typeface="Calibri"/>
              </a:rPr>
              <a:t>"I buy old furniture. Do you have any?" asked Mr. Boggis. </a:t>
            </a:r>
            <a:r>
              <a:rPr lang="ko-KR" altLang="en-US" sz="1600" b="1" dirty="0">
                <a:solidFill>
                  <a:srgbClr val="1E2A5A"/>
                </a:solidFill>
                <a:latin typeface="맑은 고딕"/>
                <a:ea typeface="맑은 고딕"/>
                <a:cs typeface="맑은 고딕"/>
              </a:rPr>
              <a:t>⑪ </a:t>
            </a:r>
            <a:r>
              <a:rPr lang="en-US" altLang="en-US" sz="1600" b="0" dirty="0">
                <a:solidFill>
                  <a:srgbClr val="1F2328"/>
                </a:solidFill>
                <a:latin typeface="Calibri"/>
                <a:ea typeface="맑은 고딕"/>
                <a:cs typeface="Calibri"/>
              </a:rPr>
              <a:t>"No, I don’t," said Rummins. "Can I just take a look?" asked Mr. Boggis. </a:t>
            </a:r>
            <a:r>
              <a:rPr lang="ko-KR" altLang="en-US" sz="1600" b="1" dirty="0">
                <a:solidFill>
                  <a:srgbClr val="1E2A5A"/>
                </a:solidFill>
                <a:latin typeface="맑은 고딕"/>
                <a:ea typeface="맑은 고딕"/>
                <a:cs typeface="맑은 고딕"/>
              </a:rPr>
              <a:t>⑫ </a:t>
            </a:r>
            <a:r>
              <a:rPr lang="en-US" altLang="en-US" sz="1600" b="0" dirty="0">
                <a:solidFill>
                  <a:srgbClr val="1F2328"/>
                </a:solidFill>
                <a:latin typeface="Calibri"/>
                <a:ea typeface="맑은 고딕"/>
                <a:cs typeface="Calibri"/>
              </a:rPr>
              <a:t>"Sure. Please come in," said Rummins. </a:t>
            </a:r>
            <a:r>
              <a:rPr lang="ko-KR" altLang="en-US" sz="1600" b="1" dirty="0">
                <a:solidFill>
                  <a:srgbClr val="1E2A5A"/>
                </a:solidFill>
                <a:latin typeface="맑은 고딕"/>
                <a:ea typeface="맑은 고딕"/>
                <a:cs typeface="맑은 고딕"/>
              </a:rPr>
              <a:t>⑬ </a:t>
            </a:r>
            <a:r>
              <a:rPr lang="en-US" altLang="en-US" sz="1600" b="0" dirty="0">
                <a:solidFill>
                  <a:srgbClr val="1F2328"/>
                </a:solidFill>
                <a:latin typeface="Calibri"/>
                <a:ea typeface="맑은 고딕"/>
                <a:cs typeface="Calibri"/>
              </a:rPr>
              <a:t>Mr. Boggis first went to the kitchen, and there was nothing. </a:t>
            </a:r>
            <a:r>
              <a:rPr lang="ko-KR" altLang="en-US" sz="1600" b="1" dirty="0">
                <a:solidFill>
                  <a:srgbClr val="1E2A5A"/>
                </a:solidFill>
                <a:latin typeface="맑은 고딕"/>
                <a:ea typeface="맑은 고딕"/>
                <a:cs typeface="맑은 고딕"/>
              </a:rPr>
              <a:t>⑭ </a:t>
            </a:r>
            <a:r>
              <a:rPr lang="en-US" altLang="en-US" sz="1600" b="0" dirty="0">
                <a:solidFill>
                  <a:srgbClr val="1F2328"/>
                </a:solidFill>
                <a:latin typeface="Calibri"/>
                <a:ea typeface="맑은 고딕"/>
                <a:cs typeface="Calibri"/>
              </a:rPr>
              <a:t>He then moved to the living room. And there it was! </a:t>
            </a:r>
            <a:r>
              <a:rPr lang="ko-KR" altLang="en-US" sz="1600" b="1" dirty="0">
                <a:solidFill>
                  <a:srgbClr val="1E2A5A"/>
                </a:solidFill>
                <a:latin typeface="맑은 고딕"/>
                <a:ea typeface="맑은 고딕"/>
                <a:cs typeface="맑은 고딕"/>
              </a:rPr>
              <a:t>⑮ </a:t>
            </a:r>
            <a:r>
              <a:rPr lang="en-US" altLang="en-US" sz="1600" b="0" dirty="0">
                <a:solidFill>
                  <a:srgbClr val="1F2328"/>
                </a:solidFill>
                <a:latin typeface="Calibri"/>
                <a:ea typeface="맑은 고딕"/>
                <a:cs typeface="Calibri"/>
              </a:rPr>
              <a:t>A table which was a priceless piece of eighteenth‑century English furniture. </a:t>
            </a:r>
            <a:r>
              <a:rPr lang="ko-KR" altLang="en-US" sz="1600" b="1" dirty="0">
                <a:solidFill>
                  <a:srgbClr val="1E2A5A"/>
                </a:solidFill>
                <a:latin typeface="맑은 고딕"/>
                <a:ea typeface="맑은 고딕"/>
                <a:cs typeface="맑은 고딕"/>
              </a:rPr>
              <a:t>⑯ </a:t>
            </a:r>
            <a:r>
              <a:rPr lang="en-US" altLang="en-US" sz="1600" b="0" dirty="0">
                <a:solidFill>
                  <a:srgbClr val="1F2328"/>
                </a:solidFill>
                <a:latin typeface="Calibri"/>
                <a:ea typeface="맑은 고딕"/>
                <a:cs typeface="Calibri"/>
              </a:rPr>
              <a:t>He was so excited that he almost fell over. </a:t>
            </a:r>
            <a:r>
              <a:rPr lang="ko-KR" altLang="en-US" sz="1600" b="1" dirty="0">
                <a:solidFill>
                  <a:srgbClr val="1E2A5A"/>
                </a:solidFill>
                <a:latin typeface="맑은 고딕"/>
                <a:ea typeface="맑은 고딕"/>
                <a:cs typeface="맑은 고딕"/>
              </a:rPr>
              <a:t>⑰ </a:t>
            </a:r>
            <a:r>
              <a:rPr lang="en-US" altLang="en-US" sz="1600" b="0" dirty="0">
                <a:solidFill>
                  <a:srgbClr val="1F2328"/>
                </a:solidFill>
                <a:latin typeface="Calibri"/>
                <a:ea typeface="맑은 고딕"/>
                <a:cs typeface="Calibri"/>
              </a:rPr>
              <a:t>"What’s wrong?" Bert asked. "Oh, nothing. Nothing at all," Mr. Boggis lied. </a:t>
            </a:r>
            <a:r>
              <a:rPr lang="ko-KR" altLang="en-US" sz="1600" b="1" dirty="0">
                <a:solidFill>
                  <a:srgbClr val="1E2A5A"/>
                </a:solidFill>
                <a:latin typeface="맑은 고딕"/>
                <a:ea typeface="맑은 고딕"/>
                <a:cs typeface="맑은 고딕"/>
              </a:rPr>
              <a:t>⑱ </a:t>
            </a:r>
            <a:r>
              <a:rPr lang="en-US" altLang="en-US" sz="1600" b="0" dirty="0">
                <a:solidFill>
                  <a:srgbClr val="1F2328"/>
                </a:solidFill>
                <a:latin typeface="Calibri"/>
                <a:ea typeface="맑은 고딕"/>
                <a:cs typeface="Calibri"/>
              </a:rPr>
              <a:t>He then said with a straight face, "This table is a reproduction. It’s worth only a few pounds." </a:t>
            </a:r>
            <a:endParaRPr lang="ko-KR" sz="1600"/>
          </a:p>
        </p:txBody>
      </p:sp>
      <p:sp>
        <p:nvSpPr>
          <p:cNvPr id="9" name="q_card_1"/>
          <p:cNvSpPr/>
          <p:nvPr/>
        </p:nvSpPr>
        <p:spPr>
          <a:xfrm>
            <a:off x="457200" y="3373120"/>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37312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11.  </a:t>
            </a:r>
            <a:r>
              <a:rPr lang="ko-KR" altLang="en-US" sz="1900" b="0" dirty="0">
                <a:solidFill>
                  <a:srgbClr val="1F2328"/>
                </a:solidFill>
                <a:latin typeface="맑은 고딕"/>
                <a:ea typeface="맑은 고딕"/>
                <a:cs typeface="맑은 고딕"/>
              </a:rPr>
              <a:t>Boggis는 또 다른 일요일에 다시 작은 마을에 있었다.</a:t>
            </a:r>
            <a:endParaRPr lang="ko-KR" sz="1900"/>
          </a:p>
        </p:txBody>
      </p:sp>
      <p:sp>
        <p:nvSpPr>
          <p:cNvPr id="11" name="tf_1"/>
          <p:cNvSpPr txBox="1"/>
          <p:nvPr/>
        </p:nvSpPr>
        <p:spPr>
          <a:xfrm>
            <a:off x="9765792" y="337312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418839"/>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3" name="q_card_2"/>
          <p:cNvSpPr/>
          <p:nvPr/>
        </p:nvSpPr>
        <p:spPr>
          <a:xfrm>
            <a:off x="457200" y="3912488"/>
            <a:ext cx="11274552" cy="767842"/>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912488"/>
            <a:ext cx="9171432" cy="767842"/>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12.  </a:t>
            </a:r>
            <a:r>
              <a:rPr lang="ko-KR" altLang="en-US" sz="1900" b="0" dirty="0">
                <a:solidFill>
                  <a:srgbClr val="1F2328"/>
                </a:solidFill>
                <a:latin typeface="맑은 고딕"/>
                <a:ea typeface="맑은 고딕"/>
                <a:cs typeface="맑은 고딕"/>
              </a:rPr>
              <a:t>Boggis가 방문한 집에서 만난 두 남자는 집주인 Rummins와 그의 아들 Bert였다.</a:t>
            </a:r>
            <a:endParaRPr lang="ko-KR" sz="1900"/>
          </a:p>
        </p:txBody>
      </p:sp>
      <p:sp>
        <p:nvSpPr>
          <p:cNvPr id="15" name="tf_2"/>
          <p:cNvSpPr txBox="1"/>
          <p:nvPr/>
        </p:nvSpPr>
        <p:spPr>
          <a:xfrm>
            <a:off x="9765792" y="3912488"/>
            <a:ext cx="1828800" cy="767842"/>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958208"/>
            <a:ext cx="1828800" cy="6764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753483"/>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753483"/>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13.  </a:t>
            </a:r>
            <a:r>
              <a:rPr lang="ko-KR" altLang="en-US" sz="1900" b="0" dirty="0">
                <a:solidFill>
                  <a:srgbClr val="1F2328"/>
                </a:solidFill>
                <a:latin typeface="맑은 고딕"/>
                <a:ea typeface="맑은 고딕"/>
                <a:cs typeface="맑은 고딕"/>
              </a:rPr>
              <a:t>Rummins는 고가구가 있다고 대답했다.</a:t>
            </a:r>
            <a:endParaRPr lang="ko-KR" sz="1900"/>
          </a:p>
        </p:txBody>
      </p:sp>
      <p:sp>
        <p:nvSpPr>
          <p:cNvPr id="19" name="tf_3"/>
          <p:cNvSpPr txBox="1"/>
          <p:nvPr/>
        </p:nvSpPr>
        <p:spPr>
          <a:xfrm>
            <a:off x="9765792" y="4753483"/>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79920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1" name="q_card_4"/>
          <p:cNvSpPr/>
          <p:nvPr/>
        </p:nvSpPr>
        <p:spPr>
          <a:xfrm>
            <a:off x="457200" y="5292852"/>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292852"/>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14.  </a:t>
            </a:r>
            <a:r>
              <a:rPr lang="ko-KR" altLang="en-US" sz="1900" b="0" dirty="0">
                <a:solidFill>
                  <a:srgbClr val="1F2328"/>
                </a:solidFill>
                <a:latin typeface="맑은 고딕"/>
                <a:ea typeface="맑은 고딕"/>
                <a:cs typeface="맑은 고딕"/>
              </a:rPr>
              <a:t>Boggis는 집 안을 둘러봐도 되는지 물었다.</a:t>
            </a:r>
            <a:endParaRPr lang="ko-KR" sz="1900"/>
          </a:p>
        </p:txBody>
      </p:sp>
      <p:sp>
        <p:nvSpPr>
          <p:cNvPr id="23" name="tf_4"/>
          <p:cNvSpPr txBox="1"/>
          <p:nvPr/>
        </p:nvSpPr>
        <p:spPr>
          <a:xfrm>
            <a:off x="9765792" y="5292852"/>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338572"/>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5" name="q_card_5"/>
          <p:cNvSpPr/>
          <p:nvPr/>
        </p:nvSpPr>
        <p:spPr>
          <a:xfrm>
            <a:off x="457200" y="5832221"/>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832221"/>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15.  </a:t>
            </a:r>
            <a:r>
              <a:rPr lang="ko-KR" altLang="en-US" sz="1900" b="0" dirty="0">
                <a:solidFill>
                  <a:srgbClr val="1F2328"/>
                </a:solidFill>
                <a:latin typeface="맑은 고딕"/>
                <a:ea typeface="맑은 고딕"/>
                <a:cs typeface="맑은 고딕"/>
              </a:rPr>
              <a:t>Rummins는 Boggis가 집에 들어오는 것을 거절했다.</a:t>
            </a:r>
            <a:endParaRPr lang="ko-KR" sz="1900"/>
          </a:p>
        </p:txBody>
      </p:sp>
      <p:sp>
        <p:nvSpPr>
          <p:cNvPr id="27" name="tf_5"/>
          <p:cNvSpPr txBox="1"/>
          <p:nvPr/>
        </p:nvSpPr>
        <p:spPr>
          <a:xfrm>
            <a:off x="9765792" y="5832221"/>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877941"/>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257551"/>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257551"/>
          </a:xfrm>
          <a:prstGeom prst="rect">
            <a:avLst/>
          </a:prstGeom>
          <a:noFill/>
        </p:spPr>
        <p:txBody>
          <a:bodyPr wrap="square" lIns="182880" tIns="137160" rIns="182880" bIns="137160" anchor="t" rtlCol="0">
            <a:noAutofit/>
          </a:bodyPr>
          <a:lstStyle/>
          <a:p>
            <a:pPr algn="l">
              <a:lnSpc>
                <a:spcPts val="1952"/>
              </a:lnSpc>
              <a:spcBef>
                <a:spcPts val="0"/>
              </a:spcBef>
              <a:spcAft>
                <a:spcPts val="0"/>
              </a:spcAft>
              <a:buNone/>
            </a:pPr>
            <a:r>
              <a:rPr lang="ko-KR" altLang="en-US" sz="1600" b="1" dirty="0">
                <a:solidFill>
                  <a:srgbClr val="1E2A5A"/>
                </a:solidFill>
                <a:latin typeface="맑은 고딕"/>
                <a:ea typeface="맑은 고딕"/>
                <a:cs typeface="맑은 고딕"/>
              </a:rPr>
              <a:t>⑧ </a:t>
            </a:r>
            <a:r>
              <a:rPr lang="en-US" altLang="en-US" sz="1600" b="0" dirty="0">
                <a:solidFill>
                  <a:srgbClr val="1F2328"/>
                </a:solidFill>
                <a:latin typeface="Calibri"/>
                <a:ea typeface="맑은 고딕"/>
                <a:cs typeface="Calibri"/>
              </a:rPr>
              <a:t>Now it was another Sunday, and Mr. Boggis was in a small town again. </a:t>
            </a:r>
            <a:r>
              <a:rPr lang="ko-KR" altLang="en-US" sz="1600" b="1" dirty="0">
                <a:solidFill>
                  <a:srgbClr val="1E2A5A"/>
                </a:solidFill>
                <a:latin typeface="맑은 고딕"/>
                <a:ea typeface="맑은 고딕"/>
                <a:cs typeface="맑은 고딕"/>
              </a:rPr>
              <a:t>⑨ </a:t>
            </a:r>
            <a:r>
              <a:rPr lang="en-US" altLang="en-US" sz="1600" b="0" dirty="0">
                <a:solidFill>
                  <a:srgbClr val="1F2328"/>
                </a:solidFill>
                <a:latin typeface="Calibri"/>
                <a:ea typeface="맑은 고딕"/>
                <a:cs typeface="Calibri"/>
              </a:rPr>
              <a:t>At a house he visited, he met two men. One was Rummins, the owner, and the other was his son Bert. </a:t>
            </a:r>
            <a:r>
              <a:rPr lang="ko-KR" altLang="en-US" sz="1600" b="1" dirty="0">
                <a:solidFill>
                  <a:srgbClr val="1E2A5A"/>
                </a:solidFill>
                <a:latin typeface="맑은 고딕"/>
                <a:ea typeface="맑은 고딕"/>
                <a:cs typeface="맑은 고딕"/>
              </a:rPr>
              <a:t>⑩ </a:t>
            </a:r>
            <a:r>
              <a:rPr lang="en-US" altLang="en-US" sz="1600" b="0" dirty="0">
                <a:solidFill>
                  <a:srgbClr val="1F2328"/>
                </a:solidFill>
                <a:latin typeface="Calibri"/>
                <a:ea typeface="맑은 고딕"/>
                <a:cs typeface="Calibri"/>
              </a:rPr>
              <a:t>"I buy old furniture. Do you have any?" asked Mr. Boggis. </a:t>
            </a:r>
            <a:r>
              <a:rPr lang="ko-KR" altLang="en-US" sz="1600" b="1" dirty="0">
                <a:solidFill>
                  <a:srgbClr val="1E2A5A"/>
                </a:solidFill>
                <a:latin typeface="맑은 고딕"/>
                <a:ea typeface="맑은 고딕"/>
                <a:cs typeface="맑은 고딕"/>
              </a:rPr>
              <a:t>⑪ </a:t>
            </a:r>
            <a:r>
              <a:rPr lang="en-US" altLang="en-US" sz="1600" b="0" dirty="0">
                <a:solidFill>
                  <a:srgbClr val="1F2328"/>
                </a:solidFill>
                <a:latin typeface="Calibri"/>
                <a:ea typeface="맑은 고딕"/>
                <a:cs typeface="Calibri"/>
              </a:rPr>
              <a:t>"No, I don’t," said Rummins. "Can I just take a look?" asked Mr. Boggis. </a:t>
            </a:r>
            <a:r>
              <a:rPr lang="ko-KR" altLang="en-US" sz="1600" b="1" dirty="0">
                <a:solidFill>
                  <a:srgbClr val="1E2A5A"/>
                </a:solidFill>
                <a:latin typeface="맑은 고딕"/>
                <a:ea typeface="맑은 고딕"/>
                <a:cs typeface="맑은 고딕"/>
              </a:rPr>
              <a:t>⑫ </a:t>
            </a:r>
            <a:r>
              <a:rPr lang="en-US" altLang="en-US" sz="1600" b="0" dirty="0">
                <a:solidFill>
                  <a:srgbClr val="1F2328"/>
                </a:solidFill>
                <a:latin typeface="Calibri"/>
                <a:ea typeface="맑은 고딕"/>
                <a:cs typeface="Calibri"/>
              </a:rPr>
              <a:t>"Sure. Please come in," said Rummins. </a:t>
            </a:r>
            <a:r>
              <a:rPr lang="ko-KR" altLang="en-US" sz="1600" b="1" dirty="0">
                <a:solidFill>
                  <a:srgbClr val="1E2A5A"/>
                </a:solidFill>
                <a:latin typeface="맑은 고딕"/>
                <a:ea typeface="맑은 고딕"/>
                <a:cs typeface="맑은 고딕"/>
              </a:rPr>
              <a:t>⑬ </a:t>
            </a:r>
            <a:r>
              <a:rPr lang="en-US" altLang="en-US" sz="1600" b="0" dirty="0">
                <a:solidFill>
                  <a:srgbClr val="1F2328"/>
                </a:solidFill>
                <a:latin typeface="Calibri"/>
                <a:ea typeface="맑은 고딕"/>
                <a:cs typeface="Calibri"/>
              </a:rPr>
              <a:t>Mr. Boggis first went to the kitchen, and there was nothing. </a:t>
            </a:r>
            <a:r>
              <a:rPr lang="ko-KR" altLang="en-US" sz="1600" b="1" dirty="0">
                <a:solidFill>
                  <a:srgbClr val="1E2A5A"/>
                </a:solidFill>
                <a:latin typeface="맑은 고딕"/>
                <a:ea typeface="맑은 고딕"/>
                <a:cs typeface="맑은 고딕"/>
              </a:rPr>
              <a:t>⑭ </a:t>
            </a:r>
            <a:r>
              <a:rPr lang="en-US" altLang="en-US" sz="1600" b="0" dirty="0">
                <a:solidFill>
                  <a:srgbClr val="1F2328"/>
                </a:solidFill>
                <a:latin typeface="Calibri"/>
                <a:ea typeface="맑은 고딕"/>
                <a:cs typeface="Calibri"/>
              </a:rPr>
              <a:t>He then moved to the living room. And there it was! </a:t>
            </a:r>
            <a:r>
              <a:rPr lang="ko-KR" altLang="en-US" sz="1600" b="1" dirty="0">
                <a:solidFill>
                  <a:srgbClr val="1E2A5A"/>
                </a:solidFill>
                <a:latin typeface="맑은 고딕"/>
                <a:ea typeface="맑은 고딕"/>
                <a:cs typeface="맑은 고딕"/>
              </a:rPr>
              <a:t>⑮ </a:t>
            </a:r>
            <a:r>
              <a:rPr lang="en-US" altLang="en-US" sz="1600" b="0" dirty="0">
                <a:solidFill>
                  <a:srgbClr val="1F2328"/>
                </a:solidFill>
                <a:latin typeface="Calibri"/>
                <a:ea typeface="맑은 고딕"/>
                <a:cs typeface="Calibri"/>
              </a:rPr>
              <a:t>A table which was a priceless piece of eighteenth‑century English furniture. </a:t>
            </a:r>
            <a:r>
              <a:rPr lang="ko-KR" altLang="en-US" sz="1600" b="1" dirty="0">
                <a:solidFill>
                  <a:srgbClr val="1E2A5A"/>
                </a:solidFill>
                <a:latin typeface="맑은 고딕"/>
                <a:ea typeface="맑은 고딕"/>
                <a:cs typeface="맑은 고딕"/>
              </a:rPr>
              <a:t>⑯ </a:t>
            </a:r>
            <a:r>
              <a:rPr lang="en-US" altLang="en-US" sz="1600" b="0" dirty="0">
                <a:solidFill>
                  <a:srgbClr val="1F2328"/>
                </a:solidFill>
                <a:latin typeface="Calibri"/>
                <a:ea typeface="맑은 고딕"/>
                <a:cs typeface="Calibri"/>
              </a:rPr>
              <a:t>He was so excited that he almost fell over. </a:t>
            </a:r>
            <a:r>
              <a:rPr lang="ko-KR" altLang="en-US" sz="1600" b="1" dirty="0">
                <a:solidFill>
                  <a:srgbClr val="1E2A5A"/>
                </a:solidFill>
                <a:latin typeface="맑은 고딕"/>
                <a:ea typeface="맑은 고딕"/>
                <a:cs typeface="맑은 고딕"/>
              </a:rPr>
              <a:t>⑰ </a:t>
            </a:r>
            <a:r>
              <a:rPr lang="en-US" altLang="en-US" sz="1600" b="0" dirty="0">
                <a:solidFill>
                  <a:srgbClr val="1F2328"/>
                </a:solidFill>
                <a:latin typeface="Calibri"/>
                <a:ea typeface="맑은 고딕"/>
                <a:cs typeface="Calibri"/>
              </a:rPr>
              <a:t>"What’s wrong?" Bert asked. "Oh, nothing. Nothing at all," Mr. Boggis lied. </a:t>
            </a:r>
            <a:r>
              <a:rPr lang="ko-KR" altLang="en-US" sz="1600" b="1" dirty="0">
                <a:solidFill>
                  <a:srgbClr val="1E2A5A"/>
                </a:solidFill>
                <a:latin typeface="맑은 고딕"/>
                <a:ea typeface="맑은 고딕"/>
                <a:cs typeface="맑은 고딕"/>
              </a:rPr>
              <a:t>⑱ </a:t>
            </a:r>
            <a:r>
              <a:rPr lang="en-US" altLang="en-US" sz="1600" b="0" dirty="0">
                <a:solidFill>
                  <a:srgbClr val="1F2328"/>
                </a:solidFill>
                <a:latin typeface="Calibri"/>
                <a:ea typeface="맑은 고딕"/>
                <a:cs typeface="Calibri"/>
              </a:rPr>
              <a:t>He then said with a straight face, "This table is a reproduction. It’s worth only a few pounds." </a:t>
            </a:r>
            <a:endParaRPr lang="ko-KR" sz="1600"/>
          </a:p>
        </p:txBody>
      </p:sp>
      <p:sp>
        <p:nvSpPr>
          <p:cNvPr id="9" name="q_card_1"/>
          <p:cNvSpPr/>
          <p:nvPr/>
        </p:nvSpPr>
        <p:spPr>
          <a:xfrm>
            <a:off x="457200" y="3373120"/>
            <a:ext cx="11274552" cy="46621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373120"/>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16.  </a:t>
            </a:r>
            <a:r>
              <a:rPr lang="ko-KR" altLang="en-US" sz="1900" b="0" dirty="0">
                <a:solidFill>
                  <a:srgbClr val="1F2328"/>
                </a:solidFill>
                <a:latin typeface="맑은 고딕"/>
                <a:ea typeface="맑은 고딕"/>
                <a:cs typeface="맑은 고딕"/>
              </a:rPr>
              <a:t>Boggis는 부엌에서 귀중한 탁자를 발견했다.</a:t>
            </a:r>
            <a:endParaRPr lang="ko-KR" sz="1900"/>
          </a:p>
        </p:txBody>
      </p:sp>
      <p:sp>
        <p:nvSpPr>
          <p:cNvPr id="11" name="tf_1"/>
          <p:cNvSpPr txBox="1"/>
          <p:nvPr/>
        </p:nvSpPr>
        <p:spPr>
          <a:xfrm>
            <a:off x="9765792" y="3373120"/>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2" name="rv_ans_1"/>
          <p:cNvSpPr/>
          <p:nvPr/>
        </p:nvSpPr>
        <p:spPr>
          <a:xfrm>
            <a:off x="9765792" y="3418839"/>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13" name="q_card_2"/>
          <p:cNvSpPr/>
          <p:nvPr/>
        </p:nvSpPr>
        <p:spPr>
          <a:xfrm>
            <a:off x="457200" y="3912488"/>
            <a:ext cx="11274552" cy="46621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391248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17.  </a:t>
            </a:r>
            <a:r>
              <a:rPr lang="ko-KR" altLang="en-US" sz="1900" b="0" dirty="0">
                <a:solidFill>
                  <a:srgbClr val="1F2328"/>
                </a:solidFill>
                <a:latin typeface="맑은 고딕"/>
                <a:ea typeface="맑은 고딕"/>
                <a:cs typeface="맑은 고딕"/>
              </a:rPr>
              <a:t>거실에 있던 탁자는 18세기 영국 가구였다.</a:t>
            </a:r>
            <a:endParaRPr lang="ko-KR" sz="1900"/>
          </a:p>
        </p:txBody>
      </p:sp>
      <p:sp>
        <p:nvSpPr>
          <p:cNvPr id="15" name="tf_2"/>
          <p:cNvSpPr txBox="1"/>
          <p:nvPr/>
        </p:nvSpPr>
        <p:spPr>
          <a:xfrm>
            <a:off x="9765792" y="391248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16" name="rv_ans_2"/>
          <p:cNvSpPr/>
          <p:nvPr/>
        </p:nvSpPr>
        <p:spPr>
          <a:xfrm>
            <a:off x="9765792" y="395820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17" name="q_card_3"/>
          <p:cNvSpPr/>
          <p:nvPr/>
        </p:nvSpPr>
        <p:spPr>
          <a:xfrm>
            <a:off x="457200" y="4451858"/>
            <a:ext cx="11274552" cy="46621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451858"/>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18.  </a:t>
            </a:r>
            <a:r>
              <a:rPr lang="ko-KR" altLang="en-US" sz="1900" b="0" dirty="0">
                <a:solidFill>
                  <a:srgbClr val="1F2328"/>
                </a:solidFill>
                <a:latin typeface="맑은 고딕"/>
                <a:ea typeface="맑은 고딕"/>
                <a:cs typeface="맑은 고딕"/>
              </a:rPr>
              <a:t>Boggis는 너무 흥분해서 거의 넘어질 뻔했다.</a:t>
            </a:r>
            <a:endParaRPr lang="ko-KR" sz="1900"/>
          </a:p>
        </p:txBody>
      </p:sp>
      <p:sp>
        <p:nvSpPr>
          <p:cNvPr id="19" name="tf_3"/>
          <p:cNvSpPr txBox="1"/>
          <p:nvPr/>
        </p:nvSpPr>
        <p:spPr>
          <a:xfrm>
            <a:off x="9765792" y="4451858"/>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0" name="rv_ans_3"/>
          <p:cNvSpPr/>
          <p:nvPr/>
        </p:nvSpPr>
        <p:spPr>
          <a:xfrm>
            <a:off x="9765792" y="4497578"/>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T</a:t>
            </a:r>
            <a:endParaRPr lang="ko-KR" sz="2200"/>
          </a:p>
        </p:txBody>
      </p:sp>
      <p:sp>
        <p:nvSpPr>
          <p:cNvPr id="21" name="q_card_4"/>
          <p:cNvSpPr/>
          <p:nvPr/>
        </p:nvSpPr>
        <p:spPr>
          <a:xfrm>
            <a:off x="457200" y="4991227"/>
            <a:ext cx="11274552" cy="46621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4991227"/>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19.  </a:t>
            </a:r>
            <a:r>
              <a:rPr lang="ko-KR" altLang="en-US" sz="1900" b="0" dirty="0">
                <a:solidFill>
                  <a:srgbClr val="1F2328"/>
                </a:solidFill>
                <a:latin typeface="맑은 고딕"/>
                <a:ea typeface="맑은 고딕"/>
                <a:cs typeface="맑은 고딕"/>
              </a:rPr>
              <a:t>Bert가 무슨 일이냐고 묻자 Boggis는 솔직하게 사실을 말했다.</a:t>
            </a:r>
            <a:endParaRPr lang="ko-KR" sz="1900"/>
          </a:p>
        </p:txBody>
      </p:sp>
      <p:sp>
        <p:nvSpPr>
          <p:cNvPr id="23" name="tf_4"/>
          <p:cNvSpPr txBox="1"/>
          <p:nvPr/>
        </p:nvSpPr>
        <p:spPr>
          <a:xfrm>
            <a:off x="9765792" y="4991227"/>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4" name="rv_ans_4"/>
          <p:cNvSpPr/>
          <p:nvPr/>
        </p:nvSpPr>
        <p:spPr>
          <a:xfrm>
            <a:off x="9765792" y="5036947"/>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
        <p:nvSpPr>
          <p:cNvPr id="25" name="q_card_5"/>
          <p:cNvSpPr/>
          <p:nvPr/>
        </p:nvSpPr>
        <p:spPr>
          <a:xfrm>
            <a:off x="457200" y="5530596"/>
            <a:ext cx="11274552" cy="46621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530596"/>
            <a:ext cx="9171432" cy="466217"/>
          </a:xfrm>
          <a:prstGeom prst="rect">
            <a:avLst/>
          </a:prstGeom>
          <a:noFill/>
        </p:spPr>
        <p:txBody>
          <a:bodyPr wrap="square" lIns="109728" tIns="45720" rIns="109728" bIns="45720" anchor="ctr" rtlCol="0">
            <a:noAutofit/>
          </a:bodyPr>
          <a:lstStyle/>
          <a:p>
            <a:pPr algn="l">
              <a:lnSpc>
                <a:spcPts val="2375"/>
              </a:lnSpc>
              <a:spcBef>
                <a:spcPts val="0"/>
              </a:spcBef>
              <a:spcAft>
                <a:spcPts val="0"/>
              </a:spcAft>
              <a:buNone/>
            </a:pPr>
            <a:r>
              <a:rPr lang="en-US" altLang="en-US" sz="1900" b="1" dirty="0">
                <a:solidFill>
                  <a:srgbClr val="1E2A5A"/>
                </a:solidFill>
                <a:latin typeface="Calibri"/>
                <a:ea typeface="맑은 고딕"/>
                <a:cs typeface="Calibri"/>
              </a:rPr>
              <a:t>20.  </a:t>
            </a:r>
            <a:r>
              <a:rPr lang="ko-KR" altLang="en-US" sz="1900" b="0" dirty="0">
                <a:solidFill>
                  <a:srgbClr val="1F2328"/>
                </a:solidFill>
                <a:latin typeface="맑은 고딕"/>
                <a:ea typeface="맑은 고딕"/>
                <a:cs typeface="맑은 고딕"/>
              </a:rPr>
              <a:t>Boggis는 그 탁자가 수백 파운드의 가치가 있다고 말했다.</a:t>
            </a:r>
            <a:endParaRPr lang="ko-KR" sz="1900"/>
          </a:p>
        </p:txBody>
      </p:sp>
      <p:sp>
        <p:nvSpPr>
          <p:cNvPr id="27" name="tf_5"/>
          <p:cNvSpPr txBox="1"/>
          <p:nvPr/>
        </p:nvSpPr>
        <p:spPr>
          <a:xfrm>
            <a:off x="9765792" y="5530596"/>
            <a:ext cx="1828800" cy="466217"/>
          </a:xfrm>
          <a:prstGeom prst="rect">
            <a:avLst/>
          </a:prstGeom>
          <a:noFill/>
        </p:spPr>
        <p:txBody>
          <a:bodyPr wrap="square" lIns="18288" tIns="18288" rIns="18288" bIns="18288" anchor="ctr" rtlCol="0">
            <a:noAutofit/>
          </a:bodyPr>
          <a:lstStyle/>
          <a:p>
            <a:pPr algn="ctr">
              <a:lnSpc>
                <a:spcPts val="2375"/>
              </a:lnSpc>
              <a:spcBef>
                <a:spcPts val="0"/>
              </a:spcBef>
              <a:spcAft>
                <a:spcPts val="0"/>
              </a:spcAft>
              <a:buNone/>
            </a:pPr>
            <a:r>
              <a:rPr lang="en-US" altLang="en-US" sz="1900" b="1" dirty="0">
                <a:solidFill>
                  <a:srgbClr val="9AA3B5"/>
                </a:solidFill>
                <a:latin typeface="Calibri"/>
                <a:ea typeface="맑은 고딕"/>
                <a:cs typeface="Calibri"/>
              </a:rPr>
              <a:t>T   /   F</a:t>
            </a:r>
            <a:endParaRPr lang="ko-KR" sz="1900"/>
          </a:p>
        </p:txBody>
      </p:sp>
      <p:sp>
        <p:nvSpPr>
          <p:cNvPr id="28" name="rv_ans_5"/>
          <p:cNvSpPr/>
          <p:nvPr/>
        </p:nvSpPr>
        <p:spPr>
          <a:xfrm>
            <a:off x="9765792" y="5576316"/>
            <a:ext cx="1828800" cy="37477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640"/>
              </a:lnSpc>
              <a:spcBef>
                <a:spcPts val="0"/>
              </a:spcBef>
              <a:spcAft>
                <a:spcPts val="0"/>
              </a:spcAft>
              <a:buNone/>
            </a:pPr>
            <a:r>
              <a:rPr lang="en-US" altLang="en-US" sz="2200" b="1" dirty="0">
                <a:solidFill>
                  <a:srgbClr val="C00000"/>
                </a:solidFill>
                <a:latin typeface="Calibri"/>
                <a:ea typeface="맑은 고딕"/>
                <a:cs typeface="Calibri"/>
              </a:rPr>
              <a:t>F</a:t>
            </a:r>
            <a:endParaRPr lang="ko-K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443479"/>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443479"/>
          </a:xfrm>
          <a:prstGeom prst="rect">
            <a:avLst/>
          </a:prstGeom>
          <a:noFill/>
        </p:spPr>
        <p:txBody>
          <a:bodyPr wrap="square" lIns="182880" tIns="137160" rIns="182880" bIns="137160" anchor="t" rtlCol="0">
            <a:noAutofit/>
          </a:bodyPr>
          <a:lstStyle/>
          <a:p>
            <a:pPr algn="l">
              <a:lnSpc>
                <a:spcPts val="1707"/>
              </a:lnSpc>
              <a:spcBef>
                <a:spcPts val="0"/>
              </a:spcBef>
              <a:spcAft>
                <a:spcPts val="0"/>
              </a:spcAft>
              <a:buNone/>
            </a:pPr>
            <a:r>
              <a:rPr lang="ko-KR" altLang="en-US" sz="1400" b="1" dirty="0">
                <a:solidFill>
                  <a:srgbClr val="1E2A5A"/>
                </a:solidFill>
                <a:latin typeface="맑은 고딕"/>
                <a:ea typeface="맑은 고딕"/>
                <a:cs typeface="맑은 고딕"/>
              </a:rPr>
              <a:t>⑲ </a:t>
            </a:r>
            <a:r>
              <a:rPr lang="en-US" altLang="en-US" sz="1400" b="0" dirty="0">
                <a:solidFill>
                  <a:srgbClr val="1F2328"/>
                </a:solidFill>
                <a:latin typeface="Calibri"/>
                <a:ea typeface="맑은 고딕"/>
                <a:cs typeface="Calibri"/>
              </a:rPr>
              <a:t>He then added, "Hmm, I think I may buy it. The legs of my table at home are broken. I can cut off the legs of your table and attach them to mine." </a:t>
            </a:r>
            <a:r>
              <a:rPr lang="ko-KR" altLang="en-US" sz="1400" b="1" dirty="0">
                <a:solidFill>
                  <a:srgbClr val="1E2A5A"/>
                </a:solidFill>
                <a:latin typeface="맑은 고딕"/>
                <a:ea typeface="맑은 고딕"/>
                <a:cs typeface="맑은 고딕"/>
              </a:rPr>
              <a:t>⑳ </a:t>
            </a:r>
            <a:r>
              <a:rPr lang="en-US" altLang="en-US" sz="1400" b="0" dirty="0">
                <a:solidFill>
                  <a:srgbClr val="1F2328"/>
                </a:solidFill>
                <a:latin typeface="Calibri"/>
                <a:ea typeface="맑은 고딕"/>
                <a:cs typeface="Calibri"/>
              </a:rPr>
              <a:t>"How much?" Rummins asked. "Not much, I’m afraid. This is just a reproduction," said Mr. Boggis. </a:t>
            </a:r>
            <a:r>
              <a:rPr lang="en-US" altLang="en-US" sz="1400" b="1" dirty="0">
                <a:solidFill>
                  <a:srgbClr val="1E2A5A"/>
                </a:solidFill>
                <a:latin typeface="Calibri"/>
                <a:ea typeface="맑은 고딕"/>
                <a:cs typeface="Calibri"/>
              </a:rPr>
              <a:t>21. </a:t>
            </a:r>
            <a:r>
              <a:rPr lang="en-US" altLang="en-US" sz="1400" b="0" dirty="0">
                <a:solidFill>
                  <a:srgbClr val="1F2328"/>
                </a:solidFill>
                <a:latin typeface="Calibri"/>
                <a:ea typeface="맑은 고딕"/>
                <a:cs typeface="Calibri"/>
              </a:rPr>
              <a:t>"So how much?" "Ten pounds." "Ten? It’s worth more than that." "How about fifteen?" "Make it fifty." "Well, thirty. This is my final offer." </a:t>
            </a:r>
            <a:r>
              <a:rPr lang="en-US" altLang="en-US" sz="1400" b="1" dirty="0">
                <a:solidFill>
                  <a:srgbClr val="1E2A5A"/>
                </a:solidFill>
                <a:latin typeface="Calibri"/>
                <a:ea typeface="맑은 고딕"/>
                <a:cs typeface="Calibri"/>
              </a:rPr>
              <a:t>22. </a:t>
            </a:r>
            <a:r>
              <a:rPr lang="en-US" altLang="en-US" sz="1400" b="0" dirty="0">
                <a:solidFill>
                  <a:srgbClr val="1F2328"/>
                </a:solidFill>
                <a:latin typeface="Calibri"/>
                <a:ea typeface="맑은 고딕"/>
                <a:cs typeface="Calibri"/>
              </a:rPr>
              <a:t>"OK, it’s yours, but how are you going to take it? This thing will not go in a car!" </a:t>
            </a:r>
            <a:r>
              <a:rPr lang="en-US" altLang="en-US" sz="1400" b="1" dirty="0">
                <a:solidFill>
                  <a:srgbClr val="1E2A5A"/>
                </a:solidFill>
                <a:latin typeface="Calibri"/>
                <a:ea typeface="맑은 고딕"/>
                <a:cs typeface="Calibri"/>
              </a:rPr>
              <a:t>23. </a:t>
            </a:r>
            <a:r>
              <a:rPr lang="en-US" altLang="en-US" sz="1400" b="0" dirty="0">
                <a:solidFill>
                  <a:srgbClr val="1F2328"/>
                </a:solidFill>
                <a:latin typeface="Calibri"/>
                <a:ea typeface="맑은 고딕"/>
                <a:cs typeface="Calibri"/>
              </a:rPr>
              <a:t>"We’ll see," Mr. Boggis said and went out to bring his car. </a:t>
            </a:r>
            <a:r>
              <a:rPr lang="en-US" altLang="en-US" sz="1400" b="1" dirty="0">
                <a:solidFill>
                  <a:srgbClr val="1E2A5A"/>
                </a:solidFill>
                <a:latin typeface="Calibri"/>
                <a:ea typeface="맑은 고딕"/>
                <a:cs typeface="Calibri"/>
              </a:rPr>
              <a:t>24. </a:t>
            </a:r>
            <a:r>
              <a:rPr lang="en-US" altLang="en-US" sz="1400" b="0" dirty="0">
                <a:solidFill>
                  <a:srgbClr val="1F2328"/>
                </a:solidFill>
                <a:latin typeface="Calibri"/>
                <a:ea typeface="맑은 고딕"/>
                <a:cs typeface="Calibri"/>
              </a:rPr>
              <a:t>On his way to the car, Mr. Boggis couldn’t help smiling. </a:t>
            </a:r>
            <a:r>
              <a:rPr lang="en-US" altLang="en-US" sz="1400" b="1" dirty="0">
                <a:solidFill>
                  <a:srgbClr val="1E2A5A"/>
                </a:solidFill>
                <a:latin typeface="Calibri"/>
                <a:ea typeface="맑은 고딕"/>
                <a:cs typeface="Calibri"/>
              </a:rPr>
              <a:t>25. </a:t>
            </a:r>
            <a:r>
              <a:rPr lang="en-US" altLang="en-US" sz="1400" b="0" dirty="0">
                <a:solidFill>
                  <a:srgbClr val="1F2328"/>
                </a:solidFill>
                <a:latin typeface="Calibri"/>
                <a:ea typeface="맑은 고딕"/>
                <a:cs typeface="Calibri"/>
              </a:rPr>
              <a:t>The table was what every dealer dreamed of. He couldn’t believe his luck. </a:t>
            </a:r>
            <a:r>
              <a:rPr lang="en-US" altLang="en-US" sz="1400" b="1" dirty="0">
                <a:solidFill>
                  <a:srgbClr val="1E2A5A"/>
                </a:solidFill>
                <a:latin typeface="Calibri"/>
                <a:ea typeface="맑은 고딕"/>
                <a:cs typeface="Calibri"/>
              </a:rPr>
              <a:t>26. </a:t>
            </a:r>
            <a:r>
              <a:rPr lang="en-US" altLang="en-US" sz="1400" b="0" dirty="0">
                <a:solidFill>
                  <a:srgbClr val="1F2328"/>
                </a:solidFill>
                <a:latin typeface="Calibri"/>
                <a:ea typeface="맑은 고딕"/>
                <a:cs typeface="Calibri"/>
              </a:rPr>
              <a:t>"Dad, what if this thing doesn’t go in his car? He might not pay you," said Bert. </a:t>
            </a:r>
            <a:r>
              <a:rPr lang="en-US" altLang="en-US" sz="1400" b="1" dirty="0">
                <a:solidFill>
                  <a:srgbClr val="1E2A5A"/>
                </a:solidFill>
                <a:latin typeface="Calibri"/>
                <a:ea typeface="맑은 고딕"/>
                <a:cs typeface="Calibri"/>
              </a:rPr>
              <a:t>27. </a:t>
            </a:r>
            <a:r>
              <a:rPr lang="en-US" altLang="en-US" sz="1400" b="0" dirty="0">
                <a:solidFill>
                  <a:srgbClr val="1F2328"/>
                </a:solidFill>
                <a:latin typeface="Calibri"/>
                <a:ea typeface="맑은 고딕"/>
                <a:cs typeface="Calibri"/>
              </a:rPr>
              <a:t>Rummins then had an idea. "What he wants is only the legs. Let’s cut the legs off for him," said Rummins. </a:t>
            </a:r>
            <a:r>
              <a:rPr lang="en-US" altLang="en-US" sz="1400" b="1" dirty="0">
                <a:solidFill>
                  <a:srgbClr val="1E2A5A"/>
                </a:solidFill>
                <a:latin typeface="Calibri"/>
                <a:ea typeface="맑은 고딕"/>
                <a:cs typeface="Calibri"/>
              </a:rPr>
              <a:t>28. </a:t>
            </a:r>
            <a:r>
              <a:rPr lang="en-US" altLang="en-US" sz="1400" b="0" dirty="0">
                <a:solidFill>
                  <a:srgbClr val="1F2328"/>
                </a:solidFill>
                <a:latin typeface="Calibri"/>
                <a:ea typeface="맑은 고딕"/>
                <a:cs typeface="Calibri"/>
              </a:rPr>
              <a:t>"Great idea!" said Bert. Bert then took out a saw and began to cut off the legs. </a:t>
            </a:r>
            <a:r>
              <a:rPr lang="en-US" altLang="en-US" sz="1400" b="1" dirty="0">
                <a:solidFill>
                  <a:srgbClr val="1E2A5A"/>
                </a:solidFill>
                <a:latin typeface="Calibri"/>
                <a:ea typeface="맑은 고딕"/>
                <a:cs typeface="Calibri"/>
              </a:rPr>
              <a:t>29. </a:t>
            </a:r>
            <a:r>
              <a:rPr lang="en-US" altLang="en-US" sz="1400" b="0" dirty="0">
                <a:solidFill>
                  <a:srgbClr val="1F2328"/>
                </a:solidFill>
                <a:latin typeface="Calibri"/>
                <a:ea typeface="맑은 고딕"/>
                <a:cs typeface="Calibri"/>
              </a:rPr>
              <a:t>When Mr. Boggis came back, the legs had been cut off. </a:t>
            </a:r>
            <a:r>
              <a:rPr lang="en-US" altLang="en-US" sz="1400" b="1" dirty="0">
                <a:solidFill>
                  <a:srgbClr val="1E2A5A"/>
                </a:solidFill>
                <a:latin typeface="Calibri"/>
                <a:ea typeface="맑은 고딕"/>
                <a:cs typeface="Calibri"/>
              </a:rPr>
              <a:t>30. </a:t>
            </a:r>
            <a:r>
              <a:rPr lang="en-US" altLang="en-US" sz="1400" b="0" dirty="0">
                <a:solidFill>
                  <a:srgbClr val="1F2328"/>
                </a:solidFill>
                <a:latin typeface="Calibri"/>
                <a:ea typeface="맑은 고딕"/>
                <a:cs typeface="Calibri"/>
              </a:rPr>
              <a:t>"Don’t worry, this was a favor. I won’t charge you for this," said Rummins. </a:t>
            </a:r>
            <a:r>
              <a:rPr lang="en-US" altLang="en-US" sz="1400" b="1" dirty="0">
                <a:solidFill>
                  <a:srgbClr val="1E2A5A"/>
                </a:solidFill>
                <a:latin typeface="Calibri"/>
                <a:ea typeface="맑은 고딕"/>
                <a:cs typeface="Calibri"/>
              </a:rPr>
              <a:t>31. </a:t>
            </a:r>
            <a:r>
              <a:rPr lang="en-US" altLang="en-US" sz="1400" b="0" dirty="0">
                <a:solidFill>
                  <a:srgbClr val="1F2328"/>
                </a:solidFill>
                <a:latin typeface="Calibri"/>
                <a:ea typeface="맑은 고딕"/>
                <a:cs typeface="Calibri"/>
              </a:rPr>
              <a:t>Mr. Boggis was so shocked that he couldn’t say anything. </a:t>
            </a:r>
            <a:endParaRPr lang="ko-KR" sz="1400"/>
          </a:p>
        </p:txBody>
      </p:sp>
      <p:sp>
        <p:nvSpPr>
          <p:cNvPr id="9" name="q_card_1"/>
          <p:cNvSpPr/>
          <p:nvPr/>
        </p:nvSpPr>
        <p:spPr>
          <a:xfrm>
            <a:off x="457200" y="3559047"/>
            <a:ext cx="11274552" cy="43446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559047"/>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21.  </a:t>
            </a:r>
            <a:r>
              <a:rPr lang="ko-KR" altLang="en-US" sz="1700" b="0" dirty="0">
                <a:solidFill>
                  <a:srgbClr val="1F2328"/>
                </a:solidFill>
                <a:latin typeface="맑은 고딕"/>
                <a:ea typeface="맑은 고딕"/>
                <a:cs typeface="맑은 고딕"/>
              </a:rPr>
              <a:t>Boggis는 자기 집 탁자의 다리가 부러졌다고 말했다.</a:t>
            </a:r>
            <a:endParaRPr lang="ko-KR" sz="1700"/>
          </a:p>
        </p:txBody>
      </p:sp>
      <p:sp>
        <p:nvSpPr>
          <p:cNvPr id="11" name="tf_1"/>
          <p:cNvSpPr txBox="1"/>
          <p:nvPr/>
        </p:nvSpPr>
        <p:spPr>
          <a:xfrm>
            <a:off x="9765792" y="3559047"/>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12" name="rv_ans_1"/>
          <p:cNvSpPr/>
          <p:nvPr/>
        </p:nvSpPr>
        <p:spPr>
          <a:xfrm>
            <a:off x="9765792" y="3604767"/>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13" name="q_card_2"/>
          <p:cNvSpPr/>
          <p:nvPr/>
        </p:nvSpPr>
        <p:spPr>
          <a:xfrm>
            <a:off x="457200" y="4066666"/>
            <a:ext cx="11274552" cy="43446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066666"/>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22.  </a:t>
            </a:r>
            <a:r>
              <a:rPr lang="ko-KR" altLang="en-US" sz="1700" b="0" dirty="0">
                <a:solidFill>
                  <a:srgbClr val="1F2328"/>
                </a:solidFill>
                <a:latin typeface="맑은 고딕"/>
                <a:ea typeface="맑은 고딕"/>
                <a:cs typeface="맑은 고딕"/>
              </a:rPr>
              <a:t>Boggis는 탁자 전체를 자기 집 거실에 둘 것이라고 말했다.</a:t>
            </a:r>
            <a:endParaRPr lang="ko-KR" sz="1700"/>
          </a:p>
        </p:txBody>
      </p:sp>
      <p:sp>
        <p:nvSpPr>
          <p:cNvPr id="15" name="tf_2"/>
          <p:cNvSpPr txBox="1"/>
          <p:nvPr/>
        </p:nvSpPr>
        <p:spPr>
          <a:xfrm>
            <a:off x="9765792" y="4066666"/>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16" name="rv_ans_2"/>
          <p:cNvSpPr/>
          <p:nvPr/>
        </p:nvSpPr>
        <p:spPr>
          <a:xfrm>
            <a:off x="9765792" y="4112386"/>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F</a:t>
            </a:r>
            <a:endParaRPr lang="ko-KR" sz="2000"/>
          </a:p>
        </p:txBody>
      </p:sp>
      <p:sp>
        <p:nvSpPr>
          <p:cNvPr id="17" name="q_card_3"/>
          <p:cNvSpPr/>
          <p:nvPr/>
        </p:nvSpPr>
        <p:spPr>
          <a:xfrm>
            <a:off x="457200" y="4574286"/>
            <a:ext cx="11274552" cy="434467"/>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574286"/>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23.  </a:t>
            </a:r>
            <a:r>
              <a:rPr lang="ko-KR" altLang="en-US" sz="1700" b="0" dirty="0">
                <a:solidFill>
                  <a:srgbClr val="1F2328"/>
                </a:solidFill>
                <a:latin typeface="맑은 고딕"/>
                <a:ea typeface="맑은 고딕"/>
                <a:cs typeface="맑은 고딕"/>
              </a:rPr>
              <a:t>Boggis가 처음 제시한 가격은 10파운드였다.</a:t>
            </a:r>
            <a:endParaRPr lang="ko-KR" sz="1700"/>
          </a:p>
        </p:txBody>
      </p:sp>
      <p:sp>
        <p:nvSpPr>
          <p:cNvPr id="19" name="tf_3"/>
          <p:cNvSpPr txBox="1"/>
          <p:nvPr/>
        </p:nvSpPr>
        <p:spPr>
          <a:xfrm>
            <a:off x="9765792" y="4574286"/>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0" name="rv_ans_3"/>
          <p:cNvSpPr/>
          <p:nvPr/>
        </p:nvSpPr>
        <p:spPr>
          <a:xfrm>
            <a:off x="9765792" y="4620005"/>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21" name="q_card_4"/>
          <p:cNvSpPr/>
          <p:nvPr/>
        </p:nvSpPr>
        <p:spPr>
          <a:xfrm>
            <a:off x="457200" y="5081905"/>
            <a:ext cx="11274552" cy="43446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081905"/>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24.  </a:t>
            </a:r>
            <a:r>
              <a:rPr lang="ko-KR" altLang="en-US" sz="1700" b="0" dirty="0">
                <a:solidFill>
                  <a:srgbClr val="1F2328"/>
                </a:solidFill>
                <a:latin typeface="맑은 고딕"/>
                <a:ea typeface="맑은 고딕"/>
                <a:cs typeface="맑은 고딕"/>
              </a:rPr>
              <a:t>Rummins는 Boggis에게 100파운드를 요구했다.</a:t>
            </a:r>
            <a:endParaRPr lang="ko-KR" sz="1700"/>
          </a:p>
        </p:txBody>
      </p:sp>
      <p:sp>
        <p:nvSpPr>
          <p:cNvPr id="23" name="tf_4"/>
          <p:cNvSpPr txBox="1"/>
          <p:nvPr/>
        </p:nvSpPr>
        <p:spPr>
          <a:xfrm>
            <a:off x="9765792" y="5081905"/>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4" name="rv_ans_4"/>
          <p:cNvSpPr/>
          <p:nvPr/>
        </p:nvSpPr>
        <p:spPr>
          <a:xfrm>
            <a:off x="9765792" y="5127625"/>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F</a:t>
            </a:r>
            <a:endParaRPr lang="ko-KR" sz="2000"/>
          </a:p>
        </p:txBody>
      </p:sp>
      <p:sp>
        <p:nvSpPr>
          <p:cNvPr id="25" name="q_card_5"/>
          <p:cNvSpPr/>
          <p:nvPr/>
        </p:nvSpPr>
        <p:spPr>
          <a:xfrm>
            <a:off x="457200" y="5589524"/>
            <a:ext cx="11274552" cy="43446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589524"/>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25.  </a:t>
            </a:r>
            <a:r>
              <a:rPr lang="ko-KR" altLang="en-US" sz="1700" b="0" dirty="0">
                <a:solidFill>
                  <a:srgbClr val="1F2328"/>
                </a:solidFill>
                <a:latin typeface="맑은 고딕"/>
                <a:ea typeface="맑은 고딕"/>
                <a:cs typeface="맑은 고딕"/>
              </a:rPr>
              <a:t>Boggis의 마지막 제안은 30파운드였다.</a:t>
            </a:r>
            <a:endParaRPr lang="ko-KR" sz="1700"/>
          </a:p>
        </p:txBody>
      </p:sp>
      <p:sp>
        <p:nvSpPr>
          <p:cNvPr id="27" name="tf_5"/>
          <p:cNvSpPr txBox="1"/>
          <p:nvPr/>
        </p:nvSpPr>
        <p:spPr>
          <a:xfrm>
            <a:off x="9765792" y="5589524"/>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8" name="rv_ans_5"/>
          <p:cNvSpPr/>
          <p:nvPr/>
        </p:nvSpPr>
        <p:spPr>
          <a:xfrm>
            <a:off x="9765792" y="5635244"/>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4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본문과 일치하면 T, 일치하지 않으면 F를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정답(T/F) 공개</a:t>
            </a:r>
            <a:endParaRPr lang="ko-KR" sz="1000"/>
          </a:p>
        </p:txBody>
      </p:sp>
      <p:sp>
        <p:nvSpPr>
          <p:cNvPr id="7" name="passage_card"/>
          <p:cNvSpPr/>
          <p:nvPr/>
        </p:nvSpPr>
        <p:spPr>
          <a:xfrm>
            <a:off x="457200" y="950976"/>
            <a:ext cx="11274552" cy="2443479"/>
          </a:xfrm>
          <a:prstGeom prst="roundRect">
            <a:avLst>
              <a:gd name="adj" fmla="val 4000"/>
            </a:avLst>
          </a:prstGeom>
          <a:solidFill>
            <a:srgbClr val="F3F5F9"/>
          </a:solidFill>
          <a:ln w="12700">
            <a:solidFill>
              <a:srgbClr val="D9DFEA"/>
            </a:solidFill>
          </a:ln>
        </p:spPr>
        <p:txBody>
          <a:bodyPr rtlCol="0" anchor="ctr"/>
          <a:lstStyle/>
          <a:p>
            <a:pPr algn="ctr"/>
          </a:p>
        </p:txBody>
      </p:sp>
      <p:sp>
        <p:nvSpPr>
          <p:cNvPr id="8" name="passage"/>
          <p:cNvSpPr txBox="1"/>
          <p:nvPr/>
        </p:nvSpPr>
        <p:spPr>
          <a:xfrm>
            <a:off x="457200" y="950976"/>
            <a:ext cx="11274552" cy="2443479"/>
          </a:xfrm>
          <a:prstGeom prst="rect">
            <a:avLst/>
          </a:prstGeom>
          <a:noFill/>
        </p:spPr>
        <p:txBody>
          <a:bodyPr wrap="square" lIns="182880" tIns="137160" rIns="182880" bIns="137160" anchor="t" rtlCol="0">
            <a:noAutofit/>
          </a:bodyPr>
          <a:lstStyle/>
          <a:p>
            <a:pPr algn="l">
              <a:lnSpc>
                <a:spcPts val="1707"/>
              </a:lnSpc>
              <a:spcBef>
                <a:spcPts val="0"/>
              </a:spcBef>
              <a:spcAft>
                <a:spcPts val="0"/>
              </a:spcAft>
              <a:buNone/>
            </a:pPr>
            <a:r>
              <a:rPr lang="ko-KR" altLang="en-US" sz="1400" b="1" dirty="0">
                <a:solidFill>
                  <a:srgbClr val="1E2A5A"/>
                </a:solidFill>
                <a:latin typeface="맑은 고딕"/>
                <a:ea typeface="맑은 고딕"/>
                <a:cs typeface="맑은 고딕"/>
              </a:rPr>
              <a:t>⑲ </a:t>
            </a:r>
            <a:r>
              <a:rPr lang="en-US" altLang="en-US" sz="1400" b="0" dirty="0">
                <a:solidFill>
                  <a:srgbClr val="1F2328"/>
                </a:solidFill>
                <a:latin typeface="Calibri"/>
                <a:ea typeface="맑은 고딕"/>
                <a:cs typeface="Calibri"/>
              </a:rPr>
              <a:t>He then added, "Hmm, I think I may buy it. The legs of my table at home are broken. I can cut off the legs of your table and attach them to mine." </a:t>
            </a:r>
            <a:r>
              <a:rPr lang="ko-KR" altLang="en-US" sz="1400" b="1" dirty="0">
                <a:solidFill>
                  <a:srgbClr val="1E2A5A"/>
                </a:solidFill>
                <a:latin typeface="맑은 고딕"/>
                <a:ea typeface="맑은 고딕"/>
                <a:cs typeface="맑은 고딕"/>
              </a:rPr>
              <a:t>⑳ </a:t>
            </a:r>
            <a:r>
              <a:rPr lang="en-US" altLang="en-US" sz="1400" b="0" dirty="0">
                <a:solidFill>
                  <a:srgbClr val="1F2328"/>
                </a:solidFill>
                <a:latin typeface="Calibri"/>
                <a:ea typeface="맑은 고딕"/>
                <a:cs typeface="Calibri"/>
              </a:rPr>
              <a:t>"How much?" Rummins asked. "Not much, I’m afraid. This is just a reproduction," said Mr. Boggis. </a:t>
            </a:r>
            <a:r>
              <a:rPr lang="en-US" altLang="en-US" sz="1400" b="1" dirty="0">
                <a:solidFill>
                  <a:srgbClr val="1E2A5A"/>
                </a:solidFill>
                <a:latin typeface="Calibri"/>
                <a:ea typeface="맑은 고딕"/>
                <a:cs typeface="Calibri"/>
              </a:rPr>
              <a:t>21. </a:t>
            </a:r>
            <a:r>
              <a:rPr lang="en-US" altLang="en-US" sz="1400" b="0" dirty="0">
                <a:solidFill>
                  <a:srgbClr val="1F2328"/>
                </a:solidFill>
                <a:latin typeface="Calibri"/>
                <a:ea typeface="맑은 고딕"/>
                <a:cs typeface="Calibri"/>
              </a:rPr>
              <a:t>"So how much?" "Ten pounds." "Ten? It’s worth more than that." "How about fifteen?" "Make it fifty." "Well, thirty. This is my final offer." </a:t>
            </a:r>
            <a:r>
              <a:rPr lang="en-US" altLang="en-US" sz="1400" b="1" dirty="0">
                <a:solidFill>
                  <a:srgbClr val="1E2A5A"/>
                </a:solidFill>
                <a:latin typeface="Calibri"/>
                <a:ea typeface="맑은 고딕"/>
                <a:cs typeface="Calibri"/>
              </a:rPr>
              <a:t>22. </a:t>
            </a:r>
            <a:r>
              <a:rPr lang="en-US" altLang="en-US" sz="1400" b="0" dirty="0">
                <a:solidFill>
                  <a:srgbClr val="1F2328"/>
                </a:solidFill>
                <a:latin typeface="Calibri"/>
                <a:ea typeface="맑은 고딕"/>
                <a:cs typeface="Calibri"/>
              </a:rPr>
              <a:t>"OK, it’s yours, but how are you going to take it? This thing will not go in a car!" </a:t>
            </a:r>
            <a:r>
              <a:rPr lang="en-US" altLang="en-US" sz="1400" b="1" dirty="0">
                <a:solidFill>
                  <a:srgbClr val="1E2A5A"/>
                </a:solidFill>
                <a:latin typeface="Calibri"/>
                <a:ea typeface="맑은 고딕"/>
                <a:cs typeface="Calibri"/>
              </a:rPr>
              <a:t>23. </a:t>
            </a:r>
            <a:r>
              <a:rPr lang="en-US" altLang="en-US" sz="1400" b="0" dirty="0">
                <a:solidFill>
                  <a:srgbClr val="1F2328"/>
                </a:solidFill>
                <a:latin typeface="Calibri"/>
                <a:ea typeface="맑은 고딕"/>
                <a:cs typeface="Calibri"/>
              </a:rPr>
              <a:t>"We’ll see," Mr. Boggis said and went out to bring his car. </a:t>
            </a:r>
            <a:r>
              <a:rPr lang="en-US" altLang="en-US" sz="1400" b="1" dirty="0">
                <a:solidFill>
                  <a:srgbClr val="1E2A5A"/>
                </a:solidFill>
                <a:latin typeface="Calibri"/>
                <a:ea typeface="맑은 고딕"/>
                <a:cs typeface="Calibri"/>
              </a:rPr>
              <a:t>24. </a:t>
            </a:r>
            <a:r>
              <a:rPr lang="en-US" altLang="en-US" sz="1400" b="0" dirty="0">
                <a:solidFill>
                  <a:srgbClr val="1F2328"/>
                </a:solidFill>
                <a:latin typeface="Calibri"/>
                <a:ea typeface="맑은 고딕"/>
                <a:cs typeface="Calibri"/>
              </a:rPr>
              <a:t>On his way to the car, Mr. Boggis couldn’t help smiling. </a:t>
            </a:r>
            <a:r>
              <a:rPr lang="en-US" altLang="en-US" sz="1400" b="1" dirty="0">
                <a:solidFill>
                  <a:srgbClr val="1E2A5A"/>
                </a:solidFill>
                <a:latin typeface="Calibri"/>
                <a:ea typeface="맑은 고딕"/>
                <a:cs typeface="Calibri"/>
              </a:rPr>
              <a:t>25. </a:t>
            </a:r>
            <a:r>
              <a:rPr lang="en-US" altLang="en-US" sz="1400" b="0" dirty="0">
                <a:solidFill>
                  <a:srgbClr val="1F2328"/>
                </a:solidFill>
                <a:latin typeface="Calibri"/>
                <a:ea typeface="맑은 고딕"/>
                <a:cs typeface="Calibri"/>
              </a:rPr>
              <a:t>The table was what every dealer dreamed of. He couldn’t believe his luck. </a:t>
            </a:r>
            <a:r>
              <a:rPr lang="en-US" altLang="en-US" sz="1400" b="1" dirty="0">
                <a:solidFill>
                  <a:srgbClr val="1E2A5A"/>
                </a:solidFill>
                <a:latin typeface="Calibri"/>
                <a:ea typeface="맑은 고딕"/>
                <a:cs typeface="Calibri"/>
              </a:rPr>
              <a:t>26. </a:t>
            </a:r>
            <a:r>
              <a:rPr lang="en-US" altLang="en-US" sz="1400" b="0" dirty="0">
                <a:solidFill>
                  <a:srgbClr val="1F2328"/>
                </a:solidFill>
                <a:latin typeface="Calibri"/>
                <a:ea typeface="맑은 고딕"/>
                <a:cs typeface="Calibri"/>
              </a:rPr>
              <a:t>"Dad, what if this thing doesn’t go in his car? He might not pay you," said Bert. </a:t>
            </a:r>
            <a:r>
              <a:rPr lang="en-US" altLang="en-US" sz="1400" b="1" dirty="0">
                <a:solidFill>
                  <a:srgbClr val="1E2A5A"/>
                </a:solidFill>
                <a:latin typeface="Calibri"/>
                <a:ea typeface="맑은 고딕"/>
                <a:cs typeface="Calibri"/>
              </a:rPr>
              <a:t>27. </a:t>
            </a:r>
            <a:r>
              <a:rPr lang="en-US" altLang="en-US" sz="1400" b="0" dirty="0">
                <a:solidFill>
                  <a:srgbClr val="1F2328"/>
                </a:solidFill>
                <a:latin typeface="Calibri"/>
                <a:ea typeface="맑은 고딕"/>
                <a:cs typeface="Calibri"/>
              </a:rPr>
              <a:t>Rummins then had an idea. "What he wants is only the legs. Let’s cut the legs off for him," said Rummins. </a:t>
            </a:r>
            <a:r>
              <a:rPr lang="en-US" altLang="en-US" sz="1400" b="1" dirty="0">
                <a:solidFill>
                  <a:srgbClr val="1E2A5A"/>
                </a:solidFill>
                <a:latin typeface="Calibri"/>
                <a:ea typeface="맑은 고딕"/>
                <a:cs typeface="Calibri"/>
              </a:rPr>
              <a:t>28. </a:t>
            </a:r>
            <a:r>
              <a:rPr lang="en-US" altLang="en-US" sz="1400" b="0" dirty="0">
                <a:solidFill>
                  <a:srgbClr val="1F2328"/>
                </a:solidFill>
                <a:latin typeface="Calibri"/>
                <a:ea typeface="맑은 고딕"/>
                <a:cs typeface="Calibri"/>
              </a:rPr>
              <a:t>"Great idea!" said Bert. Bert then took out a saw and began to cut off the legs. </a:t>
            </a:r>
            <a:r>
              <a:rPr lang="en-US" altLang="en-US" sz="1400" b="1" dirty="0">
                <a:solidFill>
                  <a:srgbClr val="1E2A5A"/>
                </a:solidFill>
                <a:latin typeface="Calibri"/>
                <a:ea typeface="맑은 고딕"/>
                <a:cs typeface="Calibri"/>
              </a:rPr>
              <a:t>29. </a:t>
            </a:r>
            <a:r>
              <a:rPr lang="en-US" altLang="en-US" sz="1400" b="0" dirty="0">
                <a:solidFill>
                  <a:srgbClr val="1F2328"/>
                </a:solidFill>
                <a:latin typeface="Calibri"/>
                <a:ea typeface="맑은 고딕"/>
                <a:cs typeface="Calibri"/>
              </a:rPr>
              <a:t>When Mr. Boggis came back, the legs had been cut off. </a:t>
            </a:r>
            <a:r>
              <a:rPr lang="en-US" altLang="en-US" sz="1400" b="1" dirty="0">
                <a:solidFill>
                  <a:srgbClr val="1E2A5A"/>
                </a:solidFill>
                <a:latin typeface="Calibri"/>
                <a:ea typeface="맑은 고딕"/>
                <a:cs typeface="Calibri"/>
              </a:rPr>
              <a:t>30. </a:t>
            </a:r>
            <a:r>
              <a:rPr lang="en-US" altLang="en-US" sz="1400" b="0" dirty="0">
                <a:solidFill>
                  <a:srgbClr val="1F2328"/>
                </a:solidFill>
                <a:latin typeface="Calibri"/>
                <a:ea typeface="맑은 고딕"/>
                <a:cs typeface="Calibri"/>
              </a:rPr>
              <a:t>"Don’t worry, this was a favor. I won’t charge you for this," said Rummins. </a:t>
            </a:r>
            <a:r>
              <a:rPr lang="en-US" altLang="en-US" sz="1400" b="1" dirty="0">
                <a:solidFill>
                  <a:srgbClr val="1E2A5A"/>
                </a:solidFill>
                <a:latin typeface="Calibri"/>
                <a:ea typeface="맑은 고딕"/>
                <a:cs typeface="Calibri"/>
              </a:rPr>
              <a:t>31. </a:t>
            </a:r>
            <a:r>
              <a:rPr lang="en-US" altLang="en-US" sz="1400" b="0" dirty="0">
                <a:solidFill>
                  <a:srgbClr val="1F2328"/>
                </a:solidFill>
                <a:latin typeface="Calibri"/>
                <a:ea typeface="맑은 고딕"/>
                <a:cs typeface="Calibri"/>
              </a:rPr>
              <a:t>Mr. Boggis was so shocked that he couldn’t say anything. </a:t>
            </a:r>
            <a:endParaRPr lang="ko-KR" sz="1400"/>
          </a:p>
        </p:txBody>
      </p:sp>
      <p:sp>
        <p:nvSpPr>
          <p:cNvPr id="9" name="q_card_1"/>
          <p:cNvSpPr/>
          <p:nvPr/>
        </p:nvSpPr>
        <p:spPr>
          <a:xfrm>
            <a:off x="457200" y="3559047"/>
            <a:ext cx="11274552" cy="434467"/>
          </a:xfrm>
          <a:prstGeom prst="roundRect">
            <a:avLst>
              <a:gd name="adj" fmla="val 12000"/>
            </a:avLst>
          </a:prstGeom>
          <a:noFill/>
          <a:ln w="12700">
            <a:solidFill>
              <a:srgbClr val="D5DAE5"/>
            </a:solidFill>
          </a:ln>
        </p:spPr>
        <p:txBody>
          <a:bodyPr rtlCol="0" anchor="ctr"/>
          <a:lstStyle/>
          <a:p>
            <a:pPr algn="ctr"/>
          </a:p>
        </p:txBody>
      </p:sp>
      <p:sp>
        <p:nvSpPr>
          <p:cNvPr id="10" name="q_1"/>
          <p:cNvSpPr txBox="1"/>
          <p:nvPr/>
        </p:nvSpPr>
        <p:spPr>
          <a:xfrm>
            <a:off x="502920" y="3559047"/>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26.  </a:t>
            </a:r>
            <a:r>
              <a:rPr lang="ko-KR" altLang="en-US" sz="1700" b="0" dirty="0">
                <a:solidFill>
                  <a:srgbClr val="1F2328"/>
                </a:solidFill>
                <a:latin typeface="맑은 고딕"/>
                <a:ea typeface="맑은 고딕"/>
                <a:cs typeface="맑은 고딕"/>
              </a:rPr>
              <a:t>Rummins는 탁자가 차에 들어가지 않을 것이라고 말했다.</a:t>
            </a:r>
            <a:endParaRPr lang="ko-KR" sz="1700"/>
          </a:p>
        </p:txBody>
      </p:sp>
      <p:sp>
        <p:nvSpPr>
          <p:cNvPr id="11" name="tf_1"/>
          <p:cNvSpPr txBox="1"/>
          <p:nvPr/>
        </p:nvSpPr>
        <p:spPr>
          <a:xfrm>
            <a:off x="9765792" y="3559047"/>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12" name="rv_ans_1"/>
          <p:cNvSpPr/>
          <p:nvPr/>
        </p:nvSpPr>
        <p:spPr>
          <a:xfrm>
            <a:off x="9765792" y="3604767"/>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13" name="q_card_2"/>
          <p:cNvSpPr/>
          <p:nvPr/>
        </p:nvSpPr>
        <p:spPr>
          <a:xfrm>
            <a:off x="457200" y="4066666"/>
            <a:ext cx="11274552" cy="434467"/>
          </a:xfrm>
          <a:prstGeom prst="roundRect">
            <a:avLst>
              <a:gd name="adj" fmla="val 12000"/>
            </a:avLst>
          </a:prstGeom>
          <a:noFill/>
          <a:ln w="12700">
            <a:solidFill>
              <a:srgbClr val="D5DAE5"/>
            </a:solidFill>
          </a:ln>
        </p:spPr>
        <p:txBody>
          <a:bodyPr rtlCol="0" anchor="ctr"/>
          <a:lstStyle/>
          <a:p>
            <a:pPr algn="ctr"/>
          </a:p>
        </p:txBody>
      </p:sp>
      <p:sp>
        <p:nvSpPr>
          <p:cNvPr id="14" name="q_2"/>
          <p:cNvSpPr txBox="1"/>
          <p:nvPr/>
        </p:nvSpPr>
        <p:spPr>
          <a:xfrm>
            <a:off x="502920" y="4066666"/>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27.  </a:t>
            </a:r>
            <a:r>
              <a:rPr lang="ko-KR" altLang="en-US" sz="1700" b="0" dirty="0">
                <a:solidFill>
                  <a:srgbClr val="1F2328"/>
                </a:solidFill>
                <a:latin typeface="맑은 고딕"/>
                <a:ea typeface="맑은 고딕"/>
                <a:cs typeface="맑은 고딕"/>
              </a:rPr>
              <a:t>Boggis는 차로 가는 길에 걱정이 되어 얼굴을 찡그렸다.</a:t>
            </a:r>
            <a:endParaRPr lang="ko-KR" sz="1700"/>
          </a:p>
        </p:txBody>
      </p:sp>
      <p:sp>
        <p:nvSpPr>
          <p:cNvPr id="15" name="tf_2"/>
          <p:cNvSpPr txBox="1"/>
          <p:nvPr/>
        </p:nvSpPr>
        <p:spPr>
          <a:xfrm>
            <a:off x="9765792" y="4066666"/>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16" name="rv_ans_2"/>
          <p:cNvSpPr/>
          <p:nvPr/>
        </p:nvSpPr>
        <p:spPr>
          <a:xfrm>
            <a:off x="9765792" y="4112386"/>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F</a:t>
            </a:r>
            <a:endParaRPr lang="ko-KR" sz="2000"/>
          </a:p>
        </p:txBody>
      </p:sp>
      <p:sp>
        <p:nvSpPr>
          <p:cNvPr id="17" name="q_card_3"/>
          <p:cNvSpPr/>
          <p:nvPr/>
        </p:nvSpPr>
        <p:spPr>
          <a:xfrm>
            <a:off x="457200" y="4574286"/>
            <a:ext cx="11274552" cy="704342"/>
          </a:xfrm>
          <a:prstGeom prst="roundRect">
            <a:avLst>
              <a:gd name="adj" fmla="val 12000"/>
            </a:avLst>
          </a:prstGeom>
          <a:noFill/>
          <a:ln w="12700">
            <a:solidFill>
              <a:srgbClr val="D5DAE5"/>
            </a:solidFill>
          </a:ln>
        </p:spPr>
        <p:txBody>
          <a:bodyPr rtlCol="0" anchor="ctr"/>
          <a:lstStyle/>
          <a:p>
            <a:pPr algn="ctr"/>
          </a:p>
        </p:txBody>
      </p:sp>
      <p:sp>
        <p:nvSpPr>
          <p:cNvPr id="18" name="q_3"/>
          <p:cNvSpPr txBox="1"/>
          <p:nvPr/>
        </p:nvSpPr>
        <p:spPr>
          <a:xfrm>
            <a:off x="502920" y="4574286"/>
            <a:ext cx="9171432" cy="704342"/>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28.  </a:t>
            </a:r>
            <a:r>
              <a:rPr lang="ko-KR" altLang="en-US" sz="1700" b="0" dirty="0">
                <a:solidFill>
                  <a:srgbClr val="1F2328"/>
                </a:solidFill>
                <a:latin typeface="맑은 고딕"/>
                <a:ea typeface="맑은 고딕"/>
                <a:cs typeface="맑은 고딕"/>
              </a:rPr>
              <a:t>Bert는 탁자가 차에 안 들어가면 Boggis가 돈을 내지 않을 수도 있다고 걱정했다.</a:t>
            </a:r>
            <a:endParaRPr lang="ko-KR" sz="1700"/>
          </a:p>
        </p:txBody>
      </p:sp>
      <p:sp>
        <p:nvSpPr>
          <p:cNvPr id="19" name="tf_3"/>
          <p:cNvSpPr txBox="1"/>
          <p:nvPr/>
        </p:nvSpPr>
        <p:spPr>
          <a:xfrm>
            <a:off x="9765792" y="4574286"/>
            <a:ext cx="1828800" cy="704342"/>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0" name="rv_ans_3"/>
          <p:cNvSpPr/>
          <p:nvPr/>
        </p:nvSpPr>
        <p:spPr>
          <a:xfrm>
            <a:off x="9765792" y="4620005"/>
            <a:ext cx="1828800" cy="612902"/>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
        <p:nvSpPr>
          <p:cNvPr id="21" name="q_card_4"/>
          <p:cNvSpPr/>
          <p:nvPr/>
        </p:nvSpPr>
        <p:spPr>
          <a:xfrm>
            <a:off x="457200" y="5351779"/>
            <a:ext cx="11274552" cy="434467"/>
          </a:xfrm>
          <a:prstGeom prst="roundRect">
            <a:avLst>
              <a:gd name="adj" fmla="val 12000"/>
            </a:avLst>
          </a:prstGeom>
          <a:noFill/>
          <a:ln w="12700">
            <a:solidFill>
              <a:srgbClr val="D5DAE5"/>
            </a:solidFill>
          </a:ln>
        </p:spPr>
        <p:txBody>
          <a:bodyPr rtlCol="0" anchor="ctr"/>
          <a:lstStyle/>
          <a:p>
            <a:pPr algn="ctr"/>
          </a:p>
        </p:txBody>
      </p:sp>
      <p:sp>
        <p:nvSpPr>
          <p:cNvPr id="22" name="q_4"/>
          <p:cNvSpPr txBox="1"/>
          <p:nvPr/>
        </p:nvSpPr>
        <p:spPr>
          <a:xfrm>
            <a:off x="502920" y="5351779"/>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29.  </a:t>
            </a:r>
            <a:r>
              <a:rPr lang="ko-KR" altLang="en-US" sz="1700" b="0" dirty="0">
                <a:solidFill>
                  <a:srgbClr val="1F2328"/>
                </a:solidFill>
                <a:latin typeface="맑은 고딕"/>
                <a:ea typeface="맑은 고딕"/>
                <a:cs typeface="맑은 고딕"/>
              </a:rPr>
              <a:t>Rummins가 직접 톱을 꺼내 탁자 다리를 잘랐다.</a:t>
            </a:r>
            <a:endParaRPr lang="ko-KR" sz="1700"/>
          </a:p>
        </p:txBody>
      </p:sp>
      <p:sp>
        <p:nvSpPr>
          <p:cNvPr id="23" name="tf_4"/>
          <p:cNvSpPr txBox="1"/>
          <p:nvPr/>
        </p:nvSpPr>
        <p:spPr>
          <a:xfrm>
            <a:off x="9765792" y="5351779"/>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4" name="rv_ans_4"/>
          <p:cNvSpPr/>
          <p:nvPr/>
        </p:nvSpPr>
        <p:spPr>
          <a:xfrm>
            <a:off x="9765792" y="5397499"/>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F</a:t>
            </a:r>
            <a:endParaRPr lang="ko-KR" sz="2000"/>
          </a:p>
        </p:txBody>
      </p:sp>
      <p:sp>
        <p:nvSpPr>
          <p:cNvPr id="25" name="q_card_5"/>
          <p:cNvSpPr/>
          <p:nvPr/>
        </p:nvSpPr>
        <p:spPr>
          <a:xfrm>
            <a:off x="457200" y="5859398"/>
            <a:ext cx="11274552" cy="434467"/>
          </a:xfrm>
          <a:prstGeom prst="roundRect">
            <a:avLst>
              <a:gd name="adj" fmla="val 12000"/>
            </a:avLst>
          </a:prstGeom>
          <a:noFill/>
          <a:ln w="12700">
            <a:solidFill>
              <a:srgbClr val="D5DAE5"/>
            </a:solidFill>
          </a:ln>
        </p:spPr>
        <p:txBody>
          <a:bodyPr rtlCol="0" anchor="ctr"/>
          <a:lstStyle/>
          <a:p>
            <a:pPr algn="ctr"/>
          </a:p>
        </p:txBody>
      </p:sp>
      <p:sp>
        <p:nvSpPr>
          <p:cNvPr id="26" name="q_5"/>
          <p:cNvSpPr txBox="1"/>
          <p:nvPr/>
        </p:nvSpPr>
        <p:spPr>
          <a:xfrm>
            <a:off x="502920" y="5859398"/>
            <a:ext cx="9171432" cy="434467"/>
          </a:xfrm>
          <a:prstGeom prst="rect">
            <a:avLst/>
          </a:prstGeom>
          <a:noFill/>
        </p:spPr>
        <p:txBody>
          <a:bodyPr wrap="square" lIns="109728" tIns="45720" rIns="109728" bIns="45720" anchor="ctr"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30.  </a:t>
            </a:r>
            <a:r>
              <a:rPr lang="ko-KR" altLang="en-US" sz="1700" b="0" dirty="0">
                <a:solidFill>
                  <a:srgbClr val="1F2328"/>
                </a:solidFill>
                <a:latin typeface="맑은 고딕"/>
                <a:ea typeface="맑은 고딕"/>
                <a:cs typeface="맑은 고딕"/>
              </a:rPr>
              <a:t>Boggis는 너무 충격을 받아서 아무 말도 할 수 없었다.</a:t>
            </a:r>
            <a:endParaRPr lang="ko-KR" sz="1700"/>
          </a:p>
        </p:txBody>
      </p:sp>
      <p:sp>
        <p:nvSpPr>
          <p:cNvPr id="27" name="tf_5"/>
          <p:cNvSpPr txBox="1"/>
          <p:nvPr/>
        </p:nvSpPr>
        <p:spPr>
          <a:xfrm>
            <a:off x="9765792" y="5859398"/>
            <a:ext cx="1828800" cy="434467"/>
          </a:xfrm>
          <a:prstGeom prst="rect">
            <a:avLst/>
          </a:prstGeom>
          <a:noFill/>
        </p:spPr>
        <p:txBody>
          <a:bodyPr wrap="square" lIns="18288" tIns="18288" rIns="18288" bIns="18288" anchor="ctr" rtlCol="0">
            <a:noAutofit/>
          </a:bodyPr>
          <a:lstStyle/>
          <a:p>
            <a:pPr algn="ctr">
              <a:lnSpc>
                <a:spcPts val="2125"/>
              </a:lnSpc>
              <a:spcBef>
                <a:spcPts val="0"/>
              </a:spcBef>
              <a:spcAft>
                <a:spcPts val="0"/>
              </a:spcAft>
              <a:buNone/>
            </a:pPr>
            <a:r>
              <a:rPr lang="en-US" altLang="en-US" sz="1700" b="1" dirty="0">
                <a:solidFill>
                  <a:srgbClr val="9AA3B5"/>
                </a:solidFill>
                <a:latin typeface="Calibri"/>
                <a:ea typeface="맑은 고딕"/>
                <a:cs typeface="Calibri"/>
              </a:rPr>
              <a:t>T   /   F</a:t>
            </a:r>
            <a:endParaRPr lang="ko-KR" sz="1700"/>
          </a:p>
        </p:txBody>
      </p:sp>
      <p:sp>
        <p:nvSpPr>
          <p:cNvPr id="28" name="rv_ans_5"/>
          <p:cNvSpPr/>
          <p:nvPr/>
        </p:nvSpPr>
        <p:spPr>
          <a:xfrm>
            <a:off x="9765792" y="5905118"/>
            <a:ext cx="1828800" cy="343027"/>
          </a:xfrm>
          <a:prstGeom prst="roundRect">
            <a:avLst>
              <a:gd name="adj" fmla="val 20000"/>
            </a:avLst>
          </a:prstGeom>
          <a:solidFill>
            <a:srgbClr val="FFF3C4"/>
          </a:solidFill>
          <a:ln w="12700">
            <a:solidFill>
              <a:srgbClr val="E0B400"/>
            </a:solidFill>
          </a:ln>
        </p:spPr>
        <p:txBody>
          <a:bodyPr wrap="square" lIns="18288" tIns="0" rIns="18288" bIns="0" anchor="ctr" rtlCol="0">
            <a:noAutofit/>
          </a:bodyPr>
          <a:lstStyle/>
          <a:p>
            <a:pPr algn="ctr">
              <a:lnSpc>
                <a:spcPts val="2400"/>
              </a:lnSpc>
              <a:spcBef>
                <a:spcPts val="0"/>
              </a:spcBef>
              <a:spcAft>
                <a:spcPts val="0"/>
              </a:spcAft>
              <a:buNone/>
            </a:pPr>
            <a:r>
              <a:rPr lang="en-US" altLang="en-US" sz="2000" b="1" dirty="0">
                <a:solidFill>
                  <a:srgbClr val="C00000"/>
                </a:solidFill>
                <a:latin typeface="Calibri"/>
                <a:ea typeface="맑은 고딕"/>
                <a:cs typeface="Calibri"/>
              </a:rPr>
              <a:t>T</a:t>
            </a:r>
            <a:endParaRPr lang="ko-K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5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5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5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0" grpId="0" animBg="1"/>
      <p:bldP spid="24" grpId="0" animBg="1"/>
      <p:bldP spid="28"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5  </a:t>
            </a:r>
            <a:r>
              <a:rPr lang="ko-KR" altLang="en-US" sz="4000" b="1" dirty="0">
                <a:solidFill>
                  <a:srgbClr val="FFFFFF"/>
                </a:solidFill>
                <a:latin typeface="맑은 고딕"/>
                <a:ea typeface="맑은 고딕"/>
                <a:cs typeface="맑은 고딕"/>
              </a:rPr>
              <a:t>어법 선택</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6</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1 ~ 31번  ·  11장</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 뜻을 참고하여 [  ] 안에서 어법상 알맞은 것을 고르기</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정답이 빨간색으로 표시되고 문법 포인트가 함께 공개</a:t>
            </a:r>
            <a:endParaRPr lang="ko-KR" sz="160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  </a:t>
            </a:r>
            <a:r>
              <a:rPr lang="ko-KR" altLang="en-US" sz="1600" b="0" dirty="0">
                <a:solidFill>
                  <a:srgbClr val="3C4558"/>
                </a:solidFill>
                <a:latin typeface="맑은 고딕"/>
                <a:ea typeface="맑은 고딕"/>
                <a:cs typeface="맑은 고딕"/>
              </a:rPr>
              <a:t>시릴 보기스는 런던에서 골동품 가구를 거래하는 상인이었다.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Cyril Boggis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 antique furniture dealer in London.</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Cyril Boggis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 antique furniture dealer in London.</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Cyril Boggis 단수)</a:t>
            </a:r>
            <a:endParaRPr lang="ko-KR" sz="1400"/>
          </a:p>
        </p:txBody>
      </p:sp>
      <p:sp>
        <p:nvSpPr>
          <p:cNvPr id="12" name="item_card_2"/>
          <p:cNvSpPr/>
          <p:nvPr/>
        </p:nvSpPr>
        <p:spPr>
          <a:xfrm>
            <a:off x="457200" y="2221738"/>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  </a:t>
            </a:r>
            <a:r>
              <a:rPr lang="ko-KR" altLang="en-US" sz="1600" b="0" dirty="0">
                <a:solidFill>
                  <a:srgbClr val="3C4558"/>
                </a:solidFill>
                <a:latin typeface="맑은 고딕"/>
                <a:ea typeface="맑은 고딕"/>
                <a:cs typeface="맑은 고딕"/>
              </a:rPr>
              <a:t>그는 좋은 물건을 싸게 사들인 뒤 비싸게 되파는 것으로 유명했다.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was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known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knowing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for buying good things at a low price and then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sell</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selling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them at a high price.</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was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known</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knowing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for buying good things at a low price and then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sell</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selling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them at a high price.</a:t>
            </a:r>
            <a:endParaRPr lang="ko-KR" sz="2000"/>
          </a:p>
        </p:txBody>
      </p:sp>
      <p:sp>
        <p:nvSpPr>
          <p:cNvPr id="16" name="rv_point_2"/>
          <p:cNvSpPr txBox="1"/>
          <p:nvPr/>
        </p:nvSpPr>
        <p:spPr>
          <a:xfrm>
            <a:off x="457200" y="3406394"/>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(be known for: ~로 알려지다) · to부정사/동명사/동사원형 (전치사 for 뒤 buying과 병렬 → 동명사)</a:t>
            </a:r>
            <a:endParaRPr lang="ko-KR" sz="1400"/>
          </a:p>
        </p:txBody>
      </p:sp>
      <p:sp>
        <p:nvSpPr>
          <p:cNvPr id="17" name="item_card_3"/>
          <p:cNvSpPr/>
          <p:nvPr/>
        </p:nvSpPr>
        <p:spPr>
          <a:xfrm>
            <a:off x="457200" y="407035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18007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  </a:t>
            </a:r>
            <a:r>
              <a:rPr lang="ko-KR" altLang="en-US" sz="1600" b="0" dirty="0">
                <a:solidFill>
                  <a:srgbClr val="3C4558"/>
                </a:solidFill>
                <a:latin typeface="맑은 고딕"/>
                <a:ea typeface="맑은 고딕"/>
                <a:cs typeface="맑은 고딕"/>
              </a:rPr>
              <a:t>사람들이 그 가구를 어디서 구했는지 물어도 그는 "비밀입니다."라고만 했다.</a:t>
            </a:r>
            <a:endParaRPr lang="ko-KR" sz="1600"/>
          </a:p>
        </p:txBody>
      </p:sp>
      <p:sp>
        <p:nvSpPr>
          <p:cNvPr id="19" name="eng_3"/>
          <p:cNvSpPr txBox="1"/>
          <p:nvPr/>
        </p:nvSpPr>
        <p:spPr>
          <a:xfrm>
            <a:off x="457200" y="448894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People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 asked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asked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him where he had got the furniture, but he just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said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said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"It’s a secret."</a:t>
            </a:r>
            <a:endParaRPr lang="ko-KR" sz="2000"/>
          </a:p>
        </p:txBody>
      </p:sp>
      <p:sp>
        <p:nvSpPr>
          <p:cNvPr id="20" name="rv_eng_3"/>
          <p:cNvSpPr txBox="1"/>
          <p:nvPr/>
        </p:nvSpPr>
        <p:spPr>
          <a:xfrm>
            <a:off x="457200" y="448894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People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 asked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asked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him where he had got the furniture, but he just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said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said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"It’s a secret."</a:t>
            </a:r>
            <a:endParaRPr lang="ko-KR" sz="2000"/>
          </a:p>
        </p:txBody>
      </p:sp>
      <p:sp>
        <p:nvSpPr>
          <p:cNvPr id="21" name="rv_point_3"/>
          <p:cNvSpPr txBox="1"/>
          <p:nvPr/>
        </p:nvSpPr>
        <p:spPr>
          <a:xfrm>
            <a:off x="457200" y="525500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him이 있으므로 능동) · 수동태(능동/수동 구별) (주어 he가 직접 말함 → 능동)</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4.  </a:t>
            </a:r>
            <a:r>
              <a:rPr lang="ko-KR" altLang="en-US" sz="1600" b="0" dirty="0">
                <a:solidFill>
                  <a:srgbClr val="3C4558"/>
                </a:solidFill>
                <a:latin typeface="맑은 고딕"/>
                <a:ea typeface="맑은 고딕"/>
                <a:cs typeface="맑은 고딕"/>
              </a:rPr>
              <a:t>보기스 씨의 비밀은 간단했다. 그는 일요일마다 작은 마을들을 찾아가 집집마다 문을 두드렸다.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Mr. Boggis’ secret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simple. He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gone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small towns every Sunday and knocked on doors.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Mr. Boggis’ secret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simple. He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gone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went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small towns every Sunday and knocked on doors.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secret 단수) · 수동태(능동/수동 구별) (자동사 go는 수동태 불가)</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5.  </a:t>
            </a:r>
            <a:r>
              <a:rPr lang="ko-KR" altLang="en-US" sz="1600" b="0" dirty="0">
                <a:solidFill>
                  <a:srgbClr val="3C4558"/>
                </a:solidFill>
                <a:latin typeface="맑은 고딕"/>
                <a:ea typeface="맑은 고딕"/>
                <a:cs typeface="맑은 고딕"/>
              </a:rPr>
              <a:t>그는 사람들에게 자신이 가구상이라고 말했다.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told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told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people that he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furniture dealer.</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told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told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people that he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furniture dealer.</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people이 있으므로 능동) · 동사의 수 일치 (주어 he)</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6.  </a:t>
            </a:r>
            <a:r>
              <a:rPr lang="ko-KR" altLang="en-US" sz="1600" b="0" dirty="0">
                <a:solidFill>
                  <a:srgbClr val="3C4558"/>
                </a:solidFill>
                <a:latin typeface="맑은 고딕"/>
                <a:ea typeface="맑은 고딕"/>
                <a:cs typeface="맑은 고딕"/>
              </a:rPr>
              <a:t>사람들은 자기 물건이 얼마나 값진지 몰랐고, 보기스 씨는 그 점을 이용했다.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People didn’t know how valuable their things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so Mr. Boggis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taken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took</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advantage of them.</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People didn’t know how valuable their things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so Mr. Boggis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taken</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took</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advantage of them.</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their things 복수) · 수동태(능동/수동 구별) (목적어 advantage가 있으므로 능동)</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7.  </a:t>
            </a:r>
            <a:r>
              <a:rPr lang="ko-KR" altLang="en-US" sz="1600" b="0" dirty="0">
                <a:solidFill>
                  <a:srgbClr val="3C4558"/>
                </a:solidFill>
                <a:latin typeface="맑은 고딕"/>
                <a:ea typeface="맑은 고딕"/>
                <a:cs typeface="맑은 고딕"/>
              </a:rPr>
              <a:t>그는 물건을 아주 싼값에 살 수 있었다.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was able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buying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buy</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things very cheaply.</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was able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buying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 buy</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things very cheaply.</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(be able + to부정사)</a:t>
            </a:r>
            <a:endParaRPr lang="ko-KR" sz="1400"/>
          </a:p>
        </p:txBody>
      </p:sp>
      <p:sp>
        <p:nvSpPr>
          <p:cNvPr id="12" name="item_card_2"/>
          <p:cNvSpPr/>
          <p:nvPr/>
        </p:nvSpPr>
        <p:spPr>
          <a:xfrm>
            <a:off x="457200" y="22217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8.  </a:t>
            </a:r>
            <a:r>
              <a:rPr lang="ko-KR" altLang="en-US" sz="1600" b="0" dirty="0">
                <a:solidFill>
                  <a:srgbClr val="3C4558"/>
                </a:solidFill>
                <a:latin typeface="맑은 고딕"/>
                <a:ea typeface="맑은 고딕"/>
                <a:cs typeface="맑은 고딕"/>
              </a:rPr>
              <a:t>어느덧 또 일요일이 되었고, 보기스 씨는 다시 한 작은 마을에 와 있었다.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Now it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another Sunday, and Mr. Boggis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a small town again.</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Now it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another Sunday, and Mr. Boggis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a small town again.</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it) · 동사의 수 일치 (주어 Mr. Boggis 단수)</a:t>
            </a:r>
            <a:endParaRPr lang="ko-KR" sz="1400"/>
          </a:p>
        </p:txBody>
      </p:sp>
      <p:sp>
        <p:nvSpPr>
          <p:cNvPr id="17" name="item_card_3"/>
          <p:cNvSpPr/>
          <p:nvPr/>
        </p:nvSpPr>
        <p:spPr>
          <a:xfrm>
            <a:off x="457200" y="3848100"/>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9.  </a:t>
            </a:r>
            <a:r>
              <a:rPr lang="ko-KR" altLang="en-US" sz="1600" b="0" dirty="0">
                <a:solidFill>
                  <a:srgbClr val="3C4558"/>
                </a:solidFill>
                <a:latin typeface="맑은 고딕"/>
                <a:ea typeface="맑은 고딕"/>
                <a:cs typeface="맑은 고딕"/>
              </a:rPr>
              <a:t>그가 찾아간 어느 집에서 그는 두 남자를 만났다. 한 사람은 집주인 러민스였고, 다른 한 사람은 그의 아들 버트였다.</a:t>
            </a:r>
            <a:endParaRPr lang="ko-KR" sz="1600"/>
          </a:p>
        </p:txBody>
      </p:sp>
      <p:sp>
        <p:nvSpPr>
          <p:cNvPr id="19" name="eng_3"/>
          <p:cNvSpPr txBox="1"/>
          <p:nvPr/>
        </p:nvSpPr>
        <p:spPr>
          <a:xfrm>
            <a:off x="457200" y="4520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At a house he visited, he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met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met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two men. One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Rummins, the owner, and the other was his son Bert.</a:t>
            </a:r>
            <a:endParaRPr lang="ko-KR" sz="2000"/>
          </a:p>
        </p:txBody>
      </p:sp>
      <p:sp>
        <p:nvSpPr>
          <p:cNvPr id="20" name="rv_eng_3"/>
          <p:cNvSpPr txBox="1"/>
          <p:nvPr/>
        </p:nvSpPr>
        <p:spPr>
          <a:xfrm>
            <a:off x="457200" y="4520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At a house he visited, he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met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met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two men. One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Rummins, the owner, and the other was his son Bert.</a:t>
            </a:r>
            <a:endParaRPr lang="ko-KR" sz="2000"/>
          </a:p>
        </p:txBody>
      </p:sp>
      <p:sp>
        <p:nvSpPr>
          <p:cNvPr id="21" name="rv_point_3"/>
          <p:cNvSpPr txBox="1"/>
          <p:nvPr/>
        </p:nvSpPr>
        <p:spPr>
          <a:xfrm>
            <a:off x="457200" y="5286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two men이 있으므로 능동) · 동사의 수 일치 (주어 One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10.  </a:t>
            </a:r>
            <a:r>
              <a:rPr lang="ko-KR" altLang="en-US" sz="1600" b="0" dirty="0">
                <a:solidFill>
                  <a:srgbClr val="3C4558"/>
                </a:solidFill>
                <a:latin typeface="맑은 고딕"/>
                <a:ea typeface="맑은 고딕"/>
                <a:cs typeface="맑은 고딕"/>
              </a:rPr>
              <a:t>"저는 오래된 가구를 삽니다. 혹시 있으신가요?" 보기스 씨가 물었다.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"I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buy</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buys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old furniture.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Does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you have any?" asked Mr. Boggis.</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"I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buy</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buys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old furniture.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Does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you have any?" asked Mr. Boggis.</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I) · 동사의 수 일치 (주어 you)</a:t>
            </a:r>
            <a:endParaRPr lang="ko-KR" sz="1400"/>
          </a:p>
        </p:txBody>
      </p:sp>
      <p:sp>
        <p:nvSpPr>
          <p:cNvPr id="12" name="item_card_2"/>
          <p:cNvSpPr/>
          <p:nvPr/>
        </p:nvSpPr>
        <p:spPr>
          <a:xfrm>
            <a:off x="457200" y="22217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11.  </a:t>
            </a:r>
            <a:r>
              <a:rPr lang="ko-KR" altLang="en-US" sz="1600" b="0" dirty="0">
                <a:solidFill>
                  <a:srgbClr val="3C4558"/>
                </a:solidFill>
                <a:latin typeface="맑은 고딕"/>
                <a:ea typeface="맑은 고딕"/>
                <a:cs typeface="맑은 고딕"/>
              </a:rPr>
              <a:t>"아뇨, 없어요." 러민스가 대답했다. "그냥 한번 둘러봐도 될까요?" 보기스 씨가 물었다.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"No, I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doesn’t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said Rummins. "Can I just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take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take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look?" asked Mr. Boggis.</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"No, I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doesn’t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don’t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said Rummins. "Can I just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take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take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look?" asked Mr. Boggis.</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I) · to부정사/동명사/동사원형 (조동사 Can + 동사원형)</a:t>
            </a:r>
            <a:endParaRPr lang="ko-KR" sz="1400"/>
          </a:p>
        </p:txBody>
      </p:sp>
      <p:sp>
        <p:nvSpPr>
          <p:cNvPr id="17" name="item_card_3"/>
          <p:cNvSpPr/>
          <p:nvPr/>
        </p:nvSpPr>
        <p:spPr>
          <a:xfrm>
            <a:off x="457200" y="3848100"/>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12.  </a:t>
            </a:r>
            <a:r>
              <a:rPr lang="ko-KR" altLang="en-US" sz="1600" b="0" dirty="0">
                <a:solidFill>
                  <a:srgbClr val="3C4558"/>
                </a:solidFill>
                <a:latin typeface="맑은 고딕"/>
                <a:ea typeface="맑은 고딕"/>
                <a:cs typeface="맑은 고딕"/>
              </a:rPr>
              <a:t>"그럼요. 들어오세요." 러민스가 말했다.</a:t>
            </a:r>
            <a:endParaRPr lang="ko-KR" sz="1600"/>
          </a:p>
        </p:txBody>
      </p:sp>
      <p:sp>
        <p:nvSpPr>
          <p:cNvPr id="19" name="eng_3"/>
          <p:cNvSpPr txBox="1"/>
          <p:nvPr/>
        </p:nvSpPr>
        <p:spPr>
          <a:xfrm>
            <a:off x="457200" y="42666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"Sure. Please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come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coming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in," said Rummins.</a:t>
            </a:r>
            <a:endParaRPr lang="ko-KR" sz="2000"/>
          </a:p>
        </p:txBody>
      </p:sp>
      <p:sp>
        <p:nvSpPr>
          <p:cNvPr id="20" name="rv_eng_3"/>
          <p:cNvSpPr txBox="1"/>
          <p:nvPr/>
        </p:nvSpPr>
        <p:spPr>
          <a:xfrm>
            <a:off x="457200" y="4266692"/>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"Sure. Please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come</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coming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in," said Rummins.</a:t>
            </a:r>
            <a:endParaRPr lang="ko-KR" sz="2000"/>
          </a:p>
        </p:txBody>
      </p:sp>
      <p:sp>
        <p:nvSpPr>
          <p:cNvPr id="21" name="rv_point_3"/>
          <p:cNvSpPr txBox="1"/>
          <p:nvPr/>
        </p:nvSpPr>
        <p:spPr>
          <a:xfrm>
            <a:off x="457200" y="46771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(명령문 Please + 동사원형)</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13.  </a:t>
            </a:r>
            <a:r>
              <a:rPr lang="ko-KR" altLang="en-US" sz="1600" b="0" dirty="0">
                <a:solidFill>
                  <a:srgbClr val="3C4558"/>
                </a:solidFill>
                <a:latin typeface="맑은 고딕"/>
                <a:ea typeface="맑은 고딕"/>
                <a:cs typeface="맑은 고딕"/>
              </a:rPr>
              <a:t>보기스 씨는 먼저 부엌으로 갔지만 거기엔 아무것도 없었다.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Mr. Boggis first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gone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the kitchen, and there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nothing.</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Mr. Boggis first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gone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went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the kitchen, and there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nothing.</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go는 수동태 불가) · 동사의 수 일치 (there was + 단수 nothing)</a:t>
            </a:r>
            <a:endParaRPr lang="ko-KR" sz="1400"/>
          </a:p>
        </p:txBody>
      </p:sp>
      <p:sp>
        <p:nvSpPr>
          <p:cNvPr id="12" name="item_card_2"/>
          <p:cNvSpPr/>
          <p:nvPr/>
        </p:nvSpPr>
        <p:spPr>
          <a:xfrm>
            <a:off x="457200" y="2577338"/>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14.  </a:t>
            </a:r>
            <a:r>
              <a:rPr lang="ko-KR" altLang="en-US" sz="1600" b="0" dirty="0">
                <a:solidFill>
                  <a:srgbClr val="3C4558"/>
                </a:solidFill>
                <a:latin typeface="맑은 고딕"/>
                <a:ea typeface="맑은 고딕"/>
                <a:cs typeface="맑은 고딕"/>
              </a:rPr>
              <a:t>그는 이어서 거실로 옮겨 갔다. 그런데 바로 거기 그것이 있었다!</a:t>
            </a:r>
            <a:endParaRPr lang="ko-KR" sz="1600"/>
          </a:p>
        </p:txBody>
      </p:sp>
      <p:sp>
        <p:nvSpPr>
          <p:cNvPr id="14" name="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then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moved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moved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to the living room. And there it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15" name="rv_eng_2"/>
          <p:cNvSpPr txBox="1"/>
          <p:nvPr/>
        </p:nvSpPr>
        <p:spPr>
          <a:xfrm>
            <a:off x="457200" y="2995930"/>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then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moved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moved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to the living room. And there it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없이 스스로 이동 → 능동) · 동사의 수 일치 (주어 it)</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15.  </a:t>
            </a:r>
            <a:r>
              <a:rPr lang="ko-KR" altLang="en-US" sz="1600" b="0" dirty="0">
                <a:solidFill>
                  <a:srgbClr val="3C4558"/>
                </a:solidFill>
                <a:latin typeface="맑은 고딕"/>
                <a:ea typeface="맑은 고딕"/>
                <a:cs typeface="맑은 고딕"/>
              </a:rPr>
              <a:t>18세기 영국 가구 중에서도 값을 매길 수 없을 만큼 귀한 탁자 하나가.</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A table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who</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which</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priceless piece of eighteenth‑century English furniture.</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A table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who</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which</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priceless piece of eighteenth‑century English furniture.</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관계대명사 (선행사 A table=사물) · 동사의 수 일치 (선행사 A table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16.  </a:t>
            </a:r>
            <a:r>
              <a:rPr lang="ko-KR" altLang="en-US" sz="1600" b="0" dirty="0">
                <a:solidFill>
                  <a:srgbClr val="3C4558"/>
                </a:solidFill>
                <a:latin typeface="맑은 고딕"/>
                <a:ea typeface="맑은 고딕"/>
                <a:cs typeface="맑은 고딕"/>
              </a:rPr>
              <a:t>그는 너무 흥분해서 하마터면 넘어질 뻔했다.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was so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excited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exciting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that he almost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fallen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fell</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over.</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was so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excited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exciting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that he almost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fallen</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fell</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over.</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(감정을 '느끼는' 사람 → 과거분사) · 수동태(능동/수동 구별) (자동사 fall은 수동태 불가)</a:t>
            </a:r>
            <a:endParaRPr lang="ko-KR" sz="1400"/>
          </a:p>
        </p:txBody>
      </p:sp>
      <p:sp>
        <p:nvSpPr>
          <p:cNvPr id="12" name="item_card_2"/>
          <p:cNvSpPr/>
          <p:nvPr/>
        </p:nvSpPr>
        <p:spPr>
          <a:xfrm>
            <a:off x="457200" y="2221738"/>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17.  </a:t>
            </a:r>
            <a:r>
              <a:rPr lang="ko-KR" altLang="en-US" sz="1600" b="0" dirty="0">
                <a:solidFill>
                  <a:srgbClr val="3C4558"/>
                </a:solidFill>
                <a:latin typeface="맑은 고딕"/>
                <a:ea typeface="맑은 고딕"/>
                <a:cs typeface="맑은 고딕"/>
              </a:rPr>
              <a:t>"왜 그러세요?" 버트가 물었다. "아, 아무것도 아니에요. 정말 아무 일도 아닙니다." 보기스 씨는 거짓말을 했다.</a:t>
            </a:r>
            <a:endParaRPr lang="ko-KR" sz="1600"/>
          </a:p>
        </p:txBody>
      </p:sp>
      <p:sp>
        <p:nvSpPr>
          <p:cNvPr id="14" name="eng_2"/>
          <p:cNvSpPr txBox="1"/>
          <p:nvPr/>
        </p:nvSpPr>
        <p:spPr>
          <a:xfrm>
            <a:off x="457200" y="2894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"What’s wrong?" Bert asked. "Oh, nothing. Nothing at all," Mr. Boggis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lied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lied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15" name="rv_eng_2"/>
          <p:cNvSpPr txBox="1"/>
          <p:nvPr/>
        </p:nvSpPr>
        <p:spPr>
          <a:xfrm>
            <a:off x="457200" y="2894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"What’s wrong?" Bert asked. "Oh, nothing. Nothing at all," Mr. Boggis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lied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lied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16" name="rv_point_2"/>
          <p:cNvSpPr txBox="1"/>
          <p:nvPr/>
        </p:nvSpPr>
        <p:spPr>
          <a:xfrm>
            <a:off x="457200" y="3660393"/>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lie는 수동태 불가)</a:t>
            </a:r>
            <a:endParaRPr lang="ko-KR" sz="1400"/>
          </a:p>
        </p:txBody>
      </p:sp>
      <p:sp>
        <p:nvSpPr>
          <p:cNvPr id="17" name="item_card_3"/>
          <p:cNvSpPr/>
          <p:nvPr/>
        </p:nvSpPr>
        <p:spPr>
          <a:xfrm>
            <a:off x="457200" y="4102099"/>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211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18.  </a:t>
            </a:r>
            <a:r>
              <a:rPr lang="ko-KR" altLang="en-US" sz="1600" b="0" dirty="0">
                <a:solidFill>
                  <a:srgbClr val="3C4558"/>
                </a:solidFill>
                <a:latin typeface="맑은 고딕"/>
                <a:ea typeface="맑은 고딕"/>
                <a:cs typeface="맑은 고딕"/>
              </a:rPr>
              <a:t>그러고는 시치미를 뚝 떼고 말했다. "이 탁자는 복제품이에요. 몇 파운드밖에 안 나가죠."</a:t>
            </a:r>
            <a:endParaRPr lang="ko-KR" sz="1600"/>
          </a:p>
        </p:txBody>
      </p:sp>
      <p:sp>
        <p:nvSpPr>
          <p:cNvPr id="19" name="eng_3"/>
          <p:cNvSpPr txBox="1"/>
          <p:nvPr/>
        </p:nvSpPr>
        <p:spPr>
          <a:xfrm>
            <a:off x="457200" y="4520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then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said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said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with a straight face, "This table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reproduction. It’s worth only a few pounds."</a:t>
            </a:r>
            <a:endParaRPr lang="ko-KR" sz="2000"/>
          </a:p>
        </p:txBody>
      </p:sp>
      <p:sp>
        <p:nvSpPr>
          <p:cNvPr id="20" name="rv_eng_3"/>
          <p:cNvSpPr txBox="1"/>
          <p:nvPr/>
        </p:nvSpPr>
        <p:spPr>
          <a:xfrm>
            <a:off x="457200" y="4520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then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said</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said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with a straight face, "This table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reproduction. It’s worth only a few pounds."</a:t>
            </a:r>
            <a:endParaRPr lang="ko-KR" sz="2000"/>
          </a:p>
        </p:txBody>
      </p:sp>
      <p:sp>
        <p:nvSpPr>
          <p:cNvPr id="21" name="rv_point_3"/>
          <p:cNvSpPr txBox="1"/>
          <p:nvPr/>
        </p:nvSpPr>
        <p:spPr>
          <a:xfrm>
            <a:off x="457200" y="5286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(주어 He가 직접 말함 → 능동) · 동사의 수 일치 (주어 This table 단수)</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23484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19.  </a:t>
            </a:r>
            <a:r>
              <a:rPr lang="ko-KR" altLang="en-US" sz="1600" b="0" dirty="0">
                <a:solidFill>
                  <a:srgbClr val="3C4558"/>
                </a:solidFill>
                <a:latin typeface="맑은 고딕"/>
                <a:ea typeface="맑은 고딕"/>
                <a:cs typeface="맑은 고딕"/>
              </a:rPr>
              <a:t>그는 이렇게 덧붙였다. "흠, 사 갈까 싶네요. 집에 있는 제 탁자 다리가 부러졌거든요. 댁의 탁자 다리를 잘라서 제 탁자에 붙이면 되겠어요."</a:t>
            </a:r>
            <a:endParaRPr lang="ko-KR" sz="1600"/>
          </a:p>
        </p:txBody>
      </p:sp>
      <p:sp>
        <p:nvSpPr>
          <p:cNvPr id="9" name="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He then added, "Hmm, I think I may buy it. The legs of my table at home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broken</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breaking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 can cut off the legs of your table and attach them to mine."</a:t>
            </a:r>
            <a:endParaRPr lang="ko-KR" sz="2000"/>
          </a:p>
        </p:txBody>
      </p:sp>
      <p:sp>
        <p:nvSpPr>
          <p:cNvPr id="10" name="rv_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He then added, "Hmm, I think I may buy it. The legs of my table at home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broken</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breaking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 can cut off the legs of your table and attach them to mine."</a:t>
            </a:r>
            <a:endParaRPr lang="ko-KR" sz="2000"/>
          </a:p>
        </p:txBody>
      </p:sp>
      <p:sp>
        <p:nvSpPr>
          <p:cNvPr id="11" name="rv_point_1"/>
          <p:cNvSpPr txBox="1"/>
          <p:nvPr/>
        </p:nvSpPr>
        <p:spPr>
          <a:xfrm>
            <a:off x="457200" y="2745232"/>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legs 복수, of ~는 수식어) · 수동태(능동/수동 구별) (다리가 '부러진' 상태 → be + p.p.)</a:t>
            </a:r>
            <a:endParaRPr lang="ko-KR" sz="1400"/>
          </a:p>
        </p:txBody>
      </p:sp>
      <p:sp>
        <p:nvSpPr>
          <p:cNvPr id="12" name="item_card_2"/>
          <p:cNvSpPr/>
          <p:nvPr/>
        </p:nvSpPr>
        <p:spPr>
          <a:xfrm>
            <a:off x="457200" y="3409188"/>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3518916"/>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20.  </a:t>
            </a:r>
            <a:r>
              <a:rPr lang="ko-KR" altLang="en-US" sz="1600" b="0" dirty="0">
                <a:solidFill>
                  <a:srgbClr val="3C4558"/>
                </a:solidFill>
                <a:latin typeface="맑은 고딕"/>
                <a:ea typeface="맑은 고딕"/>
                <a:cs typeface="맑은 고딕"/>
              </a:rPr>
              <a:t>"얼마 쳐 줄 건데요?" 러민스가 물었다. "많이는 못 드려요. 그냥 복제품이니까요." 보기스 씨가 대답했다.</a:t>
            </a:r>
            <a:endParaRPr lang="ko-KR" sz="1600"/>
          </a:p>
        </p:txBody>
      </p:sp>
      <p:sp>
        <p:nvSpPr>
          <p:cNvPr id="14" name="eng_2"/>
          <p:cNvSpPr txBox="1"/>
          <p:nvPr/>
        </p:nvSpPr>
        <p:spPr>
          <a:xfrm>
            <a:off x="457200" y="408178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"How much?" Rummins asked. "Not much, I’m afraid. This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just a reproduction,"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said</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said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Mr. Boggis.</a:t>
            </a:r>
            <a:endParaRPr lang="ko-KR" sz="2000"/>
          </a:p>
        </p:txBody>
      </p:sp>
      <p:sp>
        <p:nvSpPr>
          <p:cNvPr id="15" name="rv_eng_2"/>
          <p:cNvSpPr txBox="1"/>
          <p:nvPr/>
        </p:nvSpPr>
        <p:spPr>
          <a:xfrm>
            <a:off x="457200" y="408178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"How much?" Rummins asked. "Not much, I’m afraid. This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just a reproduction,"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said</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said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Mr. Boggis.</a:t>
            </a:r>
            <a:endParaRPr lang="ko-KR" sz="2000"/>
          </a:p>
        </p:txBody>
      </p:sp>
      <p:sp>
        <p:nvSpPr>
          <p:cNvPr id="16" name="rv_point_2"/>
          <p:cNvSpPr txBox="1"/>
          <p:nvPr/>
        </p:nvSpPr>
        <p:spPr>
          <a:xfrm>
            <a:off x="457200" y="484784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This 단수) · 수동태(능동/수동 구별) (주어 Mr. Boggis가 직접 말함 → 능동)</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21262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21.  </a:t>
            </a:r>
            <a:r>
              <a:rPr lang="ko-KR" altLang="en-US" sz="1600" b="0" dirty="0">
                <a:solidFill>
                  <a:srgbClr val="3C4558"/>
                </a:solidFill>
                <a:latin typeface="맑은 고딕"/>
                <a:ea typeface="맑은 고딕"/>
                <a:cs typeface="맑은 고딕"/>
              </a:rPr>
              <a:t>"그래서 얼마요?" "10파운드요." "10파운드? 그것보다는 더 나가요." "15파운드는 어때요?" "50파운드로 하죠." "음, 30파운드. 이게 마지막 제안입니다."</a:t>
            </a:r>
            <a:endParaRPr lang="ko-KR" sz="1600"/>
          </a:p>
        </p:txBody>
      </p:sp>
      <p:sp>
        <p:nvSpPr>
          <p:cNvPr id="9" name="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"So how much?" "Ten pounds." "Ten? It’s worth more than that." "How about fifteen?"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Making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Make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it fifty." "Well, thirty. This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is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are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my final offer."</a:t>
            </a:r>
            <a:endParaRPr lang="ko-KR" sz="2000"/>
          </a:p>
        </p:txBody>
      </p:sp>
      <p:sp>
        <p:nvSpPr>
          <p:cNvPr id="10" name="rv_eng_1"/>
          <p:cNvSpPr txBox="1"/>
          <p:nvPr/>
        </p:nvSpPr>
        <p:spPr>
          <a:xfrm>
            <a:off x="457200" y="1623568"/>
            <a:ext cx="11274552" cy="11765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"So how much?" "Ten pounds." "Ten? It’s worth more than that." "How about fifteen?"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Making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Make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it fifty." "Well, thirty. This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is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are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my final offer."</a:t>
            </a:r>
            <a:endParaRPr lang="ko-KR" sz="2000"/>
          </a:p>
        </p:txBody>
      </p:sp>
      <p:sp>
        <p:nvSpPr>
          <p:cNvPr id="11" name="rv_point_1"/>
          <p:cNvSpPr txBox="1"/>
          <p:nvPr/>
        </p:nvSpPr>
        <p:spPr>
          <a:xfrm>
            <a:off x="457200" y="27452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(명령문 → 동사원형) · 동사의 수 일치 (주어 This 단수)</a:t>
            </a:r>
            <a:endParaRPr lang="ko-KR" sz="1400"/>
          </a:p>
        </p:txBody>
      </p:sp>
      <p:sp>
        <p:nvSpPr>
          <p:cNvPr id="12" name="item_card_2"/>
          <p:cNvSpPr/>
          <p:nvPr/>
        </p:nvSpPr>
        <p:spPr>
          <a:xfrm>
            <a:off x="457200" y="31869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32966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22.  </a:t>
            </a:r>
            <a:r>
              <a:rPr lang="ko-KR" altLang="en-US" sz="1600" b="0" dirty="0">
                <a:solidFill>
                  <a:srgbClr val="3C4558"/>
                </a:solidFill>
                <a:latin typeface="맑은 고딕"/>
                <a:ea typeface="맑은 고딕"/>
                <a:cs typeface="맑은 고딕"/>
              </a:rPr>
              <a:t>"좋아요, 가져가세요. 그런데 어떻게 실어 가려고요? 이건 차에 안 들어갈 텐데!"</a:t>
            </a:r>
            <a:endParaRPr lang="ko-KR" sz="1600"/>
          </a:p>
        </p:txBody>
      </p:sp>
      <p:sp>
        <p:nvSpPr>
          <p:cNvPr id="14" name="eng_2"/>
          <p:cNvSpPr txBox="1"/>
          <p:nvPr/>
        </p:nvSpPr>
        <p:spPr>
          <a:xfrm>
            <a:off x="457200" y="36055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"OK, it’s yours, but how are you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going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go</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taking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take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it? This thing will not go in a car!"</a:t>
            </a:r>
            <a:endParaRPr lang="ko-KR" sz="2000"/>
          </a:p>
        </p:txBody>
      </p:sp>
      <p:sp>
        <p:nvSpPr>
          <p:cNvPr id="15" name="rv_eng_2"/>
          <p:cNvSpPr txBox="1"/>
          <p:nvPr/>
        </p:nvSpPr>
        <p:spPr>
          <a:xfrm>
            <a:off x="457200" y="36055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"OK, it’s yours, but how are you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going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go</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taking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 take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it? This thing will not go in a car!"</a:t>
            </a:r>
            <a:endParaRPr lang="ko-KR" sz="2000"/>
          </a:p>
        </p:txBody>
      </p:sp>
      <p:sp>
        <p:nvSpPr>
          <p:cNvPr id="16" name="rv_point_2"/>
          <p:cNvSpPr txBox="1"/>
          <p:nvPr/>
        </p:nvSpPr>
        <p:spPr>
          <a:xfrm>
            <a:off x="457200" y="43715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(be going to: 진행형 V-ing) · to부정사/동명사/동사원형 (be going + to부정사)</a:t>
            </a:r>
            <a:endParaRPr lang="ko-KR" sz="1400"/>
          </a:p>
        </p:txBody>
      </p:sp>
      <p:sp>
        <p:nvSpPr>
          <p:cNvPr id="17" name="item_card_3"/>
          <p:cNvSpPr/>
          <p:nvPr/>
        </p:nvSpPr>
        <p:spPr>
          <a:xfrm>
            <a:off x="457200" y="48133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9230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23.  </a:t>
            </a:r>
            <a:r>
              <a:rPr lang="ko-KR" altLang="en-US" sz="1600" b="0" dirty="0">
                <a:solidFill>
                  <a:srgbClr val="3C4558"/>
                </a:solidFill>
                <a:latin typeface="맑은 고딕"/>
                <a:ea typeface="맑은 고딕"/>
                <a:cs typeface="맑은 고딕"/>
              </a:rPr>
              <a:t>"두고 보죠." 보기스 씨는 그렇게 말하고 차를 가지러 밖으로 나갔다.</a:t>
            </a:r>
            <a:endParaRPr lang="ko-KR" sz="1600"/>
          </a:p>
        </p:txBody>
      </p:sp>
      <p:sp>
        <p:nvSpPr>
          <p:cNvPr id="19" name="eng_3"/>
          <p:cNvSpPr txBox="1"/>
          <p:nvPr/>
        </p:nvSpPr>
        <p:spPr>
          <a:xfrm>
            <a:off x="457200" y="52318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"We’ll see," Mr. Boggis said and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gone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out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bring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bringing</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his car.</a:t>
            </a:r>
            <a:endParaRPr lang="ko-KR" sz="2000"/>
          </a:p>
        </p:txBody>
      </p:sp>
      <p:sp>
        <p:nvSpPr>
          <p:cNvPr id="20" name="rv_eng_3"/>
          <p:cNvSpPr txBox="1"/>
          <p:nvPr/>
        </p:nvSpPr>
        <p:spPr>
          <a:xfrm>
            <a:off x="457200" y="52318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"We’ll see," Mr. Boggis said and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gone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went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out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 bring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bringing</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his car.</a:t>
            </a:r>
            <a:endParaRPr lang="ko-KR" sz="2000"/>
          </a:p>
        </p:txBody>
      </p:sp>
      <p:sp>
        <p:nvSpPr>
          <p:cNvPr id="21" name="rv_point_3"/>
          <p:cNvSpPr txBox="1"/>
          <p:nvPr/>
        </p:nvSpPr>
        <p:spPr>
          <a:xfrm>
            <a:off x="457200" y="59979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go는 수동태 불가) · to부정사/동명사/동사원형 (목적: ~하기 위해)</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1610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24.  </a:t>
            </a:r>
            <a:r>
              <a:rPr lang="ko-KR" altLang="en-US" sz="1600" b="0" dirty="0">
                <a:solidFill>
                  <a:srgbClr val="3C4558"/>
                </a:solidFill>
                <a:latin typeface="맑은 고딕"/>
                <a:ea typeface="맑은 고딕"/>
                <a:cs typeface="맑은 고딕"/>
              </a:rPr>
              <a:t>차로 가는 길에 보기스 씨는 웃음을 참을 수가 없었다.</a:t>
            </a:r>
            <a:endParaRPr lang="ko-KR" sz="1600"/>
          </a:p>
        </p:txBody>
      </p:sp>
      <p:sp>
        <p:nvSpPr>
          <p:cNvPr id="9" name="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On his way to the car, Mr. Boggis couldn’t help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smiling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smile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a:t>
            </a:r>
            <a:endParaRPr lang="ko-KR" sz="2000"/>
          </a:p>
        </p:txBody>
      </p:sp>
      <p:sp>
        <p:nvSpPr>
          <p:cNvPr id="10" name="rv_eng_1"/>
          <p:cNvSpPr txBox="1"/>
          <p:nvPr/>
        </p:nvSpPr>
        <p:spPr>
          <a:xfrm>
            <a:off x="457200" y="1369568"/>
            <a:ext cx="11274552" cy="4653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On his way to the car, Mr. Boggis couldn’t help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smiling</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smile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a:t>
            </a:r>
            <a:endParaRPr lang="ko-KR" sz="2000"/>
          </a:p>
        </p:txBody>
      </p:sp>
      <p:sp>
        <p:nvSpPr>
          <p:cNvPr id="11" name="rv_point_1"/>
          <p:cNvSpPr txBox="1"/>
          <p:nvPr/>
        </p:nvSpPr>
        <p:spPr>
          <a:xfrm>
            <a:off x="457200" y="17800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to부정사/동명사/동사원형 (cannot help + V-ing)</a:t>
            </a:r>
            <a:endParaRPr lang="ko-KR" sz="1400"/>
          </a:p>
        </p:txBody>
      </p:sp>
      <p:sp>
        <p:nvSpPr>
          <p:cNvPr id="12" name="item_card_2"/>
          <p:cNvSpPr/>
          <p:nvPr/>
        </p:nvSpPr>
        <p:spPr>
          <a:xfrm>
            <a:off x="457200" y="22217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3314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25.  </a:t>
            </a:r>
            <a:r>
              <a:rPr lang="ko-KR" altLang="en-US" sz="1600" b="0" dirty="0">
                <a:solidFill>
                  <a:srgbClr val="3C4558"/>
                </a:solidFill>
                <a:latin typeface="맑은 고딕"/>
                <a:ea typeface="맑은 고딕"/>
                <a:cs typeface="맑은 고딕"/>
              </a:rPr>
              <a:t>그 탁자는 모든 상인이 꿈꾸던 바로 그 물건이었다. 그는 자신의 행운이 믿기지 않았다.</a:t>
            </a:r>
            <a:endParaRPr lang="ko-KR" sz="1600"/>
          </a:p>
        </p:txBody>
      </p:sp>
      <p:sp>
        <p:nvSpPr>
          <p:cNvPr id="14" name="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The table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what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which</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every dealer dreamed of. He couldn’t believe his luck.</a:t>
            </a:r>
            <a:endParaRPr lang="ko-KR" sz="2000"/>
          </a:p>
        </p:txBody>
      </p:sp>
      <p:sp>
        <p:nvSpPr>
          <p:cNvPr id="15" name="rv_eng_2"/>
          <p:cNvSpPr txBox="1"/>
          <p:nvPr/>
        </p:nvSpPr>
        <p:spPr>
          <a:xfrm>
            <a:off x="457200" y="26403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The table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what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which</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every dealer dreamed of. He couldn’t believe his luck.</a:t>
            </a:r>
            <a:endParaRPr lang="ko-KR" sz="2000"/>
          </a:p>
        </p:txBody>
      </p:sp>
      <p:sp>
        <p:nvSpPr>
          <p:cNvPr id="16" name="rv_point_2"/>
          <p:cNvSpPr txBox="1"/>
          <p:nvPr/>
        </p:nvSpPr>
        <p:spPr>
          <a:xfrm>
            <a:off x="457200" y="34063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The table 단수) · 관계대명사 (선행사 없음 → 관계대명사 what)</a:t>
            </a:r>
            <a:endParaRPr lang="ko-KR" sz="1400"/>
          </a:p>
        </p:txBody>
      </p:sp>
      <p:sp>
        <p:nvSpPr>
          <p:cNvPr id="17" name="item_card_3"/>
          <p:cNvSpPr/>
          <p:nvPr/>
        </p:nvSpPr>
        <p:spPr>
          <a:xfrm>
            <a:off x="457200" y="3848100"/>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39578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26.  </a:t>
            </a:r>
            <a:r>
              <a:rPr lang="ko-KR" altLang="en-US" sz="1600" b="0" dirty="0">
                <a:solidFill>
                  <a:srgbClr val="3C4558"/>
                </a:solidFill>
                <a:latin typeface="맑은 고딕"/>
                <a:ea typeface="맑은 고딕"/>
                <a:cs typeface="맑은 고딕"/>
              </a:rPr>
              <a:t>"아빠, 이게 저 사람 차에 안 들어가면 어떡해요? 돈을 안 줄지도 몰라요." 버트가 말했다.</a:t>
            </a:r>
            <a:endParaRPr lang="ko-KR" sz="1600"/>
          </a:p>
        </p:txBody>
      </p:sp>
      <p:sp>
        <p:nvSpPr>
          <p:cNvPr id="19" name="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"Dad, what if this thing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doesn’t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don’t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go in his car? He might not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pay</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pay</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you," said Bert.</a:t>
            </a:r>
            <a:endParaRPr lang="ko-KR" sz="2000"/>
          </a:p>
        </p:txBody>
      </p:sp>
      <p:sp>
        <p:nvSpPr>
          <p:cNvPr id="20" name="rv_eng_3"/>
          <p:cNvSpPr txBox="1"/>
          <p:nvPr/>
        </p:nvSpPr>
        <p:spPr>
          <a:xfrm>
            <a:off x="457200" y="42666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"Dad, what if this thing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doesn’t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don’t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go in his car? He might not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pay</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pay</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you," said Bert.</a:t>
            </a:r>
            <a:endParaRPr lang="ko-KR" sz="2000"/>
          </a:p>
        </p:txBody>
      </p:sp>
      <p:sp>
        <p:nvSpPr>
          <p:cNvPr id="21" name="rv_point_3"/>
          <p:cNvSpPr txBox="1"/>
          <p:nvPr/>
        </p:nvSpPr>
        <p:spPr>
          <a:xfrm>
            <a:off x="457200" y="5032756"/>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this thing 단수) · to부정사/동명사/동사원형 (조동사 might + 동사원형)</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10</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770633"/>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17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27.  </a:t>
            </a:r>
            <a:r>
              <a:rPr lang="ko-KR" altLang="en-US" sz="1600" b="0" dirty="0">
                <a:solidFill>
                  <a:srgbClr val="3C4558"/>
                </a:solidFill>
                <a:latin typeface="맑은 고딕"/>
                <a:ea typeface="맑은 고딕"/>
                <a:cs typeface="맑은 고딕"/>
              </a:rPr>
              <a:t>그때 러민스에게 생각이 떠올랐다. "저 사람한테 필요한 건 다리뿐이야. 우리가 다리를 잘라 주자." 러민스가 말했다.</a:t>
            </a:r>
            <a:endParaRPr lang="ko-KR" sz="1600"/>
          </a:p>
        </p:txBody>
      </p:sp>
      <p:sp>
        <p:nvSpPr>
          <p:cNvPr id="9" name="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Rummins then had an idea.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That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What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he wants is only the legs. Let’s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cut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cut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the legs off for him," said Rummins.</a:t>
            </a:r>
            <a:endParaRPr lang="ko-KR" sz="2000"/>
          </a:p>
        </p:txBody>
      </p:sp>
      <p:sp>
        <p:nvSpPr>
          <p:cNvPr id="10" name="rv_eng_1"/>
          <p:cNvSpPr txBox="1"/>
          <p:nvPr/>
        </p:nvSpPr>
        <p:spPr>
          <a:xfrm>
            <a:off x="457200" y="1623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Rummins then had an idea.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That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What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he wants is only the legs. Let’s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cut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cut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the legs off for him," said Rummins.</a:t>
            </a:r>
            <a:endParaRPr lang="ko-KR" sz="2000"/>
          </a:p>
        </p:txBody>
      </p:sp>
      <p:sp>
        <p:nvSpPr>
          <p:cNvPr id="11" name="rv_point_1"/>
          <p:cNvSpPr txBox="1"/>
          <p:nvPr/>
        </p:nvSpPr>
        <p:spPr>
          <a:xfrm>
            <a:off x="457200" y="2389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관계대명사 (선행사 없음, '~하는 것' → what) · to부정사/동명사/동사원형 (Let’s + 동사원형)</a:t>
            </a:r>
            <a:endParaRPr lang="ko-KR" sz="1400"/>
          </a:p>
        </p:txBody>
      </p:sp>
      <p:sp>
        <p:nvSpPr>
          <p:cNvPr id="12" name="item_card_2"/>
          <p:cNvSpPr/>
          <p:nvPr/>
        </p:nvSpPr>
        <p:spPr>
          <a:xfrm>
            <a:off x="457200" y="2831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941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28.  </a:t>
            </a:r>
            <a:r>
              <a:rPr lang="ko-KR" altLang="en-US" sz="1600" b="0" dirty="0">
                <a:solidFill>
                  <a:srgbClr val="3C4558"/>
                </a:solidFill>
                <a:latin typeface="맑은 고딕"/>
                <a:ea typeface="맑은 고딕"/>
                <a:cs typeface="맑은 고딕"/>
              </a:rPr>
              <a:t>"좋은 생각이에요!" 버트가 말했다. 버트는 곧 톱을 꺼내 탁자 다리를 자르기 시작했다.</a:t>
            </a:r>
            <a:endParaRPr lang="ko-KR" sz="1600"/>
          </a:p>
        </p:txBody>
      </p:sp>
      <p:sp>
        <p:nvSpPr>
          <p:cNvPr id="14" name="eng_2"/>
          <p:cNvSpPr txBox="1"/>
          <p:nvPr/>
        </p:nvSpPr>
        <p:spPr>
          <a:xfrm>
            <a:off x="457200" y="3249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"Great idea!" said Bert. Bert then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took</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was taken</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out a saw and began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cut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cut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off the legs.</a:t>
            </a:r>
            <a:endParaRPr lang="ko-KR" sz="2000"/>
          </a:p>
        </p:txBody>
      </p:sp>
      <p:sp>
        <p:nvSpPr>
          <p:cNvPr id="15" name="rv_eng_2"/>
          <p:cNvSpPr txBox="1"/>
          <p:nvPr/>
        </p:nvSpPr>
        <p:spPr>
          <a:xfrm>
            <a:off x="457200" y="3249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"Great idea!" said Bert. Bert then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took</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was taken</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out a saw and began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cut</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to cut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off the legs.</a:t>
            </a:r>
            <a:endParaRPr lang="ko-KR" sz="2000"/>
          </a:p>
        </p:txBody>
      </p:sp>
      <p:sp>
        <p:nvSpPr>
          <p:cNvPr id="16" name="rv_point_2"/>
          <p:cNvSpPr txBox="1"/>
          <p:nvPr/>
        </p:nvSpPr>
        <p:spPr>
          <a:xfrm>
            <a:off x="457200" y="4015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(목적어 a saw가 있으므로 능동) · to부정사/동명사/동사원형 (begin + to부정사)</a:t>
            </a:r>
            <a:endParaRPr lang="ko-KR" sz="1400"/>
          </a:p>
        </p:txBody>
      </p:sp>
      <p:sp>
        <p:nvSpPr>
          <p:cNvPr id="17" name="item_card_3"/>
          <p:cNvSpPr/>
          <p:nvPr/>
        </p:nvSpPr>
        <p:spPr>
          <a:xfrm>
            <a:off x="457200" y="4457700"/>
            <a:ext cx="11274552" cy="173888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8" name="kor_3"/>
          <p:cNvSpPr txBox="1"/>
          <p:nvPr/>
        </p:nvSpPr>
        <p:spPr>
          <a:xfrm>
            <a:off x="457200" y="4567428"/>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29.  </a:t>
            </a:r>
            <a:r>
              <a:rPr lang="ko-KR" altLang="en-US" sz="1600" b="0" dirty="0">
                <a:solidFill>
                  <a:srgbClr val="3C4558"/>
                </a:solidFill>
                <a:latin typeface="맑은 고딕"/>
                <a:ea typeface="맑은 고딕"/>
                <a:cs typeface="맑은 고딕"/>
              </a:rPr>
              <a:t>보기스 씨가 돌아왔을 때 탁자 다리는 이미 잘려 나가 있었다.</a:t>
            </a:r>
            <a:endParaRPr lang="ko-KR" sz="1600"/>
          </a:p>
        </p:txBody>
      </p:sp>
      <p:sp>
        <p:nvSpPr>
          <p:cNvPr id="19" name="eng_3"/>
          <p:cNvSpPr txBox="1"/>
          <p:nvPr/>
        </p:nvSpPr>
        <p:spPr>
          <a:xfrm>
            <a:off x="457200" y="4876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When Mr. Boggis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 come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came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back, the legs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had been cut</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had cut</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off.</a:t>
            </a:r>
            <a:endParaRPr lang="ko-KR" sz="2000"/>
          </a:p>
        </p:txBody>
      </p:sp>
      <p:sp>
        <p:nvSpPr>
          <p:cNvPr id="20" name="rv_eng_3"/>
          <p:cNvSpPr txBox="1"/>
          <p:nvPr/>
        </p:nvSpPr>
        <p:spPr>
          <a:xfrm>
            <a:off x="457200" y="4876292"/>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When Mr. Boggis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was come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came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back, the legs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had been cut</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had cut</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off.</a:t>
            </a:r>
            <a:endParaRPr lang="ko-KR" sz="2000"/>
          </a:p>
        </p:txBody>
      </p:sp>
      <p:sp>
        <p:nvSpPr>
          <p:cNvPr id="21" name="rv_point_3"/>
          <p:cNvSpPr txBox="1"/>
          <p:nvPr/>
        </p:nvSpPr>
        <p:spPr>
          <a:xfrm>
            <a:off x="457200" y="5642356"/>
            <a:ext cx="11274552" cy="554227"/>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수동태(능동/수동 구별) (자동사 come은 수동태 불가) · 수동태(능동/수동 구별) (다리가 '잘린' 것 → 과거완료 수동)</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5 · 11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  ] 안에서 어법상 알맞은 것을 고르시오.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정답(빨간색) + 문법 포인트 공개</a:t>
            </a:r>
            <a:endParaRPr lang="ko-KR" sz="1000"/>
          </a:p>
        </p:txBody>
      </p:sp>
      <p:sp>
        <p:nvSpPr>
          <p:cNvPr id="7" name="item_card_1"/>
          <p:cNvSpPr/>
          <p:nvPr/>
        </p:nvSpPr>
        <p:spPr>
          <a:xfrm>
            <a:off x="457200" y="950976"/>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30.  </a:t>
            </a:r>
            <a:r>
              <a:rPr lang="ko-KR" altLang="en-US" sz="1600" b="0" dirty="0">
                <a:solidFill>
                  <a:srgbClr val="3C4558"/>
                </a:solidFill>
                <a:latin typeface="맑은 고딕"/>
                <a:ea typeface="맑은 고딕"/>
                <a:cs typeface="맑은 고딕"/>
              </a:rPr>
              <a:t>"걱정 마세요, 이건 그냥 서비스예요. 따로 돈은 안 받을게요." 러민스가 말했다.</a:t>
            </a:r>
            <a:endParaRPr lang="ko-KR" sz="1600"/>
          </a:p>
        </p:txBody>
      </p:sp>
      <p:sp>
        <p:nvSpPr>
          <p:cNvPr id="9" name="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"Don’t worry, this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was</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were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 favor. I won’t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to charge</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charge</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you for this," said Rummins.</a:t>
            </a:r>
            <a:endParaRPr lang="ko-KR" sz="2000"/>
          </a:p>
        </p:txBody>
      </p:sp>
      <p:sp>
        <p:nvSpPr>
          <p:cNvPr id="10" name="rv_eng_1"/>
          <p:cNvSpPr txBox="1"/>
          <p:nvPr/>
        </p:nvSpPr>
        <p:spPr>
          <a:xfrm>
            <a:off x="457200" y="1369568"/>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"Don’t worry, this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was</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were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 favor. I won’t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to charge</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charge</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you for this," said Rummins.</a:t>
            </a:r>
            <a:endParaRPr lang="ko-KR" sz="2000"/>
          </a:p>
        </p:txBody>
      </p:sp>
      <p:sp>
        <p:nvSpPr>
          <p:cNvPr id="11" name="rv_point_1"/>
          <p:cNvSpPr txBox="1"/>
          <p:nvPr/>
        </p:nvSpPr>
        <p:spPr>
          <a:xfrm>
            <a:off x="457200" y="2135632"/>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동사의 수 일치 (주어 this 단수) · to부정사/동명사/동사원형 (조동사 won’t + 동사원형)</a:t>
            </a:r>
            <a:endParaRPr lang="ko-KR" sz="1400"/>
          </a:p>
        </p:txBody>
      </p:sp>
      <p:sp>
        <p:nvSpPr>
          <p:cNvPr id="12" name="item_card_2"/>
          <p:cNvSpPr/>
          <p:nvPr/>
        </p:nvSpPr>
        <p:spPr>
          <a:xfrm>
            <a:off x="457200" y="2577338"/>
            <a:ext cx="11274552" cy="1516634"/>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3" name="kor_2"/>
          <p:cNvSpPr txBox="1"/>
          <p:nvPr/>
        </p:nvSpPr>
        <p:spPr>
          <a:xfrm>
            <a:off x="457200" y="2687066"/>
            <a:ext cx="11274552" cy="363728"/>
          </a:xfrm>
          <a:prstGeom prst="rect">
            <a:avLst/>
          </a:prstGeom>
          <a:noFill/>
        </p:spPr>
        <p:txBody>
          <a:bodyPr wrap="square" lIns="228600" tIns="54864" rIns="228600" bIns="54864" anchor="t" rtlCol="0">
            <a:noAutofit/>
          </a:bodyPr>
          <a:lstStyle/>
          <a:p>
            <a:pPr algn="l">
              <a:lnSpc>
                <a:spcPts val="2000"/>
              </a:lnSpc>
              <a:spcBef>
                <a:spcPts val="0"/>
              </a:spcBef>
              <a:spcAft>
                <a:spcPts val="0"/>
              </a:spcAft>
              <a:buNone/>
            </a:pPr>
            <a:r>
              <a:rPr lang="en-US" altLang="en-US" sz="1600" b="1" dirty="0">
                <a:solidFill>
                  <a:srgbClr val="1E2A5A"/>
                </a:solidFill>
                <a:latin typeface="Calibri"/>
                <a:ea typeface="맑은 고딕"/>
                <a:cs typeface="Calibri"/>
              </a:rPr>
              <a:t>31.  </a:t>
            </a:r>
            <a:r>
              <a:rPr lang="ko-KR" altLang="en-US" sz="1600" b="0" dirty="0">
                <a:solidFill>
                  <a:srgbClr val="3C4558"/>
                </a:solidFill>
                <a:latin typeface="맑은 고딕"/>
                <a:ea typeface="맑은 고딕"/>
                <a:cs typeface="맑은 고딕"/>
              </a:rPr>
              <a:t>보기스 씨는 너무 충격을 받아 아무 말도 하지 못했다.</a:t>
            </a:r>
            <a:endParaRPr lang="ko-KR" sz="1600"/>
          </a:p>
        </p:txBody>
      </p:sp>
      <p:sp>
        <p:nvSpPr>
          <p:cNvPr id="14" name="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solidFill>
                <a:latin typeface="Calibri"/>
                <a:ea typeface="맑은 고딕"/>
                <a:cs typeface="Calibri"/>
              </a:rPr>
              <a:t>Mr. Boggis was so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shocking</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shocked</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that he couldn’t </a:t>
            </a:r>
            <a:r>
              <a:rPr lang="en-US" altLang="en-US" sz="2000" b="1" dirty="0">
                <a:solidFill>
                  <a:srgbClr val="1E2A5A"/>
                </a:solidFill>
                <a:latin typeface="Calibri"/>
                <a:ea typeface="맑은 고딕"/>
                <a:cs typeface="Calibri"/>
              </a:rPr>
              <a:t>[ </a:t>
            </a:r>
            <a:r>
              <a:rPr lang="en-US" altLang="en-US" sz="2000" b="1" dirty="0">
                <a:solidFill>
                  <a:srgbClr val="1E2A5A"/>
                </a:solidFill>
                <a:latin typeface="Calibri"/>
                <a:ea typeface="맑은 고딕"/>
                <a:cs typeface="Calibri"/>
              </a:rPr>
              <a:t>say</a:t>
            </a:r>
            <a:r>
              <a:rPr lang="en-US" altLang="en-US" sz="2000" b="1" dirty="0">
                <a:solidFill>
                  <a:srgbClr val="1E2A5A"/>
                </a:solidFill>
                <a:latin typeface="Calibri"/>
                <a:ea typeface="맑은 고딕"/>
                <a:cs typeface="Calibri"/>
              </a:rPr>
              <a:t> / </a:t>
            </a:r>
            <a:r>
              <a:rPr lang="en-US" altLang="en-US" sz="2000" b="1" dirty="0">
                <a:solidFill>
                  <a:srgbClr val="1E2A5A"/>
                </a:solidFill>
                <a:latin typeface="Calibri"/>
                <a:ea typeface="맑은 고딕"/>
                <a:cs typeface="Calibri"/>
              </a:rPr>
              <a:t>to say</a:t>
            </a:r>
            <a:r>
              <a:rPr lang="en-US" altLang="en-US" sz="2000" b="1" dirty="0">
                <a:solidFill>
                  <a:srgbClr val="1E2A5A"/>
                </a:solidFill>
                <a:latin typeface="Calibri"/>
                <a:ea typeface="맑은 고딕"/>
                <a:cs typeface="Calibri"/>
              </a:rPr>
              <a:t> ]</a:t>
            </a:r>
            <a:r>
              <a:rPr lang="en-US" altLang="en-US" sz="2000" b="0" dirty="0">
                <a:solidFill>
                  <a:srgbClr val="1F2328"/>
                </a:solidFill>
                <a:latin typeface="Calibri"/>
                <a:ea typeface="맑은 고딕"/>
                <a:cs typeface="Calibri"/>
              </a:rPr>
              <a:t> anything.</a:t>
            </a:r>
            <a:endParaRPr lang="ko-KR" sz="2000"/>
          </a:p>
        </p:txBody>
      </p:sp>
      <p:sp>
        <p:nvSpPr>
          <p:cNvPr id="15" name="rv_eng_2"/>
          <p:cNvSpPr txBox="1"/>
          <p:nvPr/>
        </p:nvSpPr>
        <p:spPr>
          <a:xfrm>
            <a:off x="457200" y="2995930"/>
            <a:ext cx="11274552" cy="820928"/>
          </a:xfrm>
          <a:prstGeom prst="rect">
            <a:avLst/>
          </a:prstGeom>
          <a:noFill/>
        </p:spPr>
        <p:txBody>
          <a:bodyPr wrap="square" lIns="228600" tIns="54864" rIns="228600" bIns="54864" anchor="t" rtlCol="0">
            <a:noAutofit/>
          </a:bodyPr>
          <a:lstStyle/>
          <a:p>
            <a:pPr algn="l">
              <a:lnSpc>
                <a:spcPts val="2800"/>
              </a:lnSpc>
              <a:spcBef>
                <a:spcPts val="0"/>
              </a:spcBef>
              <a:spcAft>
                <a:spcPts val="0"/>
              </a:spcAft>
              <a:buNone/>
            </a:pPr>
            <a:r>
              <a:rPr lang="en-US" altLang="en-US" sz="2000" b="0" dirty="0">
                <a:solidFill>
                  <a:srgbClr val="1F2328">
                    <a:alpha val="0"/>
                  </a:srgbClr>
                </a:solidFill>
                <a:latin typeface="Calibri"/>
                <a:ea typeface="맑은 고딕"/>
                <a:cs typeface="Calibri"/>
              </a:rPr>
              <a:t>Mr. Boggis was so </a:t>
            </a:r>
            <a:r>
              <a:rPr lang="en-US" altLang="en-US" sz="2000" b="1" dirty="0">
                <a:solidFill>
                  <a:srgbClr val="C00000">
                    <a:alpha val="0"/>
                  </a:srgbClr>
                </a:solidFill>
                <a:latin typeface="Calibri"/>
                <a:ea typeface="맑은 고딕"/>
                <a:cs typeface="Calibri"/>
              </a:rPr>
              <a:t>[ </a:t>
            </a:r>
            <a:r>
              <a:rPr lang="en-US" altLang="en-US" sz="2000" b="1" dirty="0">
                <a:solidFill>
                  <a:srgbClr val="C00000">
                    <a:alpha val="0"/>
                  </a:srgbClr>
                </a:solidFill>
                <a:latin typeface="Calibri"/>
                <a:ea typeface="맑은 고딕"/>
                <a:cs typeface="Calibri"/>
              </a:rPr>
              <a:t>shocking</a:t>
            </a:r>
            <a:r>
              <a:rPr lang="en-US" altLang="en-US" sz="2000" b="1" dirty="0">
                <a:solidFill>
                  <a:srgbClr val="C00000">
                    <a:alpha val="0"/>
                  </a:srgbClr>
                </a:solidFill>
                <a:latin typeface="Calibri"/>
                <a:ea typeface="맑은 고딕"/>
                <a:cs typeface="Calibri"/>
              </a:rPr>
              <a:t> / </a:t>
            </a:r>
            <a:r>
              <a:rPr lang="en-US" altLang="en-US" sz="2000" b="1" dirty="0">
                <a:solidFill>
                  <a:srgbClr val="C00000"/>
                </a:solidFill>
                <a:latin typeface="Calibri"/>
                <a:ea typeface="맑은 고딕"/>
                <a:cs typeface="Calibri"/>
              </a:rPr>
              <a:t>shocked</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that he couldn’t </a:t>
            </a:r>
            <a:r>
              <a:rPr lang="en-US" altLang="en-US" sz="2000" b="1" dirty="0">
                <a:solidFill>
                  <a:srgbClr val="C00000">
                    <a:alpha val="0"/>
                  </a:srgbClr>
                </a:solidFill>
                <a:latin typeface="Calibri"/>
                <a:ea typeface="맑은 고딕"/>
                <a:cs typeface="Calibri"/>
              </a:rPr>
              <a:t>[ </a:t>
            </a:r>
            <a:r>
              <a:rPr lang="en-US" altLang="en-US" sz="2000" b="1" dirty="0">
                <a:solidFill>
                  <a:srgbClr val="C00000"/>
                </a:solidFill>
                <a:latin typeface="Calibri"/>
                <a:ea typeface="맑은 고딕"/>
                <a:cs typeface="Calibri"/>
              </a:rPr>
              <a:t>say</a:t>
            </a:r>
            <a:r>
              <a:rPr lang="en-US" altLang="en-US" sz="2000" b="1" dirty="0">
                <a:solidFill>
                  <a:srgbClr val="C00000">
                    <a:alpha val="0"/>
                  </a:srgbClr>
                </a:solidFill>
                <a:latin typeface="Calibri"/>
                <a:ea typeface="맑은 고딕"/>
                <a:cs typeface="Calibri"/>
              </a:rPr>
              <a:t> / </a:t>
            </a:r>
            <a:r>
              <a:rPr lang="en-US" altLang="en-US" sz="2000" b="1" dirty="0">
                <a:solidFill>
                  <a:srgbClr val="C00000">
                    <a:alpha val="0"/>
                  </a:srgbClr>
                </a:solidFill>
                <a:latin typeface="Calibri"/>
                <a:ea typeface="맑은 고딕"/>
                <a:cs typeface="Calibri"/>
              </a:rPr>
              <a:t>to say</a:t>
            </a:r>
            <a:r>
              <a:rPr lang="en-US" altLang="en-US" sz="2000" b="1" dirty="0">
                <a:solidFill>
                  <a:srgbClr val="C00000">
                    <a:alpha val="0"/>
                  </a:srgbClr>
                </a:solidFill>
                <a:latin typeface="Calibri"/>
                <a:ea typeface="맑은 고딕"/>
                <a:cs typeface="Calibri"/>
              </a:rPr>
              <a:t> ]</a:t>
            </a:r>
            <a:r>
              <a:rPr lang="en-US" altLang="en-US" sz="2000" b="0" dirty="0">
                <a:solidFill>
                  <a:srgbClr val="1F2328">
                    <a:alpha val="0"/>
                  </a:srgbClr>
                </a:solidFill>
                <a:latin typeface="Calibri"/>
                <a:ea typeface="맑은 고딕"/>
                <a:cs typeface="Calibri"/>
              </a:rPr>
              <a:t> anything.</a:t>
            </a:r>
            <a:endParaRPr lang="ko-KR" sz="2000"/>
          </a:p>
        </p:txBody>
      </p:sp>
      <p:sp>
        <p:nvSpPr>
          <p:cNvPr id="16" name="rv_point_2"/>
          <p:cNvSpPr txBox="1"/>
          <p:nvPr/>
        </p:nvSpPr>
        <p:spPr>
          <a:xfrm>
            <a:off x="457200" y="3761994"/>
            <a:ext cx="11274552" cy="331978"/>
          </a:xfrm>
          <a:prstGeom prst="rect">
            <a:avLst/>
          </a:prstGeom>
          <a:noFill/>
        </p:spPr>
        <p:txBody>
          <a:bodyPr wrap="square" lIns="228600" tIns="54864" rIns="228600" bIns="54864" anchor="t" rtlCol="0">
            <a:noAutofit/>
          </a:bodyPr>
          <a:lstStyle/>
          <a:p>
            <a:pPr algn="l">
              <a:lnSpc>
                <a:spcPts val="1750"/>
              </a:lnSpc>
              <a:spcBef>
                <a:spcPts val="0"/>
              </a:spcBef>
              <a:spcAft>
                <a:spcPts val="0"/>
              </a:spcAft>
              <a:buNone/>
            </a:pPr>
            <a:r>
              <a:rPr lang="ko-KR" altLang="en-US" sz="1400" b="1" dirty="0">
                <a:solidFill>
                  <a:srgbClr val="C00000"/>
                </a:solidFill>
                <a:latin typeface="맑은 고딕"/>
                <a:ea typeface="맑은 고딕"/>
                <a:cs typeface="맑은 고딕"/>
              </a:rPr>
              <a:t>포인트  </a:t>
            </a:r>
            <a:r>
              <a:rPr lang="ko-KR" altLang="en-US" sz="1400" b="0" dirty="0">
                <a:solidFill>
                  <a:srgbClr val="2F5597"/>
                </a:solidFill>
                <a:latin typeface="맑은 고딕"/>
                <a:ea typeface="맑은 고딕"/>
                <a:cs typeface="맑은 고딕"/>
              </a:rPr>
              <a:t>분사 (충격을 '받은' 사람 → 과거분사) · to부정사/동명사/동사원형 (조동사 couldn’t + 동사원형)</a:t>
            </a:r>
            <a:endParaRPr lang="ko-KR"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5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sec_title"/>
          <p:cNvSpPr txBox="1"/>
          <p:nvPr/>
        </p:nvSpPr>
        <p:spPr>
          <a:xfrm>
            <a:off x="822960" y="1371600"/>
            <a:ext cx="10515600" cy="868680"/>
          </a:xfrm>
          <a:prstGeom prst="rect">
            <a:avLst/>
          </a:prstGeom>
          <a:noFill/>
        </p:spPr>
        <p:txBody>
          <a:bodyPr wrap="square" lIns="109728" tIns="54864" rIns="109728" bIns="54864" anchor="t" rtlCol="0">
            <a:noAutofit/>
          </a:bodyPr>
          <a:lstStyle/>
          <a:p>
            <a:pPr algn="l">
              <a:lnSpc>
                <a:spcPts val="4800"/>
              </a:lnSpc>
              <a:spcBef>
                <a:spcPts val="0"/>
              </a:spcBef>
              <a:spcAft>
                <a:spcPts val="0"/>
              </a:spcAft>
              <a:buNone/>
            </a:pPr>
            <a:r>
              <a:rPr lang="ko-KR" altLang="en-US" sz="4000" b="1" dirty="0">
                <a:solidFill>
                  <a:srgbClr val="FFE98A"/>
                </a:solidFill>
                <a:latin typeface="맑은 고딕"/>
                <a:ea typeface="맑은 고딕"/>
                <a:cs typeface="맑은 고딕"/>
              </a:rPr>
              <a:t>PART 6  </a:t>
            </a:r>
            <a:r>
              <a:rPr lang="ko-KR" altLang="en-US" sz="4000" b="1" dirty="0">
                <a:solidFill>
                  <a:srgbClr val="FFFFFF"/>
                </a:solidFill>
                <a:latin typeface="맑은 고딕"/>
                <a:ea typeface="맑은 고딕"/>
                <a:cs typeface="맑은 고딕"/>
              </a:rPr>
              <a:t>순서배열 부분영작</a:t>
            </a:r>
            <a:endParaRPr lang="ko-KR" sz="4000"/>
          </a:p>
        </p:txBody>
      </p:sp>
      <p:sp>
        <p:nvSpPr>
          <p:cNvPr id="3" name="sec_exam"/>
          <p:cNvSpPr txBox="1"/>
          <p:nvPr/>
        </p:nvSpPr>
        <p:spPr>
          <a:xfrm>
            <a:off x="822960" y="2240280"/>
            <a:ext cx="10515600" cy="502920"/>
          </a:xfrm>
          <a:prstGeom prst="rect">
            <a:avLst/>
          </a:prstGeom>
          <a:noFill/>
        </p:spPr>
        <p:txBody>
          <a:bodyPr wrap="square" lIns="109728" tIns="54864" rIns="109728" bIns="54864" anchor="t" rtlCol="0">
            <a:noAutofit/>
          </a:bodyPr>
          <a:lstStyle/>
          <a:p>
            <a:pPr algn="l">
              <a:lnSpc>
                <a:spcPts val="2400"/>
              </a:lnSpc>
              <a:spcBef>
                <a:spcPts val="0"/>
              </a:spcBef>
              <a:spcAft>
                <a:spcPts val="0"/>
              </a:spcAft>
              <a:buNone/>
            </a:pPr>
            <a:r>
              <a:rPr lang="ko-KR" altLang="en-US" sz="2000" b="0" dirty="0">
                <a:solidFill>
                  <a:srgbClr val="CFD8E8"/>
                </a:solidFill>
                <a:latin typeface="맑은 고딕"/>
                <a:ea typeface="맑은 고딕"/>
                <a:cs typeface="맑은 고딕"/>
              </a:rPr>
              <a:t>중3 동아(윤정미) Lesson 6</a:t>
            </a:r>
            <a:endParaRPr lang="ko-KR" sz="2000"/>
          </a:p>
        </p:txBody>
      </p:sp>
      <p:sp>
        <p:nvSpPr>
          <p:cNvPr id="4" name="sec_ids"/>
          <p:cNvSpPr txBox="1"/>
          <p:nvPr/>
        </p:nvSpPr>
        <p:spPr>
          <a:xfrm>
            <a:off x="822960" y="2788920"/>
            <a:ext cx="10515600" cy="457200"/>
          </a:xfrm>
          <a:prstGeom prst="rect">
            <a:avLst/>
          </a:prstGeom>
          <a:noFill/>
        </p:spPr>
        <p:txBody>
          <a:bodyPr wrap="square" lIns="109728" tIns="54864" rIns="109728" bIns="54864" anchor="t" rtlCol="0">
            <a:noAutofit/>
          </a:bodyPr>
          <a:lstStyle/>
          <a:p>
            <a:pPr algn="l">
              <a:lnSpc>
                <a:spcPts val="2200"/>
              </a:lnSpc>
              <a:spcBef>
                <a:spcPts val="0"/>
              </a:spcBef>
              <a:spcAft>
                <a:spcPts val="0"/>
              </a:spcAft>
              <a:buNone/>
            </a:pPr>
            <a:r>
              <a:rPr lang="en-US" altLang="en-US" sz="1800" b="1" dirty="0">
                <a:solidFill>
                  <a:srgbClr val="AEBBD0"/>
                </a:solidFill>
                <a:latin typeface="Calibri"/>
                <a:ea typeface="맑은 고딕"/>
                <a:cs typeface="Calibri"/>
              </a:rPr>
              <a:t>L6-1  ·  L6-2  ·  L6-3</a:t>
            </a:r>
            <a:endParaRPr lang="ko-KR" sz="1800"/>
          </a:p>
        </p:txBody>
      </p:sp>
      <p:sp>
        <p:nvSpPr>
          <p:cNvPr id="5" name="sec_legend"/>
          <p:cNvSpPr/>
          <p:nvPr/>
        </p:nvSpPr>
        <p:spPr>
          <a:xfrm>
            <a:off x="822960" y="3977639"/>
            <a:ext cx="10515600" cy="1371600"/>
          </a:xfrm>
          <a:prstGeom prst="roundRect">
            <a:avLst>
              <a:gd name="adj" fmla="val 6000"/>
            </a:avLst>
          </a:prstGeom>
          <a:solidFill>
            <a:srgbClr val="27356E"/>
          </a:solidFill>
          <a:ln>
            <a:noFill/>
          </a:ln>
        </p:spPr>
        <p:txBody>
          <a:bodyPr wrap="square" lIns="320040" tIns="137160" rIns="320040" bIns="137160" anchor="ctr" rtlCol="0">
            <a:noAutofit/>
          </a:bodyPr>
          <a:lstStyle/>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방법</a:t>
            </a:r>
            <a:r>
              <a:rPr lang="ko-KR" altLang="en-US" sz="1600" b="0" dirty="0">
                <a:solidFill>
                  <a:srgbClr val="FFFFFF"/>
                </a:solidFill>
                <a:latin typeface="맑은 고딕"/>
                <a:ea typeface="맑은 고딕"/>
                <a:cs typeface="맑은 고딕"/>
              </a:rPr>
              <a:t>     우리말에 맞게 (  ) 안의 말을 바르게 배열해 영어 문장을 완성</a:t>
            </a:r>
            <a:endParaRPr lang="ko-KR" sz="1600"/>
          </a:p>
          <a:p>
            <a:pPr algn="l">
              <a:lnSpc>
                <a:spcPts val="2600"/>
              </a:lnSpc>
              <a:spcBef>
                <a:spcPts val="0"/>
              </a:spcBef>
              <a:spcAft>
                <a:spcPts val="0"/>
              </a:spcAft>
              <a:buNone/>
            </a:pPr>
            <a:r>
              <a:rPr lang="ko-KR" altLang="en-US" sz="1600" b="1" dirty="0">
                <a:solidFill>
                  <a:srgbClr val="FFE98A"/>
                </a:solidFill>
                <a:latin typeface="맑은 고딕"/>
                <a:ea typeface="맑은 고딕"/>
                <a:cs typeface="맑은 고딕"/>
              </a:rPr>
              <a:t>클릭</a:t>
            </a:r>
            <a:r>
              <a:rPr lang="ko-KR" altLang="en-US" sz="1600" b="0" dirty="0">
                <a:solidFill>
                  <a:srgbClr val="FFFFFF"/>
                </a:solidFill>
                <a:latin typeface="맑은 고딕"/>
                <a:ea typeface="맑은 고딕"/>
                <a:cs typeface="맑은 고딕"/>
              </a:rPr>
              <a:t>     한 번 클릭하면 완성된 영어 문장(정답)이 빨간색으로 공개</a:t>
            </a:r>
            <a:endParaRPr lang="ko-KR" sz="1600"/>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Cyril Boggis는 런던의 골동품 가구 판매상이었다.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Cyril Boggis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London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 antique furniture dealer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Cyril Boggis was an antique furniture dealer in London.</a:t>
            </a:r>
            <a:endParaRPr lang="ko-KR" sz="1900"/>
          </a:p>
        </p:txBody>
      </p:sp>
      <p:sp>
        <p:nvSpPr>
          <p:cNvPr id="11" name="item_card_2"/>
          <p:cNvSpPr/>
          <p:nvPr/>
        </p:nvSpPr>
        <p:spPr>
          <a:xfrm>
            <a:off x="457200" y="240893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그는 좋은 물건을 낮은 가격에 사서 높은 가격에 파는 것으로 유명했다.</a:t>
            </a:r>
            <a:endParaRPr lang="ko-KR" sz="1700"/>
          </a:p>
        </p:txBody>
      </p:sp>
      <p:sp>
        <p:nvSpPr>
          <p:cNvPr id="13" name="ex_2"/>
          <p:cNvSpPr txBox="1"/>
          <p:nvPr/>
        </p:nvSpPr>
        <p:spPr>
          <a:xfrm>
            <a:off x="457200" y="284340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at a low price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buying good things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 known for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then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at a high price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selling them</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64121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was known for buying good things at a low price and then selling them at a high price.</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사람들은 그에게 가구를 어디에서 구했는지 물었지만, 그는 "그건 비밀이에요."라고만 말했다.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where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asked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furniture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had got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him</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but he just said, "It’s a secret."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People asked him where he had got the furniture, but he just said, "It’s a secret."</a:t>
            </a:r>
            <a:endParaRPr lang="ko-KR" sz="1900"/>
          </a:p>
        </p:txBody>
      </p:sp>
      <p:sp>
        <p:nvSpPr>
          <p:cNvPr id="11" name="item_card_2"/>
          <p:cNvSpPr/>
          <p:nvPr/>
        </p:nvSpPr>
        <p:spPr>
          <a:xfrm>
            <a:off x="457200" y="331825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Boggis 씨의 비밀은 단순했다. 그는 매주 일요일에 작은 마을들을 방문해서 문을 두드렸다.</a:t>
            </a:r>
            <a:endParaRPr lang="ko-KR" sz="1700"/>
          </a:p>
        </p:txBody>
      </p:sp>
      <p:sp>
        <p:nvSpPr>
          <p:cNvPr id="13" name="ex_2"/>
          <p:cNvSpPr txBox="1"/>
          <p:nvPr/>
        </p:nvSpPr>
        <p:spPr>
          <a:xfrm>
            <a:off x="457200" y="375272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 secret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simple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went to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every Sunday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small towns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on doors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knocked</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55053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Mr. Boggis’ secret was simple. He went to small towns every Sunday and knocked on doors.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L6-1</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그는 사람들에게 자신이 가구 판매상이라고 말했다.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furniture dealer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told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people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told people that he was a furniture dealer.</a:t>
            </a:r>
            <a:endParaRPr lang="ko-KR" sz="1900"/>
          </a:p>
        </p:txBody>
      </p:sp>
      <p:sp>
        <p:nvSpPr>
          <p:cNvPr id="11" name="item_card_2"/>
          <p:cNvSpPr/>
          <p:nvPr/>
        </p:nvSpPr>
        <p:spPr>
          <a:xfrm>
            <a:off x="457200" y="2408936"/>
            <a:ext cx="11274552" cy="198767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사람들은 자신들의 물건이 얼마나 값진 것인지 몰랐으므로 Boggis 씨는 그들을 이용했다.</a:t>
            </a:r>
            <a:endParaRPr lang="ko-KR" sz="1700"/>
          </a:p>
        </p:txBody>
      </p:sp>
      <p:sp>
        <p:nvSpPr>
          <p:cNvPr id="13" name="ex_2"/>
          <p:cNvSpPr txBox="1"/>
          <p:nvPr/>
        </p:nvSpPr>
        <p:spPr>
          <a:xfrm>
            <a:off x="457200" y="284340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People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their things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didn’t know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how valuable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so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took advantage of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64121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People didn’t know how valuable their things were, so Mr. Boggis took advantage of them.</a:t>
            </a:r>
            <a:endParaRPr lang="ko-KR" sz="1900"/>
          </a:p>
        </p:txBody>
      </p:sp>
      <p:sp>
        <p:nvSpPr>
          <p:cNvPr id="15" name="item_card_3"/>
          <p:cNvSpPr/>
          <p:nvPr/>
        </p:nvSpPr>
        <p:spPr>
          <a:xfrm>
            <a:off x="457200" y="4506341"/>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4616069"/>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그는 물건들을 매우 싸게 살 수 있었다.</a:t>
            </a:r>
            <a:endParaRPr lang="ko-KR" sz="1700"/>
          </a:p>
        </p:txBody>
      </p:sp>
      <p:sp>
        <p:nvSpPr>
          <p:cNvPr id="17" name="ex_3"/>
          <p:cNvSpPr txBox="1"/>
          <p:nvPr/>
        </p:nvSpPr>
        <p:spPr>
          <a:xfrm>
            <a:off x="457200" y="4940808"/>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very cheaply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buy things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 able to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5412867"/>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was able to buy things very cheaply.</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4</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일요일이 또 찾아왔고, Boggis 씨는 다시 어느 작은 마을에 있었다.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Now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another Sunday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 was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again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a small town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Now it was another Sunday, and Mr. Boggis was in a small town again.</a:t>
            </a:r>
            <a:endParaRPr lang="ko-KR" sz="1900"/>
          </a:p>
        </p:txBody>
      </p:sp>
      <p:sp>
        <p:nvSpPr>
          <p:cNvPr id="11" name="item_card_2"/>
          <p:cNvSpPr/>
          <p:nvPr/>
        </p:nvSpPr>
        <p:spPr>
          <a:xfrm>
            <a:off x="457200" y="240893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그는 방문한 집에서 두 남자를 만났다. 한 명은 주인인 Rummins였고, 다른 한 명은 그의 아들인 Bert였다.</a:t>
            </a:r>
            <a:endParaRPr lang="ko-KR" sz="1700"/>
          </a:p>
        </p:txBody>
      </p:sp>
      <p:sp>
        <p:nvSpPr>
          <p:cNvPr id="13" name="ex_2"/>
          <p:cNvSpPr txBox="1"/>
          <p:nvPr/>
        </p:nvSpPr>
        <p:spPr>
          <a:xfrm>
            <a:off x="457200" y="311327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he visited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At a house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two men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met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One was Rummins, the owner,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his son Bert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other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91109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At a house he visited, he met two men. One was Rummins, the owner, and the other was his son Bert.</a:t>
            </a:r>
            <a:endParaRPr lang="ko-KR" sz="1900"/>
          </a:p>
        </p:txBody>
      </p:sp>
      <p:sp>
        <p:nvSpPr>
          <p:cNvPr id="15" name="item_card_3"/>
          <p:cNvSpPr/>
          <p:nvPr/>
        </p:nvSpPr>
        <p:spPr>
          <a:xfrm>
            <a:off x="457200" y="477621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488594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"저는 고가구를 삽니다. 고가구가 있으신가요?" Boggis 씨가 물었다.</a:t>
            </a:r>
            <a:endParaRPr lang="ko-KR" sz="1700"/>
          </a:p>
        </p:txBody>
      </p:sp>
      <p:sp>
        <p:nvSpPr>
          <p:cNvPr id="17" name="ex_3"/>
          <p:cNvSpPr txBox="1"/>
          <p:nvPr/>
        </p:nvSpPr>
        <p:spPr>
          <a:xfrm>
            <a:off x="457200" y="521068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buy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old furniture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Do you</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have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asked Mr. Boggis.</a:t>
            </a:r>
            <a:endParaRPr lang="ko-KR" sz="1900"/>
          </a:p>
        </p:txBody>
      </p:sp>
      <p:sp>
        <p:nvSpPr>
          <p:cNvPr id="18" name="rv_ans_3"/>
          <p:cNvSpPr txBox="1"/>
          <p:nvPr/>
        </p:nvSpPr>
        <p:spPr>
          <a:xfrm>
            <a:off x="594360" y="568274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"I buy old furniture. Do you have any?" asked Mr. Boggis.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5</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"아니요." Rummins가 말했다. "한번 둘러봐도 될까요?" Boggis 씨가 물었다.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"No, I don’t," said Rummins.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take a look?"</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Can I</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just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asked Mr. Boggis.</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"No, I don’t," said Rummins. "Can I just take a look?" asked Mr. Boggis.</a:t>
            </a:r>
            <a:endParaRPr lang="ko-KR" sz="1900"/>
          </a:p>
        </p:txBody>
      </p:sp>
      <p:sp>
        <p:nvSpPr>
          <p:cNvPr id="11" name="item_card_2"/>
          <p:cNvSpPr/>
          <p:nvPr/>
        </p:nvSpPr>
        <p:spPr>
          <a:xfrm>
            <a:off x="457200" y="240893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"그럼요. 들어오세요." Rummins가 말했다.</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"Sure.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come in,"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Please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said Rummins.</a:t>
            </a:r>
            <a:endParaRPr lang="ko-KR" sz="1900"/>
          </a:p>
        </p:txBody>
      </p:sp>
      <p:sp>
        <p:nvSpPr>
          <p:cNvPr id="14" name="rv_ans_2"/>
          <p:cNvSpPr txBox="1"/>
          <p:nvPr/>
        </p:nvSpPr>
        <p:spPr>
          <a:xfrm>
            <a:off x="594360" y="331546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"Sure. Please come in," said Rummins.</a:t>
            </a:r>
            <a:endParaRPr lang="ko-KR" sz="1900"/>
          </a:p>
        </p:txBody>
      </p:sp>
      <p:sp>
        <p:nvSpPr>
          <p:cNvPr id="15" name="item_card_3"/>
          <p:cNvSpPr/>
          <p:nvPr/>
        </p:nvSpPr>
        <p:spPr>
          <a:xfrm>
            <a:off x="457200" y="386689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397662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Boggis 씨는 먼저 부엌에 갔는데 아무것도 없었다.</a:t>
            </a:r>
            <a:endParaRPr lang="ko-KR" sz="1700"/>
          </a:p>
        </p:txBody>
      </p:sp>
      <p:sp>
        <p:nvSpPr>
          <p:cNvPr id="17" name="ex_3"/>
          <p:cNvSpPr txBox="1"/>
          <p:nvPr/>
        </p:nvSpPr>
        <p:spPr>
          <a:xfrm>
            <a:off x="457200" y="430136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Mr. Boggis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went to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kitchen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first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nothing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 was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477342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Mr. Boggis first went to the kitchen, and there was nothing.</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6</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그런 다음 그는 거실로 옮겨 갔다. 그리고 그곳에 그것이 있었다!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living room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moved to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it 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there</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then moved to the living room. And there it was!</a:t>
            </a:r>
            <a:endParaRPr lang="ko-KR" sz="1900"/>
          </a:p>
        </p:txBody>
      </p:sp>
      <p:sp>
        <p:nvSpPr>
          <p:cNvPr id="11" name="item_card_2"/>
          <p:cNvSpPr/>
          <p:nvPr/>
        </p:nvSpPr>
        <p:spPr>
          <a:xfrm>
            <a:off x="457200" y="240893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8.  </a:t>
            </a:r>
            <a:r>
              <a:rPr lang="ko-KR" altLang="en-US" sz="1700" b="1" dirty="0">
                <a:solidFill>
                  <a:srgbClr val="1F2328"/>
                </a:solidFill>
                <a:latin typeface="맑은 고딕"/>
                <a:ea typeface="맑은 고딕"/>
                <a:cs typeface="맑은 고딕"/>
              </a:rPr>
              <a:t>매우 귀중한 18세기 영국 가구인 탁자가.</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which 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 eighteenth‑century English furniture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table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priceless piece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31546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A table which was a priceless piece of eighteenth‑century English furniture.</a:t>
            </a:r>
            <a:endParaRPr lang="ko-KR" sz="1900"/>
          </a:p>
        </p:txBody>
      </p:sp>
      <p:sp>
        <p:nvSpPr>
          <p:cNvPr id="15" name="item_card_3"/>
          <p:cNvSpPr/>
          <p:nvPr/>
        </p:nvSpPr>
        <p:spPr>
          <a:xfrm>
            <a:off x="457200" y="418058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429031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9.  </a:t>
            </a:r>
            <a:r>
              <a:rPr lang="ko-KR" altLang="en-US" sz="1700" b="1" dirty="0">
                <a:solidFill>
                  <a:srgbClr val="1F2328"/>
                </a:solidFill>
                <a:latin typeface="맑은 고딕"/>
                <a:ea typeface="맑은 고딕"/>
                <a:cs typeface="맑은 고딕"/>
              </a:rPr>
              <a:t>그는 몹시 흥분해서 거의 넘어질 뻔했다.</a:t>
            </a:r>
            <a:endParaRPr lang="ko-KR" sz="1700"/>
          </a:p>
        </p:txBody>
      </p:sp>
      <p:sp>
        <p:nvSpPr>
          <p:cNvPr id="17" name="ex_3"/>
          <p:cNvSpPr txBox="1"/>
          <p:nvPr/>
        </p:nvSpPr>
        <p:spPr>
          <a:xfrm>
            <a:off x="457200" y="461505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almost fell over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so excited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508711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was so excited that he almost fell over.</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L6-2</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7</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3179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10.  </a:t>
            </a:r>
            <a:r>
              <a:rPr lang="ko-KR" altLang="en-US" sz="1700" b="1" dirty="0">
                <a:solidFill>
                  <a:srgbClr val="1F2328"/>
                </a:solidFill>
                <a:latin typeface="맑은 고딕"/>
                <a:ea typeface="맑은 고딕"/>
                <a:cs typeface="맑은 고딕"/>
              </a:rPr>
              <a:t>"무슨 일이세요?" Bert가 물었다. "아, 아무것도 아니에요. 전혀 아무 일도 아닙니다." Boggis 씨는 거짓말을 했다.</a:t>
            </a:r>
            <a:endParaRPr lang="ko-KR" sz="1700"/>
          </a:p>
        </p:txBody>
      </p:sp>
      <p:sp>
        <p:nvSpPr>
          <p:cNvPr id="9" name="ex_1"/>
          <p:cNvSpPr txBox="1"/>
          <p:nvPr/>
        </p:nvSpPr>
        <p:spPr>
          <a:xfrm>
            <a:off x="457200" y="1655318"/>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"What’s wrong?" Bert asked. "Oh, nothing. Nothing at all,"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lied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12737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"What’s wrong?" Bert asked. "Oh, nothing. Nothing at all," Mr. Boggis lied.</a:t>
            </a:r>
            <a:endParaRPr lang="ko-KR" sz="1900"/>
          </a:p>
        </p:txBody>
      </p:sp>
      <p:sp>
        <p:nvSpPr>
          <p:cNvPr id="11" name="item_card_2"/>
          <p:cNvSpPr/>
          <p:nvPr/>
        </p:nvSpPr>
        <p:spPr>
          <a:xfrm>
            <a:off x="457200" y="2992501"/>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02229"/>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11.  </a:t>
            </a:r>
            <a:r>
              <a:rPr lang="ko-KR" altLang="en-US" sz="1700" b="1" dirty="0">
                <a:solidFill>
                  <a:srgbClr val="1F2328"/>
                </a:solidFill>
                <a:latin typeface="맑은 고딕"/>
                <a:ea typeface="맑은 고딕"/>
                <a:cs typeface="맑은 고딕"/>
              </a:rPr>
              <a:t>그러고 나서 그는 정색하며 말했다. "이 탁자는 복제품입니다. 몇 파운드의 가치밖에 안 돼요."</a:t>
            </a:r>
            <a:endParaRPr lang="ko-KR" sz="1700"/>
          </a:p>
        </p:txBody>
      </p:sp>
      <p:sp>
        <p:nvSpPr>
          <p:cNvPr id="13" name="ex_2"/>
          <p:cNvSpPr txBox="1"/>
          <p:nvPr/>
        </p:nvSpPr>
        <p:spPr>
          <a:xfrm>
            <a:off x="457200" y="3696843"/>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with a straight face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then said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This table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reproduction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few pounds."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It’s worth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only</a:t>
            </a:r>
            <a:r>
              <a:rPr lang="en-US" altLang="en-US" sz="1900" b="1" dirty="0">
                <a:solidFill>
                  <a:srgbClr val="1E2A5A"/>
                </a:solidFill>
                <a:latin typeface="Calibri"/>
                <a:ea typeface="맑은 고딕"/>
                <a:cs typeface="Calibri"/>
              </a:rPr>
              <a:t>)</a:t>
            </a:r>
            <a:endParaRPr lang="ko-KR" sz="1900"/>
          </a:p>
        </p:txBody>
      </p:sp>
      <p:sp>
        <p:nvSpPr>
          <p:cNvPr id="14" name="rv_ans_2"/>
          <p:cNvSpPr txBox="1"/>
          <p:nvPr/>
        </p:nvSpPr>
        <p:spPr>
          <a:xfrm>
            <a:off x="594360" y="449465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then said with a straight face, "This table is a reproduction. It’s worth only a few pounds."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8</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  </a:t>
            </a:r>
            <a:r>
              <a:rPr lang="ko-KR" altLang="en-US" sz="1700" b="1" dirty="0">
                <a:solidFill>
                  <a:srgbClr val="1F2328"/>
                </a:solidFill>
                <a:latin typeface="맑은 고딕"/>
                <a:ea typeface="맑은 고딕"/>
                <a:cs typeface="맑은 고딕"/>
              </a:rPr>
              <a:t>그리고 그는 덧붙였다. "흠, 제가 살 수도 있을 것 같아요. 우리 집에 있는 탁자 다리가 부러졌거든요. 당신의 탁자 다리를 잘라서 제 탁자에 붙일 수 있겠어요."</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He then added, "Hmm,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buy it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 think</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 may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of my table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are broken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legs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at home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can cut off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legs of your table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mine."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attach</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He then added, "Hmm, I think I may buy it. The legs of my table at home are broken. I can cut off the legs of your table and attach them to mine."</a:t>
            </a:r>
            <a:endParaRPr lang="ko-KR" sz="1900"/>
          </a:p>
        </p:txBody>
      </p:sp>
      <p:sp>
        <p:nvSpPr>
          <p:cNvPr id="11" name="item_card_2"/>
          <p:cNvSpPr/>
          <p:nvPr/>
        </p:nvSpPr>
        <p:spPr>
          <a:xfrm>
            <a:off x="457200" y="331825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2.  </a:t>
            </a:r>
            <a:r>
              <a:rPr lang="ko-KR" altLang="en-US" sz="1700" b="1" dirty="0">
                <a:solidFill>
                  <a:srgbClr val="1F2328"/>
                </a:solidFill>
                <a:latin typeface="맑은 고딕"/>
                <a:ea typeface="맑은 고딕"/>
                <a:cs typeface="맑은 고딕"/>
              </a:rPr>
              <a:t>"얼마를 줄 건가요?" Rummins가 물었다. "유감이지만 많이 줄 수는 없어요. 이것은 복제품일 뿐이니까요." Boggis 씨가 말했다.</a:t>
            </a:r>
            <a:endParaRPr lang="ko-KR" sz="1700"/>
          </a:p>
        </p:txBody>
      </p:sp>
      <p:sp>
        <p:nvSpPr>
          <p:cNvPr id="13" name="ex_2"/>
          <p:cNvSpPr txBox="1"/>
          <p:nvPr/>
        </p:nvSpPr>
        <p:spPr>
          <a:xfrm>
            <a:off x="457200" y="402259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"How much?" Rummins asked. "Not much, I’m afraid.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reproduction,"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just</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said Mr. Boggis.</a:t>
            </a:r>
            <a:endParaRPr lang="ko-KR" sz="1900"/>
          </a:p>
        </p:txBody>
      </p:sp>
      <p:sp>
        <p:nvSpPr>
          <p:cNvPr id="14" name="rv_ans_2"/>
          <p:cNvSpPr txBox="1"/>
          <p:nvPr/>
        </p:nvSpPr>
        <p:spPr>
          <a:xfrm>
            <a:off x="594360" y="482041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"How much?" Rummins asked. "Not much, I’m afraid. This is just a reproduction," said Mr. Boggis.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9</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3.  </a:t>
            </a:r>
            <a:r>
              <a:rPr lang="ko-KR" altLang="en-US" sz="1700" b="1" dirty="0">
                <a:solidFill>
                  <a:srgbClr val="1F2328"/>
                </a:solidFill>
                <a:latin typeface="맑은 고딕"/>
                <a:ea typeface="맑은 고딕"/>
                <a:cs typeface="맑은 고딕"/>
              </a:rPr>
              <a:t>"그래서 얼마를 줄 수 있는데요?" "10파운드요." "10이요? 그것보다는 가치가 더 나가요." "15는 어때요?" "50으로 하지요." "음, 30이요. 이게 제 마지막 제안입니다."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"So how much?" "Ten pounds." "Ten?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It’s worth</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than that."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more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"How about fifteen?" "Make it fifty." "Well, thirty.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final offer."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is</a:t>
            </a:r>
            <a:r>
              <a:rPr lang="en-US" altLang="en-US" sz="1900" b="1" dirty="0">
                <a:solidFill>
                  <a:srgbClr val="1E2A5A"/>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"So how much?" "Ten pounds." "Ten? It’s worth more than that." "How about fifteen?" "Make it fifty." "Well, thirty. This is my final offer."</a:t>
            </a:r>
            <a:endParaRPr lang="ko-KR" sz="1900"/>
          </a:p>
        </p:txBody>
      </p:sp>
      <p:sp>
        <p:nvSpPr>
          <p:cNvPr id="11" name="item_card_2"/>
          <p:cNvSpPr/>
          <p:nvPr/>
        </p:nvSpPr>
        <p:spPr>
          <a:xfrm>
            <a:off x="457200" y="331825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4.  </a:t>
            </a:r>
            <a:r>
              <a:rPr lang="ko-KR" altLang="en-US" sz="1700" b="1" dirty="0">
                <a:solidFill>
                  <a:srgbClr val="1F2328"/>
                </a:solidFill>
                <a:latin typeface="맑은 고딕"/>
                <a:ea typeface="맑은 고딕"/>
                <a:cs typeface="맑은 고딕"/>
              </a:rPr>
              <a:t>"그러죠, 이건 당신 겁니다. 그런데 이걸 어떻게 가져갈 건가요? 이게 차에 들어가지 않을 텐데요!"</a:t>
            </a:r>
            <a:endParaRPr lang="ko-KR" sz="1700"/>
          </a:p>
        </p:txBody>
      </p:sp>
      <p:sp>
        <p:nvSpPr>
          <p:cNvPr id="13" name="ex_2"/>
          <p:cNvSpPr txBox="1"/>
          <p:nvPr/>
        </p:nvSpPr>
        <p:spPr>
          <a:xfrm>
            <a:off x="457200" y="402259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"OK, it’s yours, but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take it?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how</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are you going to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will not go</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a car!"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thing</a:t>
            </a:r>
            <a:r>
              <a:rPr lang="en-US" altLang="en-US" sz="1900" b="1" dirty="0">
                <a:solidFill>
                  <a:srgbClr val="1E2A5A"/>
                </a:solidFill>
                <a:latin typeface="Calibri"/>
                <a:ea typeface="맑은 고딕"/>
                <a:cs typeface="Calibri"/>
              </a:rPr>
              <a:t>)</a:t>
            </a:r>
            <a:endParaRPr lang="ko-KR" sz="1900"/>
          </a:p>
        </p:txBody>
      </p:sp>
      <p:sp>
        <p:nvSpPr>
          <p:cNvPr id="14" name="rv_ans_2"/>
          <p:cNvSpPr txBox="1"/>
          <p:nvPr/>
        </p:nvSpPr>
        <p:spPr>
          <a:xfrm>
            <a:off x="594360" y="482041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"OK, it’s yours, but how are you going to take it? This thing will not go in a car!"</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10</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5.  </a:t>
            </a:r>
            <a:r>
              <a:rPr lang="ko-KR" altLang="en-US" sz="1700" b="1" dirty="0">
                <a:solidFill>
                  <a:srgbClr val="1F2328"/>
                </a:solidFill>
                <a:latin typeface="맑은 고딕"/>
                <a:ea typeface="맑은 고딕"/>
                <a:cs typeface="맑은 고딕"/>
              </a:rPr>
              <a:t>"한번 보죠." Boggis 씨가 말하고는 자신의 차를 가지러 밖으로 나갔다.</a:t>
            </a:r>
            <a:endParaRPr lang="ko-KR" sz="1700"/>
          </a:p>
        </p:txBody>
      </p:sp>
      <p:sp>
        <p:nvSpPr>
          <p:cNvPr id="9" name="ex_1"/>
          <p:cNvSpPr txBox="1"/>
          <p:nvPr/>
        </p:nvSpPr>
        <p:spPr>
          <a:xfrm>
            <a:off x="457200" y="138544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"We’ll see,"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said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bring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went out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his car</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185750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"We’ll see," Mr. Boggis said and went out to bring his car.</a:t>
            </a:r>
            <a:endParaRPr lang="ko-KR" sz="1900"/>
          </a:p>
        </p:txBody>
      </p:sp>
      <p:sp>
        <p:nvSpPr>
          <p:cNvPr id="11" name="item_card_2"/>
          <p:cNvSpPr/>
          <p:nvPr/>
        </p:nvSpPr>
        <p:spPr>
          <a:xfrm>
            <a:off x="457200" y="240893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251866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6.  </a:t>
            </a:r>
            <a:r>
              <a:rPr lang="ko-KR" altLang="en-US" sz="1700" b="1" dirty="0">
                <a:solidFill>
                  <a:srgbClr val="1F2328"/>
                </a:solidFill>
                <a:latin typeface="맑은 고딕"/>
                <a:ea typeface="맑은 고딕"/>
                <a:cs typeface="맑은 고딕"/>
              </a:rPr>
              <a:t>차로 가는 길에 Boggis 씨는 싱글벙글하지 않을 수 없었다.</a:t>
            </a:r>
            <a:endParaRPr lang="ko-KR" sz="1700"/>
          </a:p>
        </p:txBody>
      </p:sp>
      <p:sp>
        <p:nvSpPr>
          <p:cNvPr id="13" name="ex_2"/>
          <p:cNvSpPr txBox="1"/>
          <p:nvPr/>
        </p:nvSpPr>
        <p:spPr>
          <a:xfrm>
            <a:off x="457200" y="284340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to the car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On his way</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couldn’t help</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smiling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31546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On his way to the car, Mr. Boggis couldn’t help smiling.</a:t>
            </a:r>
            <a:endParaRPr lang="ko-KR" sz="1900"/>
          </a:p>
        </p:txBody>
      </p:sp>
      <p:sp>
        <p:nvSpPr>
          <p:cNvPr id="15" name="item_card_3"/>
          <p:cNvSpPr/>
          <p:nvPr/>
        </p:nvSpPr>
        <p:spPr>
          <a:xfrm>
            <a:off x="457200" y="3866896"/>
            <a:ext cx="11274552" cy="166192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6" name="kor_3"/>
          <p:cNvSpPr txBox="1"/>
          <p:nvPr/>
        </p:nvSpPr>
        <p:spPr>
          <a:xfrm>
            <a:off x="457200" y="397662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7.  </a:t>
            </a:r>
            <a:r>
              <a:rPr lang="ko-KR" altLang="en-US" sz="1700" b="1" dirty="0">
                <a:solidFill>
                  <a:srgbClr val="1F2328"/>
                </a:solidFill>
                <a:latin typeface="맑은 고딕"/>
                <a:ea typeface="맑은 고딕"/>
                <a:cs typeface="맑은 고딕"/>
              </a:rPr>
              <a:t>그 탁자는 모든 판매상이 꿈꾸는 것이었다. 그는 자신의 행운을 믿을 수가 없었다.</a:t>
            </a:r>
            <a:endParaRPr lang="ko-KR" sz="1700"/>
          </a:p>
        </p:txBody>
      </p:sp>
      <p:sp>
        <p:nvSpPr>
          <p:cNvPr id="17" name="ex_3"/>
          <p:cNvSpPr txBox="1"/>
          <p:nvPr/>
        </p:nvSpPr>
        <p:spPr>
          <a:xfrm>
            <a:off x="457200" y="430136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dreamed of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every dealer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what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table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his luck</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couldn’t believe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8" name="rv_ans_3"/>
          <p:cNvSpPr txBox="1"/>
          <p:nvPr/>
        </p:nvSpPr>
        <p:spPr>
          <a:xfrm>
            <a:off x="594360" y="477342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The table was what every dealer dreamed of. He couldn’t believe his luck.</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8" grpId="0" animBg="1"/>
    </p:bld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11</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8.  </a:t>
            </a:r>
            <a:r>
              <a:rPr lang="ko-KR" altLang="en-US" sz="1700" b="1" dirty="0">
                <a:solidFill>
                  <a:srgbClr val="1F2328"/>
                </a:solidFill>
                <a:latin typeface="맑은 고딕"/>
                <a:ea typeface="맑은 고딕"/>
                <a:cs typeface="맑은 고딕"/>
              </a:rPr>
              <a:t>"아버지, 만약 이게 그의 차에 안 들어가면 어쩌죠? 그가 값을 지불하지 않을 수도 있어요." Bert가 말했다.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"Dad,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what if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thing</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in his car?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doesn’t go</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pay you,"</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might not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said Bert.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"Dad, what if this thing doesn’t go in his car? He might not pay you," said Bert.</a:t>
            </a:r>
            <a:endParaRPr lang="ko-KR" sz="1900"/>
          </a:p>
        </p:txBody>
      </p:sp>
      <p:sp>
        <p:nvSpPr>
          <p:cNvPr id="11" name="item_card_2"/>
          <p:cNvSpPr/>
          <p:nvPr/>
        </p:nvSpPr>
        <p:spPr>
          <a:xfrm>
            <a:off x="457200" y="331825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9.  </a:t>
            </a:r>
            <a:r>
              <a:rPr lang="ko-KR" altLang="en-US" sz="1700" b="1" dirty="0">
                <a:solidFill>
                  <a:srgbClr val="1F2328"/>
                </a:solidFill>
                <a:latin typeface="맑은 고딕"/>
                <a:ea typeface="맑은 고딕"/>
                <a:cs typeface="맑은 고딕"/>
              </a:rPr>
              <a:t>Rummins는 그때 생각이 떠올랐다. "그가 원하는 건 오직 탁자의 다리뿐이야. 그를 위해서 다리를 자르자." Rummins가 말했다.</a:t>
            </a:r>
            <a:endParaRPr lang="ko-KR" sz="1700"/>
          </a:p>
        </p:txBody>
      </p:sp>
      <p:sp>
        <p:nvSpPr>
          <p:cNvPr id="13" name="ex_2"/>
          <p:cNvSpPr txBox="1"/>
          <p:nvPr/>
        </p:nvSpPr>
        <p:spPr>
          <a:xfrm>
            <a:off x="457200" y="402259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Rummins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 idea</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only the legs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What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wants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cut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legs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off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for him,"</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Let’s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said Rummins.</a:t>
            </a:r>
            <a:endParaRPr lang="ko-KR" sz="1900"/>
          </a:p>
        </p:txBody>
      </p:sp>
      <p:sp>
        <p:nvSpPr>
          <p:cNvPr id="14" name="rv_ans_2"/>
          <p:cNvSpPr txBox="1"/>
          <p:nvPr/>
        </p:nvSpPr>
        <p:spPr>
          <a:xfrm>
            <a:off x="594360" y="482041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Rummins then had an idea. "What he wants is only the legs. Let’s cut the legs off for him," said Rummins.</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12</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225755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10.  </a:t>
            </a:r>
            <a:r>
              <a:rPr lang="ko-KR" altLang="en-US" sz="1700" b="1" dirty="0">
                <a:solidFill>
                  <a:srgbClr val="1F2328"/>
                </a:solidFill>
                <a:latin typeface="맑은 고딕"/>
                <a:ea typeface="맑은 고딕"/>
                <a:cs typeface="맑은 고딕"/>
              </a:rPr>
              <a:t>"좋은 생각이에요!" Bert가 말했다. 그런 다음 Bert는 톱을 꺼내서 탁자 다리를 자르기 시작했다.</a:t>
            </a:r>
            <a:endParaRPr lang="ko-KR" sz="1700"/>
          </a:p>
        </p:txBody>
      </p:sp>
      <p:sp>
        <p:nvSpPr>
          <p:cNvPr id="9" name="ex_1"/>
          <p:cNvSpPr txBox="1"/>
          <p:nvPr/>
        </p:nvSpPr>
        <p:spPr>
          <a:xfrm>
            <a:off x="457200" y="1655318"/>
            <a:ext cx="11274552" cy="761238"/>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"Great idea!" said Bert.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then</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Bert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took out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 saw</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and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the legs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to cut off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began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0" name="rv_ans_1"/>
          <p:cNvSpPr txBox="1"/>
          <p:nvPr/>
        </p:nvSpPr>
        <p:spPr>
          <a:xfrm>
            <a:off x="594360" y="2453132"/>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"Great idea!" said Bert. Bert then took out a saw and began to cut off the legs.</a:t>
            </a:r>
            <a:endParaRPr lang="ko-KR" sz="1900"/>
          </a:p>
        </p:txBody>
      </p:sp>
      <p:sp>
        <p:nvSpPr>
          <p:cNvPr id="11" name="item_card_2"/>
          <p:cNvSpPr/>
          <p:nvPr/>
        </p:nvSpPr>
        <p:spPr>
          <a:xfrm>
            <a:off x="457200" y="3318256"/>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427984"/>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11.  </a:t>
            </a:r>
            <a:r>
              <a:rPr lang="ko-KR" altLang="en-US" sz="1700" b="1" dirty="0">
                <a:solidFill>
                  <a:srgbClr val="1F2328"/>
                </a:solidFill>
                <a:latin typeface="맑은 고딕"/>
                <a:ea typeface="맑은 고딕"/>
                <a:cs typeface="맑은 고딕"/>
              </a:rPr>
              <a:t>Boggis 씨가 돌아왔을 때, 탁자 다리는 잘려 있었다.</a:t>
            </a:r>
            <a:endParaRPr lang="ko-KR" sz="1700"/>
          </a:p>
        </p:txBody>
      </p:sp>
      <p:sp>
        <p:nvSpPr>
          <p:cNvPr id="13" name="ex_2"/>
          <p:cNvSpPr txBox="1"/>
          <p:nvPr/>
        </p:nvSpPr>
        <p:spPr>
          <a:xfrm>
            <a:off x="457200" y="3752723"/>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When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came back</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Mr. Boggis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cut off</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the legs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had been</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4224782"/>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When Mr. Boggis came back, the legs had been cut off.</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8000"/>
            </a:avLst>
          </a:prstGeom>
          <a:solidFill>
            <a:srgbClr val="1E2A5A"/>
          </a:solidFill>
          <a:ln>
            <a:noFill/>
          </a:ln>
        </p:spPr>
        <p:txBody>
          <a:bodyPr wrap="square" lIns="45720" tIns="18288" rIns="45720" bIns="18288" anchor="ctr" rtlCol="0">
            <a:noAutofit/>
          </a:bodyPr>
          <a:lstStyle/>
          <a:p>
            <a:pPr algn="ctr">
              <a:lnSpc>
                <a:spcPts val="2000"/>
              </a:lnSpc>
              <a:spcBef>
                <a:spcPts val="0"/>
              </a:spcBef>
              <a:spcAft>
                <a:spcPts val="0"/>
              </a:spcAft>
              <a:buNone/>
            </a:pPr>
            <a:r>
              <a:rPr lang="en-US" altLang="en-US" sz="1700" b="1" dirty="0">
                <a:solidFill>
                  <a:srgbClr val="FFFFFF"/>
                </a:solidFill>
                <a:latin typeface="Calibri"/>
                <a:ea typeface="맑은 고딕"/>
                <a:cs typeface="Calibri"/>
              </a:rPr>
              <a:t>L6-3</a:t>
            </a:r>
            <a:endParaRPr lang="ko-KR" sz="1700"/>
          </a:p>
        </p:txBody>
      </p:sp>
      <p:sp>
        <p:nvSpPr>
          <p:cNvPr id="3" name="hdr_chip"/>
          <p:cNvSpPr/>
          <p:nvPr/>
        </p:nvSpPr>
        <p:spPr>
          <a:xfrm>
            <a:off x="1755648" y="274320"/>
            <a:ext cx="1371600" cy="493776"/>
          </a:xfrm>
          <a:prstGeom prst="roundRect">
            <a:avLst>
              <a:gd name="adj" fmla="val 8000"/>
            </a:avLst>
          </a:prstGeom>
          <a:solidFill>
            <a:srgbClr val="E6EAF4"/>
          </a:solidFill>
          <a:ln>
            <a:noFill/>
          </a:ln>
        </p:spPr>
        <p:txBody>
          <a:bodyPr wrap="square" lIns="27432" tIns="18288" rIns="27432" bIns="18288" anchor="ctr" rtlCol="0">
            <a:noAutofit/>
          </a:bodyPr>
          <a:lstStyle/>
          <a:p>
            <a:pPr algn="ctr">
              <a:lnSpc>
                <a:spcPts val="1700"/>
              </a:lnSpc>
              <a:spcBef>
                <a:spcPts val="0"/>
              </a:spcBef>
              <a:spcAft>
                <a:spcPts val="0"/>
              </a:spcAft>
              <a:buNone/>
            </a:pPr>
            <a:r>
              <a:rPr lang="ko-KR" altLang="en-US" sz="1400" b="1" dirty="0">
                <a:solidFill>
                  <a:srgbClr val="1E2A5A"/>
                </a:solidFill>
                <a:latin typeface="맑은 고딕"/>
                <a:ea typeface="맑은 고딕"/>
                <a:cs typeface="맑은 고딕"/>
              </a:rPr>
              <a:t>PART 6 · 13</a:t>
            </a:r>
            <a:endParaRPr lang="ko-KR" sz="1400"/>
          </a:p>
        </p:txBody>
      </p:sp>
      <p:sp>
        <p:nvSpPr>
          <p:cNvPr id="4" name="hdr_q"/>
          <p:cNvSpPr txBox="1"/>
          <p:nvPr/>
        </p:nvSpPr>
        <p:spPr>
          <a:xfrm>
            <a:off x="3246120" y="246888"/>
            <a:ext cx="8485632" cy="548640"/>
          </a:xfrm>
          <a:prstGeom prst="rect">
            <a:avLst/>
          </a:prstGeom>
          <a:noFill/>
        </p:spPr>
        <p:txBody>
          <a:bodyPr wrap="square" lIns="109728" tIns="54864" rIns="109728" bIns="54864" anchor="ctr" rtlCol="0">
            <a:noAutofit/>
          </a:bodyPr>
          <a:lstStyle/>
          <a:p>
            <a:pPr algn="l">
              <a:lnSpc>
                <a:spcPts val="2400"/>
              </a:lnSpc>
              <a:spcBef>
                <a:spcPts val="0"/>
              </a:spcBef>
              <a:spcAft>
                <a:spcPts val="0"/>
              </a:spcAft>
              <a:buNone/>
            </a:pPr>
            <a:r>
              <a:rPr lang="ko-KR" altLang="en-US" sz="2000" b="1" dirty="0">
                <a:solidFill>
                  <a:srgbClr val="1F2328"/>
                </a:solidFill>
                <a:latin typeface="맑은 고딕"/>
                <a:ea typeface="맑은 고딕"/>
                <a:cs typeface="맑은 고딕"/>
              </a:rPr>
              <a:t>우리말에 맞게 (  ) 안의 말을 바르게 배열하시오.</a:t>
            </a:r>
            <a:endParaRPr lang="ko-KR" sz="2000"/>
          </a:p>
        </p:txBody>
      </p:sp>
      <p:sp>
        <p:nvSpPr>
          <p:cNvPr id="5" name="ftr_exam"/>
          <p:cNvSpPr txBox="1"/>
          <p:nvPr/>
        </p:nvSpPr>
        <p:spPr>
          <a:xfrm>
            <a:off x="457200" y="6519672"/>
            <a:ext cx="5669280" cy="256032"/>
          </a:xfrm>
          <a:prstGeom prst="rect">
            <a:avLst/>
          </a:prstGeom>
          <a:noFill/>
        </p:spPr>
        <p:txBody>
          <a:bodyPr wrap="square" lIns="0" tIns="0" rIns="0" bIns="0" anchor="t" rtlCol="0">
            <a:noAutofit/>
          </a:bodyPr>
          <a:lstStyle/>
          <a:p>
            <a:pPr algn="l">
              <a:lnSpc>
                <a:spcPts val="1200"/>
              </a:lnSpc>
              <a:spcBef>
                <a:spcPts val="0"/>
              </a:spcBef>
              <a:spcAft>
                <a:spcPts val="0"/>
              </a:spcAft>
              <a:buNone/>
            </a:pPr>
            <a:r>
              <a:rPr lang="ko-KR" altLang="en-US" sz="1000" b="0" dirty="0">
                <a:solidFill>
                  <a:srgbClr val="7A808C"/>
                </a:solidFill>
                <a:latin typeface="맑은 고딕"/>
                <a:ea typeface="맑은 고딕"/>
                <a:cs typeface="맑은 고딕"/>
              </a:rPr>
              <a:t>중3 동아(윤정미) Lesson 6</a:t>
            </a:r>
            <a:endParaRPr lang="ko-KR" sz="1000"/>
          </a:p>
        </p:txBody>
      </p:sp>
      <p:sp>
        <p:nvSpPr>
          <p:cNvPr id="6" name="ftr_hint"/>
          <p:cNvSpPr txBox="1"/>
          <p:nvPr/>
        </p:nvSpPr>
        <p:spPr>
          <a:xfrm>
            <a:off x="5971032" y="6519672"/>
            <a:ext cx="5760720" cy="256032"/>
          </a:xfrm>
          <a:prstGeom prst="rect">
            <a:avLst/>
          </a:prstGeom>
          <a:noFill/>
        </p:spPr>
        <p:txBody>
          <a:bodyPr wrap="square" lIns="0" tIns="0" rIns="0" bIns="0" anchor="t" rtlCol="0">
            <a:noAutofit/>
          </a:bodyPr>
          <a:lstStyle/>
          <a:p>
            <a:pPr algn="r">
              <a:lnSpc>
                <a:spcPts val="1200"/>
              </a:lnSpc>
              <a:spcBef>
                <a:spcPts val="0"/>
              </a:spcBef>
              <a:spcAft>
                <a:spcPts val="0"/>
              </a:spcAft>
              <a:buNone/>
            </a:pPr>
            <a:r>
              <a:rPr lang="ko-KR" altLang="en-US" sz="1000" b="0" dirty="0">
                <a:solidFill>
                  <a:srgbClr val="7A808C"/>
                </a:solidFill>
                <a:latin typeface="맑은 고딕"/>
                <a:ea typeface="맑은 고딕"/>
                <a:cs typeface="맑은 고딕"/>
              </a:rPr>
              <a:t>클릭 ① 완성 문장(정답) 공개</a:t>
            </a:r>
            <a:endParaRPr lang="ko-KR" sz="1000"/>
          </a:p>
        </p:txBody>
      </p:sp>
      <p:sp>
        <p:nvSpPr>
          <p:cNvPr id="7" name="item_card_1"/>
          <p:cNvSpPr/>
          <p:nvPr/>
        </p:nvSpPr>
        <p:spPr>
          <a:xfrm>
            <a:off x="457200" y="950976"/>
            <a:ext cx="11274552" cy="1931797"/>
          </a:xfrm>
          <a:prstGeom prst="roundRect">
            <a:avLst>
              <a:gd name="adj" fmla="val 6000"/>
            </a:avLst>
          </a:prstGeom>
          <a:solidFill>
            <a:srgbClr val="F3F5F9"/>
          </a:solidFill>
          <a:ln w="12700">
            <a:solidFill>
              <a:srgbClr val="D9DFEA"/>
            </a:solidFill>
          </a:ln>
        </p:spPr>
        <p:txBody>
          <a:bodyPr rtlCol="0" anchor="ctr"/>
          <a:lstStyle/>
          <a:p>
            <a:pPr algn="ctr"/>
          </a:p>
        </p:txBody>
      </p:sp>
      <p:sp>
        <p:nvSpPr>
          <p:cNvPr id="8" name="kor_1"/>
          <p:cNvSpPr txBox="1"/>
          <p:nvPr/>
        </p:nvSpPr>
        <p:spPr>
          <a:xfrm>
            <a:off x="457200" y="1060704"/>
            <a:ext cx="11274552" cy="649478"/>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12.  </a:t>
            </a:r>
            <a:r>
              <a:rPr lang="ko-KR" altLang="en-US" sz="1700" b="1" dirty="0">
                <a:solidFill>
                  <a:srgbClr val="1F2328"/>
                </a:solidFill>
                <a:latin typeface="맑은 고딕"/>
                <a:ea typeface="맑은 고딕"/>
                <a:cs typeface="맑은 고딕"/>
              </a:rPr>
              <a:t>"걱정하지 마세요. 이건 호의로 한 거예요. 이것에 대해 비용을 청구하지는 않을게요." Rummins가 말했다.</a:t>
            </a:r>
            <a:endParaRPr lang="ko-KR" sz="1700"/>
          </a:p>
        </p:txBody>
      </p:sp>
      <p:sp>
        <p:nvSpPr>
          <p:cNvPr id="9" name="ex_1"/>
          <p:cNvSpPr txBox="1"/>
          <p:nvPr/>
        </p:nvSpPr>
        <p:spPr>
          <a:xfrm>
            <a:off x="457200" y="1655318"/>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0" dirty="0">
                <a:solidFill>
                  <a:srgbClr val="1F2328"/>
                </a:solidFill>
                <a:latin typeface="Calibri"/>
                <a:ea typeface="맑은 고딕"/>
                <a:cs typeface="Calibri"/>
              </a:rPr>
              <a:t>"Don’t worry,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a favor</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this was</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a:t>
            </a: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won’t charge</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for this,"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I</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you</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 said Rummins.</a:t>
            </a:r>
            <a:endParaRPr lang="ko-KR" sz="1900"/>
          </a:p>
        </p:txBody>
      </p:sp>
      <p:sp>
        <p:nvSpPr>
          <p:cNvPr id="10" name="rv_ans_1"/>
          <p:cNvSpPr txBox="1"/>
          <p:nvPr/>
        </p:nvSpPr>
        <p:spPr>
          <a:xfrm>
            <a:off x="594360" y="2127377"/>
            <a:ext cx="11000232" cy="73710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"Don’t worry, this was a favor. I won’t charge you for this," said Rummins.</a:t>
            </a:r>
            <a:endParaRPr lang="ko-KR" sz="1900"/>
          </a:p>
        </p:txBody>
      </p:sp>
      <p:sp>
        <p:nvSpPr>
          <p:cNvPr id="11" name="item_card_2"/>
          <p:cNvSpPr/>
          <p:nvPr/>
        </p:nvSpPr>
        <p:spPr>
          <a:xfrm>
            <a:off x="457200" y="2992501"/>
            <a:ext cx="11274552" cy="1348232"/>
          </a:xfrm>
          <a:prstGeom prst="roundRect">
            <a:avLst>
              <a:gd name="adj" fmla="val 6000"/>
            </a:avLst>
          </a:prstGeom>
          <a:solidFill>
            <a:srgbClr val="F3F5F9"/>
          </a:solidFill>
          <a:ln w="12700">
            <a:solidFill>
              <a:srgbClr val="D9DFEA"/>
            </a:solidFill>
          </a:ln>
        </p:spPr>
        <p:txBody>
          <a:bodyPr rtlCol="0" anchor="ctr"/>
          <a:lstStyle/>
          <a:p>
            <a:pPr algn="ctr"/>
          </a:p>
        </p:txBody>
      </p:sp>
      <p:sp>
        <p:nvSpPr>
          <p:cNvPr id="12" name="kor_2"/>
          <p:cNvSpPr txBox="1"/>
          <p:nvPr/>
        </p:nvSpPr>
        <p:spPr>
          <a:xfrm>
            <a:off x="457200" y="3102229"/>
            <a:ext cx="11274552" cy="379603"/>
          </a:xfrm>
          <a:prstGeom prst="rect">
            <a:avLst/>
          </a:prstGeom>
          <a:noFill/>
        </p:spPr>
        <p:txBody>
          <a:bodyPr wrap="square" lIns="228600" tIns="54864" rIns="228600" bIns="54864" anchor="t" rtlCol="0">
            <a:noAutofit/>
          </a:bodyPr>
          <a:lstStyle/>
          <a:p>
            <a:pPr algn="l">
              <a:lnSpc>
                <a:spcPts val="2125"/>
              </a:lnSpc>
              <a:spcBef>
                <a:spcPts val="0"/>
              </a:spcBef>
              <a:spcAft>
                <a:spcPts val="0"/>
              </a:spcAft>
              <a:buNone/>
            </a:pPr>
            <a:r>
              <a:rPr lang="en-US" altLang="en-US" sz="1700" b="1" dirty="0">
                <a:solidFill>
                  <a:srgbClr val="1E2A5A"/>
                </a:solidFill>
                <a:latin typeface="Calibri"/>
                <a:ea typeface="맑은 고딕"/>
                <a:cs typeface="Calibri"/>
              </a:rPr>
              <a:t>13.  </a:t>
            </a:r>
            <a:r>
              <a:rPr lang="ko-KR" altLang="en-US" sz="1700" b="1" dirty="0">
                <a:solidFill>
                  <a:srgbClr val="1F2328"/>
                </a:solidFill>
                <a:latin typeface="맑은 고딕"/>
                <a:ea typeface="맑은 고딕"/>
                <a:cs typeface="맑은 고딕"/>
              </a:rPr>
              <a:t>Boggis 씨는 너무 충격을 받아서 아무 말도 할 수 없었다.</a:t>
            </a:r>
            <a:endParaRPr lang="ko-KR" sz="1700"/>
          </a:p>
        </p:txBody>
      </p:sp>
      <p:sp>
        <p:nvSpPr>
          <p:cNvPr id="13" name="ex_2"/>
          <p:cNvSpPr txBox="1"/>
          <p:nvPr/>
        </p:nvSpPr>
        <p:spPr>
          <a:xfrm>
            <a:off x="457200" y="3426968"/>
            <a:ext cx="11274552" cy="435483"/>
          </a:xfrm>
          <a:prstGeom prst="rect">
            <a:avLst/>
          </a:prstGeom>
          <a:noFill/>
        </p:spPr>
        <p:txBody>
          <a:bodyPr wrap="square" lIns="228600" tIns="54864" rIns="228600" bIns="54864" anchor="t" rtlCol="0">
            <a:noAutofit/>
          </a:bodyPr>
          <a:lstStyle/>
          <a:p>
            <a:pPr algn="l">
              <a:lnSpc>
                <a:spcPts val="2565"/>
              </a:lnSpc>
              <a:spcBef>
                <a:spcPts val="0"/>
              </a:spcBef>
              <a:spcAft>
                <a:spcPts val="0"/>
              </a:spcAft>
              <a:buNone/>
            </a:pPr>
            <a:r>
              <a:rPr lang="en-US" altLang="en-US" sz="1900" b="1" dirty="0">
                <a:solidFill>
                  <a:srgbClr val="1E2A5A"/>
                </a:solidFill>
                <a:latin typeface="Calibri"/>
                <a:ea typeface="맑은 고딕"/>
                <a:cs typeface="Calibri"/>
              </a:rPr>
              <a:t>(</a:t>
            </a:r>
            <a:r>
              <a:rPr lang="en-US" altLang="en-US" sz="1900" b="0" dirty="0">
                <a:solidFill>
                  <a:srgbClr val="1E2A5A"/>
                </a:solidFill>
                <a:latin typeface="Calibri"/>
                <a:ea typeface="맑은 고딕"/>
                <a:cs typeface="Calibri"/>
              </a:rPr>
              <a:t>Mr. Boggis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so shocked</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was</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he couldn’t say</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that</a:t>
            </a:r>
            <a:r>
              <a:rPr lang="en-US" altLang="en-US" sz="1900" b="1" dirty="0">
                <a:solidFill>
                  <a:srgbClr val="9AA3B5"/>
                </a:solidFill>
                <a:latin typeface="Calibri"/>
                <a:ea typeface="맑은 고딕"/>
                <a:cs typeface="Calibri"/>
              </a:rPr>
              <a:t> / </a:t>
            </a:r>
            <a:r>
              <a:rPr lang="en-US" altLang="en-US" sz="1900" b="0" dirty="0">
                <a:solidFill>
                  <a:srgbClr val="1E2A5A"/>
                </a:solidFill>
                <a:latin typeface="Calibri"/>
                <a:ea typeface="맑은 고딕"/>
                <a:cs typeface="Calibri"/>
              </a:rPr>
              <a:t>anything</a:t>
            </a:r>
            <a:r>
              <a:rPr lang="en-US" altLang="en-US" sz="1900" b="1" dirty="0">
                <a:solidFill>
                  <a:srgbClr val="1E2A5A"/>
                </a:solidFill>
                <a:latin typeface="Calibri"/>
                <a:ea typeface="맑은 고딕"/>
                <a:cs typeface="Calibri"/>
              </a:rPr>
              <a:t>)</a:t>
            </a:r>
            <a:r>
              <a:rPr lang="en-US" altLang="en-US" sz="1900" b="0" dirty="0">
                <a:solidFill>
                  <a:srgbClr val="1F2328"/>
                </a:solidFill>
                <a:latin typeface="Calibri"/>
                <a:ea typeface="맑은 고딕"/>
                <a:cs typeface="Calibri"/>
              </a:rPr>
              <a:t>.</a:t>
            </a:r>
            <a:endParaRPr lang="ko-KR" sz="1900"/>
          </a:p>
        </p:txBody>
      </p:sp>
      <p:sp>
        <p:nvSpPr>
          <p:cNvPr id="14" name="rv_ans_2"/>
          <p:cNvSpPr txBox="1"/>
          <p:nvPr/>
        </p:nvSpPr>
        <p:spPr>
          <a:xfrm>
            <a:off x="594360" y="3899027"/>
            <a:ext cx="11000232" cy="423418"/>
          </a:xfrm>
          <a:prstGeom prst="rect">
            <a:avLst/>
          </a:prstGeom>
          <a:solidFill>
            <a:srgbClr val="FFF3C4"/>
          </a:solidFill>
        </p:spPr>
        <p:txBody>
          <a:bodyPr wrap="square" lIns="137160" tIns="54864" rIns="137160" bIns="54864" anchor="t" rtlCol="0">
            <a:noAutofit/>
          </a:bodyPr>
          <a:lstStyle/>
          <a:p>
            <a:pPr algn="l">
              <a:lnSpc>
                <a:spcPts val="2470"/>
              </a:lnSpc>
              <a:spcBef>
                <a:spcPts val="0"/>
              </a:spcBef>
              <a:spcAft>
                <a:spcPts val="0"/>
              </a:spcAft>
              <a:buNone/>
            </a:pPr>
            <a:r>
              <a:rPr lang="en-US" altLang="en-US" sz="1900" b="1" dirty="0">
                <a:solidFill>
                  <a:srgbClr val="C00000"/>
                </a:solidFill>
                <a:latin typeface="Calibri"/>
                <a:ea typeface="맑은 고딕"/>
                <a:cs typeface="Calibri"/>
              </a:rPr>
              <a:t>→  </a:t>
            </a:r>
            <a:r>
              <a:rPr lang="en-US" altLang="en-US" sz="1900" b="1" dirty="0">
                <a:solidFill>
                  <a:srgbClr val="C00000"/>
                </a:solidFill>
                <a:latin typeface="Calibri"/>
                <a:ea typeface="맑은 고딕"/>
                <a:cs typeface="Calibri"/>
              </a:rPr>
              <a:t>Mr. Boggis was so shocked that he couldn’t say anything.</a:t>
            </a:r>
            <a:endParaRPr lang="ko-K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